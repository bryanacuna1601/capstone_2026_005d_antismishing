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libri (MS) Bold" charset="1" panose="020F0702030404030204"/>
      <p:regular r:id="rId16"/>
    </p:embeddedFont>
    <p:embeddedFont>
      <p:font typeface="Cambria Bold" charset="1" panose="02040803050406030204"/>
      <p:regular r:id="rId17"/>
    </p:embeddedFont>
    <p:embeddedFont>
      <p:font typeface="Calibri (MS)" charset="1" panose="020F0502020204030204"/>
      <p:regular r:id="rId18"/>
    </p:embeddedFont>
    <p:embeddedFont>
      <p:font typeface="Caladea Bold" charset="1" panose="02040803050406030204"/>
      <p:regular r:id="rId19"/>
    </p:embeddedFont>
    <p:embeddedFont>
      <p:font typeface="Carlito Bold" charset="1" panose="020F0502020204030204"/>
      <p:regular r:id="rId20"/>
    </p:embeddedFont>
    <p:embeddedFont>
      <p:font typeface="Carlito Italics" charset="1" panose="020F0502020204030204"/>
      <p:regular r:id="rId21"/>
    </p:embeddedFont>
    <p:embeddedFont>
      <p:font typeface="Carlito" charset="1" panose="020F0502020204030204"/>
      <p:regular r:id="rId22"/>
    </p:embeddedFont>
    <p:embeddedFont>
      <p:font typeface="Calibri (MS) Italics" charset="1" panose="020F05020202040A0204"/>
      <p:regular r:id="rId23"/>
    </p:embeddedFont>
    <p:embeddedFont>
      <p:font typeface="Calibri (MS) Bold Italics" charset="1" panose="020F07020304040A0204"/>
      <p:regular r:id="rId24"/>
    </p:embeddedFont>
    <p:embeddedFont>
      <p:font typeface="Cambria" charset="1" panose="02040503050406030204"/>
      <p:regular r:id="rId25"/>
    </p:embeddedFont>
    <p:embeddedFont>
      <p:font typeface="Open Sans" charset="1" panose="020B0606030504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2" Target="../media/image15.jpeg" Type="http://schemas.openxmlformats.org/officeDocument/2006/relationships/image"/><Relationship Id="rId3" Target="../media/image3.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jpeg" Type="http://schemas.openxmlformats.org/officeDocument/2006/relationships/image"/><Relationship Id="rId2" Target="../media/image15.jpeg" Type="http://schemas.openxmlformats.org/officeDocument/2006/relationships/image"/><Relationship Id="rId3" Target="../media/image30.png" Type="http://schemas.openxmlformats.org/officeDocument/2006/relationships/image"/><Relationship Id="rId4" Target="../media/image3.jpeg" Type="http://schemas.openxmlformats.org/officeDocument/2006/relationships/image"/><Relationship Id="rId5" Target="../media/image31.png" Type="http://schemas.openxmlformats.org/officeDocument/2006/relationships/image"/><Relationship Id="rId6" Target="../media/image32.jpeg" Type="http://schemas.openxmlformats.org/officeDocument/2006/relationships/image"/><Relationship Id="rId7" Target="../media/image33.jpeg" Type="http://schemas.openxmlformats.org/officeDocument/2006/relationships/image"/><Relationship Id="rId8" Target="../media/image34.jpeg" Type="http://schemas.openxmlformats.org/officeDocument/2006/relationships/image"/><Relationship Id="rId9" Target="../media/image3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37.png" Type="http://schemas.openxmlformats.org/officeDocument/2006/relationships/image"/><Relationship Id="rId4" Target="../media/image3.jpe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37.png" Type="http://schemas.openxmlformats.org/officeDocument/2006/relationships/image"/><Relationship Id="rId4" Target="../media/image3.jpeg" Type="http://schemas.openxmlformats.org/officeDocument/2006/relationships/image"/><Relationship Id="rId5" Target="../media/image4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2" Target="../media/image15.jpeg" Type="http://schemas.openxmlformats.org/officeDocument/2006/relationships/image"/><Relationship Id="rId3" Target="../media/image3.jpe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sp>
        <p:nvSpPr>
          <p:cNvPr name="Freeform 2" id="2"/>
          <p:cNvSpPr/>
          <p:nvPr/>
        </p:nvSpPr>
        <p:spPr>
          <a:xfrm flipH="false" flipV="false" rot="0">
            <a:off x="11480292" y="-24844"/>
            <a:ext cx="17854191" cy="10336688"/>
          </a:xfrm>
          <a:custGeom>
            <a:avLst/>
            <a:gdLst/>
            <a:ahLst/>
            <a:cxnLst/>
            <a:rect r="r" b="b" t="t" l="l"/>
            <a:pathLst>
              <a:path h="10336688" w="17854191">
                <a:moveTo>
                  <a:pt x="0" y="0"/>
                </a:moveTo>
                <a:lnTo>
                  <a:pt x="17854191" y="0"/>
                </a:lnTo>
                <a:lnTo>
                  <a:pt x="17854191" y="10336688"/>
                </a:lnTo>
                <a:lnTo>
                  <a:pt x="0" y="10336688"/>
                </a:lnTo>
                <a:lnTo>
                  <a:pt x="0" y="0"/>
                </a:lnTo>
                <a:close/>
              </a:path>
            </a:pathLst>
          </a:custGeom>
          <a:blipFill>
            <a:blip r:embed="rId2">
              <a:alphaModFix amt="59000"/>
            </a:blip>
            <a:stretch>
              <a:fillRect l="-4046" t="-320" r="0" b="-320"/>
            </a:stretch>
          </a:blipFill>
        </p:spPr>
      </p:sp>
      <p:grpSp>
        <p:nvGrpSpPr>
          <p:cNvPr name="Group 3" id="3"/>
          <p:cNvGrpSpPr/>
          <p:nvPr/>
        </p:nvGrpSpPr>
        <p:grpSpPr>
          <a:xfrm rot="0">
            <a:off x="13167360" y="822960"/>
            <a:ext cx="68580" cy="68580"/>
            <a:chOff x="0" y="0"/>
            <a:chExt cx="91440" cy="91440"/>
          </a:xfrm>
        </p:grpSpPr>
        <p:sp>
          <p:nvSpPr>
            <p:cNvPr name="Freeform 4" id="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5" id="5"/>
          <p:cNvGrpSpPr/>
          <p:nvPr/>
        </p:nvGrpSpPr>
        <p:grpSpPr>
          <a:xfrm rot="0">
            <a:off x="13167360" y="1261872"/>
            <a:ext cx="68580" cy="68580"/>
            <a:chOff x="0" y="0"/>
            <a:chExt cx="91440" cy="91440"/>
          </a:xfrm>
        </p:grpSpPr>
        <p:sp>
          <p:nvSpPr>
            <p:cNvPr name="Freeform 6" id="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7" id="7"/>
          <p:cNvGrpSpPr/>
          <p:nvPr/>
        </p:nvGrpSpPr>
        <p:grpSpPr>
          <a:xfrm rot="0">
            <a:off x="13167360" y="1700784"/>
            <a:ext cx="68580" cy="68580"/>
            <a:chOff x="0" y="0"/>
            <a:chExt cx="91440" cy="91440"/>
          </a:xfrm>
        </p:grpSpPr>
        <p:sp>
          <p:nvSpPr>
            <p:cNvPr name="Freeform 8" id="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9" id="9"/>
          <p:cNvGrpSpPr/>
          <p:nvPr/>
        </p:nvGrpSpPr>
        <p:grpSpPr>
          <a:xfrm rot="0">
            <a:off x="13167360" y="2139696"/>
            <a:ext cx="68580" cy="68580"/>
            <a:chOff x="0" y="0"/>
            <a:chExt cx="91440" cy="91440"/>
          </a:xfrm>
        </p:grpSpPr>
        <p:sp>
          <p:nvSpPr>
            <p:cNvPr name="Freeform 10" id="1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1" id="11"/>
          <p:cNvGrpSpPr/>
          <p:nvPr/>
        </p:nvGrpSpPr>
        <p:grpSpPr>
          <a:xfrm rot="0">
            <a:off x="13606272" y="822960"/>
            <a:ext cx="68580" cy="68580"/>
            <a:chOff x="0" y="0"/>
            <a:chExt cx="91440" cy="91440"/>
          </a:xfrm>
        </p:grpSpPr>
        <p:sp>
          <p:nvSpPr>
            <p:cNvPr name="Freeform 12" id="1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3" id="13"/>
          <p:cNvGrpSpPr/>
          <p:nvPr/>
        </p:nvGrpSpPr>
        <p:grpSpPr>
          <a:xfrm rot="0">
            <a:off x="13606272" y="1261872"/>
            <a:ext cx="68580" cy="68580"/>
            <a:chOff x="0" y="0"/>
            <a:chExt cx="91440" cy="91440"/>
          </a:xfrm>
        </p:grpSpPr>
        <p:sp>
          <p:nvSpPr>
            <p:cNvPr name="Freeform 14" id="1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5" id="15"/>
          <p:cNvGrpSpPr/>
          <p:nvPr/>
        </p:nvGrpSpPr>
        <p:grpSpPr>
          <a:xfrm rot="0">
            <a:off x="13606272" y="1700784"/>
            <a:ext cx="68580" cy="68580"/>
            <a:chOff x="0" y="0"/>
            <a:chExt cx="91440" cy="91440"/>
          </a:xfrm>
        </p:grpSpPr>
        <p:sp>
          <p:nvSpPr>
            <p:cNvPr name="Freeform 16" id="1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7" id="17"/>
          <p:cNvGrpSpPr/>
          <p:nvPr/>
        </p:nvGrpSpPr>
        <p:grpSpPr>
          <a:xfrm rot="0">
            <a:off x="13606272" y="2139696"/>
            <a:ext cx="68580" cy="68580"/>
            <a:chOff x="0" y="0"/>
            <a:chExt cx="91440" cy="91440"/>
          </a:xfrm>
        </p:grpSpPr>
        <p:sp>
          <p:nvSpPr>
            <p:cNvPr name="Freeform 18" id="1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9" id="19"/>
          <p:cNvGrpSpPr/>
          <p:nvPr/>
        </p:nvGrpSpPr>
        <p:grpSpPr>
          <a:xfrm rot="0">
            <a:off x="14045184" y="822960"/>
            <a:ext cx="68580" cy="68580"/>
            <a:chOff x="0" y="0"/>
            <a:chExt cx="91440" cy="91440"/>
          </a:xfrm>
        </p:grpSpPr>
        <p:sp>
          <p:nvSpPr>
            <p:cNvPr name="Freeform 20" id="2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1" id="21"/>
          <p:cNvGrpSpPr/>
          <p:nvPr/>
        </p:nvGrpSpPr>
        <p:grpSpPr>
          <a:xfrm rot="0">
            <a:off x="14045184" y="1261872"/>
            <a:ext cx="68580" cy="68580"/>
            <a:chOff x="0" y="0"/>
            <a:chExt cx="91440" cy="91440"/>
          </a:xfrm>
        </p:grpSpPr>
        <p:sp>
          <p:nvSpPr>
            <p:cNvPr name="Freeform 22" id="2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3" id="23"/>
          <p:cNvGrpSpPr/>
          <p:nvPr/>
        </p:nvGrpSpPr>
        <p:grpSpPr>
          <a:xfrm rot="0">
            <a:off x="14045184" y="1700784"/>
            <a:ext cx="68580" cy="68580"/>
            <a:chOff x="0" y="0"/>
            <a:chExt cx="91440" cy="91440"/>
          </a:xfrm>
        </p:grpSpPr>
        <p:sp>
          <p:nvSpPr>
            <p:cNvPr name="Freeform 24" id="2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5" id="25"/>
          <p:cNvGrpSpPr/>
          <p:nvPr/>
        </p:nvGrpSpPr>
        <p:grpSpPr>
          <a:xfrm rot="0">
            <a:off x="14045184" y="2139696"/>
            <a:ext cx="68580" cy="68580"/>
            <a:chOff x="0" y="0"/>
            <a:chExt cx="91440" cy="91440"/>
          </a:xfrm>
        </p:grpSpPr>
        <p:sp>
          <p:nvSpPr>
            <p:cNvPr name="Freeform 26" id="2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7" id="27"/>
          <p:cNvGrpSpPr/>
          <p:nvPr/>
        </p:nvGrpSpPr>
        <p:grpSpPr>
          <a:xfrm rot="0">
            <a:off x="14484096" y="822960"/>
            <a:ext cx="68580" cy="68580"/>
            <a:chOff x="0" y="0"/>
            <a:chExt cx="91440" cy="91440"/>
          </a:xfrm>
        </p:grpSpPr>
        <p:sp>
          <p:nvSpPr>
            <p:cNvPr name="Freeform 28" id="2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9" id="29"/>
          <p:cNvGrpSpPr/>
          <p:nvPr/>
        </p:nvGrpSpPr>
        <p:grpSpPr>
          <a:xfrm rot="0">
            <a:off x="14484096" y="1261872"/>
            <a:ext cx="68580" cy="68580"/>
            <a:chOff x="0" y="0"/>
            <a:chExt cx="91440" cy="91440"/>
          </a:xfrm>
        </p:grpSpPr>
        <p:sp>
          <p:nvSpPr>
            <p:cNvPr name="Freeform 30" id="3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1" id="31"/>
          <p:cNvGrpSpPr/>
          <p:nvPr/>
        </p:nvGrpSpPr>
        <p:grpSpPr>
          <a:xfrm rot="0">
            <a:off x="14484096" y="1700784"/>
            <a:ext cx="68580" cy="68580"/>
            <a:chOff x="0" y="0"/>
            <a:chExt cx="91440" cy="91440"/>
          </a:xfrm>
        </p:grpSpPr>
        <p:sp>
          <p:nvSpPr>
            <p:cNvPr name="Freeform 32" id="3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3" id="33"/>
          <p:cNvGrpSpPr/>
          <p:nvPr/>
        </p:nvGrpSpPr>
        <p:grpSpPr>
          <a:xfrm rot="0">
            <a:off x="14484096" y="2139696"/>
            <a:ext cx="68580" cy="68580"/>
            <a:chOff x="0" y="0"/>
            <a:chExt cx="91440" cy="91440"/>
          </a:xfrm>
        </p:grpSpPr>
        <p:sp>
          <p:nvSpPr>
            <p:cNvPr name="Freeform 34" id="3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5" id="35"/>
          <p:cNvGrpSpPr/>
          <p:nvPr/>
        </p:nvGrpSpPr>
        <p:grpSpPr>
          <a:xfrm rot="0">
            <a:off x="14923008" y="822960"/>
            <a:ext cx="68580" cy="68580"/>
            <a:chOff x="0" y="0"/>
            <a:chExt cx="91440" cy="91440"/>
          </a:xfrm>
        </p:grpSpPr>
        <p:sp>
          <p:nvSpPr>
            <p:cNvPr name="Freeform 36" id="3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7" id="37"/>
          <p:cNvGrpSpPr/>
          <p:nvPr/>
        </p:nvGrpSpPr>
        <p:grpSpPr>
          <a:xfrm rot="0">
            <a:off x="14923008" y="1261872"/>
            <a:ext cx="68580" cy="68580"/>
            <a:chOff x="0" y="0"/>
            <a:chExt cx="91440" cy="91440"/>
          </a:xfrm>
        </p:grpSpPr>
        <p:sp>
          <p:nvSpPr>
            <p:cNvPr name="Freeform 38" id="3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9" id="39"/>
          <p:cNvGrpSpPr/>
          <p:nvPr/>
        </p:nvGrpSpPr>
        <p:grpSpPr>
          <a:xfrm rot="0">
            <a:off x="14923008" y="1700784"/>
            <a:ext cx="68580" cy="68580"/>
            <a:chOff x="0" y="0"/>
            <a:chExt cx="91440" cy="91440"/>
          </a:xfrm>
        </p:grpSpPr>
        <p:sp>
          <p:nvSpPr>
            <p:cNvPr name="Freeform 40" id="4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1" id="41"/>
          <p:cNvGrpSpPr/>
          <p:nvPr/>
        </p:nvGrpSpPr>
        <p:grpSpPr>
          <a:xfrm rot="0">
            <a:off x="14923008" y="2139696"/>
            <a:ext cx="68580" cy="68580"/>
            <a:chOff x="0" y="0"/>
            <a:chExt cx="91440" cy="91440"/>
          </a:xfrm>
        </p:grpSpPr>
        <p:sp>
          <p:nvSpPr>
            <p:cNvPr name="Freeform 42" id="4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3" id="43"/>
          <p:cNvGrpSpPr/>
          <p:nvPr/>
        </p:nvGrpSpPr>
        <p:grpSpPr>
          <a:xfrm rot="0">
            <a:off x="15361920" y="822960"/>
            <a:ext cx="68580" cy="68580"/>
            <a:chOff x="0" y="0"/>
            <a:chExt cx="91440" cy="91440"/>
          </a:xfrm>
        </p:grpSpPr>
        <p:sp>
          <p:nvSpPr>
            <p:cNvPr name="Freeform 44" id="4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5" id="45"/>
          <p:cNvGrpSpPr/>
          <p:nvPr/>
        </p:nvGrpSpPr>
        <p:grpSpPr>
          <a:xfrm rot="0">
            <a:off x="15361920" y="1261872"/>
            <a:ext cx="68580" cy="68580"/>
            <a:chOff x="0" y="0"/>
            <a:chExt cx="91440" cy="91440"/>
          </a:xfrm>
        </p:grpSpPr>
        <p:sp>
          <p:nvSpPr>
            <p:cNvPr name="Freeform 46" id="4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7" id="47"/>
          <p:cNvGrpSpPr/>
          <p:nvPr/>
        </p:nvGrpSpPr>
        <p:grpSpPr>
          <a:xfrm rot="0">
            <a:off x="15361920" y="1700784"/>
            <a:ext cx="68580" cy="68580"/>
            <a:chOff x="0" y="0"/>
            <a:chExt cx="91440" cy="91440"/>
          </a:xfrm>
        </p:grpSpPr>
        <p:sp>
          <p:nvSpPr>
            <p:cNvPr name="Freeform 48" id="4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9" id="49"/>
          <p:cNvGrpSpPr/>
          <p:nvPr/>
        </p:nvGrpSpPr>
        <p:grpSpPr>
          <a:xfrm rot="0">
            <a:off x="15361920" y="2139696"/>
            <a:ext cx="68580" cy="68580"/>
            <a:chOff x="0" y="0"/>
            <a:chExt cx="91440" cy="91440"/>
          </a:xfrm>
        </p:grpSpPr>
        <p:sp>
          <p:nvSpPr>
            <p:cNvPr name="Freeform 50" id="5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sp>
        <p:nvSpPr>
          <p:cNvPr name="Freeform 51" id="51"/>
          <p:cNvSpPr/>
          <p:nvPr/>
        </p:nvSpPr>
        <p:spPr>
          <a:xfrm flipH="true" flipV="false" rot="0">
            <a:off x="-12560491" y="0"/>
            <a:ext cx="18458371" cy="10336688"/>
          </a:xfrm>
          <a:custGeom>
            <a:avLst/>
            <a:gdLst/>
            <a:ahLst/>
            <a:cxnLst/>
            <a:rect r="r" b="b" t="t" l="l"/>
            <a:pathLst>
              <a:path h="10336688" w="18458371">
                <a:moveTo>
                  <a:pt x="18458371" y="0"/>
                </a:moveTo>
                <a:lnTo>
                  <a:pt x="0" y="0"/>
                </a:lnTo>
                <a:lnTo>
                  <a:pt x="0" y="10336688"/>
                </a:lnTo>
                <a:lnTo>
                  <a:pt x="18458371" y="10336688"/>
                </a:lnTo>
                <a:lnTo>
                  <a:pt x="18458371" y="0"/>
                </a:lnTo>
                <a:close/>
              </a:path>
            </a:pathLst>
          </a:custGeom>
          <a:blipFill>
            <a:blip r:embed="rId2">
              <a:alphaModFix amt="40000"/>
            </a:blip>
            <a:stretch>
              <a:fillRect l="0" t="0" r="0" b="0"/>
            </a:stretch>
          </a:blipFill>
        </p:spPr>
      </p:sp>
      <p:grpSp>
        <p:nvGrpSpPr>
          <p:cNvPr name="Group 52" id="52"/>
          <p:cNvGrpSpPr/>
          <p:nvPr/>
        </p:nvGrpSpPr>
        <p:grpSpPr>
          <a:xfrm rot="0">
            <a:off x="1234440" y="1234440"/>
            <a:ext cx="1577340" cy="1577340"/>
            <a:chOff x="0" y="0"/>
            <a:chExt cx="2103120" cy="2103120"/>
          </a:xfrm>
        </p:grpSpPr>
        <p:sp>
          <p:nvSpPr>
            <p:cNvPr name="Freeform 53" id="53"/>
            <p:cNvSpPr/>
            <p:nvPr/>
          </p:nvSpPr>
          <p:spPr>
            <a:xfrm flipH="false" flipV="false" rot="0">
              <a:off x="0" y="0"/>
              <a:ext cx="2103120" cy="2103120"/>
            </a:xfrm>
            <a:custGeom>
              <a:avLst/>
              <a:gdLst/>
              <a:ahLst/>
              <a:cxnLst/>
              <a:rect r="r" b="b" t="t" l="l"/>
              <a:pathLst>
                <a:path h="2103120" w="2103120">
                  <a:moveTo>
                    <a:pt x="0" y="1051560"/>
                  </a:moveTo>
                  <a:cubicBezTo>
                    <a:pt x="0" y="470789"/>
                    <a:pt x="470789" y="0"/>
                    <a:pt x="1051560" y="0"/>
                  </a:cubicBezTo>
                  <a:cubicBezTo>
                    <a:pt x="1632331" y="0"/>
                    <a:pt x="2103120" y="470789"/>
                    <a:pt x="2103120" y="1051560"/>
                  </a:cubicBezTo>
                  <a:cubicBezTo>
                    <a:pt x="2103120" y="1632331"/>
                    <a:pt x="1632331" y="2103120"/>
                    <a:pt x="1051560" y="2103120"/>
                  </a:cubicBezTo>
                  <a:cubicBezTo>
                    <a:pt x="470789" y="2103120"/>
                    <a:pt x="0" y="1632331"/>
                    <a:pt x="0" y="1051560"/>
                  </a:cubicBezTo>
                  <a:close/>
                </a:path>
              </a:pathLst>
            </a:custGeom>
            <a:solidFill>
              <a:srgbClr val="8EB69B"/>
            </a:solidFill>
          </p:spPr>
        </p:sp>
      </p:grpSp>
      <p:grpSp>
        <p:nvGrpSpPr>
          <p:cNvPr name="Group 54" id="54"/>
          <p:cNvGrpSpPr/>
          <p:nvPr/>
        </p:nvGrpSpPr>
        <p:grpSpPr>
          <a:xfrm rot="0">
            <a:off x="1613002" y="1613002"/>
            <a:ext cx="820217" cy="820217"/>
            <a:chOff x="0" y="0"/>
            <a:chExt cx="1093622" cy="1093622"/>
          </a:xfrm>
        </p:grpSpPr>
        <p:sp>
          <p:nvSpPr>
            <p:cNvPr name="Freeform 55" id="55" descr="/home/claude/sms-security/icons/shield_dark1.png"/>
            <p:cNvSpPr/>
            <p:nvPr/>
          </p:nvSpPr>
          <p:spPr>
            <a:xfrm flipH="false" flipV="false" rot="0">
              <a:off x="0" y="0"/>
              <a:ext cx="1093597" cy="1093597"/>
            </a:xfrm>
            <a:custGeom>
              <a:avLst/>
              <a:gdLst/>
              <a:ahLst/>
              <a:cxnLst/>
              <a:rect r="r" b="b" t="t" l="l"/>
              <a:pathLst>
                <a:path h="1093597" w="1093597">
                  <a:moveTo>
                    <a:pt x="0" y="0"/>
                  </a:moveTo>
                  <a:lnTo>
                    <a:pt x="1093597" y="0"/>
                  </a:lnTo>
                  <a:lnTo>
                    <a:pt x="1093597" y="1093597"/>
                  </a:lnTo>
                  <a:lnTo>
                    <a:pt x="0" y="1093597"/>
                  </a:lnTo>
                  <a:lnTo>
                    <a:pt x="0" y="0"/>
                  </a:lnTo>
                  <a:close/>
                </a:path>
              </a:pathLst>
            </a:custGeom>
            <a:blipFill>
              <a:blip r:embed="rId3"/>
              <a:stretch>
                <a:fillRect l="0" t="0" r="-2" b="-2"/>
              </a:stretch>
            </a:blipFill>
          </p:spPr>
        </p:sp>
      </p:grpSp>
      <p:grpSp>
        <p:nvGrpSpPr>
          <p:cNvPr name="Group 56" id="56"/>
          <p:cNvGrpSpPr/>
          <p:nvPr/>
        </p:nvGrpSpPr>
        <p:grpSpPr>
          <a:xfrm rot="0">
            <a:off x="1234440" y="3223260"/>
            <a:ext cx="10972800" cy="548640"/>
            <a:chOff x="0" y="0"/>
            <a:chExt cx="14630400" cy="731520"/>
          </a:xfrm>
        </p:grpSpPr>
        <p:sp>
          <p:nvSpPr>
            <p:cNvPr name="Freeform 57" id="57"/>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4">
                <a:alphaModFix amt="0"/>
              </a:blip>
              <a:stretch>
                <a:fillRect l="0" t="-339700" r="0" b="-339700"/>
              </a:stretch>
            </a:blipFill>
          </p:spPr>
        </p:sp>
        <p:sp>
          <p:nvSpPr>
            <p:cNvPr name="TextBox 58" id="58"/>
            <p:cNvSpPr txBox="true"/>
            <p:nvPr/>
          </p:nvSpPr>
          <p:spPr>
            <a:xfrm>
              <a:off x="0" y="-47625"/>
              <a:ext cx="14630400" cy="779145"/>
            </a:xfrm>
            <a:prstGeom prst="rect">
              <a:avLst/>
            </a:prstGeom>
          </p:spPr>
          <p:txBody>
            <a:bodyPr anchor="ctr" rtlCol="false" tIns="0" lIns="0" bIns="0" rIns="0"/>
            <a:lstStyle/>
            <a:p>
              <a:pPr algn="l">
                <a:lnSpc>
                  <a:spcPts val="2340"/>
                </a:lnSpc>
              </a:pPr>
              <a:r>
                <a:rPr lang="en-US" b="true" sz="1950" spc="449">
                  <a:solidFill>
                    <a:srgbClr val="8EB69B"/>
                  </a:solidFill>
                  <a:latin typeface="Calibri (MS) Bold"/>
                  <a:ea typeface="Calibri (MS) Bold"/>
                  <a:cs typeface="Calibri (MS) Bold"/>
                  <a:sym typeface="Calibri (MS) Bold"/>
                </a:rPr>
                <a:t>CAPSTONE · SECCIÓN 005D</a:t>
              </a:r>
            </a:p>
          </p:txBody>
        </p:sp>
      </p:grpSp>
      <p:grpSp>
        <p:nvGrpSpPr>
          <p:cNvPr name="Group 59" id="59"/>
          <p:cNvGrpSpPr/>
          <p:nvPr/>
        </p:nvGrpSpPr>
        <p:grpSpPr>
          <a:xfrm rot="0">
            <a:off x="1165860" y="3771900"/>
            <a:ext cx="14401800" cy="1783080"/>
            <a:chOff x="0" y="0"/>
            <a:chExt cx="19202400" cy="2377440"/>
          </a:xfrm>
        </p:grpSpPr>
        <p:sp>
          <p:nvSpPr>
            <p:cNvPr name="Freeform 60" id="60"/>
            <p:cNvSpPr/>
            <p:nvPr/>
          </p:nvSpPr>
          <p:spPr>
            <a:xfrm flipH="false" flipV="false" rot="0">
              <a:off x="0" y="0"/>
              <a:ext cx="19202400" cy="2377440"/>
            </a:xfrm>
            <a:custGeom>
              <a:avLst/>
              <a:gdLst/>
              <a:ahLst/>
              <a:cxnLst/>
              <a:rect r="r" b="b" t="t" l="l"/>
              <a:pathLst>
                <a:path h="2377440" w="19202400">
                  <a:moveTo>
                    <a:pt x="0" y="0"/>
                  </a:moveTo>
                  <a:lnTo>
                    <a:pt x="19202400" y="0"/>
                  </a:lnTo>
                  <a:lnTo>
                    <a:pt x="19202400" y="2377440"/>
                  </a:lnTo>
                  <a:lnTo>
                    <a:pt x="0" y="2377440"/>
                  </a:lnTo>
                  <a:close/>
                </a:path>
              </a:pathLst>
            </a:custGeom>
            <a:blipFill>
              <a:blip r:embed="rId4">
                <a:alphaModFix amt="0"/>
              </a:blip>
              <a:stretch>
                <a:fillRect l="0" t="-107379" r="0" b="-107379"/>
              </a:stretch>
            </a:blipFill>
          </p:spPr>
        </p:sp>
        <p:sp>
          <p:nvSpPr>
            <p:cNvPr name="TextBox 61" id="61"/>
            <p:cNvSpPr txBox="true"/>
            <p:nvPr/>
          </p:nvSpPr>
          <p:spPr>
            <a:xfrm>
              <a:off x="0" y="-19050"/>
              <a:ext cx="19202400" cy="2396490"/>
            </a:xfrm>
            <a:prstGeom prst="rect">
              <a:avLst/>
            </a:prstGeom>
          </p:spPr>
          <p:txBody>
            <a:bodyPr anchor="ctr" rtlCol="false" tIns="0" lIns="0" bIns="0" rIns="0"/>
            <a:lstStyle/>
            <a:p>
              <a:pPr algn="l">
                <a:lnSpc>
                  <a:spcPts val="10800"/>
                </a:lnSpc>
              </a:pPr>
              <a:r>
                <a:rPr lang="en-US" sz="9000" b="true">
                  <a:solidFill>
                    <a:srgbClr val="DAF1DE"/>
                  </a:solidFill>
                  <a:latin typeface="Cambria Bold"/>
                  <a:ea typeface="Cambria Bold"/>
                  <a:cs typeface="Cambria Bold"/>
                  <a:sym typeface="Cambria Bold"/>
                </a:rPr>
                <a:t>SMS Security</a:t>
              </a:r>
            </a:p>
          </p:txBody>
        </p:sp>
      </p:grpSp>
      <p:grpSp>
        <p:nvGrpSpPr>
          <p:cNvPr name="Group 62" id="62"/>
          <p:cNvGrpSpPr/>
          <p:nvPr/>
        </p:nvGrpSpPr>
        <p:grpSpPr>
          <a:xfrm rot="0">
            <a:off x="1234440" y="5486400"/>
            <a:ext cx="11486134" cy="1097280"/>
            <a:chOff x="0" y="0"/>
            <a:chExt cx="15314845" cy="1463040"/>
          </a:xfrm>
        </p:grpSpPr>
        <p:sp>
          <p:nvSpPr>
            <p:cNvPr name="Freeform 63" id="63"/>
            <p:cNvSpPr/>
            <p:nvPr/>
          </p:nvSpPr>
          <p:spPr>
            <a:xfrm flipH="false" flipV="false" rot="0">
              <a:off x="0" y="0"/>
              <a:ext cx="15314845" cy="1463040"/>
            </a:xfrm>
            <a:custGeom>
              <a:avLst/>
              <a:gdLst/>
              <a:ahLst/>
              <a:cxnLst/>
              <a:rect r="r" b="b" t="t" l="l"/>
              <a:pathLst>
                <a:path h="1463040" w="15314845">
                  <a:moveTo>
                    <a:pt x="0" y="0"/>
                  </a:moveTo>
                  <a:lnTo>
                    <a:pt x="15314845" y="0"/>
                  </a:lnTo>
                  <a:lnTo>
                    <a:pt x="15314845" y="1463040"/>
                  </a:lnTo>
                  <a:lnTo>
                    <a:pt x="0" y="1463040"/>
                  </a:lnTo>
                  <a:close/>
                </a:path>
              </a:pathLst>
            </a:custGeom>
            <a:blipFill>
              <a:blip r:embed="rId4">
                <a:alphaModFix amt="0"/>
              </a:blip>
              <a:stretch>
                <a:fillRect l="0" t="-159464" r="-2695" b="-159464"/>
              </a:stretch>
            </a:blipFill>
          </p:spPr>
        </p:sp>
        <p:sp>
          <p:nvSpPr>
            <p:cNvPr name="TextBox 64" id="64"/>
            <p:cNvSpPr txBox="true"/>
            <p:nvPr/>
          </p:nvSpPr>
          <p:spPr>
            <a:xfrm>
              <a:off x="0" y="-38100"/>
              <a:ext cx="15314845" cy="1501140"/>
            </a:xfrm>
            <a:prstGeom prst="rect">
              <a:avLst/>
            </a:prstGeom>
          </p:spPr>
          <p:txBody>
            <a:bodyPr anchor="ctr" rtlCol="false" tIns="0" lIns="0" bIns="0" rIns="0"/>
            <a:lstStyle/>
            <a:p>
              <a:pPr algn="l">
                <a:lnSpc>
                  <a:spcPts val="2879"/>
                </a:lnSpc>
              </a:pPr>
              <a:r>
                <a:rPr lang="en-US" sz="2400">
                  <a:solidFill>
                    <a:srgbClr val="8EB69B"/>
                  </a:solidFill>
                  <a:latin typeface="Calibri (MS)"/>
                  <a:ea typeface="Calibri (MS)"/>
                  <a:cs typeface="Calibri (MS)"/>
                  <a:sym typeface="Calibri (MS)"/>
                </a:rPr>
                <a:t>Detección inteligente de fraude por SMS (smishing) para proteger a la población, con foco en personas de la tercera edad</a:t>
              </a:r>
            </a:p>
          </p:txBody>
        </p:sp>
      </p:grpSp>
      <p:grpSp>
        <p:nvGrpSpPr>
          <p:cNvPr name="Group 65" id="65"/>
          <p:cNvGrpSpPr/>
          <p:nvPr/>
        </p:nvGrpSpPr>
        <p:grpSpPr>
          <a:xfrm rot="0">
            <a:off x="1234440" y="7063740"/>
            <a:ext cx="685800" cy="685800"/>
            <a:chOff x="0" y="0"/>
            <a:chExt cx="914400" cy="914400"/>
          </a:xfrm>
        </p:grpSpPr>
        <p:sp>
          <p:nvSpPr>
            <p:cNvPr name="Freeform 66" id="6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67" id="67"/>
          <p:cNvGrpSpPr/>
          <p:nvPr/>
        </p:nvGrpSpPr>
        <p:grpSpPr>
          <a:xfrm rot="0">
            <a:off x="1399032" y="7228332"/>
            <a:ext cx="356616" cy="356616"/>
            <a:chOff x="0" y="0"/>
            <a:chExt cx="475488" cy="475488"/>
          </a:xfrm>
        </p:grpSpPr>
        <p:sp>
          <p:nvSpPr>
            <p:cNvPr name="Freeform 68" id="68" descr="/home/claude/sms-security/icons/mobile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5"/>
              <a:stretch>
                <a:fillRect l="0" t="0" r="0" b="0"/>
              </a:stretch>
            </a:blipFill>
          </p:spPr>
        </p:sp>
      </p:grpSp>
      <p:grpSp>
        <p:nvGrpSpPr>
          <p:cNvPr name="Group 69" id="69"/>
          <p:cNvGrpSpPr/>
          <p:nvPr/>
        </p:nvGrpSpPr>
        <p:grpSpPr>
          <a:xfrm rot="0">
            <a:off x="2084832" y="7063740"/>
            <a:ext cx="2880360" cy="685800"/>
            <a:chOff x="0" y="0"/>
            <a:chExt cx="3840480" cy="914400"/>
          </a:xfrm>
        </p:grpSpPr>
        <p:sp>
          <p:nvSpPr>
            <p:cNvPr name="Freeform 70" id="70"/>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71" id="71"/>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App móvil Android</a:t>
              </a:r>
            </a:p>
          </p:txBody>
        </p:sp>
      </p:grpSp>
      <p:grpSp>
        <p:nvGrpSpPr>
          <p:cNvPr name="Group 72" id="72"/>
          <p:cNvGrpSpPr/>
          <p:nvPr/>
        </p:nvGrpSpPr>
        <p:grpSpPr>
          <a:xfrm rot="0">
            <a:off x="5212080" y="7063740"/>
            <a:ext cx="685800" cy="685800"/>
            <a:chOff x="0" y="0"/>
            <a:chExt cx="914400" cy="914400"/>
          </a:xfrm>
        </p:grpSpPr>
        <p:sp>
          <p:nvSpPr>
            <p:cNvPr name="Freeform 73" id="7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74" id="74"/>
          <p:cNvGrpSpPr/>
          <p:nvPr/>
        </p:nvGrpSpPr>
        <p:grpSpPr>
          <a:xfrm rot="0">
            <a:off x="5376672" y="7228332"/>
            <a:ext cx="356616" cy="356616"/>
            <a:chOff x="0" y="0"/>
            <a:chExt cx="475488" cy="475488"/>
          </a:xfrm>
        </p:grpSpPr>
        <p:sp>
          <p:nvSpPr>
            <p:cNvPr name="Freeform 75" id="75" descr="/home/claude/sms-security/icons/robot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6"/>
              <a:stretch>
                <a:fillRect l="0" t="0" r="0" b="0"/>
              </a:stretch>
            </a:blipFill>
          </p:spPr>
        </p:sp>
      </p:grpSp>
      <p:grpSp>
        <p:nvGrpSpPr>
          <p:cNvPr name="Group 76" id="76"/>
          <p:cNvGrpSpPr/>
          <p:nvPr/>
        </p:nvGrpSpPr>
        <p:grpSpPr>
          <a:xfrm rot="0">
            <a:off x="6062472" y="7063740"/>
            <a:ext cx="2880360" cy="685800"/>
            <a:chOff x="0" y="0"/>
            <a:chExt cx="3840480" cy="914400"/>
          </a:xfrm>
        </p:grpSpPr>
        <p:sp>
          <p:nvSpPr>
            <p:cNvPr name="Freeform 77" id="77"/>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78" id="78"/>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IA aplicada</a:t>
              </a:r>
            </a:p>
          </p:txBody>
        </p:sp>
      </p:grpSp>
      <p:grpSp>
        <p:nvGrpSpPr>
          <p:cNvPr name="Group 79" id="79"/>
          <p:cNvGrpSpPr/>
          <p:nvPr/>
        </p:nvGrpSpPr>
        <p:grpSpPr>
          <a:xfrm rot="0">
            <a:off x="9189720" y="7063740"/>
            <a:ext cx="685800" cy="685800"/>
            <a:chOff x="0" y="0"/>
            <a:chExt cx="914400" cy="914400"/>
          </a:xfrm>
        </p:grpSpPr>
        <p:sp>
          <p:nvSpPr>
            <p:cNvPr name="Freeform 80" id="8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81" id="81"/>
          <p:cNvGrpSpPr/>
          <p:nvPr/>
        </p:nvGrpSpPr>
        <p:grpSpPr>
          <a:xfrm rot="0">
            <a:off x="9354312" y="7228332"/>
            <a:ext cx="356616" cy="356616"/>
            <a:chOff x="0" y="0"/>
            <a:chExt cx="475488" cy="475488"/>
          </a:xfrm>
        </p:grpSpPr>
        <p:sp>
          <p:nvSpPr>
            <p:cNvPr name="Freeform 82" id="82" descr="/home/claude/sms-security/icons/lock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grpSp>
        <p:nvGrpSpPr>
          <p:cNvPr name="Group 83" id="83"/>
          <p:cNvGrpSpPr/>
          <p:nvPr/>
        </p:nvGrpSpPr>
        <p:grpSpPr>
          <a:xfrm rot="0">
            <a:off x="10040112" y="7063740"/>
            <a:ext cx="2880360" cy="685800"/>
            <a:chOff x="0" y="0"/>
            <a:chExt cx="3840480" cy="914400"/>
          </a:xfrm>
        </p:grpSpPr>
        <p:sp>
          <p:nvSpPr>
            <p:cNvPr name="Freeform 84" id="8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85" id="85"/>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Ciberseguridad</a:t>
              </a:r>
            </a:p>
          </p:txBody>
        </p:sp>
      </p:grpSp>
      <p:grpSp>
        <p:nvGrpSpPr>
          <p:cNvPr name="Group 86" id="86"/>
          <p:cNvGrpSpPr/>
          <p:nvPr/>
        </p:nvGrpSpPr>
        <p:grpSpPr>
          <a:xfrm rot="0">
            <a:off x="1234440" y="8503920"/>
            <a:ext cx="15773400" cy="1165860"/>
            <a:chOff x="0" y="0"/>
            <a:chExt cx="21031200" cy="1554480"/>
          </a:xfrm>
        </p:grpSpPr>
        <p:sp>
          <p:nvSpPr>
            <p:cNvPr name="Freeform 87" id="87"/>
            <p:cNvSpPr/>
            <p:nvPr/>
          </p:nvSpPr>
          <p:spPr>
            <a:xfrm flipH="false" flipV="false" rot="0">
              <a:off x="0" y="0"/>
              <a:ext cx="21031200" cy="1554480"/>
            </a:xfrm>
            <a:custGeom>
              <a:avLst/>
              <a:gdLst/>
              <a:ahLst/>
              <a:cxnLst/>
              <a:rect r="r" b="b" t="t" l="l"/>
              <a:pathLst>
                <a:path h="1554480" w="21031200">
                  <a:moveTo>
                    <a:pt x="0" y="182880"/>
                  </a:moveTo>
                  <a:cubicBezTo>
                    <a:pt x="0" y="81915"/>
                    <a:pt x="81915" y="0"/>
                    <a:pt x="182880" y="0"/>
                  </a:cubicBezTo>
                  <a:lnTo>
                    <a:pt x="20848320" y="0"/>
                  </a:lnTo>
                  <a:cubicBezTo>
                    <a:pt x="20949284" y="0"/>
                    <a:pt x="21031200" y="81915"/>
                    <a:pt x="21031200" y="182880"/>
                  </a:cubicBezTo>
                  <a:lnTo>
                    <a:pt x="21031200" y="1371600"/>
                  </a:lnTo>
                  <a:cubicBezTo>
                    <a:pt x="21031200" y="1472565"/>
                    <a:pt x="20949284" y="1554480"/>
                    <a:pt x="20848320" y="1554480"/>
                  </a:cubicBezTo>
                  <a:lnTo>
                    <a:pt x="182880" y="1554480"/>
                  </a:lnTo>
                  <a:cubicBezTo>
                    <a:pt x="81915" y="1554480"/>
                    <a:pt x="0" y="1472565"/>
                    <a:pt x="0" y="1371600"/>
                  </a:cubicBezTo>
                  <a:close/>
                </a:path>
              </a:pathLst>
            </a:custGeom>
            <a:solidFill>
              <a:srgbClr val="0B2B26"/>
            </a:solidFill>
          </p:spPr>
        </p:sp>
      </p:grpSp>
      <p:grpSp>
        <p:nvGrpSpPr>
          <p:cNvPr name="Group 88" id="88"/>
          <p:cNvGrpSpPr/>
          <p:nvPr/>
        </p:nvGrpSpPr>
        <p:grpSpPr>
          <a:xfrm rot="0">
            <a:off x="1577340" y="8613648"/>
            <a:ext cx="855878" cy="960120"/>
            <a:chOff x="0" y="0"/>
            <a:chExt cx="1141171" cy="1280160"/>
          </a:xfrm>
        </p:grpSpPr>
        <p:sp>
          <p:nvSpPr>
            <p:cNvPr name="Freeform 89" id="89"/>
            <p:cNvSpPr/>
            <p:nvPr/>
          </p:nvSpPr>
          <p:spPr>
            <a:xfrm flipH="false" flipV="false" rot="0">
              <a:off x="0" y="0"/>
              <a:ext cx="1141171" cy="1280160"/>
            </a:xfrm>
            <a:custGeom>
              <a:avLst/>
              <a:gdLst/>
              <a:ahLst/>
              <a:cxnLst/>
              <a:rect r="r" b="b" t="t" l="l"/>
              <a:pathLst>
                <a:path h="1280160" w="1141171">
                  <a:moveTo>
                    <a:pt x="0" y="0"/>
                  </a:moveTo>
                  <a:lnTo>
                    <a:pt x="1141171" y="0"/>
                  </a:lnTo>
                  <a:lnTo>
                    <a:pt x="1141171" y="1280160"/>
                  </a:lnTo>
                  <a:lnTo>
                    <a:pt x="0" y="1280160"/>
                  </a:lnTo>
                  <a:close/>
                </a:path>
              </a:pathLst>
            </a:custGeom>
            <a:blipFill>
              <a:blip r:embed="rId4">
                <a:alphaModFix amt="0"/>
              </a:blip>
              <a:stretch>
                <a:fillRect l="-15725" t="0" r="-172135" b="0"/>
              </a:stretch>
            </a:blipFill>
          </p:spPr>
        </p:sp>
        <p:sp>
          <p:nvSpPr>
            <p:cNvPr name="TextBox 90" id="90"/>
            <p:cNvSpPr txBox="true"/>
            <p:nvPr/>
          </p:nvSpPr>
          <p:spPr>
            <a:xfrm>
              <a:off x="0" y="-28575"/>
              <a:ext cx="1141171" cy="130873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Equipo</a:t>
              </a:r>
            </a:p>
          </p:txBody>
        </p:sp>
      </p:grpSp>
      <p:grpSp>
        <p:nvGrpSpPr>
          <p:cNvPr name="Group 91" id="91"/>
          <p:cNvGrpSpPr/>
          <p:nvPr/>
        </p:nvGrpSpPr>
        <p:grpSpPr>
          <a:xfrm rot="0">
            <a:off x="2564892" y="8613648"/>
            <a:ext cx="5109505" cy="960120"/>
            <a:chOff x="0" y="0"/>
            <a:chExt cx="6812674" cy="1280160"/>
          </a:xfrm>
        </p:grpSpPr>
        <p:sp>
          <p:nvSpPr>
            <p:cNvPr name="Freeform 92" id="92"/>
            <p:cNvSpPr/>
            <p:nvPr/>
          </p:nvSpPr>
          <p:spPr>
            <a:xfrm flipH="false" flipV="false" rot="0">
              <a:off x="0" y="0"/>
              <a:ext cx="6812674" cy="1280160"/>
            </a:xfrm>
            <a:custGeom>
              <a:avLst/>
              <a:gdLst/>
              <a:ahLst/>
              <a:cxnLst/>
              <a:rect r="r" b="b" t="t" l="l"/>
              <a:pathLst>
                <a:path h="1280160" w="6812674">
                  <a:moveTo>
                    <a:pt x="0" y="0"/>
                  </a:moveTo>
                  <a:lnTo>
                    <a:pt x="6812674" y="0"/>
                  </a:lnTo>
                  <a:lnTo>
                    <a:pt x="6812674" y="1280160"/>
                  </a:lnTo>
                  <a:lnTo>
                    <a:pt x="0" y="1280160"/>
                  </a:lnTo>
                  <a:close/>
                </a:path>
              </a:pathLst>
            </a:custGeom>
            <a:blipFill>
              <a:blip r:embed="rId4">
                <a:alphaModFix amt="0"/>
              </a:blip>
              <a:stretch>
                <a:fillRect l="0" t="-130932" r="-74486" b="-130932"/>
              </a:stretch>
            </a:blipFill>
          </p:spPr>
        </p:sp>
        <p:sp>
          <p:nvSpPr>
            <p:cNvPr name="TextBox 93" id="93"/>
            <p:cNvSpPr txBox="true"/>
            <p:nvPr/>
          </p:nvSpPr>
          <p:spPr>
            <a:xfrm>
              <a:off x="0" y="-47625"/>
              <a:ext cx="6812674" cy="1327785"/>
            </a:xfrm>
            <a:prstGeom prst="rect">
              <a:avLst/>
            </a:prstGeom>
          </p:spPr>
          <p:txBody>
            <a:bodyPr anchor="ctr" rtlCol="false" tIns="0" lIns="0" bIns="0" rIns="0"/>
            <a:lstStyle/>
            <a:p>
              <a:pPr algn="l">
                <a:lnSpc>
                  <a:spcPts val="2340"/>
                </a:lnSpc>
              </a:pPr>
              <a:r>
                <a:rPr lang="en-US" sz="1950">
                  <a:solidFill>
                    <a:srgbClr val="DAF1DE"/>
                  </a:solidFill>
                  <a:latin typeface="Calibri (MS)"/>
                  <a:ea typeface="Calibri (MS)"/>
                  <a:cs typeface="Calibri (MS)"/>
                  <a:sym typeface="Calibri (MS)"/>
                </a:rPr>
                <a:t>Bryan Acuña</a:t>
              </a:r>
              <a:r>
                <a:rPr lang="en-US" sz="1950">
                  <a:solidFill>
                    <a:srgbClr val="DAF1DE"/>
                  </a:solidFill>
                  <a:latin typeface="Calibri (MS)"/>
                  <a:ea typeface="Calibri (MS)"/>
                  <a:cs typeface="Calibri (MS)"/>
                  <a:sym typeface="Calibri (MS)"/>
                </a:rPr>
                <a:t>   ·   Manuel Rivas   ·   Marcel Tusach</a:t>
              </a:r>
            </a:p>
          </p:txBody>
        </p:sp>
      </p:grpSp>
      <p:grpSp>
        <p:nvGrpSpPr>
          <p:cNvPr name="Group 94" id="94"/>
          <p:cNvGrpSpPr/>
          <p:nvPr/>
        </p:nvGrpSpPr>
        <p:grpSpPr>
          <a:xfrm rot="0">
            <a:off x="12618720" y="8613648"/>
            <a:ext cx="4114800" cy="960120"/>
            <a:chOff x="0" y="0"/>
            <a:chExt cx="5486400" cy="1280160"/>
          </a:xfrm>
        </p:grpSpPr>
        <p:sp>
          <p:nvSpPr>
            <p:cNvPr name="Freeform 95" id="95"/>
            <p:cNvSpPr/>
            <p:nvPr/>
          </p:nvSpPr>
          <p:spPr>
            <a:xfrm flipH="false" flipV="false" rot="0">
              <a:off x="0" y="0"/>
              <a:ext cx="5486400" cy="1280160"/>
            </a:xfrm>
            <a:custGeom>
              <a:avLst/>
              <a:gdLst/>
              <a:ahLst/>
              <a:cxnLst/>
              <a:rect r="r" b="b" t="t" l="l"/>
              <a:pathLst>
                <a:path h="1280160" w="5486400">
                  <a:moveTo>
                    <a:pt x="0" y="0"/>
                  </a:moveTo>
                  <a:lnTo>
                    <a:pt x="5486400" y="0"/>
                  </a:lnTo>
                  <a:lnTo>
                    <a:pt x="5486400" y="1280160"/>
                  </a:lnTo>
                  <a:lnTo>
                    <a:pt x="0" y="1280160"/>
                  </a:lnTo>
                  <a:close/>
                </a:path>
              </a:pathLst>
            </a:custGeom>
            <a:blipFill>
              <a:blip r:embed="rId4">
                <a:alphaModFix amt="0"/>
              </a:blip>
              <a:stretch>
                <a:fillRect l="0" t="-33507" r="0" b="-33507"/>
              </a:stretch>
            </a:blipFill>
          </p:spPr>
        </p:sp>
        <p:sp>
          <p:nvSpPr>
            <p:cNvPr name="TextBox 96" id="96"/>
            <p:cNvSpPr txBox="true"/>
            <p:nvPr/>
          </p:nvSpPr>
          <p:spPr>
            <a:xfrm>
              <a:off x="0" y="-38100"/>
              <a:ext cx="5486400" cy="1318260"/>
            </a:xfrm>
            <a:prstGeom prst="rect">
              <a:avLst/>
            </a:prstGeom>
          </p:spPr>
          <p:txBody>
            <a:bodyPr anchor="ctr" rtlCol="false" tIns="0" lIns="0" bIns="0" rIns="0"/>
            <a:lstStyle/>
            <a:p>
              <a:pPr algn="r">
                <a:lnSpc>
                  <a:spcPts val="2160"/>
                </a:lnSpc>
              </a:pPr>
              <a:r>
                <a:rPr lang="en-US" sz="1800">
                  <a:solidFill>
                    <a:srgbClr val="8EB69B"/>
                  </a:solidFill>
                  <a:latin typeface="Calibri (MS)"/>
                  <a:ea typeface="Calibri (MS)"/>
                  <a:cs typeface="Calibri (MS)"/>
                  <a:sym typeface="Calibri (MS)"/>
                </a:rPr>
                <a:t>Ingeniería en Informática · San Joaquin</a:t>
              </a:r>
            </a:p>
          </p:txBody>
        </p:sp>
      </p:grpSp>
      <p:grpSp>
        <p:nvGrpSpPr>
          <p:cNvPr name="Group 97" id="97"/>
          <p:cNvGrpSpPr/>
          <p:nvPr/>
        </p:nvGrpSpPr>
        <p:grpSpPr>
          <a:xfrm rot="0">
            <a:off x="8086954" y="8606790"/>
            <a:ext cx="855878" cy="960120"/>
            <a:chOff x="0" y="0"/>
            <a:chExt cx="1141171" cy="1280160"/>
          </a:xfrm>
        </p:grpSpPr>
        <p:sp>
          <p:nvSpPr>
            <p:cNvPr name="Freeform 98" id="98"/>
            <p:cNvSpPr/>
            <p:nvPr/>
          </p:nvSpPr>
          <p:spPr>
            <a:xfrm flipH="false" flipV="false" rot="0">
              <a:off x="0" y="0"/>
              <a:ext cx="1141171" cy="1280160"/>
            </a:xfrm>
            <a:custGeom>
              <a:avLst/>
              <a:gdLst/>
              <a:ahLst/>
              <a:cxnLst/>
              <a:rect r="r" b="b" t="t" l="l"/>
              <a:pathLst>
                <a:path h="1280160" w="1141171">
                  <a:moveTo>
                    <a:pt x="0" y="0"/>
                  </a:moveTo>
                  <a:lnTo>
                    <a:pt x="1141171" y="0"/>
                  </a:lnTo>
                  <a:lnTo>
                    <a:pt x="1141171" y="1280160"/>
                  </a:lnTo>
                  <a:lnTo>
                    <a:pt x="0" y="1280160"/>
                  </a:lnTo>
                  <a:close/>
                </a:path>
              </a:pathLst>
            </a:custGeom>
            <a:blipFill>
              <a:blip r:embed="rId4">
                <a:alphaModFix amt="0"/>
              </a:blip>
              <a:stretch>
                <a:fillRect l="-15725" t="0" r="-172135" b="0"/>
              </a:stretch>
            </a:blipFill>
          </p:spPr>
        </p:sp>
        <p:sp>
          <p:nvSpPr>
            <p:cNvPr name="TextBox 99" id="99"/>
            <p:cNvSpPr txBox="true"/>
            <p:nvPr/>
          </p:nvSpPr>
          <p:spPr>
            <a:xfrm>
              <a:off x="0" y="-28575"/>
              <a:ext cx="1141171" cy="130873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Docente</a:t>
              </a:r>
            </a:p>
          </p:txBody>
        </p:sp>
      </p:grpSp>
      <p:grpSp>
        <p:nvGrpSpPr>
          <p:cNvPr name="Group 100" id="100"/>
          <p:cNvGrpSpPr/>
          <p:nvPr/>
        </p:nvGrpSpPr>
        <p:grpSpPr>
          <a:xfrm rot="0">
            <a:off x="9076182" y="8613648"/>
            <a:ext cx="1772879" cy="960120"/>
            <a:chOff x="0" y="0"/>
            <a:chExt cx="2363838" cy="1280160"/>
          </a:xfrm>
        </p:grpSpPr>
        <p:sp>
          <p:nvSpPr>
            <p:cNvPr name="Freeform 101" id="101"/>
            <p:cNvSpPr/>
            <p:nvPr/>
          </p:nvSpPr>
          <p:spPr>
            <a:xfrm flipH="false" flipV="false" rot="0">
              <a:off x="0" y="0"/>
              <a:ext cx="2363838" cy="1280160"/>
            </a:xfrm>
            <a:custGeom>
              <a:avLst/>
              <a:gdLst/>
              <a:ahLst/>
              <a:cxnLst/>
              <a:rect r="r" b="b" t="t" l="l"/>
              <a:pathLst>
                <a:path h="1280160" w="2363838">
                  <a:moveTo>
                    <a:pt x="0" y="0"/>
                  </a:moveTo>
                  <a:lnTo>
                    <a:pt x="2363838" y="0"/>
                  </a:lnTo>
                  <a:lnTo>
                    <a:pt x="2363838" y="1280160"/>
                  </a:lnTo>
                  <a:lnTo>
                    <a:pt x="0" y="1280160"/>
                  </a:lnTo>
                  <a:close/>
                </a:path>
              </a:pathLst>
            </a:custGeom>
            <a:blipFill>
              <a:blip r:embed="rId4">
                <a:alphaModFix amt="0"/>
              </a:blip>
              <a:stretch>
                <a:fillRect l="0" t="-130932" r="-402877" b="-130932"/>
              </a:stretch>
            </a:blipFill>
          </p:spPr>
        </p:sp>
        <p:sp>
          <p:nvSpPr>
            <p:cNvPr name="TextBox 102" id="102"/>
            <p:cNvSpPr txBox="true"/>
            <p:nvPr/>
          </p:nvSpPr>
          <p:spPr>
            <a:xfrm>
              <a:off x="0" y="-47625"/>
              <a:ext cx="2363838" cy="1327785"/>
            </a:xfrm>
            <a:prstGeom prst="rect">
              <a:avLst/>
            </a:prstGeom>
          </p:spPr>
          <p:txBody>
            <a:bodyPr anchor="ctr" rtlCol="false" tIns="0" lIns="0" bIns="0" rIns="0"/>
            <a:lstStyle/>
            <a:p>
              <a:pPr algn="l">
                <a:lnSpc>
                  <a:spcPts val="2340"/>
                </a:lnSpc>
              </a:pPr>
              <a:r>
                <a:rPr lang="en-US" sz="1950">
                  <a:solidFill>
                    <a:srgbClr val="DAF1DE"/>
                  </a:solidFill>
                  <a:latin typeface="Calibri (MS)"/>
                  <a:ea typeface="Calibri (MS)"/>
                  <a:cs typeface="Calibri (MS)"/>
                  <a:sym typeface="Calibri (MS)"/>
                </a:rPr>
                <a:t>Karla Roco</a:t>
              </a:r>
              <a:r>
                <a:rPr lang="en-US" sz="1950">
                  <a:solidFill>
                    <a:srgbClr val="DAF1DE"/>
                  </a:solidFill>
                  <a:latin typeface="Calibri (MS)"/>
                  <a:ea typeface="Calibri (MS)"/>
                  <a:cs typeface="Calibri (MS)"/>
                  <a:sym typeface="Calibri (MS)"/>
                </a:rPr>
                <a:t>  Ramirez </a:t>
              </a:r>
            </a:p>
          </p:txBody>
        </p:sp>
      </p:grpSp>
      <p:sp>
        <p:nvSpPr>
          <p:cNvPr name="Freeform 103" id="103"/>
          <p:cNvSpPr/>
          <p:nvPr/>
        </p:nvSpPr>
        <p:spPr>
          <a:xfrm flipH="false" flipV="false" rot="0">
            <a:off x="13275416" y="539014"/>
            <a:ext cx="3983884" cy="979371"/>
          </a:xfrm>
          <a:custGeom>
            <a:avLst/>
            <a:gdLst/>
            <a:ahLst/>
            <a:cxnLst/>
            <a:rect r="r" b="b" t="t" l="l"/>
            <a:pathLst>
              <a:path h="979371" w="3983884">
                <a:moveTo>
                  <a:pt x="0" y="0"/>
                </a:moveTo>
                <a:lnTo>
                  <a:pt x="3983884" y="0"/>
                </a:lnTo>
                <a:lnTo>
                  <a:pt x="3983884" y="979372"/>
                </a:lnTo>
                <a:lnTo>
                  <a:pt x="0" y="979372"/>
                </a:lnTo>
                <a:lnTo>
                  <a:pt x="0" y="0"/>
                </a:lnTo>
                <a:close/>
              </a:path>
            </a:pathLst>
          </a:custGeom>
          <a:blipFill>
            <a:blip r:embed="rId8"/>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3F1E7"/>
        </a:solidFill>
      </p:bgPr>
    </p:bg>
    <p:spTree>
      <p:nvGrpSpPr>
        <p:cNvPr id="1" name=""/>
        <p:cNvGrpSpPr/>
        <p:nvPr/>
      </p:nvGrpSpPr>
      <p:grpSpPr>
        <a:xfrm>
          <a:off x="0" y="0"/>
          <a:ext cx="0" cy="0"/>
          <a:chOff x="0" y="0"/>
          <a:chExt cx="0" cy="0"/>
        </a:xfrm>
      </p:grpSpPr>
      <p:sp>
        <p:nvSpPr>
          <p:cNvPr name="Freeform 2" id="2"/>
          <p:cNvSpPr/>
          <p:nvPr/>
        </p:nvSpPr>
        <p:spPr>
          <a:xfrm flipH="false" flipV="false" rot="0">
            <a:off x="673103" y="609600"/>
            <a:ext cx="1193797" cy="1193797"/>
          </a:xfrm>
          <a:custGeom>
            <a:avLst/>
            <a:gdLst/>
            <a:ahLst/>
            <a:cxnLst/>
            <a:rect r="r" b="b" t="t" l="l"/>
            <a:pathLst>
              <a:path h="1193797" w="1193797">
                <a:moveTo>
                  <a:pt x="0" y="0"/>
                </a:moveTo>
                <a:lnTo>
                  <a:pt x="1193797" y="0"/>
                </a:lnTo>
                <a:lnTo>
                  <a:pt x="1193797" y="1193797"/>
                </a:lnTo>
                <a:lnTo>
                  <a:pt x="0" y="11937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8497" y="7556497"/>
            <a:ext cx="10287000" cy="2514600"/>
          </a:xfrm>
          <a:custGeom>
            <a:avLst/>
            <a:gdLst/>
            <a:ahLst/>
            <a:cxnLst/>
            <a:rect r="r" b="b" t="t" l="l"/>
            <a:pathLst>
              <a:path h="2514600" w="10287000">
                <a:moveTo>
                  <a:pt x="0" y="0"/>
                </a:moveTo>
                <a:lnTo>
                  <a:pt x="10287000" y="0"/>
                </a:lnTo>
                <a:lnTo>
                  <a:pt x="10287000" y="2514600"/>
                </a:lnTo>
                <a:lnTo>
                  <a:pt x="0" y="2514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98497" y="-63503"/>
            <a:ext cx="17652997" cy="10134600"/>
          </a:xfrm>
          <a:custGeom>
            <a:avLst/>
            <a:gdLst/>
            <a:ahLst/>
            <a:cxnLst/>
            <a:rect r="r" b="b" t="t" l="l"/>
            <a:pathLst>
              <a:path h="10134600" w="17652997">
                <a:moveTo>
                  <a:pt x="0" y="0"/>
                </a:moveTo>
                <a:lnTo>
                  <a:pt x="17652997" y="0"/>
                </a:lnTo>
                <a:lnTo>
                  <a:pt x="17652997" y="10134600"/>
                </a:lnTo>
                <a:lnTo>
                  <a:pt x="0" y="10134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159003" y="553241"/>
            <a:ext cx="7527569" cy="1214237"/>
          </a:xfrm>
          <a:prstGeom prst="rect">
            <a:avLst/>
          </a:prstGeom>
        </p:spPr>
        <p:txBody>
          <a:bodyPr anchor="t" rtlCol="false" tIns="0" lIns="0" bIns="0" rIns="0">
            <a:spAutoFit/>
          </a:bodyPr>
          <a:lstStyle/>
          <a:p>
            <a:pPr algn="l">
              <a:lnSpc>
                <a:spcPts val="7000"/>
              </a:lnSpc>
            </a:pPr>
            <a:r>
              <a:rPr lang="en-US" b="true" sz="5000">
                <a:solidFill>
                  <a:srgbClr val="0A2B27"/>
                </a:solidFill>
                <a:latin typeface="Caladea Bold"/>
                <a:ea typeface="Caladea Bold"/>
                <a:cs typeface="Caladea Bold"/>
                <a:sym typeface="Caladea Bold"/>
              </a:rPr>
              <a:t>Introducción del Proyecto</a:t>
            </a:r>
          </a:p>
        </p:txBody>
      </p:sp>
      <p:sp>
        <p:nvSpPr>
          <p:cNvPr name="TextBox 6" id="6"/>
          <p:cNvSpPr txBox="true"/>
          <p:nvPr/>
        </p:nvSpPr>
        <p:spPr>
          <a:xfrm rot="0">
            <a:off x="1433274" y="8468935"/>
            <a:ext cx="236906" cy="619125"/>
          </a:xfrm>
          <a:prstGeom prst="rect">
            <a:avLst/>
          </a:prstGeom>
        </p:spPr>
        <p:txBody>
          <a:bodyPr anchor="t" rtlCol="false" tIns="0" lIns="0" bIns="0" rIns="0">
            <a:spAutoFit/>
          </a:bodyPr>
          <a:lstStyle/>
          <a:p>
            <a:pPr algn="l">
              <a:lnSpc>
                <a:spcPts val="5040"/>
              </a:lnSpc>
            </a:pPr>
            <a:r>
              <a:rPr lang="en-US" b="true" sz="3600">
                <a:solidFill>
                  <a:srgbClr val="DDF3E2"/>
                </a:solidFill>
                <a:latin typeface="Caladea Bold"/>
                <a:ea typeface="Caladea Bold"/>
                <a:cs typeface="Caladea Bold"/>
                <a:sym typeface="Caladea Bold"/>
              </a:rPr>
              <a:t>3</a:t>
            </a:r>
          </a:p>
        </p:txBody>
      </p:sp>
      <p:sp>
        <p:nvSpPr>
          <p:cNvPr name="TextBox 7" id="7"/>
          <p:cNvSpPr txBox="true"/>
          <p:nvPr/>
        </p:nvSpPr>
        <p:spPr>
          <a:xfrm rot="0">
            <a:off x="1433503" y="5801935"/>
            <a:ext cx="236439" cy="619125"/>
          </a:xfrm>
          <a:prstGeom prst="rect">
            <a:avLst/>
          </a:prstGeom>
        </p:spPr>
        <p:txBody>
          <a:bodyPr anchor="t" rtlCol="false" tIns="0" lIns="0" bIns="0" rIns="0">
            <a:spAutoFit/>
          </a:bodyPr>
          <a:lstStyle/>
          <a:p>
            <a:pPr algn="l">
              <a:lnSpc>
                <a:spcPts val="5040"/>
              </a:lnSpc>
            </a:pPr>
            <a:r>
              <a:rPr lang="en-US" b="true" sz="3600">
                <a:solidFill>
                  <a:srgbClr val="DDF3E2"/>
                </a:solidFill>
                <a:latin typeface="Caladea Bold"/>
                <a:ea typeface="Caladea Bold"/>
                <a:cs typeface="Caladea Bold"/>
                <a:sym typeface="Caladea Bold"/>
              </a:rPr>
              <a:t>2</a:t>
            </a:r>
          </a:p>
        </p:txBody>
      </p:sp>
      <p:sp>
        <p:nvSpPr>
          <p:cNvPr name="TextBox 8" id="8"/>
          <p:cNvSpPr txBox="true"/>
          <p:nvPr/>
        </p:nvSpPr>
        <p:spPr>
          <a:xfrm rot="0">
            <a:off x="1444704" y="3134935"/>
            <a:ext cx="213589" cy="619125"/>
          </a:xfrm>
          <a:prstGeom prst="rect">
            <a:avLst/>
          </a:prstGeom>
        </p:spPr>
        <p:txBody>
          <a:bodyPr anchor="t" rtlCol="false" tIns="0" lIns="0" bIns="0" rIns="0">
            <a:spAutoFit/>
          </a:bodyPr>
          <a:lstStyle/>
          <a:p>
            <a:pPr algn="l">
              <a:lnSpc>
                <a:spcPts val="5040"/>
              </a:lnSpc>
            </a:pPr>
            <a:r>
              <a:rPr lang="en-US" b="true" sz="3600">
                <a:solidFill>
                  <a:srgbClr val="DDF3E2"/>
                </a:solidFill>
                <a:latin typeface="Caladea Bold"/>
                <a:ea typeface="Caladea Bold"/>
                <a:cs typeface="Caladea Bold"/>
                <a:sym typeface="Caladea Bold"/>
              </a:rPr>
              <a:t>1</a:t>
            </a:r>
          </a:p>
        </p:txBody>
      </p:sp>
      <p:sp>
        <p:nvSpPr>
          <p:cNvPr name="TextBox 9" id="9"/>
          <p:cNvSpPr txBox="true"/>
          <p:nvPr/>
        </p:nvSpPr>
        <p:spPr>
          <a:xfrm rot="0">
            <a:off x="2286000" y="7776934"/>
            <a:ext cx="1250280" cy="518027"/>
          </a:xfrm>
          <a:prstGeom prst="rect">
            <a:avLst/>
          </a:prstGeom>
        </p:spPr>
        <p:txBody>
          <a:bodyPr anchor="t" rtlCol="false" tIns="0" lIns="0" bIns="0" rIns="0">
            <a:spAutoFit/>
          </a:bodyPr>
          <a:lstStyle/>
          <a:p>
            <a:pPr algn="l">
              <a:lnSpc>
                <a:spcPts val="3779"/>
              </a:lnSpc>
            </a:pPr>
            <a:r>
              <a:rPr lang="en-US" b="true" sz="2700">
                <a:solidFill>
                  <a:srgbClr val="0A2B27"/>
                </a:solidFill>
                <a:latin typeface="Carlito Bold"/>
                <a:ea typeface="Carlito Bold"/>
                <a:cs typeface="Carlito Bold"/>
                <a:sym typeface="Carlito Bold"/>
              </a:rPr>
              <a:t>Objetivo</a:t>
            </a:r>
          </a:p>
        </p:txBody>
      </p:sp>
      <p:sp>
        <p:nvSpPr>
          <p:cNvPr name="TextBox 10" id="10"/>
          <p:cNvSpPr txBox="true"/>
          <p:nvPr/>
        </p:nvSpPr>
        <p:spPr>
          <a:xfrm rot="0">
            <a:off x="2286000" y="2442934"/>
            <a:ext cx="1742475" cy="518027"/>
          </a:xfrm>
          <a:prstGeom prst="rect">
            <a:avLst/>
          </a:prstGeom>
        </p:spPr>
        <p:txBody>
          <a:bodyPr anchor="t" rtlCol="false" tIns="0" lIns="0" bIns="0" rIns="0">
            <a:spAutoFit/>
          </a:bodyPr>
          <a:lstStyle/>
          <a:p>
            <a:pPr algn="l">
              <a:lnSpc>
                <a:spcPts val="3779"/>
              </a:lnSpc>
            </a:pPr>
            <a:r>
              <a:rPr lang="en-US" b="true" sz="2700">
                <a:solidFill>
                  <a:srgbClr val="0A2B27"/>
                </a:solidFill>
                <a:latin typeface="Carlito Bold"/>
                <a:ea typeface="Carlito Bold"/>
                <a:cs typeface="Carlito Bold"/>
                <a:sym typeface="Carlito Bold"/>
              </a:rPr>
              <a:t>El problema</a:t>
            </a:r>
          </a:p>
        </p:txBody>
      </p:sp>
      <p:sp>
        <p:nvSpPr>
          <p:cNvPr name="TextBox 11" id="11"/>
          <p:cNvSpPr txBox="true"/>
          <p:nvPr/>
        </p:nvSpPr>
        <p:spPr>
          <a:xfrm rot="0">
            <a:off x="2666952" y="3024673"/>
            <a:ext cx="57102" cy="384191"/>
          </a:xfrm>
          <a:prstGeom prst="rect">
            <a:avLst/>
          </a:prstGeom>
        </p:spPr>
        <p:txBody>
          <a:bodyPr anchor="t" rtlCol="false" tIns="0" lIns="0" bIns="0" rIns="0">
            <a:spAutoFit/>
          </a:bodyPr>
          <a:lstStyle/>
          <a:p>
            <a:pPr algn="l">
              <a:lnSpc>
                <a:spcPts val="2729"/>
              </a:lnSpc>
            </a:pPr>
            <a:r>
              <a:rPr lang="en-US" sz="1950" i="true">
                <a:solidFill>
                  <a:srgbClr val="2F4F46"/>
                </a:solidFill>
                <a:latin typeface="Carlito Italics"/>
                <a:ea typeface="Carlito Italics"/>
                <a:cs typeface="Carlito Italics"/>
                <a:sym typeface="Carlito Italics"/>
              </a:rPr>
              <a:t> </a:t>
            </a:r>
          </a:p>
        </p:txBody>
      </p:sp>
      <p:sp>
        <p:nvSpPr>
          <p:cNvPr name="TextBox 12" id="12"/>
          <p:cNvSpPr txBox="true"/>
          <p:nvPr/>
        </p:nvSpPr>
        <p:spPr>
          <a:xfrm rot="0">
            <a:off x="2286000" y="5109934"/>
            <a:ext cx="2715920" cy="518027"/>
          </a:xfrm>
          <a:prstGeom prst="rect">
            <a:avLst/>
          </a:prstGeom>
        </p:spPr>
        <p:txBody>
          <a:bodyPr anchor="t" rtlCol="false" tIns="0" lIns="0" bIns="0" rIns="0">
            <a:spAutoFit/>
          </a:bodyPr>
          <a:lstStyle/>
          <a:p>
            <a:pPr algn="l">
              <a:lnSpc>
                <a:spcPts val="3779"/>
              </a:lnSpc>
            </a:pPr>
            <a:r>
              <a:rPr lang="en-US" b="true" sz="2700">
                <a:solidFill>
                  <a:srgbClr val="0A2B27"/>
                </a:solidFill>
                <a:latin typeface="Carlito Bold"/>
                <a:ea typeface="Carlito Bold"/>
                <a:cs typeface="Carlito Bold"/>
                <a:sym typeface="Carlito Bold"/>
              </a:rPr>
              <a:t>Nuestra propuesta</a:t>
            </a:r>
          </a:p>
        </p:txBody>
      </p:sp>
      <p:sp>
        <p:nvSpPr>
          <p:cNvPr name="TextBox 13" id="13"/>
          <p:cNvSpPr txBox="true"/>
          <p:nvPr/>
        </p:nvSpPr>
        <p:spPr>
          <a:xfrm rot="0">
            <a:off x="2924889" y="5691673"/>
            <a:ext cx="57102" cy="384191"/>
          </a:xfrm>
          <a:prstGeom prst="rect">
            <a:avLst/>
          </a:prstGeom>
        </p:spPr>
        <p:txBody>
          <a:bodyPr anchor="t" rtlCol="false" tIns="0" lIns="0" bIns="0" rIns="0">
            <a:spAutoFit/>
          </a:bodyPr>
          <a:lstStyle/>
          <a:p>
            <a:pPr algn="l">
              <a:lnSpc>
                <a:spcPts val="2729"/>
              </a:lnSpc>
            </a:pPr>
            <a:r>
              <a:rPr lang="en-US" sz="1950" i="true">
                <a:solidFill>
                  <a:srgbClr val="2F4F46"/>
                </a:solidFill>
                <a:latin typeface="Carlito Italics"/>
                <a:ea typeface="Carlito Italics"/>
                <a:cs typeface="Carlito Italics"/>
                <a:sym typeface="Carlito Italics"/>
              </a:rPr>
              <a:t> </a:t>
            </a:r>
          </a:p>
        </p:txBody>
      </p:sp>
      <p:sp>
        <p:nvSpPr>
          <p:cNvPr name="TextBox 14" id="14"/>
          <p:cNvSpPr txBox="true"/>
          <p:nvPr/>
        </p:nvSpPr>
        <p:spPr>
          <a:xfrm rot="0">
            <a:off x="2489197" y="8387248"/>
            <a:ext cx="7304151" cy="990610"/>
          </a:xfrm>
          <a:prstGeom prst="rect">
            <a:avLst/>
          </a:prstGeom>
        </p:spPr>
        <p:txBody>
          <a:bodyPr anchor="t" rtlCol="false" tIns="0" lIns="0" bIns="0" rIns="0">
            <a:spAutoFit/>
          </a:bodyPr>
          <a:lstStyle/>
          <a:p>
            <a:pPr algn="l">
              <a:lnSpc>
                <a:spcPts val="2499"/>
              </a:lnSpc>
            </a:pPr>
            <a:r>
              <a:rPr lang="en-US" sz="1950" i="true">
                <a:solidFill>
                  <a:srgbClr val="2F4F46"/>
                </a:solidFill>
                <a:latin typeface="Carlito Italics"/>
                <a:ea typeface="Carlito Italics"/>
                <a:cs typeface="Carlito Italics"/>
                <a:sym typeface="Carlito Italics"/>
              </a:rPr>
              <a:t>Proteger a la población, con foco en los adultos mayores, mediante una herramienta accesible, de interfaz intuitiva y con un asistente de IA que explique los resultados en palabras sencillas.</a:t>
            </a:r>
          </a:p>
        </p:txBody>
      </p:sp>
      <p:sp>
        <p:nvSpPr>
          <p:cNvPr name="TextBox 15" id="15"/>
          <p:cNvSpPr txBox="true"/>
          <p:nvPr/>
        </p:nvSpPr>
        <p:spPr>
          <a:xfrm rot="0">
            <a:off x="2489197" y="3024673"/>
            <a:ext cx="7433906" cy="379095"/>
          </a:xfrm>
          <a:prstGeom prst="rect">
            <a:avLst/>
          </a:prstGeom>
        </p:spPr>
        <p:txBody>
          <a:bodyPr anchor="t" rtlCol="false" tIns="0" lIns="0" bIns="0" rIns="0">
            <a:spAutoFit/>
          </a:bodyPr>
          <a:lstStyle/>
          <a:p>
            <a:pPr algn="l">
              <a:lnSpc>
                <a:spcPts val="2729"/>
              </a:lnSpc>
            </a:pPr>
            <a:r>
              <a:rPr lang="en-US" sz="1950" i="true">
                <a:solidFill>
                  <a:srgbClr val="2F4F46"/>
                </a:solidFill>
                <a:latin typeface="Carlito Italics"/>
                <a:ea typeface="Carlito Italics"/>
                <a:cs typeface="Carlito Italics"/>
                <a:sym typeface="Carlito Italics"/>
              </a:rPr>
              <a:t>El smishing (fraude mediante SMS) es una amenaza creciente en Chile. Los</a:t>
            </a:r>
          </a:p>
        </p:txBody>
      </p:sp>
      <p:sp>
        <p:nvSpPr>
          <p:cNvPr name="TextBox 16" id="16"/>
          <p:cNvSpPr txBox="true"/>
          <p:nvPr/>
        </p:nvSpPr>
        <p:spPr>
          <a:xfrm rot="0">
            <a:off x="2489197" y="3370745"/>
            <a:ext cx="7825264" cy="990610"/>
          </a:xfrm>
          <a:prstGeom prst="rect">
            <a:avLst/>
          </a:prstGeom>
        </p:spPr>
        <p:txBody>
          <a:bodyPr anchor="t" rtlCol="false" tIns="0" lIns="0" bIns="0" rIns="0">
            <a:spAutoFit/>
          </a:bodyPr>
          <a:lstStyle/>
          <a:p>
            <a:pPr algn="l">
              <a:lnSpc>
                <a:spcPts val="2499"/>
              </a:lnSpc>
            </a:pPr>
            <a:r>
              <a:rPr lang="en-US" sz="1950" i="true">
                <a:solidFill>
                  <a:srgbClr val="2F4F46"/>
                </a:solidFill>
                <a:latin typeface="Carlito Italics"/>
                <a:ea typeface="Carlito Italics"/>
                <a:cs typeface="Carlito Italics"/>
                <a:sym typeface="Carlito Italics"/>
              </a:rPr>
              <a:t>mensajes suplantan a bancos, couriers y servicios públicos e incluyen enlaces maliciosos. Las personas de la tercera edad son las más expuestas, por su menor familiaridad con estas técnicas.</a:t>
            </a:r>
          </a:p>
        </p:txBody>
      </p:sp>
      <p:sp>
        <p:nvSpPr>
          <p:cNvPr name="TextBox 17" id="17"/>
          <p:cNvSpPr txBox="true"/>
          <p:nvPr/>
        </p:nvSpPr>
        <p:spPr>
          <a:xfrm rot="0">
            <a:off x="2489197" y="5691673"/>
            <a:ext cx="7942659" cy="379095"/>
          </a:xfrm>
          <a:prstGeom prst="rect">
            <a:avLst/>
          </a:prstGeom>
        </p:spPr>
        <p:txBody>
          <a:bodyPr anchor="t" rtlCol="false" tIns="0" lIns="0" bIns="0" rIns="0">
            <a:spAutoFit/>
          </a:bodyPr>
          <a:lstStyle/>
          <a:p>
            <a:pPr algn="l">
              <a:lnSpc>
                <a:spcPts val="2729"/>
              </a:lnSpc>
            </a:pPr>
            <a:r>
              <a:rPr lang="en-US" sz="1950" i="true">
                <a:solidFill>
                  <a:srgbClr val="2F4F46"/>
                </a:solidFill>
                <a:latin typeface="Carlito Italics"/>
                <a:ea typeface="Carlito Italics"/>
                <a:cs typeface="Carlito Italics"/>
                <a:sym typeface="Carlito Italics"/>
              </a:rPr>
              <a:t>SMS Security es una aplicación móvil Android que analiza un mensaje y entrega</a:t>
            </a:r>
          </a:p>
        </p:txBody>
      </p:sp>
      <p:sp>
        <p:nvSpPr>
          <p:cNvPr name="TextBox 18" id="18"/>
          <p:cNvSpPr txBox="true"/>
          <p:nvPr/>
        </p:nvSpPr>
        <p:spPr>
          <a:xfrm rot="0">
            <a:off x="2489197" y="6037745"/>
            <a:ext cx="7970434" cy="990610"/>
          </a:xfrm>
          <a:prstGeom prst="rect">
            <a:avLst/>
          </a:prstGeom>
        </p:spPr>
        <p:txBody>
          <a:bodyPr anchor="t" rtlCol="false" tIns="0" lIns="0" bIns="0" rIns="0">
            <a:spAutoFit/>
          </a:bodyPr>
          <a:lstStyle/>
          <a:p>
            <a:pPr algn="l">
              <a:lnSpc>
                <a:spcPts val="2499"/>
              </a:lnSpc>
            </a:pPr>
            <a:r>
              <a:rPr lang="en-US" sz="1950" i="true">
                <a:solidFill>
                  <a:srgbClr val="2F4F46"/>
                </a:solidFill>
                <a:latin typeface="Carlito Italics"/>
                <a:ea typeface="Carlito Italics"/>
                <a:cs typeface="Carlito Italics"/>
                <a:sym typeface="Carlito Italics"/>
              </a:rPr>
              <a:t>un puntaje de riesgo claro, junto con una recomendación simple de qué hacer. Combina reglas basadas en patrones de smishing detectados en Chile con la reputación y antigüedad de los enlaces.</a:t>
            </a:r>
          </a:p>
        </p:txBody>
      </p:sp>
      <p:sp>
        <p:nvSpPr>
          <p:cNvPr name="TextBox 19" id="19"/>
          <p:cNvSpPr txBox="true"/>
          <p:nvPr/>
        </p:nvSpPr>
        <p:spPr>
          <a:xfrm rot="0">
            <a:off x="12004291" y="2648426"/>
            <a:ext cx="175660" cy="528638"/>
          </a:xfrm>
          <a:prstGeom prst="rect">
            <a:avLst/>
          </a:prstGeom>
        </p:spPr>
        <p:txBody>
          <a:bodyPr anchor="t" rtlCol="false" tIns="0" lIns="0" bIns="0" rIns="0">
            <a:spAutoFit/>
          </a:bodyPr>
          <a:lstStyle/>
          <a:p>
            <a:pPr algn="l">
              <a:lnSpc>
                <a:spcPts val="4200"/>
              </a:lnSpc>
            </a:pPr>
            <a:r>
              <a:rPr lang="en-US" b="true" sz="3000">
                <a:solidFill>
                  <a:srgbClr val="0A2B27"/>
                </a:solidFill>
                <a:latin typeface="Caladea Bold"/>
                <a:ea typeface="Caladea Bold"/>
                <a:cs typeface="Caladea Bold"/>
                <a:sym typeface="Caladea Bold"/>
              </a:rPr>
              <a:t>?</a:t>
            </a:r>
          </a:p>
        </p:txBody>
      </p:sp>
      <p:sp>
        <p:nvSpPr>
          <p:cNvPr name="TextBox 20" id="20"/>
          <p:cNvSpPr txBox="true"/>
          <p:nvPr/>
        </p:nvSpPr>
        <p:spPr>
          <a:xfrm rot="0">
            <a:off x="12649200" y="2621156"/>
            <a:ext cx="3146679" cy="549278"/>
          </a:xfrm>
          <a:prstGeom prst="rect">
            <a:avLst/>
          </a:prstGeom>
        </p:spPr>
        <p:txBody>
          <a:bodyPr anchor="t" rtlCol="false" tIns="0" lIns="0" bIns="0" rIns="0">
            <a:spAutoFit/>
          </a:bodyPr>
          <a:lstStyle/>
          <a:p>
            <a:pPr algn="l">
              <a:lnSpc>
                <a:spcPts val="4480"/>
              </a:lnSpc>
            </a:pPr>
            <a:r>
              <a:rPr lang="en-US" b="true" sz="3200">
                <a:solidFill>
                  <a:srgbClr val="DDF3E2"/>
                </a:solidFill>
                <a:latin typeface="Caladea Bold"/>
                <a:ea typeface="Caladea Bold"/>
                <a:cs typeface="Caladea Bold"/>
                <a:sym typeface="Caladea Bold"/>
              </a:rPr>
              <a:t>¿Cómo funciona?</a:t>
            </a:r>
          </a:p>
        </p:txBody>
      </p:sp>
      <p:sp>
        <p:nvSpPr>
          <p:cNvPr name="TextBox 21" id="21"/>
          <p:cNvSpPr txBox="true"/>
          <p:nvPr/>
        </p:nvSpPr>
        <p:spPr>
          <a:xfrm rot="0">
            <a:off x="11943398" y="3918709"/>
            <a:ext cx="144447" cy="422453"/>
          </a:xfrm>
          <a:prstGeom prst="rect">
            <a:avLst/>
          </a:prstGeom>
        </p:spPr>
        <p:txBody>
          <a:bodyPr anchor="t" rtlCol="false" tIns="0" lIns="0" bIns="0" rIns="0">
            <a:spAutoFit/>
          </a:bodyPr>
          <a:lstStyle/>
          <a:p>
            <a:pPr algn="l">
              <a:lnSpc>
                <a:spcPts val="3079"/>
              </a:lnSpc>
            </a:pPr>
            <a:r>
              <a:rPr lang="en-US" b="true" sz="2199">
                <a:solidFill>
                  <a:srgbClr val="0A2B27"/>
                </a:solidFill>
                <a:latin typeface="Carlito Bold"/>
                <a:ea typeface="Carlito Bold"/>
                <a:cs typeface="Carlito Bold"/>
                <a:sym typeface="Carlito Bold"/>
              </a:rPr>
              <a:t>1</a:t>
            </a:r>
          </a:p>
        </p:txBody>
      </p:sp>
      <p:sp>
        <p:nvSpPr>
          <p:cNvPr name="TextBox 22" id="22"/>
          <p:cNvSpPr txBox="true"/>
          <p:nvPr/>
        </p:nvSpPr>
        <p:spPr>
          <a:xfrm rot="0">
            <a:off x="11943398" y="5264906"/>
            <a:ext cx="144447" cy="422453"/>
          </a:xfrm>
          <a:prstGeom prst="rect">
            <a:avLst/>
          </a:prstGeom>
        </p:spPr>
        <p:txBody>
          <a:bodyPr anchor="t" rtlCol="false" tIns="0" lIns="0" bIns="0" rIns="0">
            <a:spAutoFit/>
          </a:bodyPr>
          <a:lstStyle/>
          <a:p>
            <a:pPr algn="l">
              <a:lnSpc>
                <a:spcPts val="3079"/>
              </a:lnSpc>
            </a:pPr>
            <a:r>
              <a:rPr lang="en-US" b="true" sz="2199">
                <a:solidFill>
                  <a:srgbClr val="0A2B27"/>
                </a:solidFill>
                <a:latin typeface="Carlito Bold"/>
                <a:ea typeface="Carlito Bold"/>
                <a:cs typeface="Carlito Bold"/>
                <a:sym typeface="Carlito Bold"/>
              </a:rPr>
              <a:t>2</a:t>
            </a:r>
          </a:p>
        </p:txBody>
      </p:sp>
      <p:sp>
        <p:nvSpPr>
          <p:cNvPr name="TextBox 23" id="23"/>
          <p:cNvSpPr txBox="true"/>
          <p:nvPr/>
        </p:nvSpPr>
        <p:spPr>
          <a:xfrm rot="0">
            <a:off x="11943398" y="6611102"/>
            <a:ext cx="144447" cy="422453"/>
          </a:xfrm>
          <a:prstGeom prst="rect">
            <a:avLst/>
          </a:prstGeom>
        </p:spPr>
        <p:txBody>
          <a:bodyPr anchor="t" rtlCol="false" tIns="0" lIns="0" bIns="0" rIns="0">
            <a:spAutoFit/>
          </a:bodyPr>
          <a:lstStyle/>
          <a:p>
            <a:pPr algn="l">
              <a:lnSpc>
                <a:spcPts val="3079"/>
              </a:lnSpc>
            </a:pPr>
            <a:r>
              <a:rPr lang="en-US" b="true" sz="2199">
                <a:solidFill>
                  <a:srgbClr val="0A2B27"/>
                </a:solidFill>
                <a:latin typeface="Carlito Bold"/>
                <a:ea typeface="Carlito Bold"/>
                <a:cs typeface="Carlito Bold"/>
                <a:sym typeface="Carlito Bold"/>
              </a:rPr>
              <a:t>3</a:t>
            </a:r>
          </a:p>
        </p:txBody>
      </p:sp>
      <p:sp>
        <p:nvSpPr>
          <p:cNvPr name="TextBox 24" id="24"/>
          <p:cNvSpPr txBox="true"/>
          <p:nvPr/>
        </p:nvSpPr>
        <p:spPr>
          <a:xfrm rot="0">
            <a:off x="11943398" y="7957309"/>
            <a:ext cx="144447" cy="422453"/>
          </a:xfrm>
          <a:prstGeom prst="rect">
            <a:avLst/>
          </a:prstGeom>
        </p:spPr>
        <p:txBody>
          <a:bodyPr anchor="t" rtlCol="false" tIns="0" lIns="0" bIns="0" rIns="0">
            <a:spAutoFit/>
          </a:bodyPr>
          <a:lstStyle/>
          <a:p>
            <a:pPr algn="l">
              <a:lnSpc>
                <a:spcPts val="3079"/>
              </a:lnSpc>
            </a:pPr>
            <a:r>
              <a:rPr lang="en-US" b="true" sz="2199">
                <a:solidFill>
                  <a:srgbClr val="0A2B27"/>
                </a:solidFill>
                <a:latin typeface="Carlito Bold"/>
                <a:ea typeface="Carlito Bold"/>
                <a:cs typeface="Carlito Bold"/>
                <a:sym typeface="Carlito Bold"/>
              </a:rPr>
              <a:t>4</a:t>
            </a:r>
          </a:p>
        </p:txBody>
      </p:sp>
      <p:sp>
        <p:nvSpPr>
          <p:cNvPr name="TextBox 25" id="25"/>
          <p:cNvSpPr txBox="true"/>
          <p:nvPr/>
        </p:nvSpPr>
        <p:spPr>
          <a:xfrm rot="0">
            <a:off x="12522203" y="6386436"/>
            <a:ext cx="905904" cy="447284"/>
          </a:xfrm>
          <a:prstGeom prst="rect">
            <a:avLst/>
          </a:prstGeom>
        </p:spPr>
        <p:txBody>
          <a:bodyPr anchor="t" rtlCol="false" tIns="0" lIns="0" bIns="0" rIns="0">
            <a:spAutoFit/>
          </a:bodyPr>
          <a:lstStyle/>
          <a:p>
            <a:pPr algn="l">
              <a:lnSpc>
                <a:spcPts val="3220"/>
              </a:lnSpc>
            </a:pPr>
            <a:r>
              <a:rPr lang="en-US" b="true" sz="2300">
                <a:solidFill>
                  <a:srgbClr val="DDF3E2"/>
                </a:solidFill>
                <a:latin typeface="Carlito Bold"/>
                <a:ea typeface="Carlito Bold"/>
                <a:cs typeface="Carlito Bold"/>
                <a:sym typeface="Carlito Bold"/>
              </a:rPr>
              <a:t>Scoring</a:t>
            </a:r>
          </a:p>
        </p:txBody>
      </p:sp>
      <p:sp>
        <p:nvSpPr>
          <p:cNvPr name="TextBox 26" id="26"/>
          <p:cNvSpPr txBox="true"/>
          <p:nvPr/>
        </p:nvSpPr>
        <p:spPr>
          <a:xfrm rot="0">
            <a:off x="12690843" y="6741662"/>
            <a:ext cx="54178"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 </a:t>
            </a:r>
          </a:p>
        </p:txBody>
      </p:sp>
      <p:sp>
        <p:nvSpPr>
          <p:cNvPr name="TextBox 27" id="27"/>
          <p:cNvSpPr txBox="true"/>
          <p:nvPr/>
        </p:nvSpPr>
        <p:spPr>
          <a:xfrm rot="0">
            <a:off x="12522203" y="3694033"/>
            <a:ext cx="980827" cy="447284"/>
          </a:xfrm>
          <a:prstGeom prst="rect">
            <a:avLst/>
          </a:prstGeom>
        </p:spPr>
        <p:txBody>
          <a:bodyPr anchor="t" rtlCol="false" tIns="0" lIns="0" bIns="0" rIns="0">
            <a:spAutoFit/>
          </a:bodyPr>
          <a:lstStyle/>
          <a:p>
            <a:pPr algn="l">
              <a:lnSpc>
                <a:spcPts val="3220"/>
              </a:lnSpc>
            </a:pPr>
            <a:r>
              <a:rPr lang="en-US" b="true" sz="2300">
                <a:solidFill>
                  <a:srgbClr val="DDF3E2"/>
                </a:solidFill>
                <a:latin typeface="Carlito Bold"/>
                <a:ea typeface="Carlito Bold"/>
                <a:cs typeface="Carlito Bold"/>
                <a:sym typeface="Carlito Bold"/>
              </a:rPr>
              <a:t>Captura</a:t>
            </a:r>
          </a:p>
        </p:txBody>
      </p:sp>
      <p:sp>
        <p:nvSpPr>
          <p:cNvPr name="TextBox 28" id="28"/>
          <p:cNvSpPr txBox="true"/>
          <p:nvPr/>
        </p:nvSpPr>
        <p:spPr>
          <a:xfrm rot="0">
            <a:off x="12733515" y="4049258"/>
            <a:ext cx="54178"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 </a:t>
            </a:r>
          </a:p>
        </p:txBody>
      </p:sp>
      <p:sp>
        <p:nvSpPr>
          <p:cNvPr name="TextBox 29" id="29"/>
          <p:cNvSpPr txBox="true"/>
          <p:nvPr/>
        </p:nvSpPr>
        <p:spPr>
          <a:xfrm rot="0">
            <a:off x="12522203" y="5040239"/>
            <a:ext cx="944747" cy="447284"/>
          </a:xfrm>
          <a:prstGeom prst="rect">
            <a:avLst/>
          </a:prstGeom>
        </p:spPr>
        <p:txBody>
          <a:bodyPr anchor="t" rtlCol="false" tIns="0" lIns="0" bIns="0" rIns="0">
            <a:spAutoFit/>
          </a:bodyPr>
          <a:lstStyle/>
          <a:p>
            <a:pPr algn="l">
              <a:lnSpc>
                <a:spcPts val="3220"/>
              </a:lnSpc>
            </a:pPr>
            <a:r>
              <a:rPr lang="en-US" b="true" sz="2300">
                <a:solidFill>
                  <a:srgbClr val="DDF3E2"/>
                </a:solidFill>
                <a:latin typeface="Carlito Bold"/>
                <a:ea typeface="Carlito Bold"/>
                <a:cs typeface="Carlito Bold"/>
                <a:sym typeface="Carlito Bold"/>
              </a:rPr>
              <a:t>Análisis</a:t>
            </a:r>
          </a:p>
        </p:txBody>
      </p:sp>
      <p:sp>
        <p:nvSpPr>
          <p:cNvPr name="TextBox 30" id="30"/>
          <p:cNvSpPr txBox="true"/>
          <p:nvPr/>
        </p:nvSpPr>
        <p:spPr>
          <a:xfrm rot="0">
            <a:off x="12747050" y="5395455"/>
            <a:ext cx="54178"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 </a:t>
            </a:r>
          </a:p>
        </p:txBody>
      </p:sp>
      <p:sp>
        <p:nvSpPr>
          <p:cNvPr name="TextBox 31" id="31"/>
          <p:cNvSpPr txBox="true"/>
          <p:nvPr/>
        </p:nvSpPr>
        <p:spPr>
          <a:xfrm rot="0">
            <a:off x="12522203" y="7732633"/>
            <a:ext cx="1249528" cy="447284"/>
          </a:xfrm>
          <a:prstGeom prst="rect">
            <a:avLst/>
          </a:prstGeom>
        </p:spPr>
        <p:txBody>
          <a:bodyPr anchor="t" rtlCol="false" tIns="0" lIns="0" bIns="0" rIns="0">
            <a:spAutoFit/>
          </a:bodyPr>
          <a:lstStyle/>
          <a:p>
            <a:pPr algn="l">
              <a:lnSpc>
                <a:spcPts val="3220"/>
              </a:lnSpc>
            </a:pPr>
            <a:r>
              <a:rPr lang="en-US" b="true" sz="2300">
                <a:solidFill>
                  <a:srgbClr val="DDF3E2"/>
                </a:solidFill>
                <a:latin typeface="Carlito Bold"/>
                <a:ea typeface="Carlito Bold"/>
                <a:cs typeface="Carlito Bold"/>
                <a:sym typeface="Carlito Bold"/>
              </a:rPr>
              <a:t>Asistencia</a:t>
            </a:r>
          </a:p>
        </p:txBody>
      </p:sp>
      <p:sp>
        <p:nvSpPr>
          <p:cNvPr name="TextBox 32" id="32"/>
          <p:cNvSpPr txBox="true"/>
          <p:nvPr/>
        </p:nvSpPr>
        <p:spPr>
          <a:xfrm rot="0">
            <a:off x="12796380" y="8087858"/>
            <a:ext cx="54178"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 </a:t>
            </a:r>
          </a:p>
        </p:txBody>
      </p:sp>
      <p:sp>
        <p:nvSpPr>
          <p:cNvPr name="TextBox 33" id="33"/>
          <p:cNvSpPr txBox="true"/>
          <p:nvPr/>
        </p:nvSpPr>
        <p:spPr>
          <a:xfrm rot="0">
            <a:off x="12522203" y="8087858"/>
            <a:ext cx="3873460" cy="353060"/>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Un chatbot con Google Gemini explica el</a:t>
            </a:r>
          </a:p>
        </p:txBody>
      </p:sp>
      <p:sp>
        <p:nvSpPr>
          <p:cNvPr name="TextBox 34" id="34"/>
          <p:cNvSpPr txBox="true"/>
          <p:nvPr/>
        </p:nvSpPr>
        <p:spPr>
          <a:xfrm rot="0">
            <a:off x="12522203" y="8379962"/>
            <a:ext cx="3389138"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resultado y recomienda qué hacer.</a:t>
            </a:r>
          </a:p>
        </p:txBody>
      </p:sp>
      <p:sp>
        <p:nvSpPr>
          <p:cNvPr name="TextBox 35" id="35"/>
          <p:cNvSpPr txBox="true"/>
          <p:nvPr/>
        </p:nvSpPr>
        <p:spPr>
          <a:xfrm rot="0">
            <a:off x="12522203" y="6741662"/>
            <a:ext cx="3908465" cy="353060"/>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El backend calcula un puntaje de riesgo y</a:t>
            </a:r>
          </a:p>
        </p:txBody>
      </p:sp>
      <p:sp>
        <p:nvSpPr>
          <p:cNvPr name="TextBox 36" id="36"/>
          <p:cNvSpPr txBox="true"/>
          <p:nvPr/>
        </p:nvSpPr>
        <p:spPr>
          <a:xfrm rot="0">
            <a:off x="12522203" y="7033755"/>
            <a:ext cx="2295973"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clasifica la peligrosidad.</a:t>
            </a:r>
          </a:p>
        </p:txBody>
      </p:sp>
      <p:sp>
        <p:nvSpPr>
          <p:cNvPr name="TextBox 37" id="37"/>
          <p:cNvSpPr txBox="true"/>
          <p:nvPr/>
        </p:nvSpPr>
        <p:spPr>
          <a:xfrm rot="0">
            <a:off x="12522203" y="5395455"/>
            <a:ext cx="4184809" cy="353060"/>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Se evalúa el texto con reglas y se revisan los</a:t>
            </a:r>
          </a:p>
        </p:txBody>
      </p:sp>
      <p:sp>
        <p:nvSpPr>
          <p:cNvPr name="TextBox 38" id="38"/>
          <p:cNvSpPr txBox="true"/>
          <p:nvPr/>
        </p:nvSpPr>
        <p:spPr>
          <a:xfrm rot="0">
            <a:off x="12522203" y="5687558"/>
            <a:ext cx="3801618"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enlaces con VirusTotal, WHOIS y RDAP.</a:t>
            </a:r>
          </a:p>
        </p:txBody>
      </p:sp>
      <p:sp>
        <p:nvSpPr>
          <p:cNvPr name="TextBox 39" id="39"/>
          <p:cNvSpPr txBox="true"/>
          <p:nvPr/>
        </p:nvSpPr>
        <p:spPr>
          <a:xfrm rot="0">
            <a:off x="12522203" y="4049258"/>
            <a:ext cx="4580096" cy="353060"/>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La app recibe el SMS o el texto copiado desde el</a:t>
            </a:r>
          </a:p>
        </p:txBody>
      </p:sp>
      <p:sp>
        <p:nvSpPr>
          <p:cNvPr name="TextBox 40" id="40"/>
          <p:cNvSpPr txBox="true"/>
          <p:nvPr/>
        </p:nvSpPr>
        <p:spPr>
          <a:xfrm rot="0">
            <a:off x="12522203" y="4341362"/>
            <a:ext cx="1345216" cy="359359"/>
          </a:xfrm>
          <a:prstGeom prst="rect">
            <a:avLst/>
          </a:prstGeom>
        </p:spPr>
        <p:txBody>
          <a:bodyPr anchor="t" rtlCol="false" tIns="0" lIns="0" bIns="0" rIns="0">
            <a:spAutoFit/>
          </a:bodyPr>
          <a:lstStyle/>
          <a:p>
            <a:pPr algn="l">
              <a:lnSpc>
                <a:spcPts val="2590"/>
              </a:lnSpc>
            </a:pPr>
            <a:r>
              <a:rPr lang="en-US" sz="1850">
                <a:solidFill>
                  <a:srgbClr val="BFD9C8"/>
                </a:solidFill>
                <a:latin typeface="Carlito"/>
                <a:ea typeface="Carlito"/>
                <a:cs typeface="Carlito"/>
                <a:sym typeface="Carlito"/>
              </a:rPr>
              <a:t>portapapeles.</a:t>
            </a:r>
          </a:p>
        </p:txBody>
      </p:sp>
      <p:sp>
        <p:nvSpPr>
          <p:cNvPr name="TextBox 41" id="41"/>
          <p:cNvSpPr txBox="true"/>
          <p:nvPr/>
        </p:nvSpPr>
        <p:spPr>
          <a:xfrm rot="0">
            <a:off x="17586893" y="9682867"/>
            <a:ext cx="196967" cy="296266"/>
          </a:xfrm>
          <a:prstGeom prst="rect">
            <a:avLst/>
          </a:prstGeom>
        </p:spPr>
        <p:txBody>
          <a:bodyPr anchor="t" rtlCol="false" tIns="0" lIns="0" bIns="0" rIns="0">
            <a:spAutoFit/>
          </a:bodyPr>
          <a:lstStyle/>
          <a:p>
            <a:pPr algn="l">
              <a:lnSpc>
                <a:spcPts val="2100"/>
              </a:lnSpc>
            </a:pPr>
            <a:r>
              <a:rPr lang="en-US" sz="1500">
                <a:solidFill>
                  <a:srgbClr val="2F5E4E"/>
                </a:solidFill>
                <a:latin typeface="Carlito"/>
                <a:ea typeface="Carlito"/>
                <a:cs typeface="Carlito"/>
                <a:sym typeface="Carlito"/>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grpSp>
        <p:nvGrpSpPr>
          <p:cNvPr name="Group 2" id="2"/>
          <p:cNvGrpSpPr/>
          <p:nvPr/>
        </p:nvGrpSpPr>
        <p:grpSpPr>
          <a:xfrm rot="0">
            <a:off x="1028700" y="-246123"/>
            <a:ext cx="14401800" cy="3081449"/>
            <a:chOff x="0" y="0"/>
            <a:chExt cx="19202400" cy="4108599"/>
          </a:xfrm>
        </p:grpSpPr>
        <p:sp>
          <p:nvSpPr>
            <p:cNvPr name="Freeform 3" id="3"/>
            <p:cNvSpPr/>
            <p:nvPr/>
          </p:nvSpPr>
          <p:spPr>
            <a:xfrm flipH="false" flipV="false" rot="0">
              <a:off x="0" y="0"/>
              <a:ext cx="19202400" cy="4108599"/>
            </a:xfrm>
            <a:custGeom>
              <a:avLst/>
              <a:gdLst/>
              <a:ahLst/>
              <a:cxnLst/>
              <a:rect r="r" b="b" t="t" l="l"/>
              <a:pathLst>
                <a:path h="4108599" w="19202400">
                  <a:moveTo>
                    <a:pt x="0" y="0"/>
                  </a:moveTo>
                  <a:lnTo>
                    <a:pt x="19202400" y="0"/>
                  </a:lnTo>
                  <a:lnTo>
                    <a:pt x="19202400" y="4108599"/>
                  </a:lnTo>
                  <a:lnTo>
                    <a:pt x="0" y="4108599"/>
                  </a:lnTo>
                  <a:close/>
                </a:path>
              </a:pathLst>
            </a:custGeom>
            <a:blipFill>
              <a:blip r:embed="rId2">
                <a:alphaModFix amt="0"/>
              </a:blip>
              <a:stretch>
                <a:fillRect l="0" t="-78826" r="0" b="-3308"/>
              </a:stretch>
            </a:blipFill>
          </p:spPr>
        </p:sp>
        <p:sp>
          <p:nvSpPr>
            <p:cNvPr name="TextBox 4" id="4"/>
            <p:cNvSpPr txBox="true"/>
            <p:nvPr/>
          </p:nvSpPr>
          <p:spPr>
            <a:xfrm>
              <a:off x="0" y="-9525"/>
              <a:ext cx="19202400" cy="4118124"/>
            </a:xfrm>
            <a:prstGeom prst="rect">
              <a:avLst/>
            </a:prstGeom>
          </p:spPr>
          <p:txBody>
            <a:bodyPr anchor="ctr" rtlCol="false" tIns="0" lIns="0" bIns="0" rIns="0"/>
            <a:lstStyle/>
            <a:p>
              <a:pPr algn="l">
                <a:lnSpc>
                  <a:spcPts val="5040"/>
                </a:lnSpc>
              </a:pPr>
              <a:r>
                <a:rPr lang="en-US" sz="4200" b="true">
                  <a:solidFill>
                    <a:srgbClr val="DAF1DE"/>
                  </a:solidFill>
                  <a:latin typeface="Cambria Bold"/>
                  <a:ea typeface="Cambria Bold"/>
                  <a:cs typeface="Cambria Bold"/>
                  <a:sym typeface="Cambria Bold"/>
                </a:rPr>
                <a:t>Carta Gantt</a:t>
              </a:r>
            </a:p>
          </p:txBody>
        </p:sp>
      </p:grpSp>
      <p:sp>
        <p:nvSpPr>
          <p:cNvPr name="Freeform 5" id="5"/>
          <p:cNvSpPr/>
          <p:nvPr/>
        </p:nvSpPr>
        <p:spPr>
          <a:xfrm flipH="false" flipV="false" rot="0">
            <a:off x="116389" y="1706512"/>
            <a:ext cx="18073338" cy="6743614"/>
          </a:xfrm>
          <a:custGeom>
            <a:avLst/>
            <a:gdLst/>
            <a:ahLst/>
            <a:cxnLst/>
            <a:rect r="r" b="b" t="t" l="l"/>
            <a:pathLst>
              <a:path h="6743614" w="18073338">
                <a:moveTo>
                  <a:pt x="0" y="0"/>
                </a:moveTo>
                <a:lnTo>
                  <a:pt x="18073338" y="0"/>
                </a:lnTo>
                <a:lnTo>
                  <a:pt x="18073338" y="6743614"/>
                </a:lnTo>
                <a:lnTo>
                  <a:pt x="0" y="6743614"/>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514350" y="556696"/>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764185" y="-620735"/>
            <a:ext cx="9875472" cy="3081449"/>
            <a:chOff x="0" y="0"/>
            <a:chExt cx="13167296" cy="4108599"/>
          </a:xfrm>
        </p:grpSpPr>
        <p:sp>
          <p:nvSpPr>
            <p:cNvPr name="Freeform 6" id="6"/>
            <p:cNvSpPr/>
            <p:nvPr/>
          </p:nvSpPr>
          <p:spPr>
            <a:xfrm flipH="false" flipV="false" rot="0">
              <a:off x="0" y="0"/>
              <a:ext cx="13167296" cy="4108599"/>
            </a:xfrm>
            <a:custGeom>
              <a:avLst/>
              <a:gdLst/>
              <a:ahLst/>
              <a:cxnLst/>
              <a:rect r="r" b="b" t="t" l="l"/>
              <a:pathLst>
                <a:path h="4108599" w="13167296">
                  <a:moveTo>
                    <a:pt x="0" y="0"/>
                  </a:moveTo>
                  <a:lnTo>
                    <a:pt x="13167296" y="0"/>
                  </a:lnTo>
                  <a:lnTo>
                    <a:pt x="13167296" y="4108599"/>
                  </a:lnTo>
                  <a:lnTo>
                    <a:pt x="0" y="4108599"/>
                  </a:lnTo>
                  <a:close/>
                </a:path>
              </a:pathLst>
            </a:custGeom>
            <a:blipFill>
              <a:blip r:embed="rId3">
                <a:alphaModFix amt="0"/>
              </a:blip>
              <a:stretch>
                <a:fillRect l="0" t="-78826" r="-45834" b="-3308"/>
              </a:stretch>
            </a:blipFill>
          </p:spPr>
        </p:sp>
        <p:sp>
          <p:nvSpPr>
            <p:cNvPr name="TextBox 7" id="7"/>
            <p:cNvSpPr txBox="true"/>
            <p:nvPr/>
          </p:nvSpPr>
          <p:spPr>
            <a:xfrm>
              <a:off x="0" y="-9525"/>
              <a:ext cx="13167296" cy="4118124"/>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Requisitos Funcionales y No funcionales</a:t>
              </a:r>
            </a:p>
          </p:txBody>
        </p:sp>
      </p:grpSp>
      <p:grpSp>
        <p:nvGrpSpPr>
          <p:cNvPr name="Group 8" id="8"/>
          <p:cNvGrpSpPr/>
          <p:nvPr/>
        </p:nvGrpSpPr>
        <p:grpSpPr>
          <a:xfrm rot="0">
            <a:off x="1764185" y="1193988"/>
            <a:ext cx="4129522" cy="391409"/>
            <a:chOff x="0" y="0"/>
            <a:chExt cx="5506029" cy="521878"/>
          </a:xfrm>
        </p:grpSpPr>
        <p:sp>
          <p:nvSpPr>
            <p:cNvPr name="Freeform 9" id="9"/>
            <p:cNvSpPr/>
            <p:nvPr/>
          </p:nvSpPr>
          <p:spPr>
            <a:xfrm flipH="false" flipV="false" rot="0">
              <a:off x="0" y="0"/>
              <a:ext cx="5506029" cy="521878"/>
            </a:xfrm>
            <a:custGeom>
              <a:avLst/>
              <a:gdLst/>
              <a:ahLst/>
              <a:cxnLst/>
              <a:rect r="r" b="b" t="t" l="l"/>
              <a:pathLst>
                <a:path h="521878" w="5506029">
                  <a:moveTo>
                    <a:pt x="0" y="0"/>
                  </a:moveTo>
                  <a:lnTo>
                    <a:pt x="5506029" y="0"/>
                  </a:lnTo>
                  <a:lnTo>
                    <a:pt x="5506029" y="521878"/>
                  </a:lnTo>
                  <a:lnTo>
                    <a:pt x="0" y="521878"/>
                  </a:lnTo>
                  <a:close/>
                </a:path>
              </a:pathLst>
            </a:custGeom>
            <a:blipFill>
              <a:blip r:embed="rId3">
                <a:alphaModFix amt="0"/>
              </a:blip>
              <a:stretch>
                <a:fillRect l="0" t="-655623" r="-248752" b="-678272"/>
              </a:stretch>
            </a:blipFill>
          </p:spPr>
        </p:sp>
        <p:sp>
          <p:nvSpPr>
            <p:cNvPr name="TextBox 10" id="10"/>
            <p:cNvSpPr txBox="true"/>
            <p:nvPr/>
          </p:nvSpPr>
          <p:spPr>
            <a:xfrm>
              <a:off x="0" y="-47625"/>
              <a:ext cx="5506029" cy="569503"/>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Objetivos logrados hasta la fecha actual</a:t>
              </a:r>
            </a:p>
          </p:txBody>
        </p:sp>
      </p:grpSp>
      <p:grpSp>
        <p:nvGrpSpPr>
          <p:cNvPr name="Group 11" id="11"/>
          <p:cNvGrpSpPr/>
          <p:nvPr/>
        </p:nvGrpSpPr>
        <p:grpSpPr>
          <a:xfrm rot="0">
            <a:off x="227293" y="1997188"/>
            <a:ext cx="3771900" cy="3626935"/>
            <a:chOff x="0" y="0"/>
            <a:chExt cx="5029200" cy="4835913"/>
          </a:xfrm>
        </p:grpSpPr>
        <p:sp>
          <p:nvSpPr>
            <p:cNvPr name="Freeform 12" id="12"/>
            <p:cNvSpPr/>
            <p:nvPr/>
          </p:nvSpPr>
          <p:spPr>
            <a:xfrm flipH="false" flipV="false" rot="0">
              <a:off x="0" y="0"/>
              <a:ext cx="5029200" cy="4835913"/>
            </a:xfrm>
            <a:custGeom>
              <a:avLst/>
              <a:gdLst/>
              <a:ahLst/>
              <a:cxnLst/>
              <a:rect r="r" b="b" t="t" l="l"/>
              <a:pathLst>
                <a:path h="4835913" w="5029200">
                  <a:moveTo>
                    <a:pt x="0" y="205784"/>
                  </a:moveTo>
                  <a:cubicBezTo>
                    <a:pt x="0" y="92174"/>
                    <a:pt x="81915" y="0"/>
                    <a:pt x="182880" y="0"/>
                  </a:cubicBezTo>
                  <a:lnTo>
                    <a:pt x="4846320" y="0"/>
                  </a:lnTo>
                  <a:cubicBezTo>
                    <a:pt x="4947285" y="0"/>
                    <a:pt x="5029200" y="92174"/>
                    <a:pt x="5029200" y="205784"/>
                  </a:cubicBezTo>
                  <a:lnTo>
                    <a:pt x="5029200" y="4630130"/>
                  </a:lnTo>
                  <a:cubicBezTo>
                    <a:pt x="5029200" y="4743740"/>
                    <a:pt x="4947285" y="4835913"/>
                    <a:pt x="4846320" y="4835913"/>
                  </a:cubicBezTo>
                  <a:lnTo>
                    <a:pt x="182880" y="4835913"/>
                  </a:lnTo>
                  <a:cubicBezTo>
                    <a:pt x="81915" y="4835913"/>
                    <a:pt x="0" y="4743740"/>
                    <a:pt x="0" y="4630130"/>
                  </a:cubicBezTo>
                  <a:close/>
                </a:path>
              </a:pathLst>
            </a:custGeom>
            <a:solidFill>
              <a:srgbClr val="FFFFFF"/>
            </a:solidFill>
          </p:spPr>
        </p:sp>
      </p:grpSp>
      <p:grpSp>
        <p:nvGrpSpPr>
          <p:cNvPr name="Group 13" id="13"/>
          <p:cNvGrpSpPr/>
          <p:nvPr/>
        </p:nvGrpSpPr>
        <p:grpSpPr>
          <a:xfrm rot="0">
            <a:off x="1573456" y="2126936"/>
            <a:ext cx="891540" cy="891540"/>
            <a:chOff x="0" y="0"/>
            <a:chExt cx="1188720" cy="1188720"/>
          </a:xfrm>
        </p:grpSpPr>
        <p:sp>
          <p:nvSpPr>
            <p:cNvPr name="Freeform 14" id="14"/>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15" id="15"/>
          <p:cNvGrpSpPr/>
          <p:nvPr/>
        </p:nvGrpSpPr>
        <p:grpSpPr>
          <a:xfrm rot="0">
            <a:off x="1787425" y="2340905"/>
            <a:ext cx="463601" cy="463601"/>
            <a:chOff x="0" y="0"/>
            <a:chExt cx="618134" cy="618134"/>
          </a:xfrm>
        </p:grpSpPr>
        <p:sp>
          <p:nvSpPr>
            <p:cNvPr name="Freeform 16" id="16" descr="/home/claude/sms-security/icons/code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4"/>
              <a:stretch>
                <a:fillRect l="0" t="0" r="-4" b="-4"/>
              </a:stretch>
            </a:blipFill>
          </p:spPr>
        </p:sp>
      </p:grpSp>
      <p:grpSp>
        <p:nvGrpSpPr>
          <p:cNvPr name="Group 17" id="17"/>
          <p:cNvGrpSpPr/>
          <p:nvPr/>
        </p:nvGrpSpPr>
        <p:grpSpPr>
          <a:xfrm rot="0">
            <a:off x="474250" y="2956014"/>
            <a:ext cx="3360420" cy="548640"/>
            <a:chOff x="0" y="0"/>
            <a:chExt cx="4480560" cy="731520"/>
          </a:xfrm>
        </p:grpSpPr>
        <p:sp>
          <p:nvSpPr>
            <p:cNvPr name="Freeform 18" id="18"/>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3">
                <a:alphaModFix amt="0"/>
              </a:blip>
              <a:stretch>
                <a:fillRect l="0" t="-69345" r="0" b="-69345"/>
              </a:stretch>
            </a:blipFill>
          </p:spPr>
        </p:sp>
        <p:sp>
          <p:nvSpPr>
            <p:cNvPr name="TextBox 19" id="19"/>
            <p:cNvSpPr txBox="true"/>
            <p:nvPr/>
          </p:nvSpPr>
          <p:spPr>
            <a:xfrm>
              <a:off x="0" y="-38100"/>
              <a:ext cx="4480560" cy="769620"/>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RF-01(Analisis del Texto)</a:t>
              </a:r>
            </a:p>
          </p:txBody>
        </p:sp>
      </p:grpSp>
      <p:grpSp>
        <p:nvGrpSpPr>
          <p:cNvPr name="Group 20" id="20"/>
          <p:cNvGrpSpPr/>
          <p:nvPr/>
        </p:nvGrpSpPr>
        <p:grpSpPr>
          <a:xfrm rot="0">
            <a:off x="455200" y="3389951"/>
            <a:ext cx="3379470" cy="2069280"/>
            <a:chOff x="0" y="0"/>
            <a:chExt cx="4505960" cy="2759041"/>
          </a:xfrm>
        </p:grpSpPr>
        <p:sp>
          <p:nvSpPr>
            <p:cNvPr name="Freeform 21" id="21"/>
            <p:cNvSpPr/>
            <p:nvPr/>
          </p:nvSpPr>
          <p:spPr>
            <a:xfrm flipH="false" flipV="false" rot="0">
              <a:off x="0" y="0"/>
              <a:ext cx="4505960" cy="2759041"/>
            </a:xfrm>
            <a:custGeom>
              <a:avLst/>
              <a:gdLst/>
              <a:ahLst/>
              <a:cxnLst/>
              <a:rect r="r" b="b" t="t" l="l"/>
              <a:pathLst>
                <a:path h="2759041" w="4505960">
                  <a:moveTo>
                    <a:pt x="0" y="339685"/>
                  </a:moveTo>
                  <a:cubicBezTo>
                    <a:pt x="0" y="152094"/>
                    <a:pt x="66929" y="0"/>
                    <a:pt x="149479" y="0"/>
                  </a:cubicBezTo>
                  <a:lnTo>
                    <a:pt x="4356481" y="0"/>
                  </a:lnTo>
                  <a:cubicBezTo>
                    <a:pt x="4439031" y="0"/>
                    <a:pt x="4505960" y="152094"/>
                    <a:pt x="4505960" y="339685"/>
                  </a:cubicBezTo>
                  <a:lnTo>
                    <a:pt x="4505960" y="2419355"/>
                  </a:lnTo>
                  <a:cubicBezTo>
                    <a:pt x="4505960" y="2606947"/>
                    <a:pt x="4439031" y="2759041"/>
                    <a:pt x="4356481" y="2759041"/>
                  </a:cubicBezTo>
                  <a:lnTo>
                    <a:pt x="149479" y="2759041"/>
                  </a:lnTo>
                  <a:cubicBezTo>
                    <a:pt x="66929" y="2759041"/>
                    <a:pt x="0" y="2606947"/>
                    <a:pt x="0" y="2419355"/>
                  </a:cubicBezTo>
                  <a:close/>
                </a:path>
              </a:pathLst>
            </a:custGeom>
            <a:solidFill>
              <a:srgbClr val="FFFFFF"/>
            </a:solidFill>
            <a:ln w="19050" cap="sq">
              <a:solidFill>
                <a:srgbClr val="8EB69B"/>
              </a:solidFill>
              <a:prstDash val="dash"/>
              <a:miter/>
            </a:ln>
          </p:spPr>
        </p:sp>
      </p:grpSp>
      <p:grpSp>
        <p:nvGrpSpPr>
          <p:cNvPr name="Group 22" id="22"/>
          <p:cNvGrpSpPr/>
          <p:nvPr/>
        </p:nvGrpSpPr>
        <p:grpSpPr>
          <a:xfrm rot="0">
            <a:off x="4303321" y="1997188"/>
            <a:ext cx="3771900" cy="3626935"/>
            <a:chOff x="0" y="0"/>
            <a:chExt cx="5029200" cy="4835913"/>
          </a:xfrm>
        </p:grpSpPr>
        <p:sp>
          <p:nvSpPr>
            <p:cNvPr name="Freeform 23" id="23"/>
            <p:cNvSpPr/>
            <p:nvPr/>
          </p:nvSpPr>
          <p:spPr>
            <a:xfrm flipH="false" flipV="false" rot="0">
              <a:off x="0" y="0"/>
              <a:ext cx="5029200" cy="4835913"/>
            </a:xfrm>
            <a:custGeom>
              <a:avLst/>
              <a:gdLst/>
              <a:ahLst/>
              <a:cxnLst/>
              <a:rect r="r" b="b" t="t" l="l"/>
              <a:pathLst>
                <a:path h="4835913" w="5029200">
                  <a:moveTo>
                    <a:pt x="0" y="205784"/>
                  </a:moveTo>
                  <a:cubicBezTo>
                    <a:pt x="0" y="92174"/>
                    <a:pt x="81915" y="0"/>
                    <a:pt x="182880" y="0"/>
                  </a:cubicBezTo>
                  <a:lnTo>
                    <a:pt x="4846320" y="0"/>
                  </a:lnTo>
                  <a:cubicBezTo>
                    <a:pt x="4947285" y="0"/>
                    <a:pt x="5029200" y="92174"/>
                    <a:pt x="5029200" y="205784"/>
                  </a:cubicBezTo>
                  <a:lnTo>
                    <a:pt x="5029200" y="4630130"/>
                  </a:lnTo>
                  <a:cubicBezTo>
                    <a:pt x="5029200" y="4743740"/>
                    <a:pt x="4947285" y="4835913"/>
                    <a:pt x="4846320" y="4835913"/>
                  </a:cubicBezTo>
                  <a:lnTo>
                    <a:pt x="182880" y="4835913"/>
                  </a:lnTo>
                  <a:cubicBezTo>
                    <a:pt x="81915" y="4835913"/>
                    <a:pt x="0" y="4743740"/>
                    <a:pt x="0" y="4630130"/>
                  </a:cubicBezTo>
                  <a:close/>
                </a:path>
              </a:pathLst>
            </a:custGeom>
            <a:solidFill>
              <a:srgbClr val="FFFFFF"/>
            </a:solidFill>
          </p:spPr>
        </p:sp>
      </p:grpSp>
      <p:grpSp>
        <p:nvGrpSpPr>
          <p:cNvPr name="Group 24" id="24"/>
          <p:cNvGrpSpPr/>
          <p:nvPr/>
        </p:nvGrpSpPr>
        <p:grpSpPr>
          <a:xfrm rot="0">
            <a:off x="5743501" y="2100949"/>
            <a:ext cx="891540" cy="891540"/>
            <a:chOff x="0" y="0"/>
            <a:chExt cx="1188720" cy="1188720"/>
          </a:xfrm>
        </p:grpSpPr>
        <p:sp>
          <p:nvSpPr>
            <p:cNvPr name="Freeform 25" id="25"/>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26" id="26"/>
          <p:cNvGrpSpPr/>
          <p:nvPr/>
        </p:nvGrpSpPr>
        <p:grpSpPr>
          <a:xfrm rot="0">
            <a:off x="4544646" y="2929246"/>
            <a:ext cx="3360420" cy="548640"/>
            <a:chOff x="0" y="0"/>
            <a:chExt cx="4480560" cy="731520"/>
          </a:xfrm>
        </p:grpSpPr>
        <p:sp>
          <p:nvSpPr>
            <p:cNvPr name="Freeform 27" id="27"/>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3">
                <a:alphaModFix amt="0"/>
              </a:blip>
              <a:stretch>
                <a:fillRect l="0" t="-69345" r="0" b="-69345"/>
              </a:stretch>
            </a:blipFill>
          </p:spPr>
        </p:sp>
        <p:sp>
          <p:nvSpPr>
            <p:cNvPr name="TextBox 28" id="28"/>
            <p:cNvSpPr txBox="true"/>
            <p:nvPr/>
          </p:nvSpPr>
          <p:spPr>
            <a:xfrm>
              <a:off x="0" y="-38100"/>
              <a:ext cx="4480560" cy="769620"/>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RF-02(Análisis de Enlaces)</a:t>
              </a:r>
            </a:p>
          </p:txBody>
        </p:sp>
      </p:grpSp>
      <p:grpSp>
        <p:nvGrpSpPr>
          <p:cNvPr name="Group 29" id="29"/>
          <p:cNvGrpSpPr/>
          <p:nvPr/>
        </p:nvGrpSpPr>
        <p:grpSpPr>
          <a:xfrm rot="0">
            <a:off x="4499536" y="3389951"/>
            <a:ext cx="3379470" cy="2106538"/>
            <a:chOff x="0" y="0"/>
            <a:chExt cx="4505960" cy="2808717"/>
          </a:xfrm>
        </p:grpSpPr>
        <p:sp>
          <p:nvSpPr>
            <p:cNvPr name="Freeform 30" id="30"/>
            <p:cNvSpPr/>
            <p:nvPr/>
          </p:nvSpPr>
          <p:spPr>
            <a:xfrm flipH="false" flipV="false" rot="0">
              <a:off x="0" y="0"/>
              <a:ext cx="4505960" cy="2808717"/>
            </a:xfrm>
            <a:custGeom>
              <a:avLst/>
              <a:gdLst/>
              <a:ahLst/>
              <a:cxnLst/>
              <a:rect r="r" b="b" t="t" l="l"/>
              <a:pathLst>
                <a:path h="2808717" w="4505960">
                  <a:moveTo>
                    <a:pt x="0" y="345801"/>
                  </a:moveTo>
                  <a:cubicBezTo>
                    <a:pt x="0" y="154832"/>
                    <a:pt x="66929" y="0"/>
                    <a:pt x="149479" y="0"/>
                  </a:cubicBezTo>
                  <a:lnTo>
                    <a:pt x="4356481" y="0"/>
                  </a:lnTo>
                  <a:cubicBezTo>
                    <a:pt x="4439031" y="0"/>
                    <a:pt x="4505960" y="154832"/>
                    <a:pt x="4505960" y="345801"/>
                  </a:cubicBezTo>
                  <a:lnTo>
                    <a:pt x="4505960" y="2462916"/>
                  </a:lnTo>
                  <a:cubicBezTo>
                    <a:pt x="4505960" y="2653885"/>
                    <a:pt x="4439031" y="2808717"/>
                    <a:pt x="4356481" y="2808717"/>
                  </a:cubicBezTo>
                  <a:lnTo>
                    <a:pt x="149479" y="2808717"/>
                  </a:lnTo>
                  <a:cubicBezTo>
                    <a:pt x="66929" y="2808717"/>
                    <a:pt x="0" y="2653885"/>
                    <a:pt x="0" y="2462916"/>
                  </a:cubicBezTo>
                  <a:close/>
                </a:path>
              </a:pathLst>
            </a:custGeom>
            <a:solidFill>
              <a:srgbClr val="FFFFFF"/>
            </a:solidFill>
            <a:ln w="19050" cap="sq">
              <a:solidFill>
                <a:srgbClr val="8EB69B"/>
              </a:solidFill>
              <a:prstDash val="dash"/>
              <a:miter/>
            </a:ln>
          </p:spPr>
        </p:sp>
      </p:grpSp>
      <p:grpSp>
        <p:nvGrpSpPr>
          <p:cNvPr name="Group 31" id="31"/>
          <p:cNvGrpSpPr/>
          <p:nvPr/>
        </p:nvGrpSpPr>
        <p:grpSpPr>
          <a:xfrm rot="0">
            <a:off x="8360971" y="1997188"/>
            <a:ext cx="3771900" cy="3626935"/>
            <a:chOff x="0" y="0"/>
            <a:chExt cx="5029200" cy="4835913"/>
          </a:xfrm>
        </p:grpSpPr>
        <p:sp>
          <p:nvSpPr>
            <p:cNvPr name="Freeform 32" id="32"/>
            <p:cNvSpPr/>
            <p:nvPr/>
          </p:nvSpPr>
          <p:spPr>
            <a:xfrm flipH="false" flipV="false" rot="0">
              <a:off x="0" y="0"/>
              <a:ext cx="5029200" cy="4835913"/>
            </a:xfrm>
            <a:custGeom>
              <a:avLst/>
              <a:gdLst/>
              <a:ahLst/>
              <a:cxnLst/>
              <a:rect r="r" b="b" t="t" l="l"/>
              <a:pathLst>
                <a:path h="4835913" w="5029200">
                  <a:moveTo>
                    <a:pt x="0" y="205784"/>
                  </a:moveTo>
                  <a:cubicBezTo>
                    <a:pt x="0" y="92174"/>
                    <a:pt x="81915" y="0"/>
                    <a:pt x="182880" y="0"/>
                  </a:cubicBezTo>
                  <a:lnTo>
                    <a:pt x="4846320" y="0"/>
                  </a:lnTo>
                  <a:cubicBezTo>
                    <a:pt x="4947285" y="0"/>
                    <a:pt x="5029200" y="92174"/>
                    <a:pt x="5029200" y="205784"/>
                  </a:cubicBezTo>
                  <a:lnTo>
                    <a:pt x="5029200" y="4630130"/>
                  </a:lnTo>
                  <a:cubicBezTo>
                    <a:pt x="5029200" y="4743740"/>
                    <a:pt x="4947285" y="4835913"/>
                    <a:pt x="4846320" y="4835913"/>
                  </a:cubicBezTo>
                  <a:lnTo>
                    <a:pt x="182880" y="4835913"/>
                  </a:lnTo>
                  <a:cubicBezTo>
                    <a:pt x="81915" y="4835913"/>
                    <a:pt x="0" y="4743740"/>
                    <a:pt x="0" y="4630130"/>
                  </a:cubicBezTo>
                  <a:close/>
                </a:path>
              </a:pathLst>
            </a:custGeom>
            <a:solidFill>
              <a:srgbClr val="FFFFFF"/>
            </a:solidFill>
          </p:spPr>
        </p:sp>
      </p:grpSp>
      <p:grpSp>
        <p:nvGrpSpPr>
          <p:cNvPr name="Group 33" id="33"/>
          <p:cNvGrpSpPr/>
          <p:nvPr/>
        </p:nvGrpSpPr>
        <p:grpSpPr>
          <a:xfrm rot="0">
            <a:off x="9703043" y="2120441"/>
            <a:ext cx="891540" cy="891540"/>
            <a:chOff x="0" y="0"/>
            <a:chExt cx="1188720" cy="1188720"/>
          </a:xfrm>
        </p:grpSpPr>
        <p:sp>
          <p:nvSpPr>
            <p:cNvPr name="Freeform 34" id="34"/>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35" id="35"/>
          <p:cNvGrpSpPr/>
          <p:nvPr/>
        </p:nvGrpSpPr>
        <p:grpSpPr>
          <a:xfrm rot="0">
            <a:off x="9917013" y="2325227"/>
            <a:ext cx="463601" cy="463601"/>
            <a:chOff x="0" y="0"/>
            <a:chExt cx="618134" cy="618134"/>
          </a:xfrm>
        </p:grpSpPr>
        <p:sp>
          <p:nvSpPr>
            <p:cNvPr name="Freeform 36" id="36" descr="/home/claude/sms-security/icons/layers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5"/>
              <a:stretch>
                <a:fillRect l="0" t="0" r="-4" b="-4"/>
              </a:stretch>
            </a:blipFill>
          </p:spPr>
        </p:sp>
      </p:grpSp>
      <p:grpSp>
        <p:nvGrpSpPr>
          <p:cNvPr name="Group 37" id="37"/>
          <p:cNvGrpSpPr/>
          <p:nvPr/>
        </p:nvGrpSpPr>
        <p:grpSpPr>
          <a:xfrm rot="0">
            <a:off x="8608621" y="2956014"/>
            <a:ext cx="3360420" cy="548640"/>
            <a:chOff x="0" y="0"/>
            <a:chExt cx="4480560" cy="731520"/>
          </a:xfrm>
        </p:grpSpPr>
        <p:sp>
          <p:nvSpPr>
            <p:cNvPr name="Freeform 38" id="38"/>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3">
                <a:alphaModFix amt="0"/>
              </a:blip>
              <a:stretch>
                <a:fillRect l="0" t="-69345" r="0" b="-69345"/>
              </a:stretch>
            </a:blipFill>
          </p:spPr>
        </p:sp>
        <p:sp>
          <p:nvSpPr>
            <p:cNvPr name="TextBox 39" id="39"/>
            <p:cNvSpPr txBox="true"/>
            <p:nvPr/>
          </p:nvSpPr>
          <p:spPr>
            <a:xfrm>
              <a:off x="0" y="-38100"/>
              <a:ext cx="4480560" cy="769620"/>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RF-03(Clasificación de Riesgo)</a:t>
              </a:r>
            </a:p>
          </p:txBody>
        </p:sp>
      </p:grpSp>
      <p:grpSp>
        <p:nvGrpSpPr>
          <p:cNvPr name="Group 40" id="40"/>
          <p:cNvGrpSpPr/>
          <p:nvPr/>
        </p:nvGrpSpPr>
        <p:grpSpPr>
          <a:xfrm rot="0">
            <a:off x="8557186" y="3417216"/>
            <a:ext cx="3379470" cy="2079272"/>
            <a:chOff x="0" y="0"/>
            <a:chExt cx="4505960" cy="2772363"/>
          </a:xfrm>
        </p:grpSpPr>
        <p:sp>
          <p:nvSpPr>
            <p:cNvPr name="Freeform 41" id="41"/>
            <p:cNvSpPr/>
            <p:nvPr/>
          </p:nvSpPr>
          <p:spPr>
            <a:xfrm flipH="false" flipV="false" rot="0">
              <a:off x="0" y="0"/>
              <a:ext cx="4505960" cy="2772363"/>
            </a:xfrm>
            <a:custGeom>
              <a:avLst/>
              <a:gdLst/>
              <a:ahLst/>
              <a:cxnLst/>
              <a:rect r="r" b="b" t="t" l="l"/>
              <a:pathLst>
                <a:path h="2772363" w="4505960">
                  <a:moveTo>
                    <a:pt x="0" y="341325"/>
                  </a:moveTo>
                  <a:cubicBezTo>
                    <a:pt x="0" y="152828"/>
                    <a:pt x="66929" y="0"/>
                    <a:pt x="149479" y="0"/>
                  </a:cubicBezTo>
                  <a:lnTo>
                    <a:pt x="4356481" y="0"/>
                  </a:lnTo>
                  <a:cubicBezTo>
                    <a:pt x="4439031" y="0"/>
                    <a:pt x="4505960" y="152828"/>
                    <a:pt x="4505960" y="341325"/>
                  </a:cubicBezTo>
                  <a:lnTo>
                    <a:pt x="4505960" y="2431037"/>
                  </a:lnTo>
                  <a:cubicBezTo>
                    <a:pt x="4505960" y="2619535"/>
                    <a:pt x="4439031" y="2772363"/>
                    <a:pt x="4356481" y="2772363"/>
                  </a:cubicBezTo>
                  <a:lnTo>
                    <a:pt x="149479" y="2772363"/>
                  </a:lnTo>
                  <a:cubicBezTo>
                    <a:pt x="66929" y="2772363"/>
                    <a:pt x="0" y="2619535"/>
                    <a:pt x="0" y="2431037"/>
                  </a:cubicBezTo>
                  <a:close/>
                </a:path>
              </a:pathLst>
            </a:custGeom>
            <a:solidFill>
              <a:srgbClr val="FFFFFF"/>
            </a:solidFill>
            <a:ln w="19050" cap="sq">
              <a:solidFill>
                <a:srgbClr val="8EB69B"/>
              </a:solidFill>
              <a:prstDash val="dash"/>
              <a:miter/>
            </a:ln>
          </p:spPr>
        </p:sp>
      </p:grpSp>
      <p:grpSp>
        <p:nvGrpSpPr>
          <p:cNvPr name="Group 42" id="42"/>
          <p:cNvGrpSpPr/>
          <p:nvPr/>
        </p:nvGrpSpPr>
        <p:grpSpPr>
          <a:xfrm rot="0">
            <a:off x="227293" y="5833673"/>
            <a:ext cx="3771900" cy="3789987"/>
            <a:chOff x="0" y="0"/>
            <a:chExt cx="5029200" cy="5053316"/>
          </a:xfrm>
        </p:grpSpPr>
        <p:sp>
          <p:nvSpPr>
            <p:cNvPr name="Freeform 43" id="43"/>
            <p:cNvSpPr/>
            <p:nvPr/>
          </p:nvSpPr>
          <p:spPr>
            <a:xfrm flipH="false" flipV="false" rot="0">
              <a:off x="0" y="0"/>
              <a:ext cx="5029200" cy="5053316"/>
            </a:xfrm>
            <a:custGeom>
              <a:avLst/>
              <a:gdLst/>
              <a:ahLst/>
              <a:cxnLst/>
              <a:rect r="r" b="b" t="t" l="l"/>
              <a:pathLst>
                <a:path h="5053316" w="5029200">
                  <a:moveTo>
                    <a:pt x="0" y="215035"/>
                  </a:moveTo>
                  <a:cubicBezTo>
                    <a:pt x="0" y="96318"/>
                    <a:pt x="81915" y="0"/>
                    <a:pt x="182880" y="0"/>
                  </a:cubicBezTo>
                  <a:lnTo>
                    <a:pt x="4846320" y="0"/>
                  </a:lnTo>
                  <a:cubicBezTo>
                    <a:pt x="4947285" y="0"/>
                    <a:pt x="5029200" y="96318"/>
                    <a:pt x="5029200" y="215035"/>
                  </a:cubicBezTo>
                  <a:lnTo>
                    <a:pt x="5029200" y="4838281"/>
                  </a:lnTo>
                  <a:cubicBezTo>
                    <a:pt x="5029200" y="4956999"/>
                    <a:pt x="4947285" y="5053316"/>
                    <a:pt x="4846320" y="5053316"/>
                  </a:cubicBezTo>
                  <a:lnTo>
                    <a:pt x="182880" y="5053316"/>
                  </a:lnTo>
                  <a:cubicBezTo>
                    <a:pt x="81915" y="5053316"/>
                    <a:pt x="0" y="4956999"/>
                    <a:pt x="0" y="4838281"/>
                  </a:cubicBezTo>
                  <a:close/>
                </a:path>
              </a:pathLst>
            </a:custGeom>
            <a:solidFill>
              <a:srgbClr val="FFFFFF"/>
            </a:solidFill>
          </p:spPr>
        </p:sp>
      </p:grpSp>
      <p:grpSp>
        <p:nvGrpSpPr>
          <p:cNvPr name="Group 44" id="44"/>
          <p:cNvGrpSpPr/>
          <p:nvPr/>
        </p:nvGrpSpPr>
        <p:grpSpPr>
          <a:xfrm rot="0">
            <a:off x="1649566" y="5956815"/>
            <a:ext cx="891540" cy="891540"/>
            <a:chOff x="0" y="0"/>
            <a:chExt cx="1188720" cy="1188720"/>
          </a:xfrm>
        </p:grpSpPr>
        <p:sp>
          <p:nvSpPr>
            <p:cNvPr name="Freeform 45" id="45"/>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46" id="46"/>
          <p:cNvGrpSpPr/>
          <p:nvPr/>
        </p:nvGrpSpPr>
        <p:grpSpPr>
          <a:xfrm rot="0">
            <a:off x="442558" y="6758211"/>
            <a:ext cx="3360420" cy="548640"/>
            <a:chOff x="0" y="0"/>
            <a:chExt cx="4480560" cy="731520"/>
          </a:xfrm>
        </p:grpSpPr>
        <p:sp>
          <p:nvSpPr>
            <p:cNvPr name="Freeform 47" id="47"/>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3">
                <a:alphaModFix amt="0"/>
              </a:blip>
              <a:stretch>
                <a:fillRect l="0" t="-69345" r="0" b="-69345"/>
              </a:stretch>
            </a:blipFill>
          </p:spPr>
        </p:sp>
        <p:sp>
          <p:nvSpPr>
            <p:cNvPr name="TextBox 48" id="48"/>
            <p:cNvSpPr txBox="true"/>
            <p:nvPr/>
          </p:nvSpPr>
          <p:spPr>
            <a:xfrm>
              <a:off x="0" y="-38100"/>
              <a:ext cx="4480560" cy="769620"/>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RF-04(Asistencia con IA)</a:t>
              </a:r>
            </a:p>
          </p:txBody>
        </p:sp>
      </p:grpSp>
      <p:grpSp>
        <p:nvGrpSpPr>
          <p:cNvPr name="Group 49" id="49"/>
          <p:cNvGrpSpPr/>
          <p:nvPr/>
        </p:nvGrpSpPr>
        <p:grpSpPr>
          <a:xfrm rot="0">
            <a:off x="423508" y="7270446"/>
            <a:ext cx="3379470" cy="2216454"/>
            <a:chOff x="0" y="0"/>
            <a:chExt cx="4505960" cy="2955272"/>
          </a:xfrm>
        </p:grpSpPr>
        <p:sp>
          <p:nvSpPr>
            <p:cNvPr name="Freeform 50" id="50"/>
            <p:cNvSpPr/>
            <p:nvPr/>
          </p:nvSpPr>
          <p:spPr>
            <a:xfrm flipH="false" flipV="false" rot="0">
              <a:off x="0" y="0"/>
              <a:ext cx="4505960" cy="2955272"/>
            </a:xfrm>
            <a:custGeom>
              <a:avLst/>
              <a:gdLst/>
              <a:ahLst/>
              <a:cxnLst/>
              <a:rect r="r" b="b" t="t" l="l"/>
              <a:pathLst>
                <a:path h="2955272" w="4505960">
                  <a:moveTo>
                    <a:pt x="0" y="363845"/>
                  </a:moveTo>
                  <a:cubicBezTo>
                    <a:pt x="0" y="162911"/>
                    <a:pt x="66929" y="0"/>
                    <a:pt x="149479" y="0"/>
                  </a:cubicBezTo>
                  <a:lnTo>
                    <a:pt x="4356481" y="0"/>
                  </a:lnTo>
                  <a:cubicBezTo>
                    <a:pt x="4439031" y="0"/>
                    <a:pt x="4505960" y="162911"/>
                    <a:pt x="4505960" y="363845"/>
                  </a:cubicBezTo>
                  <a:lnTo>
                    <a:pt x="4505960" y="2591427"/>
                  </a:lnTo>
                  <a:cubicBezTo>
                    <a:pt x="4505960" y="2792361"/>
                    <a:pt x="4439031" y="2955272"/>
                    <a:pt x="4356481" y="2955272"/>
                  </a:cubicBezTo>
                  <a:lnTo>
                    <a:pt x="149479" y="2955272"/>
                  </a:lnTo>
                  <a:cubicBezTo>
                    <a:pt x="66929" y="2955272"/>
                    <a:pt x="0" y="2792361"/>
                    <a:pt x="0" y="2591427"/>
                  </a:cubicBezTo>
                  <a:close/>
                </a:path>
              </a:pathLst>
            </a:custGeom>
            <a:solidFill>
              <a:srgbClr val="FFFFFF"/>
            </a:solidFill>
            <a:ln w="19050" cap="sq">
              <a:solidFill>
                <a:srgbClr val="8EB69B"/>
              </a:solidFill>
              <a:prstDash val="dash"/>
              <a:miter/>
            </a:ln>
          </p:spPr>
        </p:sp>
      </p:grpSp>
      <p:grpSp>
        <p:nvGrpSpPr>
          <p:cNvPr name="Group 51" id="51"/>
          <p:cNvGrpSpPr/>
          <p:nvPr/>
        </p:nvGrpSpPr>
        <p:grpSpPr>
          <a:xfrm rot="0">
            <a:off x="12571021" y="2517766"/>
            <a:ext cx="5166715" cy="6796507"/>
            <a:chOff x="0" y="0"/>
            <a:chExt cx="6888954" cy="9062010"/>
          </a:xfrm>
        </p:grpSpPr>
        <p:sp>
          <p:nvSpPr>
            <p:cNvPr name="Freeform 52" id="52"/>
            <p:cNvSpPr/>
            <p:nvPr/>
          </p:nvSpPr>
          <p:spPr>
            <a:xfrm flipH="false" flipV="false" rot="0">
              <a:off x="0" y="0"/>
              <a:ext cx="6888954" cy="9062010"/>
            </a:xfrm>
            <a:custGeom>
              <a:avLst/>
              <a:gdLst/>
              <a:ahLst/>
              <a:cxnLst/>
              <a:rect r="r" b="b" t="t" l="l"/>
              <a:pathLst>
                <a:path h="9062010" w="6888954">
                  <a:moveTo>
                    <a:pt x="0" y="489838"/>
                  </a:moveTo>
                  <a:cubicBezTo>
                    <a:pt x="0" y="219407"/>
                    <a:pt x="25189" y="0"/>
                    <a:pt x="56236" y="0"/>
                  </a:cubicBezTo>
                  <a:lnTo>
                    <a:pt x="6832718" y="0"/>
                  </a:lnTo>
                  <a:cubicBezTo>
                    <a:pt x="6863765" y="0"/>
                    <a:pt x="6888954" y="219407"/>
                    <a:pt x="6888954" y="489838"/>
                  </a:cubicBezTo>
                  <a:lnTo>
                    <a:pt x="6888954" y="8572171"/>
                  </a:lnTo>
                  <a:cubicBezTo>
                    <a:pt x="6888954" y="8842604"/>
                    <a:pt x="6863765" y="9062010"/>
                    <a:pt x="6832718" y="9062010"/>
                  </a:cubicBezTo>
                  <a:lnTo>
                    <a:pt x="56236" y="9062010"/>
                  </a:lnTo>
                  <a:cubicBezTo>
                    <a:pt x="25189" y="9062010"/>
                    <a:pt x="0" y="8842604"/>
                    <a:pt x="0" y="8572171"/>
                  </a:cubicBezTo>
                  <a:close/>
                </a:path>
              </a:pathLst>
            </a:custGeom>
            <a:solidFill>
              <a:srgbClr val="051F20"/>
            </a:solidFill>
          </p:spPr>
        </p:sp>
      </p:grpSp>
      <p:grpSp>
        <p:nvGrpSpPr>
          <p:cNvPr name="Group 53" id="53"/>
          <p:cNvGrpSpPr/>
          <p:nvPr/>
        </p:nvGrpSpPr>
        <p:grpSpPr>
          <a:xfrm rot="0">
            <a:off x="12838281" y="2731736"/>
            <a:ext cx="798305" cy="822960"/>
            <a:chOff x="0" y="0"/>
            <a:chExt cx="1064406" cy="1097280"/>
          </a:xfrm>
        </p:grpSpPr>
        <p:sp>
          <p:nvSpPr>
            <p:cNvPr name="Freeform 54" id="54"/>
            <p:cNvSpPr/>
            <p:nvPr/>
          </p:nvSpPr>
          <p:spPr>
            <a:xfrm flipH="false" flipV="false" rot="0">
              <a:off x="0" y="0"/>
              <a:ext cx="1064406" cy="1097280"/>
            </a:xfrm>
            <a:custGeom>
              <a:avLst/>
              <a:gdLst/>
              <a:ahLst/>
              <a:cxnLst/>
              <a:rect r="r" b="b" t="t" l="l"/>
              <a:pathLst>
                <a:path h="1097280" w="1064406">
                  <a:moveTo>
                    <a:pt x="0" y="548640"/>
                  </a:moveTo>
                  <a:cubicBezTo>
                    <a:pt x="0" y="245618"/>
                    <a:pt x="238259" y="0"/>
                    <a:pt x="532203" y="0"/>
                  </a:cubicBezTo>
                  <a:cubicBezTo>
                    <a:pt x="826147" y="0"/>
                    <a:pt x="1064406" y="245618"/>
                    <a:pt x="1064406" y="548640"/>
                  </a:cubicBezTo>
                  <a:cubicBezTo>
                    <a:pt x="1064406" y="851662"/>
                    <a:pt x="826147" y="1097280"/>
                    <a:pt x="532203" y="1097280"/>
                  </a:cubicBezTo>
                  <a:cubicBezTo>
                    <a:pt x="238260" y="1097280"/>
                    <a:pt x="0" y="851662"/>
                    <a:pt x="0" y="548640"/>
                  </a:cubicBezTo>
                  <a:close/>
                </a:path>
              </a:pathLst>
            </a:custGeom>
            <a:solidFill>
              <a:srgbClr val="8EB69B"/>
            </a:solidFill>
          </p:spPr>
        </p:sp>
      </p:grpSp>
      <p:grpSp>
        <p:nvGrpSpPr>
          <p:cNvPr name="Group 55" id="55"/>
          <p:cNvGrpSpPr/>
          <p:nvPr/>
        </p:nvGrpSpPr>
        <p:grpSpPr>
          <a:xfrm rot="0">
            <a:off x="13029874" y="2929246"/>
            <a:ext cx="415118" cy="427939"/>
            <a:chOff x="0" y="0"/>
            <a:chExt cx="553491" cy="570586"/>
          </a:xfrm>
        </p:grpSpPr>
        <p:sp>
          <p:nvSpPr>
            <p:cNvPr name="Freeform 56" id="56" descr="/home/claude/sms-security/icons/comment_dark1.png"/>
            <p:cNvSpPr/>
            <p:nvPr/>
          </p:nvSpPr>
          <p:spPr>
            <a:xfrm flipH="false" flipV="false" rot="0">
              <a:off x="0" y="0"/>
              <a:ext cx="553517" cy="570611"/>
            </a:xfrm>
            <a:custGeom>
              <a:avLst/>
              <a:gdLst/>
              <a:ahLst/>
              <a:cxnLst/>
              <a:rect r="r" b="b" t="t" l="l"/>
              <a:pathLst>
                <a:path h="570611" w="553517">
                  <a:moveTo>
                    <a:pt x="0" y="0"/>
                  </a:moveTo>
                  <a:lnTo>
                    <a:pt x="553517" y="0"/>
                  </a:lnTo>
                  <a:lnTo>
                    <a:pt x="553517" y="570611"/>
                  </a:lnTo>
                  <a:lnTo>
                    <a:pt x="0" y="570611"/>
                  </a:lnTo>
                  <a:lnTo>
                    <a:pt x="0" y="0"/>
                  </a:lnTo>
                  <a:close/>
                </a:path>
              </a:pathLst>
            </a:custGeom>
            <a:blipFill>
              <a:blip r:embed="rId6"/>
              <a:stretch>
                <a:fillRect l="-1548" t="-4" r="-1544" b="0"/>
              </a:stretch>
            </a:blipFill>
          </p:spPr>
        </p:sp>
      </p:grpSp>
      <p:grpSp>
        <p:nvGrpSpPr>
          <p:cNvPr name="Group 57" id="57"/>
          <p:cNvGrpSpPr/>
          <p:nvPr/>
        </p:nvGrpSpPr>
        <p:grpSpPr>
          <a:xfrm rot="0">
            <a:off x="13803752" y="2100949"/>
            <a:ext cx="4855413" cy="1994697"/>
            <a:chOff x="0" y="0"/>
            <a:chExt cx="6473884" cy="2659596"/>
          </a:xfrm>
        </p:grpSpPr>
        <p:sp>
          <p:nvSpPr>
            <p:cNvPr name="Freeform 58" id="58"/>
            <p:cNvSpPr/>
            <p:nvPr/>
          </p:nvSpPr>
          <p:spPr>
            <a:xfrm flipH="false" flipV="false" rot="0">
              <a:off x="0" y="0"/>
              <a:ext cx="6473884" cy="2659596"/>
            </a:xfrm>
            <a:custGeom>
              <a:avLst/>
              <a:gdLst/>
              <a:ahLst/>
              <a:cxnLst/>
              <a:rect r="r" b="b" t="t" l="l"/>
              <a:pathLst>
                <a:path h="2659596" w="6473884">
                  <a:moveTo>
                    <a:pt x="0" y="0"/>
                  </a:moveTo>
                  <a:lnTo>
                    <a:pt x="6473884" y="0"/>
                  </a:lnTo>
                  <a:lnTo>
                    <a:pt x="6473884" y="2659596"/>
                  </a:lnTo>
                  <a:lnTo>
                    <a:pt x="0" y="2659596"/>
                  </a:lnTo>
                  <a:close/>
                </a:path>
              </a:pathLst>
            </a:custGeom>
            <a:blipFill>
              <a:blip r:embed="rId3">
                <a:alphaModFix amt="0"/>
              </a:blip>
              <a:stretch>
                <a:fillRect l="0" t="-63199" r="-69493" b="2419"/>
              </a:stretch>
            </a:blipFill>
          </p:spPr>
        </p:sp>
        <p:sp>
          <p:nvSpPr>
            <p:cNvPr name="TextBox 59" id="59"/>
            <p:cNvSpPr txBox="true"/>
            <p:nvPr/>
          </p:nvSpPr>
          <p:spPr>
            <a:xfrm>
              <a:off x="0" y="-19050"/>
              <a:ext cx="6473884" cy="2678646"/>
            </a:xfrm>
            <a:prstGeom prst="rect">
              <a:avLst/>
            </a:prstGeom>
          </p:spPr>
          <p:txBody>
            <a:bodyPr anchor="ctr" rtlCol="false" tIns="0" lIns="0" bIns="0" rIns="0"/>
            <a:lstStyle/>
            <a:p>
              <a:pPr algn="l">
                <a:lnSpc>
                  <a:spcPts val="2700"/>
                </a:lnSpc>
              </a:pPr>
              <a:r>
                <a:rPr lang="en-US" sz="2250" b="true">
                  <a:solidFill>
                    <a:srgbClr val="DAF1DE"/>
                  </a:solidFill>
                  <a:latin typeface="Cambria Bold"/>
                  <a:ea typeface="Cambria Bold"/>
                  <a:cs typeface="Cambria Bold"/>
                  <a:sym typeface="Cambria Bold"/>
                </a:rPr>
                <a:t>Requisitos No Funcionales</a:t>
              </a:r>
            </a:p>
          </p:txBody>
        </p:sp>
      </p:grpSp>
      <p:grpSp>
        <p:nvGrpSpPr>
          <p:cNvPr name="Group 60" id="60"/>
          <p:cNvGrpSpPr/>
          <p:nvPr/>
        </p:nvGrpSpPr>
        <p:grpSpPr>
          <a:xfrm rot="0">
            <a:off x="12850926" y="3743177"/>
            <a:ext cx="4601060" cy="5369141"/>
            <a:chOff x="0" y="0"/>
            <a:chExt cx="6134747" cy="7158855"/>
          </a:xfrm>
        </p:grpSpPr>
        <p:sp>
          <p:nvSpPr>
            <p:cNvPr name="Freeform 61" id="61"/>
            <p:cNvSpPr/>
            <p:nvPr/>
          </p:nvSpPr>
          <p:spPr>
            <a:xfrm flipH="false" flipV="false" rot="0">
              <a:off x="0" y="0"/>
              <a:ext cx="6134747" cy="7158855"/>
            </a:xfrm>
            <a:custGeom>
              <a:avLst/>
              <a:gdLst/>
              <a:ahLst/>
              <a:cxnLst/>
              <a:rect r="r" b="b" t="t" l="l"/>
              <a:pathLst>
                <a:path h="7158855" w="6134747">
                  <a:moveTo>
                    <a:pt x="0" y="715886"/>
                  </a:moveTo>
                  <a:cubicBezTo>
                    <a:pt x="0" y="320682"/>
                    <a:pt x="19176" y="0"/>
                    <a:pt x="42807" y="0"/>
                  </a:cubicBezTo>
                  <a:lnTo>
                    <a:pt x="6091939" y="0"/>
                  </a:lnTo>
                  <a:cubicBezTo>
                    <a:pt x="6115571" y="0"/>
                    <a:pt x="6134747" y="320682"/>
                    <a:pt x="6134747" y="715886"/>
                  </a:cubicBezTo>
                  <a:lnTo>
                    <a:pt x="6134747" y="6442970"/>
                  </a:lnTo>
                  <a:cubicBezTo>
                    <a:pt x="6134747" y="6838173"/>
                    <a:pt x="6115571" y="7158855"/>
                    <a:pt x="6091939" y="7158855"/>
                  </a:cubicBezTo>
                  <a:lnTo>
                    <a:pt x="42807" y="7158855"/>
                  </a:lnTo>
                  <a:cubicBezTo>
                    <a:pt x="19176" y="7158855"/>
                    <a:pt x="0" y="6838173"/>
                    <a:pt x="0" y="6442970"/>
                  </a:cubicBezTo>
                  <a:close/>
                </a:path>
              </a:pathLst>
            </a:custGeom>
            <a:solidFill>
              <a:srgbClr val="FFFFFF"/>
            </a:solidFill>
            <a:ln w="19050" cap="sq">
              <a:solidFill>
                <a:srgbClr val="8EB69B"/>
              </a:solidFill>
              <a:prstDash val="dash"/>
              <a:miter/>
            </a:ln>
          </p:spPr>
        </p:sp>
      </p:grpSp>
      <p:grpSp>
        <p:nvGrpSpPr>
          <p:cNvPr name="Group 62" id="62"/>
          <p:cNvGrpSpPr/>
          <p:nvPr/>
        </p:nvGrpSpPr>
        <p:grpSpPr>
          <a:xfrm rot="0">
            <a:off x="17053103" y="9601200"/>
            <a:ext cx="822960" cy="480060"/>
            <a:chOff x="0" y="0"/>
            <a:chExt cx="1097280" cy="640080"/>
          </a:xfrm>
        </p:grpSpPr>
        <p:sp>
          <p:nvSpPr>
            <p:cNvPr name="Freeform 63" id="63"/>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64" id="64"/>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03</a:t>
              </a:r>
            </a:p>
          </p:txBody>
        </p:sp>
      </p:grpSp>
      <p:grpSp>
        <p:nvGrpSpPr>
          <p:cNvPr name="Group 65" id="65"/>
          <p:cNvGrpSpPr/>
          <p:nvPr/>
        </p:nvGrpSpPr>
        <p:grpSpPr>
          <a:xfrm rot="0">
            <a:off x="4303321" y="5833673"/>
            <a:ext cx="3771900" cy="3789987"/>
            <a:chOff x="0" y="0"/>
            <a:chExt cx="5029200" cy="5053316"/>
          </a:xfrm>
        </p:grpSpPr>
        <p:sp>
          <p:nvSpPr>
            <p:cNvPr name="Freeform 66" id="66"/>
            <p:cNvSpPr/>
            <p:nvPr/>
          </p:nvSpPr>
          <p:spPr>
            <a:xfrm flipH="false" flipV="false" rot="0">
              <a:off x="0" y="0"/>
              <a:ext cx="5029200" cy="5053316"/>
            </a:xfrm>
            <a:custGeom>
              <a:avLst/>
              <a:gdLst/>
              <a:ahLst/>
              <a:cxnLst/>
              <a:rect r="r" b="b" t="t" l="l"/>
              <a:pathLst>
                <a:path h="5053316" w="5029200">
                  <a:moveTo>
                    <a:pt x="0" y="215035"/>
                  </a:moveTo>
                  <a:cubicBezTo>
                    <a:pt x="0" y="96318"/>
                    <a:pt x="81915" y="0"/>
                    <a:pt x="182880" y="0"/>
                  </a:cubicBezTo>
                  <a:lnTo>
                    <a:pt x="4846320" y="0"/>
                  </a:lnTo>
                  <a:cubicBezTo>
                    <a:pt x="4947285" y="0"/>
                    <a:pt x="5029200" y="96318"/>
                    <a:pt x="5029200" y="215035"/>
                  </a:cubicBezTo>
                  <a:lnTo>
                    <a:pt x="5029200" y="4838281"/>
                  </a:lnTo>
                  <a:cubicBezTo>
                    <a:pt x="5029200" y="4956999"/>
                    <a:pt x="4947285" y="5053316"/>
                    <a:pt x="4846320" y="5053316"/>
                  </a:cubicBezTo>
                  <a:lnTo>
                    <a:pt x="182880" y="5053316"/>
                  </a:lnTo>
                  <a:cubicBezTo>
                    <a:pt x="81915" y="5053316"/>
                    <a:pt x="0" y="4956999"/>
                    <a:pt x="0" y="4838281"/>
                  </a:cubicBezTo>
                  <a:close/>
                </a:path>
              </a:pathLst>
            </a:custGeom>
            <a:solidFill>
              <a:srgbClr val="FFFFFF"/>
            </a:solidFill>
          </p:spPr>
        </p:sp>
      </p:grpSp>
      <p:grpSp>
        <p:nvGrpSpPr>
          <p:cNvPr name="Group 67" id="67"/>
          <p:cNvGrpSpPr/>
          <p:nvPr/>
        </p:nvGrpSpPr>
        <p:grpSpPr>
          <a:xfrm rot="0">
            <a:off x="5733976" y="5929887"/>
            <a:ext cx="891540" cy="891540"/>
            <a:chOff x="0" y="0"/>
            <a:chExt cx="1188720" cy="1188720"/>
          </a:xfrm>
        </p:grpSpPr>
        <p:sp>
          <p:nvSpPr>
            <p:cNvPr name="Freeform 68" id="68"/>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69" id="69"/>
          <p:cNvGrpSpPr/>
          <p:nvPr/>
        </p:nvGrpSpPr>
        <p:grpSpPr>
          <a:xfrm rot="0">
            <a:off x="4544646" y="6821427"/>
            <a:ext cx="3360420" cy="548640"/>
            <a:chOff x="0" y="0"/>
            <a:chExt cx="4480560" cy="731520"/>
          </a:xfrm>
        </p:grpSpPr>
        <p:sp>
          <p:nvSpPr>
            <p:cNvPr name="Freeform 70" id="70"/>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3">
                <a:alphaModFix amt="0"/>
              </a:blip>
              <a:stretch>
                <a:fillRect l="0" t="-69345" r="0" b="-69345"/>
              </a:stretch>
            </a:blipFill>
          </p:spPr>
        </p:sp>
        <p:sp>
          <p:nvSpPr>
            <p:cNvPr name="TextBox 71" id="71"/>
            <p:cNvSpPr txBox="true"/>
            <p:nvPr/>
          </p:nvSpPr>
          <p:spPr>
            <a:xfrm>
              <a:off x="0" y="-38100"/>
              <a:ext cx="4480560" cy="769620"/>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RF-05(Panel de Monitoreo)</a:t>
              </a:r>
            </a:p>
          </p:txBody>
        </p:sp>
      </p:grpSp>
      <p:grpSp>
        <p:nvGrpSpPr>
          <p:cNvPr name="Group 72" id="72"/>
          <p:cNvGrpSpPr/>
          <p:nvPr/>
        </p:nvGrpSpPr>
        <p:grpSpPr>
          <a:xfrm rot="0">
            <a:off x="4544646" y="7370067"/>
            <a:ext cx="3379470" cy="2017212"/>
            <a:chOff x="0" y="0"/>
            <a:chExt cx="4505960" cy="2689616"/>
          </a:xfrm>
        </p:grpSpPr>
        <p:sp>
          <p:nvSpPr>
            <p:cNvPr name="Freeform 73" id="73"/>
            <p:cNvSpPr/>
            <p:nvPr/>
          </p:nvSpPr>
          <p:spPr>
            <a:xfrm flipH="false" flipV="false" rot="0">
              <a:off x="0" y="0"/>
              <a:ext cx="4505960" cy="2689617"/>
            </a:xfrm>
            <a:custGeom>
              <a:avLst/>
              <a:gdLst/>
              <a:ahLst/>
              <a:cxnLst/>
              <a:rect r="r" b="b" t="t" l="l"/>
              <a:pathLst>
                <a:path h="2689617" w="4505960">
                  <a:moveTo>
                    <a:pt x="0" y="331138"/>
                  </a:moveTo>
                  <a:cubicBezTo>
                    <a:pt x="0" y="148267"/>
                    <a:pt x="66929" y="0"/>
                    <a:pt x="149479" y="0"/>
                  </a:cubicBezTo>
                  <a:lnTo>
                    <a:pt x="4356481" y="0"/>
                  </a:lnTo>
                  <a:cubicBezTo>
                    <a:pt x="4439031" y="0"/>
                    <a:pt x="4505960" y="148267"/>
                    <a:pt x="4505960" y="331138"/>
                  </a:cubicBezTo>
                  <a:lnTo>
                    <a:pt x="4505960" y="2358479"/>
                  </a:lnTo>
                  <a:cubicBezTo>
                    <a:pt x="4505960" y="2541350"/>
                    <a:pt x="4439031" y="2689617"/>
                    <a:pt x="4356481" y="2689617"/>
                  </a:cubicBezTo>
                  <a:lnTo>
                    <a:pt x="149479" y="2689617"/>
                  </a:lnTo>
                  <a:cubicBezTo>
                    <a:pt x="66929" y="2689616"/>
                    <a:pt x="0" y="2541350"/>
                    <a:pt x="0" y="2358479"/>
                  </a:cubicBezTo>
                  <a:close/>
                </a:path>
              </a:pathLst>
            </a:custGeom>
            <a:solidFill>
              <a:srgbClr val="FFFFFF"/>
            </a:solidFill>
            <a:ln w="19050" cap="sq">
              <a:solidFill>
                <a:srgbClr val="8EB69B"/>
              </a:solidFill>
              <a:prstDash val="dash"/>
              <a:miter/>
            </a:ln>
          </p:spPr>
        </p:sp>
      </p:grpSp>
      <p:grpSp>
        <p:nvGrpSpPr>
          <p:cNvPr name="Group 74" id="74"/>
          <p:cNvGrpSpPr/>
          <p:nvPr/>
        </p:nvGrpSpPr>
        <p:grpSpPr>
          <a:xfrm rot="0">
            <a:off x="722785" y="722785"/>
            <a:ext cx="611830" cy="611830"/>
            <a:chOff x="0" y="0"/>
            <a:chExt cx="618134" cy="618134"/>
          </a:xfrm>
        </p:grpSpPr>
        <p:sp>
          <p:nvSpPr>
            <p:cNvPr name="Freeform 75" id="75" descr="/home/claude/sms-security/icons/clipboard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7"/>
              <a:stretch>
                <a:fillRect l="0" t="0" r="-4" b="-4"/>
              </a:stretch>
            </a:blipFill>
          </p:spPr>
        </p:sp>
      </p:grpSp>
      <p:sp>
        <p:nvSpPr>
          <p:cNvPr name="Freeform 76" id="76"/>
          <p:cNvSpPr/>
          <p:nvPr/>
        </p:nvSpPr>
        <p:spPr>
          <a:xfrm flipH="false" flipV="false" rot="0">
            <a:off x="5909875" y="6073198"/>
            <a:ext cx="558792" cy="604917"/>
          </a:xfrm>
          <a:custGeom>
            <a:avLst/>
            <a:gdLst/>
            <a:ahLst/>
            <a:cxnLst/>
            <a:rect r="r" b="b" t="t" l="l"/>
            <a:pathLst>
              <a:path h="604917" w="558792">
                <a:moveTo>
                  <a:pt x="0" y="0"/>
                </a:moveTo>
                <a:lnTo>
                  <a:pt x="558792" y="0"/>
                </a:lnTo>
                <a:lnTo>
                  <a:pt x="558792" y="604917"/>
                </a:lnTo>
                <a:lnTo>
                  <a:pt x="0" y="604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7" id="77"/>
          <p:cNvGrpSpPr/>
          <p:nvPr/>
        </p:nvGrpSpPr>
        <p:grpSpPr>
          <a:xfrm rot="0">
            <a:off x="5904900" y="2282182"/>
            <a:ext cx="549691" cy="549691"/>
            <a:chOff x="0" y="0"/>
            <a:chExt cx="736600" cy="736600"/>
          </a:xfrm>
        </p:grpSpPr>
        <p:sp>
          <p:nvSpPr>
            <p:cNvPr name="Freeform 78" id="78"/>
            <p:cNvSpPr/>
            <p:nvPr/>
          </p:nvSpPr>
          <p:spPr>
            <a:xfrm flipH="false" flipV="false" rot="0">
              <a:off x="0" y="0"/>
              <a:ext cx="736600" cy="736600"/>
            </a:xfrm>
            <a:custGeom>
              <a:avLst/>
              <a:gdLst/>
              <a:ahLst/>
              <a:cxnLst/>
              <a:rect r="r" b="b" t="t" l="l"/>
              <a:pathLst>
                <a:path h="736600" w="736600">
                  <a:moveTo>
                    <a:pt x="386011" y="429"/>
                  </a:moveTo>
                  <a:lnTo>
                    <a:pt x="415652" y="58853"/>
                  </a:lnTo>
                  <a:cubicBezTo>
                    <a:pt x="438360" y="62325"/>
                    <a:pt x="460615" y="68279"/>
                    <a:pt x="482016" y="76631"/>
                  </a:cubicBezTo>
                  <a:lnTo>
                    <a:pt x="536896" y="40852"/>
                  </a:lnTo>
                  <a:cubicBezTo>
                    <a:pt x="547402" y="46262"/>
                    <a:pt x="557639" y="52174"/>
                    <a:pt x="567576" y="58574"/>
                  </a:cubicBezTo>
                  <a:lnTo>
                    <a:pt x="564034" y="123985"/>
                  </a:lnTo>
                  <a:cubicBezTo>
                    <a:pt x="581962" y="138346"/>
                    <a:pt x="598254" y="154633"/>
                    <a:pt x="612617" y="172565"/>
                  </a:cubicBezTo>
                  <a:lnTo>
                    <a:pt x="678031" y="169023"/>
                  </a:lnTo>
                  <a:cubicBezTo>
                    <a:pt x="684425" y="178965"/>
                    <a:pt x="690335" y="189200"/>
                    <a:pt x="695744" y="199699"/>
                  </a:cubicBezTo>
                  <a:lnTo>
                    <a:pt x="659969" y="254582"/>
                  </a:lnTo>
                  <a:cubicBezTo>
                    <a:pt x="668316" y="275985"/>
                    <a:pt x="674277" y="298239"/>
                    <a:pt x="677752" y="320940"/>
                  </a:cubicBezTo>
                  <a:lnTo>
                    <a:pt x="736173" y="350585"/>
                  </a:lnTo>
                  <a:cubicBezTo>
                    <a:pt x="736742" y="362381"/>
                    <a:pt x="736742" y="374206"/>
                    <a:pt x="736173" y="386015"/>
                  </a:cubicBezTo>
                  <a:lnTo>
                    <a:pt x="677752" y="415646"/>
                  </a:lnTo>
                  <a:cubicBezTo>
                    <a:pt x="674277" y="438361"/>
                    <a:pt x="668316" y="460615"/>
                    <a:pt x="659969" y="482018"/>
                  </a:cubicBezTo>
                  <a:lnTo>
                    <a:pt x="695744" y="536887"/>
                  </a:lnTo>
                  <a:cubicBezTo>
                    <a:pt x="690335" y="547401"/>
                    <a:pt x="684425" y="557635"/>
                    <a:pt x="678031" y="567577"/>
                  </a:cubicBezTo>
                  <a:lnTo>
                    <a:pt x="612617" y="564036"/>
                  </a:lnTo>
                  <a:cubicBezTo>
                    <a:pt x="598254" y="581953"/>
                    <a:pt x="581962" y="598254"/>
                    <a:pt x="564034" y="612616"/>
                  </a:cubicBezTo>
                  <a:lnTo>
                    <a:pt x="567576" y="678026"/>
                  </a:lnTo>
                  <a:cubicBezTo>
                    <a:pt x="557639" y="684426"/>
                    <a:pt x="547402" y="690324"/>
                    <a:pt x="536896" y="695734"/>
                  </a:cubicBezTo>
                  <a:lnTo>
                    <a:pt x="482016" y="659968"/>
                  </a:lnTo>
                  <a:cubicBezTo>
                    <a:pt x="460615" y="668307"/>
                    <a:pt x="438360" y="674275"/>
                    <a:pt x="415652" y="677747"/>
                  </a:cubicBezTo>
                  <a:lnTo>
                    <a:pt x="386011" y="736171"/>
                  </a:lnTo>
                  <a:cubicBezTo>
                    <a:pt x="374211" y="736743"/>
                    <a:pt x="362388" y="736743"/>
                    <a:pt x="350586" y="736171"/>
                  </a:cubicBezTo>
                  <a:lnTo>
                    <a:pt x="320946" y="677747"/>
                  </a:lnTo>
                  <a:cubicBezTo>
                    <a:pt x="298238" y="674275"/>
                    <a:pt x="275984" y="668307"/>
                    <a:pt x="254582" y="659968"/>
                  </a:cubicBezTo>
                  <a:lnTo>
                    <a:pt x="199705" y="695734"/>
                  </a:lnTo>
                  <a:cubicBezTo>
                    <a:pt x="189191" y="690324"/>
                    <a:pt x="178956" y="684426"/>
                    <a:pt x="169014" y="678026"/>
                  </a:cubicBezTo>
                  <a:lnTo>
                    <a:pt x="172570" y="612616"/>
                  </a:lnTo>
                  <a:cubicBezTo>
                    <a:pt x="154638" y="598254"/>
                    <a:pt x="138337" y="581953"/>
                    <a:pt x="123975" y="564036"/>
                  </a:cubicBezTo>
                  <a:lnTo>
                    <a:pt x="58565" y="567577"/>
                  </a:lnTo>
                  <a:cubicBezTo>
                    <a:pt x="52178" y="557635"/>
                    <a:pt x="46266" y="547401"/>
                    <a:pt x="40856" y="536887"/>
                  </a:cubicBezTo>
                  <a:lnTo>
                    <a:pt x="76622" y="482018"/>
                  </a:lnTo>
                  <a:cubicBezTo>
                    <a:pt x="68283" y="460615"/>
                    <a:pt x="62315" y="438361"/>
                    <a:pt x="58843" y="415646"/>
                  </a:cubicBezTo>
                  <a:lnTo>
                    <a:pt x="418" y="386015"/>
                  </a:lnTo>
                  <a:cubicBezTo>
                    <a:pt x="-139" y="374206"/>
                    <a:pt x="-139" y="362381"/>
                    <a:pt x="418" y="350585"/>
                  </a:cubicBezTo>
                  <a:lnTo>
                    <a:pt x="58843" y="320940"/>
                  </a:lnTo>
                  <a:cubicBezTo>
                    <a:pt x="62315" y="298239"/>
                    <a:pt x="68283" y="275985"/>
                    <a:pt x="76622" y="254582"/>
                  </a:cubicBezTo>
                  <a:lnTo>
                    <a:pt x="40856" y="199699"/>
                  </a:lnTo>
                  <a:cubicBezTo>
                    <a:pt x="46266" y="189200"/>
                    <a:pt x="52178" y="178965"/>
                    <a:pt x="58565" y="169023"/>
                  </a:cubicBezTo>
                  <a:lnTo>
                    <a:pt x="123975" y="172565"/>
                  </a:lnTo>
                  <a:cubicBezTo>
                    <a:pt x="138337" y="154633"/>
                    <a:pt x="154638" y="138346"/>
                    <a:pt x="172570" y="123985"/>
                  </a:cubicBezTo>
                  <a:lnTo>
                    <a:pt x="169014" y="58574"/>
                  </a:lnTo>
                  <a:cubicBezTo>
                    <a:pt x="178956" y="52174"/>
                    <a:pt x="189191" y="46262"/>
                    <a:pt x="199705" y="40852"/>
                  </a:cubicBezTo>
                  <a:lnTo>
                    <a:pt x="254582" y="76631"/>
                  </a:lnTo>
                  <a:cubicBezTo>
                    <a:pt x="275984" y="68279"/>
                    <a:pt x="298238" y="62325"/>
                    <a:pt x="320946" y="58853"/>
                  </a:cubicBezTo>
                  <a:lnTo>
                    <a:pt x="350586" y="429"/>
                  </a:lnTo>
                  <a:cubicBezTo>
                    <a:pt x="362388" y="-143"/>
                    <a:pt x="374211" y="-143"/>
                    <a:pt x="386011" y="429"/>
                  </a:cubicBezTo>
                  <a:close/>
                  <a:moveTo>
                    <a:pt x="368299" y="189701"/>
                  </a:moveTo>
                  <a:cubicBezTo>
                    <a:pt x="269726" y="189701"/>
                    <a:pt x="189708" y="269725"/>
                    <a:pt x="189708" y="368294"/>
                  </a:cubicBezTo>
                  <a:cubicBezTo>
                    <a:pt x="189708" y="466876"/>
                    <a:pt x="269726" y="546899"/>
                    <a:pt x="368299" y="546899"/>
                  </a:cubicBezTo>
                  <a:cubicBezTo>
                    <a:pt x="466870" y="546899"/>
                    <a:pt x="546898" y="466876"/>
                    <a:pt x="546898" y="368294"/>
                  </a:cubicBezTo>
                  <a:cubicBezTo>
                    <a:pt x="546898" y="269725"/>
                    <a:pt x="466870" y="189701"/>
                    <a:pt x="368299" y="189701"/>
                  </a:cubicBezTo>
                  <a:close/>
                </a:path>
              </a:pathLst>
            </a:custGeom>
            <a:solidFill>
              <a:srgbClr val="DAF1DE"/>
            </a:solidFill>
          </p:spPr>
        </p:sp>
        <p:sp>
          <p:nvSpPr>
            <p:cNvPr name="TextBox 79" id="79"/>
            <p:cNvSpPr txBox="true"/>
            <p:nvPr/>
          </p:nvSpPr>
          <p:spPr>
            <a:xfrm>
              <a:off x="184150" y="146050"/>
              <a:ext cx="368300" cy="406400"/>
            </a:xfrm>
            <a:prstGeom prst="rect">
              <a:avLst/>
            </a:prstGeom>
          </p:spPr>
          <p:txBody>
            <a:bodyPr anchor="ctr" rtlCol="false" tIns="50800" lIns="50800" bIns="50800" rIns="50800"/>
            <a:lstStyle/>
            <a:p>
              <a:pPr algn="ctr">
                <a:lnSpc>
                  <a:spcPts val="2160"/>
                </a:lnSpc>
              </a:pPr>
            </a:p>
          </p:txBody>
        </p:sp>
      </p:grpSp>
      <p:sp>
        <p:nvSpPr>
          <p:cNvPr name="Freeform 80" id="80"/>
          <p:cNvSpPr/>
          <p:nvPr/>
        </p:nvSpPr>
        <p:spPr>
          <a:xfrm flipH="false" flipV="false" rot="0">
            <a:off x="1774458" y="6080640"/>
            <a:ext cx="677570" cy="677570"/>
          </a:xfrm>
          <a:custGeom>
            <a:avLst/>
            <a:gdLst/>
            <a:ahLst/>
            <a:cxnLst/>
            <a:rect r="r" b="b" t="t" l="l"/>
            <a:pathLst>
              <a:path h="677570" w="677570">
                <a:moveTo>
                  <a:pt x="0" y="0"/>
                </a:moveTo>
                <a:lnTo>
                  <a:pt x="677570" y="0"/>
                </a:lnTo>
                <a:lnTo>
                  <a:pt x="677570" y="677571"/>
                </a:lnTo>
                <a:lnTo>
                  <a:pt x="0" y="6775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1" id="81"/>
          <p:cNvSpPr txBox="true"/>
          <p:nvPr/>
        </p:nvSpPr>
        <p:spPr>
          <a:xfrm rot="0">
            <a:off x="803836" y="3512466"/>
            <a:ext cx="2766060" cy="17621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El sistema debe ser capaz de analizar el contenido de texto de un mensaje SMS mediante un sistema de reglas, comparándolo con un dataset propio de patrones de smishing detectados en Chile.</a:t>
            </a:r>
          </a:p>
        </p:txBody>
      </p:sp>
      <p:sp>
        <p:nvSpPr>
          <p:cNvPr name="TextBox 82" id="82"/>
          <p:cNvSpPr txBox="true"/>
          <p:nvPr/>
        </p:nvSpPr>
        <p:spPr>
          <a:xfrm rot="0">
            <a:off x="4806241" y="3505803"/>
            <a:ext cx="2766060" cy="17621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 El sistema debe verificar la reputación</a:t>
            </a:r>
            <a:r>
              <a:rPr lang="en-US" sz="1650" i="true">
                <a:solidFill>
                  <a:srgbClr val="7A9E8E"/>
                </a:solidFill>
                <a:latin typeface="Calibri (MS) Italics"/>
                <a:ea typeface="Calibri (MS) Italics"/>
                <a:cs typeface="Calibri (MS) Italics"/>
                <a:sym typeface="Calibri (MS) Italics"/>
              </a:rPr>
              <a:t> y la antigüedad de los dominios (incluyendo dominios .cl) extraídos del mensaje, mediante la consulta a la API de VirusTotal y los protocolos WHOIS y RDAP. </a:t>
            </a:r>
          </a:p>
        </p:txBody>
      </p:sp>
      <p:sp>
        <p:nvSpPr>
          <p:cNvPr name="TextBox 83" id="83"/>
          <p:cNvSpPr txBox="true"/>
          <p:nvPr/>
        </p:nvSpPr>
        <p:spPr>
          <a:xfrm rot="0">
            <a:off x="8905801" y="3519275"/>
            <a:ext cx="2766060" cy="17621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El backend debe procesar los datos obtenidos</a:t>
            </a:r>
            <a:r>
              <a:rPr lang="en-US" sz="1650" i="true">
                <a:solidFill>
                  <a:srgbClr val="7A9E8E"/>
                </a:solidFill>
                <a:latin typeface="Calibri (MS) Italics"/>
                <a:ea typeface="Calibri (MS) Italics"/>
                <a:cs typeface="Calibri (MS) Italics"/>
                <a:sym typeface="Calibri (MS) Italics"/>
              </a:rPr>
              <a:t> del análisis textual y de URLs para generar un puntaje de riesgo (score), el cual clasificará y mostrará el nivel de peligrosidad del mensaje al usuario. </a:t>
            </a:r>
          </a:p>
        </p:txBody>
      </p:sp>
      <p:sp>
        <p:nvSpPr>
          <p:cNvPr name="TextBox 84" id="84"/>
          <p:cNvSpPr txBox="true"/>
          <p:nvPr/>
        </p:nvSpPr>
        <p:spPr>
          <a:xfrm rot="0">
            <a:off x="730213" y="7353186"/>
            <a:ext cx="2766060" cy="20097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La aplicación debe contar con un chatbot educativo integrado</a:t>
            </a:r>
            <a:r>
              <a:rPr lang="en-US" sz="1650" i="true">
                <a:solidFill>
                  <a:srgbClr val="7A9E8E"/>
                </a:solidFill>
                <a:latin typeface="Calibri (MS) Italics"/>
                <a:ea typeface="Calibri (MS) Italics"/>
                <a:cs typeface="Calibri (MS) Italics"/>
                <a:sym typeface="Calibri (MS) Italics"/>
              </a:rPr>
              <a:t> con la API de Google Gemini, capaz de explicar en palabras simples los resultados del análisis y brindar recomendaciones de seguridad frente al mensaje evaluado.</a:t>
            </a:r>
          </a:p>
        </p:txBody>
      </p:sp>
      <p:sp>
        <p:nvSpPr>
          <p:cNvPr name="TextBox 85" id="85"/>
          <p:cNvSpPr txBox="true"/>
          <p:nvPr/>
        </p:nvSpPr>
        <p:spPr>
          <a:xfrm rot="0">
            <a:off x="13009731" y="3926449"/>
            <a:ext cx="4307456" cy="4981575"/>
          </a:xfrm>
          <a:prstGeom prst="rect">
            <a:avLst/>
          </a:prstGeom>
        </p:spPr>
        <p:txBody>
          <a:bodyPr anchor="t" rtlCol="false" tIns="0" lIns="0" bIns="0" rIns="0">
            <a:spAutoFit/>
          </a:bodyPr>
          <a:lstStyle/>
          <a:p>
            <a:pPr algn="l" marL="356235" indent="-178118" lvl="1">
              <a:lnSpc>
                <a:spcPts val="1980"/>
              </a:lnSpc>
              <a:buFont typeface="Arial"/>
              <a:buChar char="•"/>
            </a:pPr>
            <a:r>
              <a:rPr lang="en-US" b="true" sz="1650" i="true">
                <a:solidFill>
                  <a:srgbClr val="7A9E8E"/>
                </a:solidFill>
                <a:latin typeface="Calibri (MS) Bold Italics"/>
                <a:ea typeface="Calibri (MS) Bold Italics"/>
                <a:cs typeface="Calibri (MS) Bold Italics"/>
                <a:sym typeface="Calibri (MS) Bold Italics"/>
              </a:rPr>
              <a:t>RNF-01 (Entorno y Tecnologías):</a:t>
            </a:r>
          </a:p>
          <a:p>
            <a:pPr algn="ctr">
              <a:lnSpc>
                <a:spcPts val="1980"/>
              </a:lnSpc>
            </a:pPr>
            <a:r>
              <a:rPr lang="en-US" sz="1650" i="true">
                <a:solidFill>
                  <a:srgbClr val="7A9E8E"/>
                </a:solidFill>
                <a:latin typeface="Calibri (MS) Italics"/>
                <a:ea typeface="Calibri (MS) Italics"/>
                <a:cs typeface="Calibri (MS) Italics"/>
                <a:sym typeface="Calibri (MS) Italics"/>
              </a:rPr>
              <a:t>La aplicación móvil debe estar desarrollada           exclusivamente para dispositivos Android utilizando React Native. El backend debe estar construido en Node.js y utilizar MongoDB como motor de base de datos. </a:t>
            </a:r>
          </a:p>
          <a:p>
            <a:pPr algn="l">
              <a:lnSpc>
                <a:spcPts val="1980"/>
              </a:lnSpc>
            </a:pPr>
          </a:p>
          <a:p>
            <a:pPr algn="l" marL="356235" indent="-178118" lvl="1">
              <a:lnSpc>
                <a:spcPts val="1980"/>
              </a:lnSpc>
              <a:buFont typeface="Arial"/>
              <a:buChar char="•"/>
            </a:pPr>
            <a:r>
              <a:rPr lang="en-US" b="true" sz="1650" i="true">
                <a:solidFill>
                  <a:srgbClr val="7A9E8E"/>
                </a:solidFill>
                <a:latin typeface="Calibri (MS) Bold Italics"/>
                <a:ea typeface="Calibri (MS) Bold Italics"/>
                <a:cs typeface="Calibri (MS) Bold Italics"/>
                <a:sym typeface="Calibri (MS) Bold Italics"/>
              </a:rPr>
              <a:t>RNF-02 (Usabilidad y Accesibilidad):</a:t>
            </a:r>
            <a:r>
              <a:rPr lang="en-US" sz="1650" i="true">
                <a:solidFill>
                  <a:srgbClr val="7A9E8E"/>
                </a:solidFill>
                <a:latin typeface="Calibri (MS) Italics"/>
                <a:ea typeface="Calibri (MS) Italics"/>
                <a:cs typeface="Calibri (MS) Italics"/>
                <a:sym typeface="Calibri (MS) Italics"/>
              </a:rPr>
              <a:t> </a:t>
            </a:r>
          </a:p>
          <a:p>
            <a:pPr algn="ctr">
              <a:lnSpc>
                <a:spcPts val="1980"/>
              </a:lnSpc>
            </a:pPr>
            <a:r>
              <a:rPr lang="en-US" sz="1650" i="true">
                <a:solidFill>
                  <a:srgbClr val="7A9E8E"/>
                </a:solidFill>
                <a:latin typeface="Calibri (MS) Italics"/>
                <a:ea typeface="Calibri (MS) Italics"/>
                <a:cs typeface="Calibri (MS) Italics"/>
                <a:sym typeface="Calibri (MS) Italics"/>
              </a:rPr>
              <a:t>La interfaz gráfica debe poseer un diseño altamente intuitivo, adaptado ergonómica y visualmente para las necesidades tecnológicas de los adultos mayores.</a:t>
            </a:r>
          </a:p>
          <a:p>
            <a:pPr algn="l">
              <a:lnSpc>
                <a:spcPts val="1980"/>
              </a:lnSpc>
            </a:pPr>
          </a:p>
          <a:p>
            <a:pPr algn="l" marL="356235" indent="-178118" lvl="1">
              <a:lnSpc>
                <a:spcPts val="1980"/>
              </a:lnSpc>
              <a:buFont typeface="Arial"/>
              <a:buChar char="•"/>
            </a:pPr>
            <a:r>
              <a:rPr lang="en-US" b="true" sz="1650" i="true">
                <a:solidFill>
                  <a:srgbClr val="7A9E8E"/>
                </a:solidFill>
                <a:latin typeface="Calibri (MS) Bold Italics"/>
                <a:ea typeface="Calibri (MS) Bold Italics"/>
                <a:cs typeface="Calibri (MS) Bold Italics"/>
                <a:sym typeface="Calibri (MS) Bold Italics"/>
              </a:rPr>
              <a:t>RNF-03 (Optimización de Recursos):</a:t>
            </a:r>
          </a:p>
          <a:p>
            <a:pPr algn="ctr">
              <a:lnSpc>
                <a:spcPts val="1980"/>
              </a:lnSpc>
            </a:pPr>
            <a:r>
              <a:rPr lang="en-US" sz="1650" i="true">
                <a:solidFill>
                  <a:srgbClr val="7A9E8E"/>
                </a:solidFill>
                <a:latin typeface="Calibri (MS) Italics"/>
                <a:ea typeface="Calibri (MS) Italics"/>
                <a:cs typeface="Calibri (MS) Italics"/>
                <a:sym typeface="Calibri (MS) Italics"/>
              </a:rPr>
              <a:t> El backend debe implementar un sistema de caché de consultas para evitar realizar llamadas redundantes sobre un mismo dominio, respetando así el límite de peticiones de la versión gratuita de VirusTotal (4 por minuto y 500 al día).</a:t>
            </a:r>
          </a:p>
          <a:p>
            <a:pPr algn="l">
              <a:lnSpc>
                <a:spcPts val="1980"/>
              </a:lnSpc>
            </a:pPr>
          </a:p>
        </p:txBody>
      </p:sp>
      <p:sp>
        <p:nvSpPr>
          <p:cNvPr name="TextBox 86" id="86"/>
          <p:cNvSpPr txBox="true"/>
          <p:nvPr/>
        </p:nvSpPr>
        <p:spPr>
          <a:xfrm rot="0">
            <a:off x="4841826" y="7600836"/>
            <a:ext cx="276606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El sistema</a:t>
            </a:r>
            <a:r>
              <a:rPr lang="en-US" sz="1650" i="true">
                <a:solidFill>
                  <a:srgbClr val="7A9E8E"/>
                </a:solidFill>
                <a:latin typeface="Calibri (MS) Italics"/>
                <a:ea typeface="Calibri (MS) Italics"/>
                <a:cs typeface="Calibri (MS) Italics"/>
                <a:sym typeface="Calibri (MS) Italics"/>
              </a:rPr>
              <a:t> debe proporcionar un panel de administración web que permita al equipo visualizar estadísticas de análisis, reportes pendientes y las categorías de smishing más frecuentes.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305639"/>
            <a:ext cx="7519359" cy="6493656"/>
          </a:xfrm>
          <a:custGeom>
            <a:avLst/>
            <a:gdLst/>
            <a:ahLst/>
            <a:cxnLst/>
            <a:rect r="r" b="b" t="t" l="l"/>
            <a:pathLst>
              <a:path h="6493656" w="7519359">
                <a:moveTo>
                  <a:pt x="0" y="0"/>
                </a:moveTo>
                <a:lnTo>
                  <a:pt x="7519359" y="0"/>
                </a:lnTo>
                <a:lnTo>
                  <a:pt x="7519359" y="6493656"/>
                </a:lnTo>
                <a:lnTo>
                  <a:pt x="0" y="6493656"/>
                </a:lnTo>
                <a:lnTo>
                  <a:pt x="0" y="0"/>
                </a:lnTo>
                <a:close/>
              </a:path>
            </a:pathLst>
          </a:custGeom>
          <a:blipFill>
            <a:blip r:embed="rId2"/>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8EB69B"/>
            </a:solidFill>
          </p:spPr>
        </p:sp>
      </p:grpSp>
      <p:sp>
        <p:nvSpPr>
          <p:cNvPr name="Freeform 5" id="5"/>
          <p:cNvSpPr/>
          <p:nvPr/>
        </p:nvSpPr>
        <p:spPr>
          <a:xfrm flipH="false" flipV="false" rot="0">
            <a:off x="887651" y="838125"/>
            <a:ext cx="762157" cy="724049"/>
          </a:xfrm>
          <a:custGeom>
            <a:avLst/>
            <a:gdLst/>
            <a:ahLst/>
            <a:cxnLst/>
            <a:rect r="r" b="b" t="t" l="l"/>
            <a:pathLst>
              <a:path h="724049" w="762157">
                <a:moveTo>
                  <a:pt x="0" y="0"/>
                </a:moveTo>
                <a:lnTo>
                  <a:pt x="762158" y="0"/>
                </a:lnTo>
                <a:lnTo>
                  <a:pt x="762158" y="724050"/>
                </a:lnTo>
                <a:lnTo>
                  <a:pt x="0" y="7240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988199" y="796290"/>
            <a:ext cx="7519359" cy="721995"/>
          </a:xfrm>
          <a:prstGeom prst="rect">
            <a:avLst/>
          </a:prstGeom>
        </p:spPr>
        <p:txBody>
          <a:bodyPr anchor="t" rtlCol="false" tIns="0" lIns="0" bIns="0" rIns="0">
            <a:spAutoFit/>
          </a:bodyPr>
          <a:lstStyle/>
          <a:p>
            <a:pPr algn="l">
              <a:lnSpc>
                <a:spcPts val="5880"/>
              </a:lnSpc>
            </a:pPr>
            <a:r>
              <a:rPr lang="en-US" sz="4200" b="true">
                <a:solidFill>
                  <a:srgbClr val="DAF1DE"/>
                </a:solidFill>
                <a:latin typeface="Cambria Bold"/>
                <a:ea typeface="Cambria Bold"/>
                <a:cs typeface="Cambria Bold"/>
                <a:sym typeface="Cambria Bold"/>
              </a:rPr>
              <a:t>Modelo Base de datos</a:t>
            </a:r>
          </a:p>
        </p:txBody>
      </p:sp>
      <p:sp>
        <p:nvSpPr>
          <p:cNvPr name="TextBox 7" id="7"/>
          <p:cNvSpPr txBox="true"/>
          <p:nvPr/>
        </p:nvSpPr>
        <p:spPr>
          <a:xfrm rot="0">
            <a:off x="9264675" y="2287082"/>
            <a:ext cx="8142473" cy="5698490"/>
          </a:xfrm>
          <a:prstGeom prst="rect">
            <a:avLst/>
          </a:prstGeom>
        </p:spPr>
        <p:txBody>
          <a:bodyPr anchor="t" rtlCol="false" tIns="0" lIns="0" bIns="0" rIns="0">
            <a:spAutoFit/>
          </a:bodyPr>
          <a:lstStyle/>
          <a:p>
            <a:pPr algn="just">
              <a:lnSpc>
                <a:spcPts val="4060"/>
              </a:lnSpc>
            </a:pPr>
            <a:r>
              <a:rPr lang="en-US" sz="2900">
                <a:solidFill>
                  <a:srgbClr val="DAF1DE"/>
                </a:solidFill>
                <a:latin typeface="Calibri (MS)"/>
                <a:ea typeface="Calibri (MS)"/>
                <a:cs typeface="Calibri (MS)"/>
                <a:sym typeface="Calibri (MS)"/>
              </a:rPr>
              <a:t>El dia</a:t>
            </a:r>
            <a:r>
              <a:rPr lang="en-US" sz="2900">
                <a:solidFill>
                  <a:srgbClr val="DAF1DE"/>
                </a:solidFill>
                <a:latin typeface="Calibri (MS)"/>
                <a:ea typeface="Calibri (MS)"/>
                <a:cs typeface="Calibri (MS)"/>
                <a:sym typeface="Calibri (MS)"/>
              </a:rPr>
              <a:t>grama representa la estructura NoSQL del sistema. Destacan dos decisiones arquitectónicas: la separación del número telefónico en la colección USUARIO para garantizar la privacidad y anonimización de los datos mediante una referencia de ObjectId en la colección REPORTE, y la implementación de CACHEDOMINIO con un índice de expiración de tiempo (TTL). Esta caché actúa como contingencia para evitar consultas redundantes y no exceder los límites gratuitos de la API de VirusTotal.</a:t>
            </a:r>
          </a:p>
          <a:p>
            <a:pPr algn="just">
              <a:lnSpc>
                <a:spcPts val="406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sp>
        <p:nvSpPr>
          <p:cNvPr name="Freeform 5" id="5"/>
          <p:cNvSpPr/>
          <p:nvPr/>
        </p:nvSpPr>
        <p:spPr>
          <a:xfrm flipH="false" flipV="false" rot="0">
            <a:off x="882589" y="814009"/>
            <a:ext cx="772282" cy="772282"/>
          </a:xfrm>
          <a:custGeom>
            <a:avLst/>
            <a:gdLst/>
            <a:ahLst/>
            <a:cxnLst/>
            <a:rect r="r" b="b" t="t" l="l"/>
            <a:pathLst>
              <a:path h="772282" w="772282">
                <a:moveTo>
                  <a:pt x="0" y="0"/>
                </a:moveTo>
                <a:lnTo>
                  <a:pt x="772282" y="0"/>
                </a:lnTo>
                <a:lnTo>
                  <a:pt x="772282" y="772282"/>
                </a:lnTo>
                <a:lnTo>
                  <a:pt x="0" y="7722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17230" y="1714500"/>
            <a:ext cx="12292653" cy="8243761"/>
          </a:xfrm>
          <a:custGeom>
            <a:avLst/>
            <a:gdLst/>
            <a:ahLst/>
            <a:cxnLst/>
            <a:rect r="r" b="b" t="t" l="l"/>
            <a:pathLst>
              <a:path h="8243761" w="12292653">
                <a:moveTo>
                  <a:pt x="0" y="0"/>
                </a:moveTo>
                <a:lnTo>
                  <a:pt x="12292653" y="0"/>
                </a:lnTo>
                <a:lnTo>
                  <a:pt x="12292653" y="8243761"/>
                </a:lnTo>
                <a:lnTo>
                  <a:pt x="0" y="8243761"/>
                </a:lnTo>
                <a:lnTo>
                  <a:pt x="0" y="0"/>
                </a:lnTo>
                <a:close/>
              </a:path>
            </a:pathLst>
          </a:custGeom>
          <a:blipFill>
            <a:blip r:embed="rId5"/>
            <a:stretch>
              <a:fillRect l="0" t="0" r="0" b="0"/>
            </a:stretch>
          </a:blipFill>
        </p:spPr>
      </p:sp>
      <p:sp>
        <p:nvSpPr>
          <p:cNvPr name="TextBox 7" id="7"/>
          <p:cNvSpPr txBox="true"/>
          <p:nvPr/>
        </p:nvSpPr>
        <p:spPr>
          <a:xfrm rot="0">
            <a:off x="1932351" y="796290"/>
            <a:ext cx="5897910" cy="721995"/>
          </a:xfrm>
          <a:prstGeom prst="rect">
            <a:avLst/>
          </a:prstGeom>
        </p:spPr>
        <p:txBody>
          <a:bodyPr anchor="t" rtlCol="false" tIns="0" lIns="0" bIns="0" rIns="0">
            <a:spAutoFit/>
          </a:bodyPr>
          <a:lstStyle/>
          <a:p>
            <a:pPr algn="ctr">
              <a:lnSpc>
                <a:spcPts val="5880"/>
              </a:lnSpc>
            </a:pPr>
            <a:r>
              <a:rPr lang="en-US" sz="4200" b="true">
                <a:solidFill>
                  <a:srgbClr val="051F20"/>
                </a:solidFill>
                <a:latin typeface="Cambria Bold"/>
                <a:ea typeface="Cambria Bold"/>
                <a:cs typeface="Cambria Bold"/>
                <a:sym typeface="Cambria Bold"/>
              </a:rPr>
              <a:t>Arquitectura de Sistema</a:t>
            </a:r>
          </a:p>
        </p:txBody>
      </p:sp>
      <p:sp>
        <p:nvSpPr>
          <p:cNvPr name="TextBox 8" id="8"/>
          <p:cNvSpPr txBox="true"/>
          <p:nvPr/>
        </p:nvSpPr>
        <p:spPr>
          <a:xfrm rot="0">
            <a:off x="220213" y="2609739"/>
            <a:ext cx="4865576" cy="5484926"/>
          </a:xfrm>
          <a:prstGeom prst="rect">
            <a:avLst/>
          </a:prstGeom>
        </p:spPr>
        <p:txBody>
          <a:bodyPr anchor="t" rtlCol="false" tIns="0" lIns="0" bIns="0" rIns="0">
            <a:spAutoFit/>
          </a:bodyPr>
          <a:lstStyle/>
          <a:p>
            <a:pPr algn="just">
              <a:lnSpc>
                <a:spcPts val="2706"/>
              </a:lnSpc>
            </a:pPr>
            <a:r>
              <a:rPr lang="en-US" sz="1933">
                <a:solidFill>
                  <a:srgbClr val="051F20"/>
                </a:solidFill>
                <a:latin typeface="Cambria"/>
                <a:ea typeface="Cambria"/>
                <a:cs typeface="Cambria"/>
                <a:sym typeface="Cambria"/>
              </a:rPr>
              <a:t>Infraestructura y Componentes Tecnológicos</a:t>
            </a:r>
          </a:p>
          <a:p>
            <a:pPr algn="just" marL="417339" indent="-208670" lvl="1">
              <a:lnSpc>
                <a:spcPts val="2706"/>
              </a:lnSpc>
              <a:buFont typeface="Arial"/>
              <a:buChar char="•"/>
            </a:pPr>
            <a:r>
              <a:rPr lang="en-US" sz="1933">
                <a:solidFill>
                  <a:srgbClr val="051F20"/>
                </a:solidFill>
                <a:latin typeface="Cambria"/>
                <a:ea typeface="Cambria"/>
                <a:cs typeface="Cambria"/>
                <a:sym typeface="Cambria"/>
              </a:rPr>
              <a:t>Frontend / Cliente: React Native / </a:t>
            </a:r>
            <a:r>
              <a:rPr lang="en-US" sz="1933">
                <a:solidFill>
                  <a:srgbClr val="051F20"/>
                </a:solidFill>
                <a:latin typeface="Cambria"/>
                <a:ea typeface="Cambria"/>
                <a:cs typeface="Cambria"/>
                <a:sym typeface="Cambria"/>
              </a:rPr>
              <a:t>Android (Captura SMS, Portapapeles e Interfaz de Usuario).</a:t>
            </a:r>
          </a:p>
          <a:p>
            <a:pPr algn="just" marL="417339" indent="-208670" lvl="1">
              <a:lnSpc>
                <a:spcPts val="2706"/>
              </a:lnSpc>
              <a:buFont typeface="Arial"/>
              <a:buChar char="•"/>
            </a:pPr>
            <a:r>
              <a:rPr lang="en-US" sz="1933">
                <a:solidFill>
                  <a:srgbClr val="051F20"/>
                </a:solidFill>
                <a:latin typeface="Cambria"/>
                <a:ea typeface="Cambria"/>
                <a:cs typeface="Cambria"/>
                <a:sym typeface="Cambria"/>
              </a:rPr>
              <a:t>Backend (PaaS): Node.js / Express en Render para orquestación de reglas de negocio y scoring.</a:t>
            </a:r>
          </a:p>
          <a:p>
            <a:pPr algn="just" marL="417339" indent="-208670" lvl="1">
              <a:lnSpc>
                <a:spcPts val="2706"/>
              </a:lnSpc>
              <a:buFont typeface="Arial"/>
              <a:buChar char="•"/>
            </a:pPr>
            <a:r>
              <a:rPr lang="en-US" sz="1933">
                <a:solidFill>
                  <a:srgbClr val="051F20"/>
                </a:solidFill>
                <a:latin typeface="Cambria"/>
                <a:ea typeface="Cambria"/>
                <a:cs typeface="Cambria"/>
                <a:sym typeface="Cambria"/>
              </a:rPr>
              <a:t>Servicios de Inteligencia: Integración con VirusTotal API (Reputación de URLs), RDAP/WHOIS (Antigüedad de Dominio) y Google Gemini API (Chatbot Educativo).</a:t>
            </a:r>
          </a:p>
          <a:p>
            <a:pPr algn="just" marL="417339" indent="-208670" lvl="1">
              <a:lnSpc>
                <a:spcPts val="2706"/>
              </a:lnSpc>
              <a:buFont typeface="Arial"/>
              <a:buChar char="•"/>
            </a:pPr>
            <a:r>
              <a:rPr lang="en-US" sz="1933">
                <a:solidFill>
                  <a:srgbClr val="051F20"/>
                </a:solidFill>
                <a:latin typeface="Cambria"/>
                <a:ea typeface="Cambria"/>
                <a:cs typeface="Cambria"/>
                <a:sym typeface="Cambria"/>
              </a:rPr>
              <a:t>Base de Datos (DBaaS): Cluster NoSQL MongoDB Atlas estructurado con estrategia Cache-Aside y colección de reportes por usuario.</a:t>
            </a:r>
          </a:p>
          <a:p>
            <a:pPr algn="just">
              <a:lnSpc>
                <a:spcPts val="270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target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2057400" y="-537131"/>
            <a:ext cx="14401800" cy="3081449"/>
            <a:chOff x="0" y="0"/>
            <a:chExt cx="19202400" cy="4108599"/>
          </a:xfrm>
        </p:grpSpPr>
        <p:sp>
          <p:nvSpPr>
            <p:cNvPr name="Freeform 8" id="8"/>
            <p:cNvSpPr/>
            <p:nvPr/>
          </p:nvSpPr>
          <p:spPr>
            <a:xfrm flipH="false" flipV="false" rot="0">
              <a:off x="0" y="0"/>
              <a:ext cx="19202400" cy="4108599"/>
            </a:xfrm>
            <a:custGeom>
              <a:avLst/>
              <a:gdLst/>
              <a:ahLst/>
              <a:cxnLst/>
              <a:rect r="r" b="b" t="t" l="l"/>
              <a:pathLst>
                <a:path h="4108599" w="19202400">
                  <a:moveTo>
                    <a:pt x="0" y="0"/>
                  </a:moveTo>
                  <a:lnTo>
                    <a:pt x="19202400" y="0"/>
                  </a:lnTo>
                  <a:lnTo>
                    <a:pt x="19202400" y="4108599"/>
                  </a:lnTo>
                  <a:lnTo>
                    <a:pt x="0" y="4108599"/>
                  </a:lnTo>
                  <a:close/>
                </a:path>
              </a:pathLst>
            </a:custGeom>
            <a:blipFill>
              <a:blip r:embed="rId4">
                <a:alphaModFix amt="0"/>
              </a:blip>
              <a:stretch>
                <a:fillRect l="0" t="-78826" r="0" b="-3308"/>
              </a:stretch>
            </a:blipFill>
          </p:spPr>
        </p:sp>
        <p:sp>
          <p:nvSpPr>
            <p:cNvPr name="TextBox 9" id="9"/>
            <p:cNvSpPr txBox="true"/>
            <p:nvPr/>
          </p:nvSpPr>
          <p:spPr>
            <a:xfrm>
              <a:off x="0" y="-9525"/>
              <a:ext cx="19202400" cy="4118124"/>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BackEnd</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Avances Obtenidos en el Backend</a:t>
              </a:r>
            </a:p>
          </p:txBody>
        </p:sp>
      </p:grpSp>
      <p:grpSp>
        <p:nvGrpSpPr>
          <p:cNvPr name="Group 13" id="13"/>
          <p:cNvGrpSpPr/>
          <p:nvPr/>
        </p:nvGrpSpPr>
        <p:grpSpPr>
          <a:xfrm rot="0">
            <a:off x="754380" y="2125980"/>
            <a:ext cx="16802100" cy="2155434"/>
            <a:chOff x="0" y="0"/>
            <a:chExt cx="22402800" cy="2873911"/>
          </a:xfrm>
        </p:grpSpPr>
        <p:sp>
          <p:nvSpPr>
            <p:cNvPr name="Freeform 14" id="14"/>
            <p:cNvSpPr/>
            <p:nvPr/>
          </p:nvSpPr>
          <p:spPr>
            <a:xfrm flipH="false" flipV="false" rot="0">
              <a:off x="0" y="0"/>
              <a:ext cx="22402800" cy="2873911"/>
            </a:xfrm>
            <a:custGeom>
              <a:avLst/>
              <a:gdLst/>
              <a:ahLst/>
              <a:cxnLst/>
              <a:rect r="r" b="b" t="t" l="l"/>
              <a:pathLst>
                <a:path h="2873911" w="22402800">
                  <a:moveTo>
                    <a:pt x="0" y="249905"/>
                  </a:moveTo>
                  <a:cubicBezTo>
                    <a:pt x="0" y="111937"/>
                    <a:pt x="81915" y="0"/>
                    <a:pt x="182880" y="0"/>
                  </a:cubicBezTo>
                  <a:lnTo>
                    <a:pt x="22219920" y="0"/>
                  </a:lnTo>
                  <a:cubicBezTo>
                    <a:pt x="22320884" y="0"/>
                    <a:pt x="22402800" y="111937"/>
                    <a:pt x="22402800" y="249905"/>
                  </a:cubicBezTo>
                  <a:lnTo>
                    <a:pt x="22402800" y="2624006"/>
                  </a:lnTo>
                  <a:cubicBezTo>
                    <a:pt x="22402800" y="2761975"/>
                    <a:pt x="22320884" y="2873911"/>
                    <a:pt x="22219920" y="2873911"/>
                  </a:cubicBezTo>
                  <a:lnTo>
                    <a:pt x="182880" y="2873911"/>
                  </a:lnTo>
                  <a:cubicBezTo>
                    <a:pt x="81915" y="2873912"/>
                    <a:pt x="0" y="2761975"/>
                    <a:pt x="0" y="2624006"/>
                  </a:cubicBezTo>
                  <a:close/>
                </a:path>
              </a:pathLst>
            </a:custGeom>
            <a:solidFill>
              <a:srgbClr val="051F20"/>
            </a:solidFill>
          </p:spPr>
        </p:sp>
      </p:grpSp>
      <p:grpSp>
        <p:nvGrpSpPr>
          <p:cNvPr name="Group 15" id="15"/>
          <p:cNvGrpSpPr/>
          <p:nvPr/>
        </p:nvGrpSpPr>
        <p:grpSpPr>
          <a:xfrm rot="0">
            <a:off x="1097280" y="2400300"/>
            <a:ext cx="960120" cy="960120"/>
            <a:chOff x="0" y="0"/>
            <a:chExt cx="1280160" cy="1280160"/>
          </a:xfrm>
        </p:grpSpPr>
        <p:sp>
          <p:nvSpPr>
            <p:cNvPr name="Freeform 16" id="16"/>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8EB69B"/>
            </a:solidFill>
          </p:spPr>
        </p:sp>
      </p:grpSp>
      <p:grpSp>
        <p:nvGrpSpPr>
          <p:cNvPr name="Group 17" id="17"/>
          <p:cNvGrpSpPr/>
          <p:nvPr/>
        </p:nvGrpSpPr>
        <p:grpSpPr>
          <a:xfrm rot="0">
            <a:off x="1327709" y="2630729"/>
            <a:ext cx="499262" cy="499262"/>
            <a:chOff x="0" y="0"/>
            <a:chExt cx="665683" cy="665683"/>
          </a:xfrm>
        </p:grpSpPr>
        <p:sp>
          <p:nvSpPr>
            <p:cNvPr name="Freeform 18" id="18" descr="/home/claude/sms-security/icons/flag_dark1.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5"/>
              <a:stretch>
                <a:fillRect l="0" t="0" r="7" b="7"/>
              </a:stretch>
            </a:blipFill>
          </p:spPr>
        </p:sp>
      </p:grpSp>
      <p:grpSp>
        <p:nvGrpSpPr>
          <p:cNvPr name="Group 19" id="19"/>
          <p:cNvGrpSpPr/>
          <p:nvPr/>
        </p:nvGrpSpPr>
        <p:grpSpPr>
          <a:xfrm rot="0">
            <a:off x="2263140" y="2304288"/>
            <a:ext cx="5486400" cy="480060"/>
            <a:chOff x="0" y="0"/>
            <a:chExt cx="7315200" cy="640080"/>
          </a:xfrm>
        </p:grpSpPr>
        <p:sp>
          <p:nvSpPr>
            <p:cNvPr name="Freeform 20" id="20"/>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4">
                <a:alphaModFix amt="0"/>
              </a:blip>
              <a:stretch>
                <a:fillRect l="0" t="-172686" r="0" b="-172686"/>
              </a:stretch>
            </a:blipFill>
          </p:spPr>
        </p:sp>
        <p:sp>
          <p:nvSpPr>
            <p:cNvPr name="TextBox 21" id="21"/>
            <p:cNvSpPr txBox="true"/>
            <p:nvPr/>
          </p:nvSpPr>
          <p:spPr>
            <a:xfrm>
              <a:off x="0" y="-28575"/>
              <a:ext cx="7315200" cy="668655"/>
            </a:xfrm>
            <a:prstGeom prst="rect">
              <a:avLst/>
            </a:prstGeom>
          </p:spPr>
          <p:txBody>
            <a:bodyPr anchor="ctr" rtlCol="false" tIns="0" lIns="0" bIns="0" rIns="0"/>
            <a:lstStyle/>
            <a:p>
              <a:pPr algn="l">
                <a:lnSpc>
                  <a:spcPts val="1980"/>
                </a:lnSpc>
              </a:pPr>
              <a:r>
                <a:rPr lang="en-US" b="true" sz="1650" spc="150">
                  <a:solidFill>
                    <a:srgbClr val="8EB69B"/>
                  </a:solidFill>
                  <a:latin typeface="Calibri (MS) Bold"/>
                  <a:ea typeface="Calibri (MS) Bold"/>
                  <a:cs typeface="Calibri (MS) Bold"/>
                  <a:sym typeface="Calibri (MS) Bold"/>
                </a:rPr>
                <a:t>ESTADO ACTUAL DE LA ARQUITECTURA</a:t>
              </a:r>
            </a:p>
          </p:txBody>
        </p:sp>
      </p:grpSp>
      <p:grpSp>
        <p:nvGrpSpPr>
          <p:cNvPr name="Group 22" id="22"/>
          <p:cNvGrpSpPr/>
          <p:nvPr/>
        </p:nvGrpSpPr>
        <p:grpSpPr>
          <a:xfrm rot="0">
            <a:off x="2253615" y="2761107"/>
            <a:ext cx="14969490" cy="1188472"/>
            <a:chOff x="0" y="0"/>
            <a:chExt cx="19959320" cy="1584629"/>
          </a:xfrm>
        </p:grpSpPr>
        <p:sp>
          <p:nvSpPr>
            <p:cNvPr name="Freeform 23" id="23"/>
            <p:cNvSpPr/>
            <p:nvPr/>
          </p:nvSpPr>
          <p:spPr>
            <a:xfrm flipH="false" flipV="false" rot="0">
              <a:off x="0" y="0"/>
              <a:ext cx="19959321" cy="1584629"/>
            </a:xfrm>
            <a:custGeom>
              <a:avLst/>
              <a:gdLst/>
              <a:ahLst/>
              <a:cxnLst/>
              <a:rect r="r" b="b" t="t" l="l"/>
              <a:pathLst>
                <a:path h="1584629" w="19959321">
                  <a:moveTo>
                    <a:pt x="0" y="230474"/>
                  </a:moveTo>
                  <a:cubicBezTo>
                    <a:pt x="0" y="103235"/>
                    <a:pt x="67183" y="0"/>
                    <a:pt x="149987" y="0"/>
                  </a:cubicBezTo>
                  <a:lnTo>
                    <a:pt x="19809333" y="0"/>
                  </a:lnTo>
                  <a:cubicBezTo>
                    <a:pt x="19892138" y="0"/>
                    <a:pt x="19959321" y="103235"/>
                    <a:pt x="19959321" y="230474"/>
                  </a:cubicBezTo>
                  <a:lnTo>
                    <a:pt x="19959321" y="1354155"/>
                  </a:lnTo>
                  <a:cubicBezTo>
                    <a:pt x="19959321" y="1481394"/>
                    <a:pt x="19892138" y="1584629"/>
                    <a:pt x="19809333" y="1584629"/>
                  </a:cubicBezTo>
                  <a:lnTo>
                    <a:pt x="149987" y="1584629"/>
                  </a:lnTo>
                  <a:cubicBezTo>
                    <a:pt x="67183" y="1584629"/>
                    <a:pt x="0" y="1481394"/>
                    <a:pt x="0" y="1354155"/>
                  </a:cubicBezTo>
                  <a:close/>
                </a:path>
              </a:pathLst>
            </a:custGeom>
            <a:solidFill>
              <a:srgbClr val="FFFFFF"/>
            </a:solidFill>
            <a:ln w="19050" cap="sq">
              <a:solidFill>
                <a:srgbClr val="8EB69B"/>
              </a:solidFill>
              <a:prstDash val="dash"/>
              <a:miter/>
            </a:ln>
          </p:spPr>
        </p:sp>
      </p:grpSp>
      <p:grpSp>
        <p:nvGrpSpPr>
          <p:cNvPr name="Group 24" id="24"/>
          <p:cNvGrpSpPr/>
          <p:nvPr/>
        </p:nvGrpSpPr>
        <p:grpSpPr>
          <a:xfrm rot="0">
            <a:off x="17053103" y="9601200"/>
            <a:ext cx="822960" cy="480060"/>
            <a:chOff x="0" y="0"/>
            <a:chExt cx="1097280" cy="640080"/>
          </a:xfrm>
        </p:grpSpPr>
        <p:sp>
          <p:nvSpPr>
            <p:cNvPr name="Freeform 25" id="25"/>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26" id="26"/>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05</a:t>
              </a:r>
            </a:p>
          </p:txBody>
        </p:sp>
      </p:grpSp>
      <p:sp>
        <p:nvSpPr>
          <p:cNvPr name="Freeform 27" id="27"/>
          <p:cNvSpPr/>
          <p:nvPr/>
        </p:nvSpPr>
        <p:spPr>
          <a:xfrm flipH="false" flipV="false" rot="0">
            <a:off x="451453" y="5301689"/>
            <a:ext cx="3516529" cy="2084560"/>
          </a:xfrm>
          <a:custGeom>
            <a:avLst/>
            <a:gdLst/>
            <a:ahLst/>
            <a:cxnLst/>
            <a:rect r="r" b="b" t="t" l="l"/>
            <a:pathLst>
              <a:path h="2084560" w="3516529">
                <a:moveTo>
                  <a:pt x="0" y="0"/>
                </a:moveTo>
                <a:lnTo>
                  <a:pt x="3516529" y="0"/>
                </a:lnTo>
                <a:lnTo>
                  <a:pt x="3516529" y="2084559"/>
                </a:lnTo>
                <a:lnTo>
                  <a:pt x="0" y="2084559"/>
                </a:lnTo>
                <a:lnTo>
                  <a:pt x="0" y="0"/>
                </a:lnTo>
                <a:close/>
              </a:path>
            </a:pathLst>
          </a:custGeom>
          <a:blipFill>
            <a:blip r:embed="rId6"/>
            <a:stretch>
              <a:fillRect l="-228452" t="-26915" r="-29506" b="-229736"/>
            </a:stretch>
          </a:blipFill>
        </p:spPr>
      </p:sp>
      <p:grpSp>
        <p:nvGrpSpPr>
          <p:cNvPr name="Group 28" id="28"/>
          <p:cNvGrpSpPr/>
          <p:nvPr/>
        </p:nvGrpSpPr>
        <p:grpSpPr>
          <a:xfrm rot="0">
            <a:off x="451453" y="4805289"/>
            <a:ext cx="3062272" cy="480060"/>
            <a:chOff x="0" y="0"/>
            <a:chExt cx="4083029" cy="640080"/>
          </a:xfrm>
        </p:grpSpPr>
        <p:sp>
          <p:nvSpPr>
            <p:cNvPr name="Freeform 29" id="29"/>
            <p:cNvSpPr/>
            <p:nvPr/>
          </p:nvSpPr>
          <p:spPr>
            <a:xfrm flipH="false" flipV="false" rot="0">
              <a:off x="0" y="0"/>
              <a:ext cx="4083029" cy="640080"/>
            </a:xfrm>
            <a:custGeom>
              <a:avLst/>
              <a:gdLst/>
              <a:ahLst/>
              <a:cxnLst/>
              <a:rect r="r" b="b" t="t" l="l"/>
              <a:pathLst>
                <a:path h="640080" w="4083029">
                  <a:moveTo>
                    <a:pt x="0" y="0"/>
                  </a:moveTo>
                  <a:lnTo>
                    <a:pt x="4083029" y="0"/>
                  </a:lnTo>
                  <a:lnTo>
                    <a:pt x="4083029" y="640080"/>
                  </a:lnTo>
                  <a:lnTo>
                    <a:pt x="0" y="640080"/>
                  </a:lnTo>
                  <a:close/>
                </a:path>
              </a:pathLst>
            </a:custGeom>
            <a:blipFill>
              <a:blip r:embed="rId4">
                <a:alphaModFix amt="0"/>
              </a:blip>
              <a:stretch>
                <a:fillRect l="0" t="-534551" r="-370297" b="-534551"/>
              </a:stretch>
            </a:blipFill>
          </p:spPr>
        </p:sp>
        <p:sp>
          <p:nvSpPr>
            <p:cNvPr name="TextBox 30" id="30"/>
            <p:cNvSpPr txBox="true"/>
            <p:nvPr/>
          </p:nvSpPr>
          <p:spPr>
            <a:xfrm>
              <a:off x="0" y="-47625"/>
              <a:ext cx="4083029"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Funcion de antiguedad</a:t>
              </a:r>
            </a:p>
          </p:txBody>
        </p:sp>
      </p:grpSp>
      <p:sp>
        <p:nvSpPr>
          <p:cNvPr name="Freeform 31" id="31"/>
          <p:cNvSpPr/>
          <p:nvPr/>
        </p:nvSpPr>
        <p:spPr>
          <a:xfrm flipH="false" flipV="false" rot="0">
            <a:off x="451453" y="7652073"/>
            <a:ext cx="3074734" cy="2330512"/>
          </a:xfrm>
          <a:custGeom>
            <a:avLst/>
            <a:gdLst/>
            <a:ahLst/>
            <a:cxnLst/>
            <a:rect r="r" b="b" t="t" l="l"/>
            <a:pathLst>
              <a:path h="2330512" w="3074734">
                <a:moveTo>
                  <a:pt x="0" y="0"/>
                </a:moveTo>
                <a:lnTo>
                  <a:pt x="3074734" y="0"/>
                </a:lnTo>
                <a:lnTo>
                  <a:pt x="3074734" y="2330512"/>
                </a:lnTo>
                <a:lnTo>
                  <a:pt x="0" y="2330512"/>
                </a:lnTo>
                <a:lnTo>
                  <a:pt x="0" y="0"/>
                </a:lnTo>
                <a:close/>
              </a:path>
            </a:pathLst>
          </a:custGeom>
          <a:blipFill>
            <a:blip r:embed="rId7"/>
            <a:stretch>
              <a:fillRect l="-253190" t="-13609" r="-33911" b="-188033"/>
            </a:stretch>
          </a:blipFill>
        </p:spPr>
      </p:sp>
      <p:sp>
        <p:nvSpPr>
          <p:cNvPr name="Freeform 32" id="32"/>
          <p:cNvSpPr/>
          <p:nvPr/>
        </p:nvSpPr>
        <p:spPr>
          <a:xfrm flipH="false" flipV="false" rot="0">
            <a:off x="4096243" y="5301689"/>
            <a:ext cx="3404763" cy="2510680"/>
          </a:xfrm>
          <a:custGeom>
            <a:avLst/>
            <a:gdLst/>
            <a:ahLst/>
            <a:cxnLst/>
            <a:rect r="r" b="b" t="t" l="l"/>
            <a:pathLst>
              <a:path h="2510680" w="3404763">
                <a:moveTo>
                  <a:pt x="0" y="0"/>
                </a:moveTo>
                <a:lnTo>
                  <a:pt x="3404764" y="0"/>
                </a:lnTo>
                <a:lnTo>
                  <a:pt x="3404764" y="2510680"/>
                </a:lnTo>
                <a:lnTo>
                  <a:pt x="0" y="2510680"/>
                </a:lnTo>
                <a:lnTo>
                  <a:pt x="0" y="0"/>
                </a:lnTo>
                <a:close/>
              </a:path>
            </a:pathLst>
          </a:custGeom>
          <a:blipFill>
            <a:blip r:embed="rId8"/>
            <a:stretch>
              <a:fillRect l="-179548" t="-15990" r="-21593" b="-125210"/>
            </a:stretch>
          </a:blipFill>
        </p:spPr>
      </p:sp>
      <p:grpSp>
        <p:nvGrpSpPr>
          <p:cNvPr name="Group 33" id="33"/>
          <p:cNvGrpSpPr/>
          <p:nvPr/>
        </p:nvGrpSpPr>
        <p:grpSpPr>
          <a:xfrm rot="0">
            <a:off x="4123594" y="4598665"/>
            <a:ext cx="3404763" cy="686684"/>
            <a:chOff x="0" y="0"/>
            <a:chExt cx="4539685" cy="915578"/>
          </a:xfrm>
        </p:grpSpPr>
        <p:sp>
          <p:nvSpPr>
            <p:cNvPr name="Freeform 34" id="34"/>
            <p:cNvSpPr/>
            <p:nvPr/>
          </p:nvSpPr>
          <p:spPr>
            <a:xfrm flipH="false" flipV="false" rot="0">
              <a:off x="0" y="0"/>
              <a:ext cx="4539685" cy="915578"/>
            </a:xfrm>
            <a:custGeom>
              <a:avLst/>
              <a:gdLst/>
              <a:ahLst/>
              <a:cxnLst/>
              <a:rect r="r" b="b" t="t" l="l"/>
              <a:pathLst>
                <a:path h="915578" w="4539685">
                  <a:moveTo>
                    <a:pt x="0" y="0"/>
                  </a:moveTo>
                  <a:lnTo>
                    <a:pt x="4539685" y="0"/>
                  </a:lnTo>
                  <a:lnTo>
                    <a:pt x="4539685" y="915578"/>
                  </a:lnTo>
                  <a:lnTo>
                    <a:pt x="0" y="915578"/>
                  </a:lnTo>
                  <a:close/>
                </a:path>
              </a:pathLst>
            </a:custGeom>
            <a:blipFill>
              <a:blip r:embed="rId4">
                <a:alphaModFix amt="0"/>
              </a:blip>
              <a:stretch>
                <a:fillRect l="0" t="-373704" r="-322989" b="-343614"/>
              </a:stretch>
            </a:blipFill>
          </p:spPr>
        </p:sp>
        <p:sp>
          <p:nvSpPr>
            <p:cNvPr name="TextBox 35" id="35"/>
            <p:cNvSpPr txBox="true"/>
            <p:nvPr/>
          </p:nvSpPr>
          <p:spPr>
            <a:xfrm>
              <a:off x="0" y="-47625"/>
              <a:ext cx="4539685" cy="963203"/>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Función Desacortador URL y</a:t>
              </a:r>
            </a:p>
            <a:p>
              <a:pPr algn="l">
                <a:lnSpc>
                  <a:spcPts val="2340"/>
                </a:lnSpc>
              </a:pPr>
              <a:r>
                <a:rPr lang="en-US" sz="1950" i="true">
                  <a:solidFill>
                    <a:srgbClr val="235347"/>
                  </a:solidFill>
                  <a:latin typeface="Calibri (MS) Italics"/>
                  <a:ea typeface="Calibri (MS) Italics"/>
                  <a:cs typeface="Calibri (MS) Italics"/>
                  <a:sym typeface="Calibri (MS) Italics"/>
                </a:rPr>
                <a:t>Comprobación API VirusTotal</a:t>
              </a:r>
            </a:p>
          </p:txBody>
        </p:sp>
      </p:grpSp>
      <p:grpSp>
        <p:nvGrpSpPr>
          <p:cNvPr name="Group 36" id="36"/>
          <p:cNvGrpSpPr/>
          <p:nvPr/>
        </p:nvGrpSpPr>
        <p:grpSpPr>
          <a:xfrm rot="0">
            <a:off x="8071063" y="4281414"/>
            <a:ext cx="7464677" cy="686684"/>
            <a:chOff x="0" y="0"/>
            <a:chExt cx="9952903" cy="915578"/>
          </a:xfrm>
        </p:grpSpPr>
        <p:sp>
          <p:nvSpPr>
            <p:cNvPr name="Freeform 37" id="37"/>
            <p:cNvSpPr/>
            <p:nvPr/>
          </p:nvSpPr>
          <p:spPr>
            <a:xfrm flipH="false" flipV="false" rot="0">
              <a:off x="0" y="0"/>
              <a:ext cx="9952903" cy="915578"/>
            </a:xfrm>
            <a:custGeom>
              <a:avLst/>
              <a:gdLst/>
              <a:ahLst/>
              <a:cxnLst/>
              <a:rect r="r" b="b" t="t" l="l"/>
              <a:pathLst>
                <a:path h="915578" w="9952903">
                  <a:moveTo>
                    <a:pt x="0" y="0"/>
                  </a:moveTo>
                  <a:lnTo>
                    <a:pt x="9952903" y="0"/>
                  </a:lnTo>
                  <a:lnTo>
                    <a:pt x="9952903" y="915578"/>
                  </a:lnTo>
                  <a:lnTo>
                    <a:pt x="0" y="915578"/>
                  </a:lnTo>
                  <a:close/>
                </a:path>
              </a:pathLst>
            </a:custGeom>
            <a:blipFill>
              <a:blip r:embed="rId4">
                <a:alphaModFix amt="0"/>
              </a:blip>
              <a:stretch>
                <a:fillRect l="0" t="-373704" r="-92932" b="-343614"/>
              </a:stretch>
            </a:blipFill>
          </p:spPr>
        </p:sp>
        <p:sp>
          <p:nvSpPr>
            <p:cNvPr name="TextBox 38" id="38"/>
            <p:cNvSpPr txBox="true"/>
            <p:nvPr/>
          </p:nvSpPr>
          <p:spPr>
            <a:xfrm>
              <a:off x="0" y="-47625"/>
              <a:ext cx="9952903" cy="963203"/>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CRUD de la base de datos en MongoDB</a:t>
              </a:r>
            </a:p>
          </p:txBody>
        </p:sp>
      </p:grpSp>
      <p:sp>
        <p:nvSpPr>
          <p:cNvPr name="Freeform 39" id="39"/>
          <p:cNvSpPr/>
          <p:nvPr/>
        </p:nvSpPr>
        <p:spPr>
          <a:xfrm flipH="false" flipV="false" rot="0">
            <a:off x="8071063" y="4813636"/>
            <a:ext cx="9711391" cy="3277752"/>
          </a:xfrm>
          <a:custGeom>
            <a:avLst/>
            <a:gdLst/>
            <a:ahLst/>
            <a:cxnLst/>
            <a:rect r="r" b="b" t="t" l="l"/>
            <a:pathLst>
              <a:path h="3277752" w="9711391">
                <a:moveTo>
                  <a:pt x="0" y="0"/>
                </a:moveTo>
                <a:lnTo>
                  <a:pt x="9711391" y="0"/>
                </a:lnTo>
                <a:lnTo>
                  <a:pt x="9711391" y="3277752"/>
                </a:lnTo>
                <a:lnTo>
                  <a:pt x="0" y="3277752"/>
                </a:lnTo>
                <a:lnTo>
                  <a:pt x="0" y="0"/>
                </a:lnTo>
                <a:close/>
              </a:path>
            </a:pathLst>
          </a:custGeom>
          <a:blipFill>
            <a:blip r:embed="rId9"/>
            <a:stretch>
              <a:fillRect l="-24724" t="-5139" r="-12625" b="-101193"/>
            </a:stretch>
          </a:blipFill>
        </p:spPr>
      </p:sp>
      <p:sp>
        <p:nvSpPr>
          <p:cNvPr name="Freeform 40" id="40"/>
          <p:cNvSpPr/>
          <p:nvPr/>
        </p:nvSpPr>
        <p:spPr>
          <a:xfrm flipH="false" flipV="false" rot="0">
            <a:off x="8050520" y="8179198"/>
            <a:ext cx="7400762" cy="1634109"/>
          </a:xfrm>
          <a:custGeom>
            <a:avLst/>
            <a:gdLst/>
            <a:ahLst/>
            <a:cxnLst/>
            <a:rect r="r" b="b" t="t" l="l"/>
            <a:pathLst>
              <a:path h="1634109" w="7400762">
                <a:moveTo>
                  <a:pt x="0" y="0"/>
                </a:moveTo>
                <a:lnTo>
                  <a:pt x="7400762" y="0"/>
                </a:lnTo>
                <a:lnTo>
                  <a:pt x="7400762" y="1634109"/>
                </a:lnTo>
                <a:lnTo>
                  <a:pt x="0" y="1634109"/>
                </a:lnTo>
                <a:lnTo>
                  <a:pt x="0" y="0"/>
                </a:lnTo>
                <a:close/>
              </a:path>
            </a:pathLst>
          </a:custGeom>
          <a:blipFill>
            <a:blip r:embed="rId10"/>
            <a:stretch>
              <a:fillRect l="-37802" t="-26552" r="-7010" b="-256707"/>
            </a:stretch>
          </a:blipFill>
        </p:spPr>
      </p:sp>
      <p:sp>
        <p:nvSpPr>
          <p:cNvPr name="TextBox 41" id="41"/>
          <p:cNvSpPr txBox="true"/>
          <p:nvPr/>
        </p:nvSpPr>
        <p:spPr>
          <a:xfrm rot="0">
            <a:off x="2423160" y="2851785"/>
            <a:ext cx="14356080" cy="1266825"/>
          </a:xfrm>
          <a:prstGeom prst="rect">
            <a:avLst/>
          </a:prstGeom>
        </p:spPr>
        <p:txBody>
          <a:bodyPr anchor="t" rtlCol="false" tIns="0" lIns="0" bIns="0" rIns="0">
            <a:spAutoFit/>
          </a:bodyPr>
          <a:lstStyle/>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Backend (API REST): Node.js con Express. Su naturaleza asíncrona (basada en eventos) es ideal para manejar múltiples peticiones simultáneas a APIs externas (VirusTotal, RDAP, Gemini) sin bloquear el hilo de ejecución principal, garantizando efectivos tiempos de respuesta.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Base de Datos: MongoDB. Se elige este motor NoSQL por la flexibilidad de su esquema basado en documentos JSON/BSON, lo cual facilita el almacenamiento de respuestas estructuradas y variables provenientes de las distintas APIs externas sin requerir migraciones complejas. </a:t>
            </a:r>
          </a:p>
          <a:p>
            <a:pPr algn="l">
              <a:lnSpc>
                <a:spcPts val="198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clock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20240" y="-543989"/>
            <a:ext cx="14401800" cy="3081449"/>
            <a:chOff x="0" y="0"/>
            <a:chExt cx="19202400" cy="4108599"/>
          </a:xfrm>
        </p:grpSpPr>
        <p:sp>
          <p:nvSpPr>
            <p:cNvPr name="Freeform 8" id="8"/>
            <p:cNvSpPr/>
            <p:nvPr/>
          </p:nvSpPr>
          <p:spPr>
            <a:xfrm flipH="false" flipV="false" rot="0">
              <a:off x="0" y="0"/>
              <a:ext cx="19202400" cy="4108599"/>
            </a:xfrm>
            <a:custGeom>
              <a:avLst/>
              <a:gdLst/>
              <a:ahLst/>
              <a:cxnLst/>
              <a:rect r="r" b="b" t="t" l="l"/>
              <a:pathLst>
                <a:path h="4108599" w="19202400">
                  <a:moveTo>
                    <a:pt x="0" y="0"/>
                  </a:moveTo>
                  <a:lnTo>
                    <a:pt x="19202400" y="0"/>
                  </a:lnTo>
                  <a:lnTo>
                    <a:pt x="19202400" y="4108599"/>
                  </a:lnTo>
                  <a:lnTo>
                    <a:pt x="0" y="4108599"/>
                  </a:lnTo>
                  <a:close/>
                </a:path>
              </a:pathLst>
            </a:custGeom>
            <a:blipFill>
              <a:blip r:embed="rId4">
                <a:alphaModFix amt="0"/>
              </a:blip>
              <a:stretch>
                <a:fillRect l="0" t="-78826" r="0" b="-3308"/>
              </a:stretch>
            </a:blipFill>
          </p:spPr>
        </p:sp>
        <p:sp>
          <p:nvSpPr>
            <p:cNvPr name="TextBox 9" id="9"/>
            <p:cNvSpPr txBox="true"/>
            <p:nvPr/>
          </p:nvSpPr>
          <p:spPr>
            <a:xfrm>
              <a:off x="0" y="-9525"/>
              <a:ext cx="19202400" cy="4118124"/>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FrontEnd</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Avances obtenidos en el FrontEnd APP</a:t>
              </a:r>
            </a:p>
          </p:txBody>
        </p:sp>
      </p:grpSp>
      <p:grpSp>
        <p:nvGrpSpPr>
          <p:cNvPr name="Group 13" id="13"/>
          <p:cNvGrpSpPr/>
          <p:nvPr/>
        </p:nvGrpSpPr>
        <p:grpSpPr>
          <a:xfrm rot="0">
            <a:off x="754380" y="2125980"/>
            <a:ext cx="16549248" cy="7715250"/>
            <a:chOff x="0" y="0"/>
            <a:chExt cx="22065664" cy="10287000"/>
          </a:xfrm>
        </p:grpSpPr>
        <p:sp>
          <p:nvSpPr>
            <p:cNvPr name="Freeform 14" id="14"/>
            <p:cNvSpPr/>
            <p:nvPr/>
          </p:nvSpPr>
          <p:spPr>
            <a:xfrm flipH="false" flipV="false" rot="0">
              <a:off x="0" y="0"/>
              <a:ext cx="22065666" cy="10287000"/>
            </a:xfrm>
            <a:custGeom>
              <a:avLst/>
              <a:gdLst/>
              <a:ahLst/>
              <a:cxnLst/>
              <a:rect r="r" b="b" t="t" l="l"/>
              <a:pathLst>
                <a:path h="10287000" w="22065666">
                  <a:moveTo>
                    <a:pt x="0" y="223630"/>
                  </a:moveTo>
                  <a:cubicBezTo>
                    <a:pt x="0" y="100168"/>
                    <a:pt x="168950" y="0"/>
                    <a:pt x="377191" y="0"/>
                  </a:cubicBezTo>
                  <a:lnTo>
                    <a:pt x="21688473" y="0"/>
                  </a:lnTo>
                  <a:cubicBezTo>
                    <a:pt x="21896715" y="0"/>
                    <a:pt x="22065666" y="100168"/>
                    <a:pt x="22065666" y="223630"/>
                  </a:cubicBezTo>
                  <a:lnTo>
                    <a:pt x="22065666" y="10063369"/>
                  </a:lnTo>
                  <a:cubicBezTo>
                    <a:pt x="22065666" y="10186832"/>
                    <a:pt x="21896715" y="10287000"/>
                    <a:pt x="21688473" y="10287000"/>
                  </a:cubicBezTo>
                  <a:lnTo>
                    <a:pt x="377191" y="10287000"/>
                  </a:lnTo>
                  <a:cubicBezTo>
                    <a:pt x="168950" y="10287000"/>
                    <a:pt x="0" y="10186832"/>
                    <a:pt x="0" y="10063369"/>
                  </a:cubicBezTo>
                  <a:close/>
                </a:path>
              </a:pathLst>
            </a:custGeom>
            <a:solidFill>
              <a:srgbClr val="FFFFFF"/>
            </a:solidFill>
          </p:spPr>
        </p:sp>
      </p:grpSp>
      <p:grpSp>
        <p:nvGrpSpPr>
          <p:cNvPr name="Group 15" id="15"/>
          <p:cNvGrpSpPr/>
          <p:nvPr/>
        </p:nvGrpSpPr>
        <p:grpSpPr>
          <a:xfrm rot="0">
            <a:off x="17053103" y="9601200"/>
            <a:ext cx="822960" cy="480060"/>
            <a:chOff x="0" y="0"/>
            <a:chExt cx="1097280" cy="640080"/>
          </a:xfrm>
        </p:grpSpPr>
        <p:sp>
          <p:nvSpPr>
            <p:cNvPr name="Freeform 16" id="16"/>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17" id="17"/>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04</a:t>
              </a:r>
            </a:p>
          </p:txBody>
        </p:sp>
      </p:grpSp>
      <p:sp>
        <p:nvSpPr>
          <p:cNvPr name="Freeform 18" id="18"/>
          <p:cNvSpPr/>
          <p:nvPr/>
        </p:nvSpPr>
        <p:spPr>
          <a:xfrm flipH="false" flipV="false" rot="0">
            <a:off x="1001268" y="2786498"/>
            <a:ext cx="3604747" cy="6881004"/>
          </a:xfrm>
          <a:custGeom>
            <a:avLst/>
            <a:gdLst/>
            <a:ahLst/>
            <a:cxnLst/>
            <a:rect r="r" b="b" t="t" l="l"/>
            <a:pathLst>
              <a:path h="6881004" w="3604747">
                <a:moveTo>
                  <a:pt x="0" y="0"/>
                </a:moveTo>
                <a:lnTo>
                  <a:pt x="3604747" y="0"/>
                </a:lnTo>
                <a:lnTo>
                  <a:pt x="3604747" y="6881004"/>
                </a:lnTo>
                <a:lnTo>
                  <a:pt x="0" y="6881004"/>
                </a:lnTo>
                <a:lnTo>
                  <a:pt x="0" y="0"/>
                </a:lnTo>
                <a:close/>
              </a:path>
            </a:pathLst>
          </a:custGeom>
          <a:blipFill>
            <a:blip r:embed="rId5"/>
            <a:stretch>
              <a:fillRect l="0" t="0" r="0" b="0"/>
            </a:stretch>
          </a:blipFill>
        </p:spPr>
      </p:sp>
      <p:sp>
        <p:nvSpPr>
          <p:cNvPr name="Freeform 19" id="19"/>
          <p:cNvSpPr/>
          <p:nvPr/>
        </p:nvSpPr>
        <p:spPr>
          <a:xfrm flipH="false" flipV="false" rot="0">
            <a:off x="5168021" y="2786498"/>
            <a:ext cx="3079249" cy="6881004"/>
          </a:xfrm>
          <a:custGeom>
            <a:avLst/>
            <a:gdLst/>
            <a:ahLst/>
            <a:cxnLst/>
            <a:rect r="r" b="b" t="t" l="l"/>
            <a:pathLst>
              <a:path h="6881004" w="3079249">
                <a:moveTo>
                  <a:pt x="0" y="0"/>
                </a:moveTo>
                <a:lnTo>
                  <a:pt x="3079249" y="0"/>
                </a:lnTo>
                <a:lnTo>
                  <a:pt x="3079249" y="6881004"/>
                </a:lnTo>
                <a:lnTo>
                  <a:pt x="0" y="6881004"/>
                </a:lnTo>
                <a:lnTo>
                  <a:pt x="0" y="0"/>
                </a:lnTo>
                <a:close/>
              </a:path>
            </a:pathLst>
          </a:custGeom>
          <a:blipFill>
            <a:blip r:embed="rId6"/>
            <a:stretch>
              <a:fillRect l="0" t="0" r="0" b="0"/>
            </a:stretch>
          </a:blipFill>
        </p:spPr>
      </p:sp>
      <p:sp>
        <p:nvSpPr>
          <p:cNvPr name="Freeform 20" id="20"/>
          <p:cNvSpPr/>
          <p:nvPr/>
        </p:nvSpPr>
        <p:spPr>
          <a:xfrm flipH="false" flipV="false" rot="0">
            <a:off x="9359084" y="2786498"/>
            <a:ext cx="3067557" cy="6854875"/>
          </a:xfrm>
          <a:custGeom>
            <a:avLst/>
            <a:gdLst/>
            <a:ahLst/>
            <a:cxnLst/>
            <a:rect r="r" b="b" t="t" l="l"/>
            <a:pathLst>
              <a:path h="6854875" w="3067557">
                <a:moveTo>
                  <a:pt x="0" y="0"/>
                </a:moveTo>
                <a:lnTo>
                  <a:pt x="3067557" y="0"/>
                </a:lnTo>
                <a:lnTo>
                  <a:pt x="3067557" y="6854876"/>
                </a:lnTo>
                <a:lnTo>
                  <a:pt x="0" y="6854876"/>
                </a:lnTo>
                <a:lnTo>
                  <a:pt x="0" y="0"/>
                </a:lnTo>
                <a:close/>
              </a:path>
            </a:pathLst>
          </a:custGeom>
          <a:blipFill>
            <a:blip r:embed="rId7"/>
            <a:stretch>
              <a:fillRect l="0" t="0" r="0" b="0"/>
            </a:stretch>
          </a:blipFill>
        </p:spPr>
      </p:sp>
      <p:sp>
        <p:nvSpPr>
          <p:cNvPr name="Freeform 21" id="21"/>
          <p:cNvSpPr/>
          <p:nvPr/>
        </p:nvSpPr>
        <p:spPr>
          <a:xfrm flipH="false" flipV="false" rot="0">
            <a:off x="13531438" y="2786498"/>
            <a:ext cx="3079249" cy="6881004"/>
          </a:xfrm>
          <a:custGeom>
            <a:avLst/>
            <a:gdLst/>
            <a:ahLst/>
            <a:cxnLst/>
            <a:rect r="r" b="b" t="t" l="l"/>
            <a:pathLst>
              <a:path h="6881004" w="3079249">
                <a:moveTo>
                  <a:pt x="0" y="0"/>
                </a:moveTo>
                <a:lnTo>
                  <a:pt x="3079250" y="0"/>
                </a:lnTo>
                <a:lnTo>
                  <a:pt x="3079250" y="6881004"/>
                </a:lnTo>
                <a:lnTo>
                  <a:pt x="0" y="6881004"/>
                </a:lnTo>
                <a:lnTo>
                  <a:pt x="0" y="0"/>
                </a:lnTo>
                <a:close/>
              </a:path>
            </a:pathLst>
          </a:custGeom>
          <a:blipFill>
            <a:blip r:embed="rId8"/>
            <a:stretch>
              <a:fillRect l="0" t="0" r="0" b="0"/>
            </a:stretch>
          </a:blipFill>
        </p:spPr>
      </p:sp>
      <p:sp>
        <p:nvSpPr>
          <p:cNvPr name="TextBox 22" id="22"/>
          <p:cNvSpPr txBox="true"/>
          <p:nvPr/>
        </p:nvSpPr>
        <p:spPr>
          <a:xfrm rot="0">
            <a:off x="2135254" y="2313450"/>
            <a:ext cx="1336774" cy="391574"/>
          </a:xfrm>
          <a:prstGeom prst="rect">
            <a:avLst/>
          </a:prstGeom>
        </p:spPr>
        <p:txBody>
          <a:bodyPr anchor="t" rtlCol="false" tIns="0" lIns="0" bIns="0" rIns="0">
            <a:spAutoFit/>
          </a:bodyPr>
          <a:lstStyle/>
          <a:p>
            <a:pPr algn="ctr">
              <a:lnSpc>
                <a:spcPts val="3092"/>
              </a:lnSpc>
            </a:pPr>
            <a:r>
              <a:rPr lang="en-US" sz="2208">
                <a:solidFill>
                  <a:srgbClr val="051F20"/>
                </a:solidFill>
                <a:latin typeface="Cambria"/>
                <a:ea typeface="Cambria"/>
                <a:cs typeface="Cambria"/>
                <a:sym typeface="Cambria"/>
              </a:rPr>
              <a:t>Bienvenida</a:t>
            </a:r>
          </a:p>
        </p:txBody>
      </p:sp>
      <p:sp>
        <p:nvSpPr>
          <p:cNvPr name="TextBox 23" id="23"/>
          <p:cNvSpPr txBox="true"/>
          <p:nvPr/>
        </p:nvSpPr>
        <p:spPr>
          <a:xfrm rot="0">
            <a:off x="5550953" y="2313450"/>
            <a:ext cx="2313384" cy="391574"/>
          </a:xfrm>
          <a:prstGeom prst="rect">
            <a:avLst/>
          </a:prstGeom>
        </p:spPr>
        <p:txBody>
          <a:bodyPr anchor="t" rtlCol="false" tIns="0" lIns="0" bIns="0" rIns="0">
            <a:spAutoFit/>
          </a:bodyPr>
          <a:lstStyle/>
          <a:p>
            <a:pPr algn="ctr">
              <a:lnSpc>
                <a:spcPts val="3092"/>
              </a:lnSpc>
            </a:pPr>
            <a:r>
              <a:rPr lang="en-US" sz="2208">
                <a:solidFill>
                  <a:srgbClr val="051F20"/>
                </a:solidFill>
                <a:latin typeface="Cambria"/>
                <a:ea typeface="Cambria"/>
                <a:cs typeface="Cambria"/>
                <a:sym typeface="Cambria"/>
              </a:rPr>
              <a:t>Bandeja de entrada</a:t>
            </a:r>
          </a:p>
        </p:txBody>
      </p:sp>
      <p:sp>
        <p:nvSpPr>
          <p:cNvPr name="TextBox 24" id="24"/>
          <p:cNvSpPr txBox="true"/>
          <p:nvPr/>
        </p:nvSpPr>
        <p:spPr>
          <a:xfrm rot="0">
            <a:off x="9677830" y="2313450"/>
            <a:ext cx="2430066" cy="391574"/>
          </a:xfrm>
          <a:prstGeom prst="rect">
            <a:avLst/>
          </a:prstGeom>
        </p:spPr>
        <p:txBody>
          <a:bodyPr anchor="t" rtlCol="false" tIns="0" lIns="0" bIns="0" rIns="0">
            <a:spAutoFit/>
          </a:bodyPr>
          <a:lstStyle/>
          <a:p>
            <a:pPr algn="ctr">
              <a:lnSpc>
                <a:spcPts val="3092"/>
              </a:lnSpc>
            </a:pPr>
            <a:r>
              <a:rPr lang="en-US" sz="2208">
                <a:solidFill>
                  <a:srgbClr val="051F20"/>
                </a:solidFill>
                <a:latin typeface="Cambria"/>
                <a:ea typeface="Cambria"/>
                <a:cs typeface="Cambria"/>
                <a:sym typeface="Cambria"/>
              </a:rPr>
              <a:t>Detalle mensaje pt 1</a:t>
            </a:r>
          </a:p>
        </p:txBody>
      </p:sp>
      <p:sp>
        <p:nvSpPr>
          <p:cNvPr name="TextBox 25" id="25"/>
          <p:cNvSpPr txBox="true"/>
          <p:nvPr/>
        </p:nvSpPr>
        <p:spPr>
          <a:xfrm rot="0">
            <a:off x="13856030" y="2313450"/>
            <a:ext cx="2430066" cy="391574"/>
          </a:xfrm>
          <a:prstGeom prst="rect">
            <a:avLst/>
          </a:prstGeom>
        </p:spPr>
        <p:txBody>
          <a:bodyPr anchor="t" rtlCol="false" tIns="0" lIns="0" bIns="0" rIns="0">
            <a:spAutoFit/>
          </a:bodyPr>
          <a:lstStyle/>
          <a:p>
            <a:pPr algn="ctr">
              <a:lnSpc>
                <a:spcPts val="3092"/>
              </a:lnSpc>
            </a:pPr>
            <a:r>
              <a:rPr lang="en-US" sz="2208">
                <a:solidFill>
                  <a:srgbClr val="051F20"/>
                </a:solidFill>
                <a:latin typeface="Cambria"/>
                <a:ea typeface="Cambria"/>
                <a:cs typeface="Cambria"/>
                <a:sym typeface="Cambria"/>
              </a:rPr>
              <a:t>Detalle mensaje pt 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clock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20240" y="-543989"/>
            <a:ext cx="14401800" cy="3081449"/>
            <a:chOff x="0" y="0"/>
            <a:chExt cx="19202400" cy="4108599"/>
          </a:xfrm>
        </p:grpSpPr>
        <p:sp>
          <p:nvSpPr>
            <p:cNvPr name="Freeform 8" id="8"/>
            <p:cNvSpPr/>
            <p:nvPr/>
          </p:nvSpPr>
          <p:spPr>
            <a:xfrm flipH="false" flipV="false" rot="0">
              <a:off x="0" y="0"/>
              <a:ext cx="19202400" cy="4108599"/>
            </a:xfrm>
            <a:custGeom>
              <a:avLst/>
              <a:gdLst/>
              <a:ahLst/>
              <a:cxnLst/>
              <a:rect r="r" b="b" t="t" l="l"/>
              <a:pathLst>
                <a:path h="4108599" w="19202400">
                  <a:moveTo>
                    <a:pt x="0" y="0"/>
                  </a:moveTo>
                  <a:lnTo>
                    <a:pt x="19202400" y="0"/>
                  </a:lnTo>
                  <a:lnTo>
                    <a:pt x="19202400" y="4108599"/>
                  </a:lnTo>
                  <a:lnTo>
                    <a:pt x="0" y="4108599"/>
                  </a:lnTo>
                  <a:close/>
                </a:path>
              </a:pathLst>
            </a:custGeom>
            <a:blipFill>
              <a:blip r:embed="rId4">
                <a:alphaModFix amt="0"/>
              </a:blip>
              <a:stretch>
                <a:fillRect l="0" t="-78826" r="0" b="-3308"/>
              </a:stretch>
            </a:blipFill>
          </p:spPr>
        </p:sp>
        <p:sp>
          <p:nvSpPr>
            <p:cNvPr name="TextBox 9" id="9"/>
            <p:cNvSpPr txBox="true"/>
            <p:nvPr/>
          </p:nvSpPr>
          <p:spPr>
            <a:xfrm>
              <a:off x="0" y="-9525"/>
              <a:ext cx="19202400" cy="4118124"/>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FrontEnd</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Avances obtenidos en el FrontEnd Panel DashBoard</a:t>
              </a:r>
            </a:p>
          </p:txBody>
        </p:sp>
      </p:grpSp>
      <p:grpSp>
        <p:nvGrpSpPr>
          <p:cNvPr name="Group 13" id="13"/>
          <p:cNvGrpSpPr/>
          <p:nvPr/>
        </p:nvGrpSpPr>
        <p:grpSpPr>
          <a:xfrm rot="0">
            <a:off x="754380" y="2125980"/>
            <a:ext cx="16549248" cy="7715250"/>
            <a:chOff x="0" y="0"/>
            <a:chExt cx="22065664" cy="10287000"/>
          </a:xfrm>
        </p:grpSpPr>
        <p:sp>
          <p:nvSpPr>
            <p:cNvPr name="Freeform 14" id="14"/>
            <p:cNvSpPr/>
            <p:nvPr/>
          </p:nvSpPr>
          <p:spPr>
            <a:xfrm flipH="false" flipV="false" rot="0">
              <a:off x="0" y="0"/>
              <a:ext cx="22065666" cy="10287000"/>
            </a:xfrm>
            <a:custGeom>
              <a:avLst/>
              <a:gdLst/>
              <a:ahLst/>
              <a:cxnLst/>
              <a:rect r="r" b="b" t="t" l="l"/>
              <a:pathLst>
                <a:path h="10287000" w="22065666">
                  <a:moveTo>
                    <a:pt x="0" y="223630"/>
                  </a:moveTo>
                  <a:cubicBezTo>
                    <a:pt x="0" y="100168"/>
                    <a:pt x="168950" y="0"/>
                    <a:pt x="377191" y="0"/>
                  </a:cubicBezTo>
                  <a:lnTo>
                    <a:pt x="21688473" y="0"/>
                  </a:lnTo>
                  <a:cubicBezTo>
                    <a:pt x="21896715" y="0"/>
                    <a:pt x="22065666" y="100168"/>
                    <a:pt x="22065666" y="223630"/>
                  </a:cubicBezTo>
                  <a:lnTo>
                    <a:pt x="22065666" y="10063369"/>
                  </a:lnTo>
                  <a:cubicBezTo>
                    <a:pt x="22065666" y="10186832"/>
                    <a:pt x="21896715" y="10287000"/>
                    <a:pt x="21688473" y="10287000"/>
                  </a:cubicBezTo>
                  <a:lnTo>
                    <a:pt x="377191" y="10287000"/>
                  </a:lnTo>
                  <a:cubicBezTo>
                    <a:pt x="168950" y="10287000"/>
                    <a:pt x="0" y="10186832"/>
                    <a:pt x="0" y="10063369"/>
                  </a:cubicBezTo>
                  <a:close/>
                </a:path>
              </a:pathLst>
            </a:custGeom>
            <a:solidFill>
              <a:srgbClr val="FFFFFF"/>
            </a:solidFill>
          </p:spPr>
        </p:sp>
      </p:grpSp>
      <p:grpSp>
        <p:nvGrpSpPr>
          <p:cNvPr name="Group 15" id="15"/>
          <p:cNvGrpSpPr/>
          <p:nvPr/>
        </p:nvGrpSpPr>
        <p:grpSpPr>
          <a:xfrm rot="0">
            <a:off x="17053103" y="9601200"/>
            <a:ext cx="822960" cy="480060"/>
            <a:chOff x="0" y="0"/>
            <a:chExt cx="1097280" cy="640080"/>
          </a:xfrm>
        </p:grpSpPr>
        <p:sp>
          <p:nvSpPr>
            <p:cNvPr name="Freeform 16" id="16"/>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17" id="17"/>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04</a:t>
              </a:r>
            </a:p>
          </p:txBody>
        </p:sp>
      </p:grpSp>
      <p:sp>
        <p:nvSpPr>
          <p:cNvPr name="Freeform 18" id="18"/>
          <p:cNvSpPr/>
          <p:nvPr/>
        </p:nvSpPr>
        <p:spPr>
          <a:xfrm flipH="false" flipV="false" rot="0">
            <a:off x="4429964" y="2410080"/>
            <a:ext cx="12434385" cy="6745654"/>
          </a:xfrm>
          <a:custGeom>
            <a:avLst/>
            <a:gdLst/>
            <a:ahLst/>
            <a:cxnLst/>
            <a:rect r="r" b="b" t="t" l="l"/>
            <a:pathLst>
              <a:path h="6745654" w="12434385">
                <a:moveTo>
                  <a:pt x="0" y="0"/>
                </a:moveTo>
                <a:lnTo>
                  <a:pt x="12434385" y="0"/>
                </a:lnTo>
                <a:lnTo>
                  <a:pt x="12434385" y="6745654"/>
                </a:lnTo>
                <a:lnTo>
                  <a:pt x="0" y="6745654"/>
                </a:lnTo>
                <a:lnTo>
                  <a:pt x="0" y="0"/>
                </a:lnTo>
                <a:close/>
              </a:path>
            </a:pathLst>
          </a:custGeom>
          <a:blipFill>
            <a:blip r:embed="rId5"/>
            <a:stretch>
              <a:fillRect l="0" t="0" r="0" b="0"/>
            </a:stretch>
          </a:blipFill>
        </p:spPr>
      </p:sp>
      <p:sp>
        <p:nvSpPr>
          <p:cNvPr name="TextBox 19" id="19"/>
          <p:cNvSpPr txBox="true"/>
          <p:nvPr/>
        </p:nvSpPr>
        <p:spPr>
          <a:xfrm rot="0">
            <a:off x="1154536" y="2849462"/>
            <a:ext cx="3014269" cy="5828789"/>
          </a:xfrm>
          <a:prstGeom prst="rect">
            <a:avLst/>
          </a:prstGeom>
        </p:spPr>
        <p:txBody>
          <a:bodyPr anchor="t" rtlCol="false" tIns="0" lIns="0" bIns="0" rIns="0">
            <a:spAutoFit/>
          </a:bodyPr>
          <a:lstStyle/>
          <a:p>
            <a:pPr algn="just">
              <a:lnSpc>
                <a:spcPts val="2626"/>
              </a:lnSpc>
            </a:pPr>
          </a:p>
          <a:p>
            <a:pPr algn="just" marL="405035" indent="-202518" lvl="1">
              <a:lnSpc>
                <a:spcPts val="2626"/>
              </a:lnSpc>
              <a:buFont typeface="Arial"/>
              <a:buChar char="•"/>
            </a:pPr>
            <a:r>
              <a:rPr lang="en-US" sz="1876">
                <a:solidFill>
                  <a:srgbClr val="000000"/>
                </a:solidFill>
                <a:latin typeface="Open Sans"/>
                <a:ea typeface="Open Sans"/>
                <a:cs typeface="Open Sans"/>
                <a:sym typeface="Open Sans"/>
              </a:rPr>
              <a:t>Métricas Principales: Monitoreo activo de SMS analizados, alertas de alto riesgo, reportes pendientes y dominios sospechosos.</a:t>
            </a:r>
          </a:p>
          <a:p>
            <a:pPr algn="just" marL="405035" indent="-202518" lvl="1">
              <a:lnSpc>
                <a:spcPts val="2626"/>
              </a:lnSpc>
              <a:buFont typeface="Arial"/>
              <a:buChar char="•"/>
            </a:pPr>
            <a:r>
              <a:rPr lang="en-US" sz="1876">
                <a:solidFill>
                  <a:srgbClr val="000000"/>
                </a:solidFill>
                <a:latin typeface="Open Sans"/>
                <a:ea typeface="Open Sans"/>
                <a:cs typeface="Open Sans"/>
                <a:sym typeface="Open Sans"/>
              </a:rPr>
              <a:t>Clasificación: Gráficos de distribución según la categoría del fraude (Banca, Courier, Servicios Públicos).</a:t>
            </a:r>
          </a:p>
          <a:p>
            <a:pPr algn="just" marL="405035" indent="-202518" lvl="1">
              <a:lnSpc>
                <a:spcPts val="2626"/>
              </a:lnSpc>
              <a:buFont typeface="Arial"/>
              <a:buChar char="•"/>
            </a:pPr>
            <a:r>
              <a:rPr lang="en-US" sz="1876">
                <a:solidFill>
                  <a:srgbClr val="000000"/>
                </a:solidFill>
                <a:latin typeface="Open Sans"/>
                <a:ea typeface="Open Sans"/>
                <a:cs typeface="Open Sans"/>
                <a:sym typeface="Open Sans"/>
              </a:rPr>
              <a:t>Gestión Operativa: Módulo de revisión de reportes para auditar y validar mensajes en tiempo real.</a:t>
            </a:r>
          </a:p>
          <a:p>
            <a:pPr algn="just">
              <a:lnSpc>
                <a:spcPts val="2626"/>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2314004" y="1548860"/>
            <a:ext cx="5145672" cy="7709440"/>
            <a:chOff x="0" y="0"/>
            <a:chExt cx="1355239" cy="2030470"/>
          </a:xfrm>
        </p:grpSpPr>
        <p:sp>
          <p:nvSpPr>
            <p:cNvPr name="Freeform 4" id="4"/>
            <p:cNvSpPr/>
            <p:nvPr/>
          </p:nvSpPr>
          <p:spPr>
            <a:xfrm flipH="false" flipV="false" rot="0">
              <a:off x="0" y="0"/>
              <a:ext cx="1355239" cy="2030470"/>
            </a:xfrm>
            <a:custGeom>
              <a:avLst/>
              <a:gdLst/>
              <a:ahLst/>
              <a:cxnLst/>
              <a:rect r="r" b="b" t="t" l="l"/>
              <a:pathLst>
                <a:path h="2030470" w="1355239">
                  <a:moveTo>
                    <a:pt x="76732" y="0"/>
                  </a:moveTo>
                  <a:lnTo>
                    <a:pt x="1278507" y="0"/>
                  </a:lnTo>
                  <a:cubicBezTo>
                    <a:pt x="1298857" y="0"/>
                    <a:pt x="1318374" y="8084"/>
                    <a:pt x="1332764" y="22474"/>
                  </a:cubicBezTo>
                  <a:cubicBezTo>
                    <a:pt x="1347154" y="36864"/>
                    <a:pt x="1355239" y="56381"/>
                    <a:pt x="1355239" y="76732"/>
                  </a:cubicBezTo>
                  <a:lnTo>
                    <a:pt x="1355239" y="1953738"/>
                  </a:lnTo>
                  <a:cubicBezTo>
                    <a:pt x="1355239" y="1974088"/>
                    <a:pt x="1347154" y="1993605"/>
                    <a:pt x="1332764" y="2007996"/>
                  </a:cubicBezTo>
                  <a:cubicBezTo>
                    <a:pt x="1318374" y="2022386"/>
                    <a:pt x="1298857" y="2030470"/>
                    <a:pt x="1278507" y="2030470"/>
                  </a:cubicBezTo>
                  <a:lnTo>
                    <a:pt x="76732" y="2030470"/>
                  </a:lnTo>
                  <a:cubicBezTo>
                    <a:pt x="56381" y="2030470"/>
                    <a:pt x="36864" y="2022386"/>
                    <a:pt x="22474" y="2007996"/>
                  </a:cubicBezTo>
                  <a:cubicBezTo>
                    <a:pt x="8084" y="1993605"/>
                    <a:pt x="0" y="1974088"/>
                    <a:pt x="0" y="1953738"/>
                  </a:cubicBezTo>
                  <a:lnTo>
                    <a:pt x="0" y="76732"/>
                  </a:lnTo>
                  <a:cubicBezTo>
                    <a:pt x="0" y="56381"/>
                    <a:pt x="8084" y="36864"/>
                    <a:pt x="22474" y="22474"/>
                  </a:cubicBezTo>
                  <a:cubicBezTo>
                    <a:pt x="36864" y="8084"/>
                    <a:pt x="56381" y="0"/>
                    <a:pt x="76732" y="0"/>
                  </a:cubicBezTo>
                  <a:close/>
                </a:path>
              </a:pathLst>
            </a:custGeom>
            <a:solidFill>
              <a:srgbClr val="0B2B26"/>
            </a:solidFill>
          </p:spPr>
        </p:sp>
        <p:sp>
          <p:nvSpPr>
            <p:cNvPr name="TextBox 5" id="5"/>
            <p:cNvSpPr txBox="true"/>
            <p:nvPr/>
          </p:nvSpPr>
          <p:spPr>
            <a:xfrm>
              <a:off x="0" y="-47625"/>
              <a:ext cx="1355239" cy="2078095"/>
            </a:xfrm>
            <a:prstGeom prst="rect">
              <a:avLst/>
            </a:prstGeom>
          </p:spPr>
          <p:txBody>
            <a:bodyPr anchor="ctr" rtlCol="false" tIns="50800" lIns="50800" bIns="50800" rIns="50800"/>
            <a:lstStyle/>
            <a:p>
              <a:pPr algn="ctr">
                <a:lnSpc>
                  <a:spcPts val="2340"/>
                </a:lnSpc>
              </a:pPr>
            </a:p>
          </p:txBody>
        </p:sp>
      </p:grpSp>
      <p:grpSp>
        <p:nvGrpSpPr>
          <p:cNvPr name="Group 6" id="6"/>
          <p:cNvGrpSpPr/>
          <p:nvPr/>
        </p:nvGrpSpPr>
        <p:grpSpPr>
          <a:xfrm rot="0">
            <a:off x="2644147" y="1722631"/>
            <a:ext cx="4129522" cy="6887459"/>
            <a:chOff x="0" y="0"/>
            <a:chExt cx="5506029" cy="9183278"/>
          </a:xfrm>
        </p:grpSpPr>
        <p:sp>
          <p:nvSpPr>
            <p:cNvPr name="Freeform 7" id="7"/>
            <p:cNvSpPr/>
            <p:nvPr/>
          </p:nvSpPr>
          <p:spPr>
            <a:xfrm flipH="false" flipV="false" rot="0">
              <a:off x="0" y="0"/>
              <a:ext cx="5506029" cy="9183278"/>
            </a:xfrm>
            <a:custGeom>
              <a:avLst/>
              <a:gdLst/>
              <a:ahLst/>
              <a:cxnLst/>
              <a:rect r="r" b="b" t="t" l="l"/>
              <a:pathLst>
                <a:path h="9183278" w="5506029">
                  <a:moveTo>
                    <a:pt x="0" y="0"/>
                  </a:moveTo>
                  <a:lnTo>
                    <a:pt x="5506029" y="0"/>
                  </a:lnTo>
                  <a:lnTo>
                    <a:pt x="5506029" y="9183278"/>
                  </a:lnTo>
                  <a:lnTo>
                    <a:pt x="0" y="9183278"/>
                  </a:lnTo>
                  <a:close/>
                </a:path>
              </a:pathLst>
            </a:custGeom>
            <a:blipFill>
              <a:blip r:embed="rId3">
                <a:alphaModFix amt="0"/>
              </a:blip>
              <a:stretch>
                <a:fillRect l="0" t="-37258" r="-248752" b="55771"/>
              </a:stretch>
            </a:blipFill>
          </p:spPr>
        </p:sp>
        <p:sp>
          <p:nvSpPr>
            <p:cNvPr name="TextBox 8" id="8"/>
            <p:cNvSpPr txBox="true"/>
            <p:nvPr/>
          </p:nvSpPr>
          <p:spPr>
            <a:xfrm>
              <a:off x="0" y="-47625"/>
              <a:ext cx="5506029" cy="9230903"/>
            </a:xfrm>
            <a:prstGeom prst="rect">
              <a:avLst/>
            </a:prstGeom>
          </p:spPr>
          <p:txBody>
            <a:bodyPr anchor="ctr" rtlCol="false" tIns="0" lIns="0" bIns="0" rIns="0"/>
            <a:lstStyle/>
            <a:p>
              <a:pPr algn="l">
                <a:lnSpc>
                  <a:spcPts val="2340"/>
                </a:lnSpc>
              </a:pPr>
              <a:r>
                <a:rPr lang="en-US" sz="1950" i="true">
                  <a:solidFill>
                    <a:srgbClr val="DAF1DE"/>
                  </a:solidFill>
                  <a:latin typeface="Calibri (MS) Italics"/>
                  <a:ea typeface="Calibri (MS) Italics"/>
                  <a:cs typeface="Calibri (MS) Italics"/>
                  <a:sym typeface="Calibri (MS) Italics"/>
                </a:rPr>
                <a:t>Hitos Logrados (Progreso Actual)</a:t>
              </a:r>
            </a:p>
            <a:p>
              <a:pPr algn="l" marL="421005" indent="-210502" lvl="1">
                <a:lnSpc>
                  <a:spcPts val="2340"/>
                </a:lnSpc>
                <a:buFont typeface="Arial"/>
                <a:buChar char="•"/>
              </a:pPr>
              <a:r>
                <a:rPr lang="en-US" sz="1950" i="true">
                  <a:solidFill>
                    <a:srgbClr val="DAF1DE"/>
                  </a:solidFill>
                  <a:latin typeface="Calibri (MS) Italics"/>
                  <a:ea typeface="Calibri (MS) Italics"/>
                  <a:cs typeface="Calibri (MS) Italics"/>
                  <a:sym typeface="Calibri (MS) Italics"/>
                </a:rPr>
                <a:t>Cumplimiento de Planificación (Fases 1 y 2): Hemos completado con éxito la definición y el diseño arquitectónico del sistema. Actualmente, el desarrollo del Backend y Frontend se encuentra en una etapa avanzada y alineada con la Carta Gantt. </a:t>
              </a:r>
            </a:p>
            <a:p>
              <a:pPr algn="l" marL="421005" indent="-210502" lvl="1">
                <a:lnSpc>
                  <a:spcPts val="2340"/>
                </a:lnSpc>
                <a:buFont typeface="Arial"/>
                <a:buChar char="•"/>
              </a:pPr>
              <a:r>
                <a:rPr lang="en-US" sz="1950" i="true">
                  <a:solidFill>
                    <a:srgbClr val="DAF1DE"/>
                  </a:solidFill>
                  <a:latin typeface="Calibri (MS) Italics"/>
                  <a:ea typeface="Calibri (MS) Italics"/>
                  <a:cs typeface="Calibri (MS) Italics"/>
                  <a:sym typeface="Calibri (MS) Italics"/>
                </a:rPr>
                <a:t>Núcleo Funcional </a:t>
              </a:r>
              <a:r>
                <a:rPr lang="en-US" sz="1950" i="true">
                  <a:solidFill>
                    <a:srgbClr val="DAF1DE"/>
                  </a:solidFill>
                  <a:latin typeface="Calibri (MS) Italics"/>
                  <a:ea typeface="Calibri (MS) Italics"/>
                  <a:cs typeface="Calibri (MS) Italics"/>
                  <a:sym typeface="Calibri (MS) Italics"/>
                </a:rPr>
                <a:t>Operativo: El motor principal ya cumple con el análisis de texto y enlaces (RF-01, RF-02), generando exitosamente el scoring de riesgo (RF-03) mediante nuestras APIs. </a:t>
              </a:r>
            </a:p>
            <a:p>
              <a:pPr algn="l" marL="421005" indent="-210502" lvl="1">
                <a:lnSpc>
                  <a:spcPts val="2340"/>
                </a:lnSpc>
                <a:buFont typeface="Arial"/>
                <a:buChar char="•"/>
              </a:pPr>
              <a:r>
                <a:rPr lang="en-US" sz="1950" i="true">
                  <a:solidFill>
                    <a:srgbClr val="DAF1DE"/>
                  </a:solidFill>
                  <a:latin typeface="Calibri (MS) Italics"/>
                  <a:ea typeface="Calibri (MS) Italics"/>
                  <a:cs typeface="Calibri (MS) Italics"/>
                  <a:sym typeface="Calibri (MS) Italics"/>
                </a:rPr>
                <a:t>Arquitectura y Optimización: El stack tecnológico establecido (React Native, Node.js, MongoDB) está consolidado (RNF-01), incluyendo el sistema de caché para optimizar el consumo de recursos de las APIs externas (RNF-03). </a:t>
              </a:r>
            </a:p>
            <a:p>
              <a:pPr algn="l">
                <a:lnSpc>
                  <a:spcPts val="2340"/>
                </a:lnSpc>
              </a:pPr>
            </a:p>
          </p:txBody>
        </p:sp>
      </p:grpSp>
      <p:grpSp>
        <p:nvGrpSpPr>
          <p:cNvPr name="Group 9" id="9"/>
          <p:cNvGrpSpPr/>
          <p:nvPr/>
        </p:nvGrpSpPr>
        <p:grpSpPr>
          <a:xfrm rot="0">
            <a:off x="9751047" y="1548860"/>
            <a:ext cx="5145672" cy="7709440"/>
            <a:chOff x="0" y="0"/>
            <a:chExt cx="1355239" cy="2030470"/>
          </a:xfrm>
        </p:grpSpPr>
        <p:sp>
          <p:nvSpPr>
            <p:cNvPr name="Freeform 10" id="10"/>
            <p:cNvSpPr/>
            <p:nvPr/>
          </p:nvSpPr>
          <p:spPr>
            <a:xfrm flipH="false" flipV="false" rot="0">
              <a:off x="0" y="0"/>
              <a:ext cx="1355239" cy="2030470"/>
            </a:xfrm>
            <a:custGeom>
              <a:avLst/>
              <a:gdLst/>
              <a:ahLst/>
              <a:cxnLst/>
              <a:rect r="r" b="b" t="t" l="l"/>
              <a:pathLst>
                <a:path h="2030470" w="1355239">
                  <a:moveTo>
                    <a:pt x="76732" y="0"/>
                  </a:moveTo>
                  <a:lnTo>
                    <a:pt x="1278507" y="0"/>
                  </a:lnTo>
                  <a:cubicBezTo>
                    <a:pt x="1298857" y="0"/>
                    <a:pt x="1318374" y="8084"/>
                    <a:pt x="1332764" y="22474"/>
                  </a:cubicBezTo>
                  <a:cubicBezTo>
                    <a:pt x="1347154" y="36864"/>
                    <a:pt x="1355239" y="56381"/>
                    <a:pt x="1355239" y="76732"/>
                  </a:cubicBezTo>
                  <a:lnTo>
                    <a:pt x="1355239" y="1953738"/>
                  </a:lnTo>
                  <a:cubicBezTo>
                    <a:pt x="1355239" y="1974088"/>
                    <a:pt x="1347154" y="1993605"/>
                    <a:pt x="1332764" y="2007996"/>
                  </a:cubicBezTo>
                  <a:cubicBezTo>
                    <a:pt x="1318374" y="2022386"/>
                    <a:pt x="1298857" y="2030470"/>
                    <a:pt x="1278507" y="2030470"/>
                  </a:cubicBezTo>
                  <a:lnTo>
                    <a:pt x="76732" y="2030470"/>
                  </a:lnTo>
                  <a:cubicBezTo>
                    <a:pt x="56381" y="2030470"/>
                    <a:pt x="36864" y="2022386"/>
                    <a:pt x="22474" y="2007996"/>
                  </a:cubicBezTo>
                  <a:cubicBezTo>
                    <a:pt x="8084" y="1993605"/>
                    <a:pt x="0" y="1974088"/>
                    <a:pt x="0" y="1953738"/>
                  </a:cubicBezTo>
                  <a:lnTo>
                    <a:pt x="0" y="76732"/>
                  </a:lnTo>
                  <a:cubicBezTo>
                    <a:pt x="0" y="56381"/>
                    <a:pt x="8084" y="36864"/>
                    <a:pt x="22474" y="22474"/>
                  </a:cubicBezTo>
                  <a:cubicBezTo>
                    <a:pt x="36864" y="8084"/>
                    <a:pt x="56381" y="0"/>
                    <a:pt x="76732" y="0"/>
                  </a:cubicBezTo>
                  <a:close/>
                </a:path>
              </a:pathLst>
            </a:custGeom>
            <a:solidFill>
              <a:srgbClr val="0B2B26"/>
            </a:solidFill>
          </p:spPr>
        </p:sp>
        <p:sp>
          <p:nvSpPr>
            <p:cNvPr name="TextBox 11" id="11"/>
            <p:cNvSpPr txBox="true"/>
            <p:nvPr/>
          </p:nvSpPr>
          <p:spPr>
            <a:xfrm>
              <a:off x="0" y="-47625"/>
              <a:ext cx="1355239" cy="2078095"/>
            </a:xfrm>
            <a:prstGeom prst="rect">
              <a:avLst/>
            </a:prstGeom>
          </p:spPr>
          <p:txBody>
            <a:bodyPr anchor="ctr" rtlCol="false" tIns="50800" lIns="50800" bIns="50800" rIns="50800"/>
            <a:lstStyle/>
            <a:p>
              <a:pPr algn="ctr">
                <a:lnSpc>
                  <a:spcPts val="2340"/>
                </a:lnSpc>
              </a:pPr>
            </a:p>
          </p:txBody>
        </p:sp>
      </p:grpSp>
      <p:grpSp>
        <p:nvGrpSpPr>
          <p:cNvPr name="Group 12" id="12"/>
          <p:cNvGrpSpPr/>
          <p:nvPr/>
        </p:nvGrpSpPr>
        <p:grpSpPr>
          <a:xfrm rot="0">
            <a:off x="10062239" y="1722631"/>
            <a:ext cx="4129522" cy="6001634"/>
            <a:chOff x="0" y="0"/>
            <a:chExt cx="5506029" cy="8002178"/>
          </a:xfrm>
        </p:grpSpPr>
        <p:sp>
          <p:nvSpPr>
            <p:cNvPr name="Freeform 13" id="13"/>
            <p:cNvSpPr/>
            <p:nvPr/>
          </p:nvSpPr>
          <p:spPr>
            <a:xfrm flipH="false" flipV="false" rot="0">
              <a:off x="0" y="0"/>
              <a:ext cx="5506029" cy="8002178"/>
            </a:xfrm>
            <a:custGeom>
              <a:avLst/>
              <a:gdLst/>
              <a:ahLst/>
              <a:cxnLst/>
              <a:rect r="r" b="b" t="t" l="l"/>
              <a:pathLst>
                <a:path h="8002178" w="5506029">
                  <a:moveTo>
                    <a:pt x="0" y="0"/>
                  </a:moveTo>
                  <a:lnTo>
                    <a:pt x="5506029" y="0"/>
                  </a:lnTo>
                  <a:lnTo>
                    <a:pt x="5506029" y="8002178"/>
                  </a:lnTo>
                  <a:lnTo>
                    <a:pt x="0" y="8002178"/>
                  </a:lnTo>
                  <a:close/>
                </a:path>
              </a:pathLst>
            </a:custGeom>
            <a:blipFill>
              <a:blip r:embed="rId3">
                <a:alphaModFix amt="0"/>
              </a:blip>
              <a:stretch>
                <a:fillRect l="0" t="-42757" r="-248752" b="49243"/>
              </a:stretch>
            </a:blipFill>
          </p:spPr>
        </p:sp>
        <p:sp>
          <p:nvSpPr>
            <p:cNvPr name="TextBox 14" id="14"/>
            <p:cNvSpPr txBox="true"/>
            <p:nvPr/>
          </p:nvSpPr>
          <p:spPr>
            <a:xfrm>
              <a:off x="0" y="-47625"/>
              <a:ext cx="5506029" cy="8049803"/>
            </a:xfrm>
            <a:prstGeom prst="rect">
              <a:avLst/>
            </a:prstGeom>
          </p:spPr>
          <p:txBody>
            <a:bodyPr anchor="ctr" rtlCol="false" tIns="0" lIns="0" bIns="0" rIns="0"/>
            <a:lstStyle/>
            <a:p>
              <a:pPr algn="l">
                <a:lnSpc>
                  <a:spcPts val="2340"/>
                </a:lnSpc>
              </a:pPr>
              <a:r>
                <a:rPr lang="en-US" sz="1950" i="true">
                  <a:solidFill>
                    <a:srgbClr val="DAF1DE"/>
                  </a:solidFill>
                  <a:latin typeface="Calibri (MS) Italics"/>
                  <a:ea typeface="Calibri (MS) Italics"/>
                  <a:cs typeface="Calibri (MS) Italics"/>
                  <a:sym typeface="Calibri (MS) Italics"/>
                </a:rPr>
                <a:t>Trabajo Futuro (Transición a Fase 3)</a:t>
              </a:r>
            </a:p>
            <a:p>
              <a:pPr algn="l" marL="421005" indent="-210502" lvl="1">
                <a:lnSpc>
                  <a:spcPts val="2340"/>
                </a:lnSpc>
                <a:buFont typeface="Arial"/>
                <a:buChar char="•"/>
              </a:pPr>
              <a:r>
                <a:rPr lang="en-US" sz="1950" i="true">
                  <a:solidFill>
                    <a:srgbClr val="DAF1DE"/>
                  </a:solidFill>
                  <a:latin typeface="Calibri (MS) Italics"/>
                  <a:ea typeface="Calibri (MS) Italics"/>
                  <a:cs typeface="Calibri (MS) Italics"/>
                  <a:sym typeface="Calibri (MS) Italics"/>
                </a:rPr>
                <a:t>Integración Final de Componentes: Conectar al 100% las vistas del dispositivo móvil con los endpoints de la API, y finalizar la puesta en marcha del Chatbot educativo (RF-04). </a:t>
              </a:r>
            </a:p>
            <a:p>
              <a:pPr algn="l" marL="421005" indent="-210502" lvl="1">
                <a:lnSpc>
                  <a:spcPts val="2340"/>
                </a:lnSpc>
                <a:buFont typeface="Arial"/>
                <a:buChar char="•"/>
              </a:pPr>
              <a:r>
                <a:rPr lang="en-US" sz="1950" i="true">
                  <a:solidFill>
                    <a:srgbClr val="DAF1DE"/>
                  </a:solidFill>
                  <a:latin typeface="Calibri (MS) Italics"/>
                  <a:ea typeface="Calibri (MS) Italics"/>
                  <a:cs typeface="Calibri (MS) Italics"/>
                  <a:sym typeface="Calibri (MS) Italics"/>
                </a:rPr>
                <a:t>Pruebas Funcionales y de Usabilidad: Iniciar la Fase 3 del proyecto, ejecutando validaciones técnicas (QA) para garantizar que la interfaz cumple con la accesibilidad requerida para los adultos mayores (RNF-02). </a:t>
              </a:r>
            </a:p>
            <a:p>
              <a:pPr algn="l" marL="421005" indent="-210502" lvl="1">
                <a:lnSpc>
                  <a:spcPts val="2340"/>
                </a:lnSpc>
                <a:buFont typeface="Arial"/>
                <a:buChar char="•"/>
              </a:pPr>
              <a:r>
                <a:rPr lang="en-US" sz="1950" i="true">
                  <a:solidFill>
                    <a:srgbClr val="DAF1DE"/>
                  </a:solidFill>
                  <a:latin typeface="Calibri (MS) Italics"/>
                  <a:ea typeface="Calibri (MS) Italics"/>
                  <a:cs typeface="Calibri (MS) Italics"/>
                  <a:sym typeface="Calibri (MS) Italics"/>
                </a:rPr>
                <a:t>Cierre y Documentación: Preparar la entrega final del producto (APK) junto con la consolidación del panel de monitoreo (RF-05) y la documentación técnica de cierre. </a:t>
              </a:r>
            </a:p>
            <a:p>
              <a:pPr algn="l">
                <a:lnSpc>
                  <a:spcPts val="2340"/>
                </a:lnSpc>
              </a:pPr>
            </a:p>
          </p:txBody>
        </p:sp>
      </p:grpSp>
      <p:sp>
        <p:nvSpPr>
          <p:cNvPr name="Freeform 15" id="15"/>
          <p:cNvSpPr/>
          <p:nvPr/>
        </p:nvSpPr>
        <p:spPr>
          <a:xfrm flipH="false" flipV="false" rot="0">
            <a:off x="7764558" y="4873874"/>
            <a:ext cx="1681606" cy="1059412"/>
          </a:xfrm>
          <a:custGeom>
            <a:avLst/>
            <a:gdLst/>
            <a:ahLst/>
            <a:cxnLst/>
            <a:rect r="r" b="b" t="t" l="l"/>
            <a:pathLst>
              <a:path h="1059412" w="1681606">
                <a:moveTo>
                  <a:pt x="0" y="0"/>
                </a:moveTo>
                <a:lnTo>
                  <a:pt x="1681606" y="0"/>
                </a:lnTo>
                <a:lnTo>
                  <a:pt x="1681606" y="1059412"/>
                </a:lnTo>
                <a:lnTo>
                  <a:pt x="0" y="10594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087661" y="8033843"/>
            <a:ext cx="1372015" cy="1152493"/>
          </a:xfrm>
          <a:custGeom>
            <a:avLst/>
            <a:gdLst/>
            <a:ahLst/>
            <a:cxnLst/>
            <a:rect r="r" b="b" t="t" l="l"/>
            <a:pathLst>
              <a:path h="1152493" w="1372015">
                <a:moveTo>
                  <a:pt x="0" y="0"/>
                </a:moveTo>
                <a:lnTo>
                  <a:pt x="1372015" y="0"/>
                </a:lnTo>
                <a:lnTo>
                  <a:pt x="1372015" y="1152493"/>
                </a:lnTo>
                <a:lnTo>
                  <a:pt x="0" y="11524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3594838" y="7961879"/>
            <a:ext cx="1193846" cy="1224457"/>
          </a:xfrm>
          <a:custGeom>
            <a:avLst/>
            <a:gdLst/>
            <a:ahLst/>
            <a:cxnLst/>
            <a:rect r="r" b="b" t="t" l="l"/>
            <a:pathLst>
              <a:path h="1224457" w="1193846">
                <a:moveTo>
                  <a:pt x="0" y="0"/>
                </a:moveTo>
                <a:lnTo>
                  <a:pt x="1193846" y="0"/>
                </a:lnTo>
                <a:lnTo>
                  <a:pt x="1193846" y="1224457"/>
                </a:lnTo>
                <a:lnTo>
                  <a:pt x="0" y="12244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771122" y="463576"/>
            <a:ext cx="905649" cy="905649"/>
            <a:chOff x="0" y="0"/>
            <a:chExt cx="1371600" cy="1371600"/>
          </a:xfrm>
        </p:grpSpPr>
        <p:sp>
          <p:nvSpPr>
            <p:cNvPr name="Freeform 19" id="19"/>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sp>
        <p:nvSpPr>
          <p:cNvPr name="Freeform 20" id="20"/>
          <p:cNvSpPr/>
          <p:nvPr/>
        </p:nvSpPr>
        <p:spPr>
          <a:xfrm flipH="false" flipV="false" rot="0">
            <a:off x="788538" y="689988"/>
            <a:ext cx="870816" cy="452824"/>
          </a:xfrm>
          <a:custGeom>
            <a:avLst/>
            <a:gdLst/>
            <a:ahLst/>
            <a:cxnLst/>
            <a:rect r="r" b="b" t="t" l="l"/>
            <a:pathLst>
              <a:path h="452824" w="870816">
                <a:moveTo>
                  <a:pt x="0" y="0"/>
                </a:moveTo>
                <a:lnTo>
                  <a:pt x="870816" y="0"/>
                </a:lnTo>
                <a:lnTo>
                  <a:pt x="870816" y="452824"/>
                </a:lnTo>
                <a:lnTo>
                  <a:pt x="0" y="4528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1" id="21"/>
          <p:cNvSpPr txBox="true"/>
          <p:nvPr/>
        </p:nvSpPr>
        <p:spPr>
          <a:xfrm rot="0">
            <a:off x="1776465" y="512540"/>
            <a:ext cx="10350535" cy="721995"/>
          </a:xfrm>
          <a:prstGeom prst="rect">
            <a:avLst/>
          </a:prstGeom>
        </p:spPr>
        <p:txBody>
          <a:bodyPr anchor="t" rtlCol="false" tIns="0" lIns="0" bIns="0" rIns="0">
            <a:spAutoFit/>
          </a:bodyPr>
          <a:lstStyle/>
          <a:p>
            <a:pPr algn="l">
              <a:lnSpc>
                <a:spcPts val="5880"/>
              </a:lnSpc>
            </a:pPr>
            <a:r>
              <a:rPr lang="en-US" sz="4200" b="true">
                <a:solidFill>
                  <a:srgbClr val="051F20"/>
                </a:solidFill>
                <a:latin typeface="Cambria Bold"/>
                <a:ea typeface="Cambria Bold"/>
                <a:cs typeface="Cambria Bold"/>
                <a:sym typeface="Cambria Bold"/>
              </a:rPr>
              <a:t>Conclusi</a:t>
            </a:r>
            <a:r>
              <a:rPr lang="en-US" sz="4200" b="true">
                <a:solidFill>
                  <a:srgbClr val="051F20"/>
                </a:solidFill>
                <a:latin typeface="Cambria Bold"/>
                <a:ea typeface="Cambria Bold"/>
                <a:cs typeface="Cambria Bold"/>
                <a:sym typeface="Cambria Bold"/>
              </a:rPr>
              <a:t>ones del Avance y Próximos Pasos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DAHXd0Da08Y</dc:identifier>
  <dcterms:modified xsi:type="dcterms:W3CDTF">2011-08-01T06:04:30Z</dcterms:modified>
  <cp:revision>1</cp:revision>
  <dc:title>Presentación Proyecto Fase 2 parte 1</dc:title>
</cp:coreProperties>
</file>