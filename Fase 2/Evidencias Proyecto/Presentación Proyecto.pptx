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Lst>
  <p:sldSz cx="18288000" cy="10287000"/>
  <p:notesSz cx="6858000" cy="9144000"/>
  <p:embeddedFontLst>
    <p:embeddedFont>
      <p:font typeface="Calibri (MS) Bold" charset="1" panose="020F0702030404030204"/>
      <p:regular r:id="rId15"/>
    </p:embeddedFont>
    <p:embeddedFont>
      <p:font typeface="Cambria Bold" charset="1" panose="02040803050406030204"/>
      <p:regular r:id="rId16"/>
    </p:embeddedFont>
    <p:embeddedFont>
      <p:font typeface="Calibri (MS)" charset="1" panose="020F0502020204030204"/>
      <p:regular r:id="rId17"/>
    </p:embeddedFont>
    <p:embeddedFont>
      <p:font typeface="Calibri (MS) Italics" charset="1" panose="020F05020202040A0204"/>
      <p:regular r:id="rId18"/>
    </p:embeddedFont>
    <p:embeddedFont>
      <p:font typeface="Calibri (MS) Bold Italics" charset="1" panose="020F07020304040A0204"/>
      <p:regular r:id="rId19"/>
    </p:embeddedFont>
    <p:embeddedFont>
      <p:font typeface="Cambria" charset="1" panose="02040503050406030204"/>
      <p:regular r:id="rId20"/>
    </p:embeddedFont>
    <p:embeddedFont>
      <p:font typeface="Open Sans" charset="1" panose="020B0606030504020204"/>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fonts/font15.fntdata" Type="http://schemas.openxmlformats.org/officeDocument/2006/relationships/font"/><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jpeg" Type="http://schemas.openxmlformats.org/officeDocument/2006/relationships/image"/><Relationship Id="rId5" Target="../media/image4.pn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 Id="rId8" Target="../media/image7.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 Id="rId3" Target="../media/image8.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6.png" Type="http://schemas.openxmlformats.org/officeDocument/2006/relationships/image"/><Relationship Id="rId11" Target="../media/image17.svg" Type="http://schemas.openxmlformats.org/officeDocument/2006/relationships/image"/><Relationship Id="rId2" Target="../media/image9.jpeg" Type="http://schemas.openxmlformats.org/officeDocument/2006/relationships/image"/><Relationship Id="rId3" Target="../media/image3.jpeg" Type="http://schemas.openxmlformats.org/officeDocument/2006/relationships/image"/><Relationship Id="rId4" Target="../media/image10.png" Type="http://schemas.openxmlformats.org/officeDocument/2006/relationships/image"/><Relationship Id="rId5" Target="../media/image11.png" Type="http://schemas.openxmlformats.org/officeDocument/2006/relationships/image"/><Relationship Id="rId6" Target="../media/image12.png" Type="http://schemas.openxmlformats.org/officeDocument/2006/relationships/image"/><Relationship Id="rId7" Target="../media/image13.png" Type="http://schemas.openxmlformats.org/officeDocument/2006/relationships/image"/><Relationship Id="rId8" Target="../media/image14.png" Type="http://schemas.openxmlformats.org/officeDocument/2006/relationships/image"/><Relationship Id="rId9" Target="../media/image15.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19.png" Type="http://schemas.openxmlformats.org/officeDocument/2006/relationships/image"/><Relationship Id="rId4" Target="../media/image20.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jpeg" Type="http://schemas.openxmlformats.org/officeDocument/2006/relationships/image"/><Relationship Id="rId3" Target="../media/image21.png" Type="http://schemas.openxmlformats.org/officeDocument/2006/relationships/image"/><Relationship Id="rId4" Target="../media/image22.svg" Type="http://schemas.openxmlformats.org/officeDocument/2006/relationships/image"/><Relationship Id="rId5" Target="../media/image23.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0.jpeg" Type="http://schemas.openxmlformats.org/officeDocument/2006/relationships/image"/><Relationship Id="rId2" Target="../media/image9.jpeg" Type="http://schemas.openxmlformats.org/officeDocument/2006/relationships/image"/><Relationship Id="rId3" Target="../media/image24.png" Type="http://schemas.openxmlformats.org/officeDocument/2006/relationships/image"/><Relationship Id="rId4" Target="../media/image3.jpeg" Type="http://schemas.openxmlformats.org/officeDocument/2006/relationships/image"/><Relationship Id="rId5" Target="../media/image25.png" Type="http://schemas.openxmlformats.org/officeDocument/2006/relationships/image"/><Relationship Id="rId6" Target="../media/image26.jpeg" Type="http://schemas.openxmlformats.org/officeDocument/2006/relationships/image"/><Relationship Id="rId7" Target="../media/image27.jpeg" Type="http://schemas.openxmlformats.org/officeDocument/2006/relationships/image"/><Relationship Id="rId8" Target="../media/image28.jpeg" Type="http://schemas.openxmlformats.org/officeDocument/2006/relationships/image"/><Relationship Id="rId9" Target="../media/image29.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jpeg" Type="http://schemas.openxmlformats.org/officeDocument/2006/relationships/image"/><Relationship Id="rId3" Target="../media/image31.png" Type="http://schemas.openxmlformats.org/officeDocument/2006/relationships/image"/><Relationship Id="rId4" Target="../media/image3.jpeg" Type="http://schemas.openxmlformats.org/officeDocument/2006/relationships/image"/><Relationship Id="rId5" Target="../media/image32.png" Type="http://schemas.openxmlformats.org/officeDocument/2006/relationships/image"/><Relationship Id="rId6" Target="../media/image33.png" Type="http://schemas.openxmlformats.org/officeDocument/2006/relationships/image"/><Relationship Id="rId7" Target="../media/image34.png" Type="http://schemas.openxmlformats.org/officeDocument/2006/relationships/image"/><Relationship Id="rId8" Target="../media/image35.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jpeg" Type="http://schemas.openxmlformats.org/officeDocument/2006/relationships/image"/><Relationship Id="rId3" Target="../media/image31.png" Type="http://schemas.openxmlformats.org/officeDocument/2006/relationships/image"/><Relationship Id="rId4" Target="../media/image3.jpeg" Type="http://schemas.openxmlformats.org/officeDocument/2006/relationships/image"/><Relationship Id="rId5" Target="../media/image36.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43.png" Type="http://schemas.openxmlformats.org/officeDocument/2006/relationships/image"/><Relationship Id="rId11" Target="../media/image44.svg" Type="http://schemas.openxmlformats.org/officeDocument/2006/relationships/image"/><Relationship Id="rId2" Target="../media/image9.jpeg" Type="http://schemas.openxmlformats.org/officeDocument/2006/relationships/image"/><Relationship Id="rId3" Target="../media/image3.jpeg" Type="http://schemas.openxmlformats.org/officeDocument/2006/relationships/image"/><Relationship Id="rId4" Target="../media/image37.png" Type="http://schemas.openxmlformats.org/officeDocument/2006/relationships/image"/><Relationship Id="rId5" Target="../media/image38.svg" Type="http://schemas.openxmlformats.org/officeDocument/2006/relationships/image"/><Relationship Id="rId6" Target="../media/image39.png" Type="http://schemas.openxmlformats.org/officeDocument/2006/relationships/image"/><Relationship Id="rId7" Target="../media/image40.svg" Type="http://schemas.openxmlformats.org/officeDocument/2006/relationships/image"/><Relationship Id="rId8" Target="../media/image41.png" Type="http://schemas.openxmlformats.org/officeDocument/2006/relationships/image"/><Relationship Id="rId9" Target="../media/image42.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51F20"/>
        </a:solidFill>
      </p:bgPr>
    </p:bg>
    <p:spTree>
      <p:nvGrpSpPr>
        <p:cNvPr id="1" name=""/>
        <p:cNvGrpSpPr/>
        <p:nvPr/>
      </p:nvGrpSpPr>
      <p:grpSpPr>
        <a:xfrm>
          <a:off x="0" y="0"/>
          <a:ext cx="0" cy="0"/>
          <a:chOff x="0" y="0"/>
          <a:chExt cx="0" cy="0"/>
        </a:xfrm>
      </p:grpSpPr>
      <p:sp>
        <p:nvSpPr>
          <p:cNvPr name="Freeform 2" id="2"/>
          <p:cNvSpPr/>
          <p:nvPr/>
        </p:nvSpPr>
        <p:spPr>
          <a:xfrm flipH="false" flipV="false" rot="0">
            <a:off x="11480292" y="-24844"/>
            <a:ext cx="17854191" cy="10336688"/>
          </a:xfrm>
          <a:custGeom>
            <a:avLst/>
            <a:gdLst/>
            <a:ahLst/>
            <a:cxnLst/>
            <a:rect r="r" b="b" t="t" l="l"/>
            <a:pathLst>
              <a:path h="10336688" w="17854191">
                <a:moveTo>
                  <a:pt x="0" y="0"/>
                </a:moveTo>
                <a:lnTo>
                  <a:pt x="17854191" y="0"/>
                </a:lnTo>
                <a:lnTo>
                  <a:pt x="17854191" y="10336688"/>
                </a:lnTo>
                <a:lnTo>
                  <a:pt x="0" y="10336688"/>
                </a:lnTo>
                <a:lnTo>
                  <a:pt x="0" y="0"/>
                </a:lnTo>
                <a:close/>
              </a:path>
            </a:pathLst>
          </a:custGeom>
          <a:blipFill>
            <a:blip r:embed="rId2">
              <a:alphaModFix amt="59000"/>
            </a:blip>
            <a:stretch>
              <a:fillRect l="-4046" t="-320" r="0" b="-320"/>
            </a:stretch>
          </a:blipFill>
        </p:spPr>
      </p:sp>
      <p:grpSp>
        <p:nvGrpSpPr>
          <p:cNvPr name="Group 3" id="3"/>
          <p:cNvGrpSpPr/>
          <p:nvPr/>
        </p:nvGrpSpPr>
        <p:grpSpPr>
          <a:xfrm rot="0">
            <a:off x="13167360" y="822960"/>
            <a:ext cx="68580" cy="68580"/>
            <a:chOff x="0" y="0"/>
            <a:chExt cx="91440" cy="91440"/>
          </a:xfrm>
        </p:grpSpPr>
        <p:sp>
          <p:nvSpPr>
            <p:cNvPr name="Freeform 4" id="4"/>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5" id="5"/>
          <p:cNvGrpSpPr/>
          <p:nvPr/>
        </p:nvGrpSpPr>
        <p:grpSpPr>
          <a:xfrm rot="0">
            <a:off x="13167360" y="1261872"/>
            <a:ext cx="68580" cy="68580"/>
            <a:chOff x="0" y="0"/>
            <a:chExt cx="91440" cy="91440"/>
          </a:xfrm>
        </p:grpSpPr>
        <p:sp>
          <p:nvSpPr>
            <p:cNvPr name="Freeform 6" id="6"/>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7" id="7"/>
          <p:cNvGrpSpPr/>
          <p:nvPr/>
        </p:nvGrpSpPr>
        <p:grpSpPr>
          <a:xfrm rot="0">
            <a:off x="13167360" y="1700784"/>
            <a:ext cx="68580" cy="68580"/>
            <a:chOff x="0" y="0"/>
            <a:chExt cx="91440" cy="91440"/>
          </a:xfrm>
        </p:grpSpPr>
        <p:sp>
          <p:nvSpPr>
            <p:cNvPr name="Freeform 8" id="8"/>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9" id="9"/>
          <p:cNvGrpSpPr/>
          <p:nvPr/>
        </p:nvGrpSpPr>
        <p:grpSpPr>
          <a:xfrm rot="0">
            <a:off x="13167360" y="2139696"/>
            <a:ext cx="68580" cy="68580"/>
            <a:chOff x="0" y="0"/>
            <a:chExt cx="91440" cy="91440"/>
          </a:xfrm>
        </p:grpSpPr>
        <p:sp>
          <p:nvSpPr>
            <p:cNvPr name="Freeform 10" id="10"/>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11" id="11"/>
          <p:cNvGrpSpPr/>
          <p:nvPr/>
        </p:nvGrpSpPr>
        <p:grpSpPr>
          <a:xfrm rot="0">
            <a:off x="13606272" y="822960"/>
            <a:ext cx="68580" cy="68580"/>
            <a:chOff x="0" y="0"/>
            <a:chExt cx="91440" cy="91440"/>
          </a:xfrm>
        </p:grpSpPr>
        <p:sp>
          <p:nvSpPr>
            <p:cNvPr name="Freeform 12" id="12"/>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13" id="13"/>
          <p:cNvGrpSpPr/>
          <p:nvPr/>
        </p:nvGrpSpPr>
        <p:grpSpPr>
          <a:xfrm rot="0">
            <a:off x="13606272" y="1261872"/>
            <a:ext cx="68580" cy="68580"/>
            <a:chOff x="0" y="0"/>
            <a:chExt cx="91440" cy="91440"/>
          </a:xfrm>
        </p:grpSpPr>
        <p:sp>
          <p:nvSpPr>
            <p:cNvPr name="Freeform 14" id="14"/>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15" id="15"/>
          <p:cNvGrpSpPr/>
          <p:nvPr/>
        </p:nvGrpSpPr>
        <p:grpSpPr>
          <a:xfrm rot="0">
            <a:off x="13606272" y="1700784"/>
            <a:ext cx="68580" cy="68580"/>
            <a:chOff x="0" y="0"/>
            <a:chExt cx="91440" cy="91440"/>
          </a:xfrm>
        </p:grpSpPr>
        <p:sp>
          <p:nvSpPr>
            <p:cNvPr name="Freeform 16" id="16"/>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17" id="17"/>
          <p:cNvGrpSpPr/>
          <p:nvPr/>
        </p:nvGrpSpPr>
        <p:grpSpPr>
          <a:xfrm rot="0">
            <a:off x="13606272" y="2139696"/>
            <a:ext cx="68580" cy="68580"/>
            <a:chOff x="0" y="0"/>
            <a:chExt cx="91440" cy="91440"/>
          </a:xfrm>
        </p:grpSpPr>
        <p:sp>
          <p:nvSpPr>
            <p:cNvPr name="Freeform 18" id="18"/>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19" id="19"/>
          <p:cNvGrpSpPr/>
          <p:nvPr/>
        </p:nvGrpSpPr>
        <p:grpSpPr>
          <a:xfrm rot="0">
            <a:off x="14045184" y="822960"/>
            <a:ext cx="68580" cy="68580"/>
            <a:chOff x="0" y="0"/>
            <a:chExt cx="91440" cy="91440"/>
          </a:xfrm>
        </p:grpSpPr>
        <p:sp>
          <p:nvSpPr>
            <p:cNvPr name="Freeform 20" id="20"/>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21" id="21"/>
          <p:cNvGrpSpPr/>
          <p:nvPr/>
        </p:nvGrpSpPr>
        <p:grpSpPr>
          <a:xfrm rot="0">
            <a:off x="14045184" y="1261872"/>
            <a:ext cx="68580" cy="68580"/>
            <a:chOff x="0" y="0"/>
            <a:chExt cx="91440" cy="91440"/>
          </a:xfrm>
        </p:grpSpPr>
        <p:sp>
          <p:nvSpPr>
            <p:cNvPr name="Freeform 22" id="22"/>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23" id="23"/>
          <p:cNvGrpSpPr/>
          <p:nvPr/>
        </p:nvGrpSpPr>
        <p:grpSpPr>
          <a:xfrm rot="0">
            <a:off x="14045184" y="1700784"/>
            <a:ext cx="68580" cy="68580"/>
            <a:chOff x="0" y="0"/>
            <a:chExt cx="91440" cy="91440"/>
          </a:xfrm>
        </p:grpSpPr>
        <p:sp>
          <p:nvSpPr>
            <p:cNvPr name="Freeform 24" id="24"/>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25" id="25"/>
          <p:cNvGrpSpPr/>
          <p:nvPr/>
        </p:nvGrpSpPr>
        <p:grpSpPr>
          <a:xfrm rot="0">
            <a:off x="14045184" y="2139696"/>
            <a:ext cx="68580" cy="68580"/>
            <a:chOff x="0" y="0"/>
            <a:chExt cx="91440" cy="91440"/>
          </a:xfrm>
        </p:grpSpPr>
        <p:sp>
          <p:nvSpPr>
            <p:cNvPr name="Freeform 26" id="26"/>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27" id="27"/>
          <p:cNvGrpSpPr/>
          <p:nvPr/>
        </p:nvGrpSpPr>
        <p:grpSpPr>
          <a:xfrm rot="0">
            <a:off x="14484096" y="822960"/>
            <a:ext cx="68580" cy="68580"/>
            <a:chOff x="0" y="0"/>
            <a:chExt cx="91440" cy="91440"/>
          </a:xfrm>
        </p:grpSpPr>
        <p:sp>
          <p:nvSpPr>
            <p:cNvPr name="Freeform 28" id="28"/>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29" id="29"/>
          <p:cNvGrpSpPr/>
          <p:nvPr/>
        </p:nvGrpSpPr>
        <p:grpSpPr>
          <a:xfrm rot="0">
            <a:off x="14484096" y="1261872"/>
            <a:ext cx="68580" cy="68580"/>
            <a:chOff x="0" y="0"/>
            <a:chExt cx="91440" cy="91440"/>
          </a:xfrm>
        </p:grpSpPr>
        <p:sp>
          <p:nvSpPr>
            <p:cNvPr name="Freeform 30" id="30"/>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31" id="31"/>
          <p:cNvGrpSpPr/>
          <p:nvPr/>
        </p:nvGrpSpPr>
        <p:grpSpPr>
          <a:xfrm rot="0">
            <a:off x="14484096" y="1700784"/>
            <a:ext cx="68580" cy="68580"/>
            <a:chOff x="0" y="0"/>
            <a:chExt cx="91440" cy="91440"/>
          </a:xfrm>
        </p:grpSpPr>
        <p:sp>
          <p:nvSpPr>
            <p:cNvPr name="Freeform 32" id="32"/>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33" id="33"/>
          <p:cNvGrpSpPr/>
          <p:nvPr/>
        </p:nvGrpSpPr>
        <p:grpSpPr>
          <a:xfrm rot="0">
            <a:off x="14484096" y="2139696"/>
            <a:ext cx="68580" cy="68580"/>
            <a:chOff x="0" y="0"/>
            <a:chExt cx="91440" cy="91440"/>
          </a:xfrm>
        </p:grpSpPr>
        <p:sp>
          <p:nvSpPr>
            <p:cNvPr name="Freeform 34" id="34"/>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35" id="35"/>
          <p:cNvGrpSpPr/>
          <p:nvPr/>
        </p:nvGrpSpPr>
        <p:grpSpPr>
          <a:xfrm rot="0">
            <a:off x="14923008" y="822960"/>
            <a:ext cx="68580" cy="68580"/>
            <a:chOff x="0" y="0"/>
            <a:chExt cx="91440" cy="91440"/>
          </a:xfrm>
        </p:grpSpPr>
        <p:sp>
          <p:nvSpPr>
            <p:cNvPr name="Freeform 36" id="36"/>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37" id="37"/>
          <p:cNvGrpSpPr/>
          <p:nvPr/>
        </p:nvGrpSpPr>
        <p:grpSpPr>
          <a:xfrm rot="0">
            <a:off x="14923008" y="1261872"/>
            <a:ext cx="68580" cy="68580"/>
            <a:chOff x="0" y="0"/>
            <a:chExt cx="91440" cy="91440"/>
          </a:xfrm>
        </p:grpSpPr>
        <p:sp>
          <p:nvSpPr>
            <p:cNvPr name="Freeform 38" id="38"/>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39" id="39"/>
          <p:cNvGrpSpPr/>
          <p:nvPr/>
        </p:nvGrpSpPr>
        <p:grpSpPr>
          <a:xfrm rot="0">
            <a:off x="14923008" y="1700784"/>
            <a:ext cx="68580" cy="68580"/>
            <a:chOff x="0" y="0"/>
            <a:chExt cx="91440" cy="91440"/>
          </a:xfrm>
        </p:grpSpPr>
        <p:sp>
          <p:nvSpPr>
            <p:cNvPr name="Freeform 40" id="40"/>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41" id="41"/>
          <p:cNvGrpSpPr/>
          <p:nvPr/>
        </p:nvGrpSpPr>
        <p:grpSpPr>
          <a:xfrm rot="0">
            <a:off x="14923008" y="2139696"/>
            <a:ext cx="68580" cy="68580"/>
            <a:chOff x="0" y="0"/>
            <a:chExt cx="91440" cy="91440"/>
          </a:xfrm>
        </p:grpSpPr>
        <p:sp>
          <p:nvSpPr>
            <p:cNvPr name="Freeform 42" id="42"/>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43" id="43"/>
          <p:cNvGrpSpPr/>
          <p:nvPr/>
        </p:nvGrpSpPr>
        <p:grpSpPr>
          <a:xfrm rot="0">
            <a:off x="15361920" y="822960"/>
            <a:ext cx="68580" cy="68580"/>
            <a:chOff x="0" y="0"/>
            <a:chExt cx="91440" cy="91440"/>
          </a:xfrm>
        </p:grpSpPr>
        <p:sp>
          <p:nvSpPr>
            <p:cNvPr name="Freeform 44" id="44"/>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45" id="45"/>
          <p:cNvGrpSpPr/>
          <p:nvPr/>
        </p:nvGrpSpPr>
        <p:grpSpPr>
          <a:xfrm rot="0">
            <a:off x="15361920" y="1261872"/>
            <a:ext cx="68580" cy="68580"/>
            <a:chOff x="0" y="0"/>
            <a:chExt cx="91440" cy="91440"/>
          </a:xfrm>
        </p:grpSpPr>
        <p:sp>
          <p:nvSpPr>
            <p:cNvPr name="Freeform 46" id="46"/>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47" id="47"/>
          <p:cNvGrpSpPr/>
          <p:nvPr/>
        </p:nvGrpSpPr>
        <p:grpSpPr>
          <a:xfrm rot="0">
            <a:off x="15361920" y="1700784"/>
            <a:ext cx="68580" cy="68580"/>
            <a:chOff x="0" y="0"/>
            <a:chExt cx="91440" cy="91440"/>
          </a:xfrm>
        </p:grpSpPr>
        <p:sp>
          <p:nvSpPr>
            <p:cNvPr name="Freeform 48" id="48"/>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grpSp>
        <p:nvGrpSpPr>
          <p:cNvPr name="Group 49" id="49"/>
          <p:cNvGrpSpPr/>
          <p:nvPr/>
        </p:nvGrpSpPr>
        <p:grpSpPr>
          <a:xfrm rot="0">
            <a:off x="15361920" y="2139696"/>
            <a:ext cx="68580" cy="68580"/>
            <a:chOff x="0" y="0"/>
            <a:chExt cx="91440" cy="91440"/>
          </a:xfrm>
        </p:grpSpPr>
        <p:sp>
          <p:nvSpPr>
            <p:cNvPr name="Freeform 50" id="50"/>
            <p:cNvSpPr/>
            <p:nvPr/>
          </p:nvSpPr>
          <p:spPr>
            <a:xfrm flipH="false" flipV="false" rot="0">
              <a:off x="0" y="0"/>
              <a:ext cx="91440" cy="91440"/>
            </a:xfrm>
            <a:custGeom>
              <a:avLst/>
              <a:gdLst/>
              <a:ahLst/>
              <a:cxnLst/>
              <a:rect r="r" b="b" t="t" l="l"/>
              <a:pathLst>
                <a:path h="91440" w="91440">
                  <a:moveTo>
                    <a:pt x="0" y="45720"/>
                  </a:moveTo>
                  <a:cubicBezTo>
                    <a:pt x="0" y="20447"/>
                    <a:pt x="20447" y="0"/>
                    <a:pt x="45720" y="0"/>
                  </a:cubicBezTo>
                  <a:cubicBezTo>
                    <a:pt x="70993" y="0"/>
                    <a:pt x="91440" y="20447"/>
                    <a:pt x="91440" y="45720"/>
                  </a:cubicBezTo>
                  <a:cubicBezTo>
                    <a:pt x="91440" y="70993"/>
                    <a:pt x="70993" y="91440"/>
                    <a:pt x="45720" y="91440"/>
                  </a:cubicBezTo>
                  <a:cubicBezTo>
                    <a:pt x="20447" y="91440"/>
                    <a:pt x="0" y="70993"/>
                    <a:pt x="0" y="45720"/>
                  </a:cubicBezTo>
                  <a:close/>
                </a:path>
              </a:pathLst>
            </a:custGeom>
            <a:solidFill>
              <a:srgbClr val="235347"/>
            </a:solidFill>
          </p:spPr>
        </p:sp>
      </p:grpSp>
      <p:sp>
        <p:nvSpPr>
          <p:cNvPr name="Freeform 51" id="51"/>
          <p:cNvSpPr/>
          <p:nvPr/>
        </p:nvSpPr>
        <p:spPr>
          <a:xfrm flipH="true" flipV="false" rot="0">
            <a:off x="-12560491" y="0"/>
            <a:ext cx="18458371" cy="10336688"/>
          </a:xfrm>
          <a:custGeom>
            <a:avLst/>
            <a:gdLst/>
            <a:ahLst/>
            <a:cxnLst/>
            <a:rect r="r" b="b" t="t" l="l"/>
            <a:pathLst>
              <a:path h="10336688" w="18458371">
                <a:moveTo>
                  <a:pt x="18458371" y="0"/>
                </a:moveTo>
                <a:lnTo>
                  <a:pt x="0" y="0"/>
                </a:lnTo>
                <a:lnTo>
                  <a:pt x="0" y="10336688"/>
                </a:lnTo>
                <a:lnTo>
                  <a:pt x="18458371" y="10336688"/>
                </a:lnTo>
                <a:lnTo>
                  <a:pt x="18458371" y="0"/>
                </a:lnTo>
                <a:close/>
              </a:path>
            </a:pathLst>
          </a:custGeom>
          <a:blipFill>
            <a:blip r:embed="rId2">
              <a:alphaModFix amt="40000"/>
            </a:blip>
            <a:stretch>
              <a:fillRect l="0" t="0" r="0" b="0"/>
            </a:stretch>
          </a:blipFill>
        </p:spPr>
      </p:sp>
      <p:grpSp>
        <p:nvGrpSpPr>
          <p:cNvPr name="Group 52" id="52"/>
          <p:cNvGrpSpPr/>
          <p:nvPr/>
        </p:nvGrpSpPr>
        <p:grpSpPr>
          <a:xfrm rot="0">
            <a:off x="1234440" y="1234440"/>
            <a:ext cx="1577340" cy="1577340"/>
            <a:chOff x="0" y="0"/>
            <a:chExt cx="2103120" cy="2103120"/>
          </a:xfrm>
        </p:grpSpPr>
        <p:sp>
          <p:nvSpPr>
            <p:cNvPr name="Freeform 53" id="53"/>
            <p:cNvSpPr/>
            <p:nvPr/>
          </p:nvSpPr>
          <p:spPr>
            <a:xfrm flipH="false" flipV="false" rot="0">
              <a:off x="0" y="0"/>
              <a:ext cx="2103120" cy="2103120"/>
            </a:xfrm>
            <a:custGeom>
              <a:avLst/>
              <a:gdLst/>
              <a:ahLst/>
              <a:cxnLst/>
              <a:rect r="r" b="b" t="t" l="l"/>
              <a:pathLst>
                <a:path h="2103120" w="2103120">
                  <a:moveTo>
                    <a:pt x="0" y="1051560"/>
                  </a:moveTo>
                  <a:cubicBezTo>
                    <a:pt x="0" y="470789"/>
                    <a:pt x="470789" y="0"/>
                    <a:pt x="1051560" y="0"/>
                  </a:cubicBezTo>
                  <a:cubicBezTo>
                    <a:pt x="1632331" y="0"/>
                    <a:pt x="2103120" y="470789"/>
                    <a:pt x="2103120" y="1051560"/>
                  </a:cubicBezTo>
                  <a:cubicBezTo>
                    <a:pt x="2103120" y="1632331"/>
                    <a:pt x="1632331" y="2103120"/>
                    <a:pt x="1051560" y="2103120"/>
                  </a:cubicBezTo>
                  <a:cubicBezTo>
                    <a:pt x="470789" y="2103120"/>
                    <a:pt x="0" y="1632331"/>
                    <a:pt x="0" y="1051560"/>
                  </a:cubicBezTo>
                  <a:close/>
                </a:path>
              </a:pathLst>
            </a:custGeom>
            <a:solidFill>
              <a:srgbClr val="8EB69B"/>
            </a:solidFill>
          </p:spPr>
        </p:sp>
      </p:grpSp>
      <p:grpSp>
        <p:nvGrpSpPr>
          <p:cNvPr name="Group 54" id="54"/>
          <p:cNvGrpSpPr/>
          <p:nvPr/>
        </p:nvGrpSpPr>
        <p:grpSpPr>
          <a:xfrm rot="0">
            <a:off x="1613002" y="1613002"/>
            <a:ext cx="820217" cy="820217"/>
            <a:chOff x="0" y="0"/>
            <a:chExt cx="1093622" cy="1093622"/>
          </a:xfrm>
        </p:grpSpPr>
        <p:sp>
          <p:nvSpPr>
            <p:cNvPr name="Freeform 55" id="55" descr="/home/claude/sms-security/icons/shield_dark1.png"/>
            <p:cNvSpPr/>
            <p:nvPr/>
          </p:nvSpPr>
          <p:spPr>
            <a:xfrm flipH="false" flipV="false" rot="0">
              <a:off x="0" y="0"/>
              <a:ext cx="1093597" cy="1093597"/>
            </a:xfrm>
            <a:custGeom>
              <a:avLst/>
              <a:gdLst/>
              <a:ahLst/>
              <a:cxnLst/>
              <a:rect r="r" b="b" t="t" l="l"/>
              <a:pathLst>
                <a:path h="1093597" w="1093597">
                  <a:moveTo>
                    <a:pt x="0" y="0"/>
                  </a:moveTo>
                  <a:lnTo>
                    <a:pt x="1093597" y="0"/>
                  </a:lnTo>
                  <a:lnTo>
                    <a:pt x="1093597" y="1093597"/>
                  </a:lnTo>
                  <a:lnTo>
                    <a:pt x="0" y="1093597"/>
                  </a:lnTo>
                  <a:lnTo>
                    <a:pt x="0" y="0"/>
                  </a:lnTo>
                  <a:close/>
                </a:path>
              </a:pathLst>
            </a:custGeom>
            <a:blipFill>
              <a:blip r:embed="rId3"/>
              <a:stretch>
                <a:fillRect l="0" t="0" r="-2" b="-2"/>
              </a:stretch>
            </a:blipFill>
          </p:spPr>
        </p:sp>
      </p:grpSp>
      <p:grpSp>
        <p:nvGrpSpPr>
          <p:cNvPr name="Group 56" id="56"/>
          <p:cNvGrpSpPr/>
          <p:nvPr/>
        </p:nvGrpSpPr>
        <p:grpSpPr>
          <a:xfrm rot="0">
            <a:off x="1234440" y="3223260"/>
            <a:ext cx="10972800" cy="548640"/>
            <a:chOff x="0" y="0"/>
            <a:chExt cx="14630400" cy="731520"/>
          </a:xfrm>
        </p:grpSpPr>
        <p:sp>
          <p:nvSpPr>
            <p:cNvPr name="Freeform 57" id="57"/>
            <p:cNvSpPr/>
            <p:nvPr/>
          </p:nvSpPr>
          <p:spPr>
            <a:xfrm flipH="false" flipV="false" rot="0">
              <a:off x="0" y="0"/>
              <a:ext cx="14630400" cy="731520"/>
            </a:xfrm>
            <a:custGeom>
              <a:avLst/>
              <a:gdLst/>
              <a:ahLst/>
              <a:cxnLst/>
              <a:rect r="r" b="b" t="t" l="l"/>
              <a:pathLst>
                <a:path h="731520" w="14630400">
                  <a:moveTo>
                    <a:pt x="0" y="0"/>
                  </a:moveTo>
                  <a:lnTo>
                    <a:pt x="14630400" y="0"/>
                  </a:lnTo>
                  <a:lnTo>
                    <a:pt x="14630400" y="731520"/>
                  </a:lnTo>
                  <a:lnTo>
                    <a:pt x="0" y="731520"/>
                  </a:lnTo>
                  <a:close/>
                </a:path>
              </a:pathLst>
            </a:custGeom>
            <a:blipFill>
              <a:blip r:embed="rId4">
                <a:alphaModFix amt="0"/>
              </a:blip>
              <a:stretch>
                <a:fillRect l="0" t="-339700" r="0" b="-339700"/>
              </a:stretch>
            </a:blipFill>
          </p:spPr>
        </p:sp>
        <p:sp>
          <p:nvSpPr>
            <p:cNvPr name="TextBox 58" id="58"/>
            <p:cNvSpPr txBox="true"/>
            <p:nvPr/>
          </p:nvSpPr>
          <p:spPr>
            <a:xfrm>
              <a:off x="0" y="-47625"/>
              <a:ext cx="14630400" cy="779145"/>
            </a:xfrm>
            <a:prstGeom prst="rect">
              <a:avLst/>
            </a:prstGeom>
          </p:spPr>
          <p:txBody>
            <a:bodyPr anchor="ctr" rtlCol="false" tIns="0" lIns="0" bIns="0" rIns="0"/>
            <a:lstStyle/>
            <a:p>
              <a:pPr algn="l">
                <a:lnSpc>
                  <a:spcPts val="2340"/>
                </a:lnSpc>
              </a:pPr>
              <a:r>
                <a:rPr lang="en-US" b="true" sz="1950" spc="449">
                  <a:solidFill>
                    <a:srgbClr val="8EB69B"/>
                  </a:solidFill>
                  <a:latin typeface="Calibri (MS) Bold"/>
                  <a:ea typeface="Calibri (MS) Bold"/>
                  <a:cs typeface="Calibri (MS) Bold"/>
                  <a:sym typeface="Calibri (MS) Bold"/>
                </a:rPr>
                <a:t>CAPSTONE · SECCIÓN 005D</a:t>
              </a:r>
            </a:p>
          </p:txBody>
        </p:sp>
      </p:grpSp>
      <p:grpSp>
        <p:nvGrpSpPr>
          <p:cNvPr name="Group 59" id="59"/>
          <p:cNvGrpSpPr/>
          <p:nvPr/>
        </p:nvGrpSpPr>
        <p:grpSpPr>
          <a:xfrm rot="0">
            <a:off x="1165860" y="3771900"/>
            <a:ext cx="14401800" cy="1783080"/>
            <a:chOff x="0" y="0"/>
            <a:chExt cx="19202400" cy="2377440"/>
          </a:xfrm>
        </p:grpSpPr>
        <p:sp>
          <p:nvSpPr>
            <p:cNvPr name="Freeform 60" id="60"/>
            <p:cNvSpPr/>
            <p:nvPr/>
          </p:nvSpPr>
          <p:spPr>
            <a:xfrm flipH="false" flipV="false" rot="0">
              <a:off x="0" y="0"/>
              <a:ext cx="19202400" cy="2377440"/>
            </a:xfrm>
            <a:custGeom>
              <a:avLst/>
              <a:gdLst/>
              <a:ahLst/>
              <a:cxnLst/>
              <a:rect r="r" b="b" t="t" l="l"/>
              <a:pathLst>
                <a:path h="2377440" w="19202400">
                  <a:moveTo>
                    <a:pt x="0" y="0"/>
                  </a:moveTo>
                  <a:lnTo>
                    <a:pt x="19202400" y="0"/>
                  </a:lnTo>
                  <a:lnTo>
                    <a:pt x="19202400" y="2377440"/>
                  </a:lnTo>
                  <a:lnTo>
                    <a:pt x="0" y="2377440"/>
                  </a:lnTo>
                  <a:close/>
                </a:path>
              </a:pathLst>
            </a:custGeom>
            <a:blipFill>
              <a:blip r:embed="rId4">
                <a:alphaModFix amt="0"/>
              </a:blip>
              <a:stretch>
                <a:fillRect l="0" t="-107379" r="0" b="-107379"/>
              </a:stretch>
            </a:blipFill>
          </p:spPr>
        </p:sp>
        <p:sp>
          <p:nvSpPr>
            <p:cNvPr name="TextBox 61" id="61"/>
            <p:cNvSpPr txBox="true"/>
            <p:nvPr/>
          </p:nvSpPr>
          <p:spPr>
            <a:xfrm>
              <a:off x="0" y="-19050"/>
              <a:ext cx="19202400" cy="2396490"/>
            </a:xfrm>
            <a:prstGeom prst="rect">
              <a:avLst/>
            </a:prstGeom>
          </p:spPr>
          <p:txBody>
            <a:bodyPr anchor="ctr" rtlCol="false" tIns="0" lIns="0" bIns="0" rIns="0"/>
            <a:lstStyle/>
            <a:p>
              <a:pPr algn="l">
                <a:lnSpc>
                  <a:spcPts val="10800"/>
                </a:lnSpc>
              </a:pPr>
              <a:r>
                <a:rPr lang="en-US" sz="9000" b="true">
                  <a:solidFill>
                    <a:srgbClr val="DAF1DE"/>
                  </a:solidFill>
                  <a:latin typeface="Cambria Bold"/>
                  <a:ea typeface="Cambria Bold"/>
                  <a:cs typeface="Cambria Bold"/>
                  <a:sym typeface="Cambria Bold"/>
                </a:rPr>
                <a:t>SMS Security</a:t>
              </a:r>
            </a:p>
          </p:txBody>
        </p:sp>
      </p:grpSp>
      <p:grpSp>
        <p:nvGrpSpPr>
          <p:cNvPr name="Group 62" id="62"/>
          <p:cNvGrpSpPr/>
          <p:nvPr/>
        </p:nvGrpSpPr>
        <p:grpSpPr>
          <a:xfrm rot="0">
            <a:off x="1234440" y="5486400"/>
            <a:ext cx="11486134" cy="1097280"/>
            <a:chOff x="0" y="0"/>
            <a:chExt cx="15314845" cy="1463040"/>
          </a:xfrm>
        </p:grpSpPr>
        <p:sp>
          <p:nvSpPr>
            <p:cNvPr name="Freeform 63" id="63"/>
            <p:cNvSpPr/>
            <p:nvPr/>
          </p:nvSpPr>
          <p:spPr>
            <a:xfrm flipH="false" flipV="false" rot="0">
              <a:off x="0" y="0"/>
              <a:ext cx="15314845" cy="1463040"/>
            </a:xfrm>
            <a:custGeom>
              <a:avLst/>
              <a:gdLst/>
              <a:ahLst/>
              <a:cxnLst/>
              <a:rect r="r" b="b" t="t" l="l"/>
              <a:pathLst>
                <a:path h="1463040" w="15314845">
                  <a:moveTo>
                    <a:pt x="0" y="0"/>
                  </a:moveTo>
                  <a:lnTo>
                    <a:pt x="15314845" y="0"/>
                  </a:lnTo>
                  <a:lnTo>
                    <a:pt x="15314845" y="1463040"/>
                  </a:lnTo>
                  <a:lnTo>
                    <a:pt x="0" y="1463040"/>
                  </a:lnTo>
                  <a:close/>
                </a:path>
              </a:pathLst>
            </a:custGeom>
            <a:blipFill>
              <a:blip r:embed="rId4">
                <a:alphaModFix amt="0"/>
              </a:blip>
              <a:stretch>
                <a:fillRect l="0" t="-159464" r="-2695" b="-159464"/>
              </a:stretch>
            </a:blipFill>
          </p:spPr>
        </p:sp>
        <p:sp>
          <p:nvSpPr>
            <p:cNvPr name="TextBox 64" id="64"/>
            <p:cNvSpPr txBox="true"/>
            <p:nvPr/>
          </p:nvSpPr>
          <p:spPr>
            <a:xfrm>
              <a:off x="0" y="-38100"/>
              <a:ext cx="15314845" cy="1501140"/>
            </a:xfrm>
            <a:prstGeom prst="rect">
              <a:avLst/>
            </a:prstGeom>
          </p:spPr>
          <p:txBody>
            <a:bodyPr anchor="ctr" rtlCol="false" tIns="0" lIns="0" bIns="0" rIns="0"/>
            <a:lstStyle/>
            <a:p>
              <a:pPr algn="l">
                <a:lnSpc>
                  <a:spcPts val="2879"/>
                </a:lnSpc>
              </a:pPr>
              <a:r>
                <a:rPr lang="en-US" sz="2400">
                  <a:solidFill>
                    <a:srgbClr val="8EB69B"/>
                  </a:solidFill>
                  <a:latin typeface="Calibri (MS)"/>
                  <a:ea typeface="Calibri (MS)"/>
                  <a:cs typeface="Calibri (MS)"/>
                  <a:sym typeface="Calibri (MS)"/>
                </a:rPr>
                <a:t>Detección inteligente de fraude por SMS (smishing) para proteger a la población, con foco en personas de la tercera edad</a:t>
              </a:r>
            </a:p>
          </p:txBody>
        </p:sp>
      </p:grpSp>
      <p:grpSp>
        <p:nvGrpSpPr>
          <p:cNvPr name="Group 65" id="65"/>
          <p:cNvGrpSpPr/>
          <p:nvPr/>
        </p:nvGrpSpPr>
        <p:grpSpPr>
          <a:xfrm rot="0">
            <a:off x="1234440" y="7063740"/>
            <a:ext cx="685800" cy="685800"/>
            <a:chOff x="0" y="0"/>
            <a:chExt cx="914400" cy="914400"/>
          </a:xfrm>
        </p:grpSpPr>
        <p:sp>
          <p:nvSpPr>
            <p:cNvPr name="Freeform 66" id="66"/>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DAF1DE"/>
            </a:solidFill>
          </p:spPr>
        </p:sp>
      </p:grpSp>
      <p:grpSp>
        <p:nvGrpSpPr>
          <p:cNvPr name="Group 67" id="67"/>
          <p:cNvGrpSpPr/>
          <p:nvPr/>
        </p:nvGrpSpPr>
        <p:grpSpPr>
          <a:xfrm rot="0">
            <a:off x="1399032" y="7228332"/>
            <a:ext cx="356616" cy="356616"/>
            <a:chOff x="0" y="0"/>
            <a:chExt cx="475488" cy="475488"/>
          </a:xfrm>
        </p:grpSpPr>
        <p:sp>
          <p:nvSpPr>
            <p:cNvPr name="Freeform 68" id="68" descr="/home/claude/sms-security/icons/mobile_dark1.png"/>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5"/>
              <a:stretch>
                <a:fillRect l="0" t="0" r="0" b="0"/>
              </a:stretch>
            </a:blipFill>
          </p:spPr>
        </p:sp>
      </p:grpSp>
      <p:grpSp>
        <p:nvGrpSpPr>
          <p:cNvPr name="Group 69" id="69"/>
          <p:cNvGrpSpPr/>
          <p:nvPr/>
        </p:nvGrpSpPr>
        <p:grpSpPr>
          <a:xfrm rot="0">
            <a:off x="2084832" y="7063740"/>
            <a:ext cx="2880360" cy="685800"/>
            <a:chOff x="0" y="0"/>
            <a:chExt cx="3840480" cy="914400"/>
          </a:xfrm>
        </p:grpSpPr>
        <p:sp>
          <p:nvSpPr>
            <p:cNvPr name="Freeform 70" id="70"/>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837" r="0" b="-31837"/>
              </a:stretch>
            </a:blipFill>
          </p:spPr>
        </p:sp>
        <p:sp>
          <p:nvSpPr>
            <p:cNvPr name="TextBox 71" id="71"/>
            <p:cNvSpPr txBox="true"/>
            <p:nvPr/>
          </p:nvSpPr>
          <p:spPr>
            <a:xfrm>
              <a:off x="0" y="-38100"/>
              <a:ext cx="3840480" cy="952500"/>
            </a:xfrm>
            <a:prstGeom prst="rect">
              <a:avLst/>
            </a:prstGeom>
          </p:spPr>
          <p:txBody>
            <a:bodyPr anchor="ctr" rtlCol="false" tIns="0" lIns="0" bIns="0" rIns="0"/>
            <a:lstStyle/>
            <a:p>
              <a:pPr algn="l">
                <a:lnSpc>
                  <a:spcPts val="2160"/>
                </a:lnSpc>
              </a:pPr>
              <a:r>
                <a:rPr lang="en-US" sz="1800" b="true">
                  <a:solidFill>
                    <a:srgbClr val="DAF1DE"/>
                  </a:solidFill>
                  <a:latin typeface="Calibri (MS) Bold"/>
                  <a:ea typeface="Calibri (MS) Bold"/>
                  <a:cs typeface="Calibri (MS) Bold"/>
                  <a:sym typeface="Calibri (MS) Bold"/>
                </a:rPr>
                <a:t>App móvil Android</a:t>
              </a:r>
            </a:p>
          </p:txBody>
        </p:sp>
      </p:grpSp>
      <p:grpSp>
        <p:nvGrpSpPr>
          <p:cNvPr name="Group 72" id="72"/>
          <p:cNvGrpSpPr/>
          <p:nvPr/>
        </p:nvGrpSpPr>
        <p:grpSpPr>
          <a:xfrm rot="0">
            <a:off x="5212080" y="7063740"/>
            <a:ext cx="685800" cy="685800"/>
            <a:chOff x="0" y="0"/>
            <a:chExt cx="914400" cy="914400"/>
          </a:xfrm>
        </p:grpSpPr>
        <p:sp>
          <p:nvSpPr>
            <p:cNvPr name="Freeform 73" id="7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DAF1DE"/>
            </a:solidFill>
          </p:spPr>
        </p:sp>
      </p:grpSp>
      <p:grpSp>
        <p:nvGrpSpPr>
          <p:cNvPr name="Group 74" id="74"/>
          <p:cNvGrpSpPr/>
          <p:nvPr/>
        </p:nvGrpSpPr>
        <p:grpSpPr>
          <a:xfrm rot="0">
            <a:off x="5376672" y="7228332"/>
            <a:ext cx="356616" cy="356616"/>
            <a:chOff x="0" y="0"/>
            <a:chExt cx="475488" cy="475488"/>
          </a:xfrm>
        </p:grpSpPr>
        <p:sp>
          <p:nvSpPr>
            <p:cNvPr name="Freeform 75" id="75" descr="/home/claude/sms-security/icons/robot_dark1.png"/>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6"/>
              <a:stretch>
                <a:fillRect l="0" t="0" r="0" b="0"/>
              </a:stretch>
            </a:blipFill>
          </p:spPr>
        </p:sp>
      </p:grpSp>
      <p:grpSp>
        <p:nvGrpSpPr>
          <p:cNvPr name="Group 76" id="76"/>
          <p:cNvGrpSpPr/>
          <p:nvPr/>
        </p:nvGrpSpPr>
        <p:grpSpPr>
          <a:xfrm rot="0">
            <a:off x="6062472" y="7063740"/>
            <a:ext cx="2880360" cy="685800"/>
            <a:chOff x="0" y="0"/>
            <a:chExt cx="3840480" cy="914400"/>
          </a:xfrm>
        </p:grpSpPr>
        <p:sp>
          <p:nvSpPr>
            <p:cNvPr name="Freeform 77" id="77"/>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837" r="0" b="-31837"/>
              </a:stretch>
            </a:blipFill>
          </p:spPr>
        </p:sp>
        <p:sp>
          <p:nvSpPr>
            <p:cNvPr name="TextBox 78" id="78"/>
            <p:cNvSpPr txBox="true"/>
            <p:nvPr/>
          </p:nvSpPr>
          <p:spPr>
            <a:xfrm>
              <a:off x="0" y="-38100"/>
              <a:ext cx="3840480" cy="952500"/>
            </a:xfrm>
            <a:prstGeom prst="rect">
              <a:avLst/>
            </a:prstGeom>
          </p:spPr>
          <p:txBody>
            <a:bodyPr anchor="ctr" rtlCol="false" tIns="0" lIns="0" bIns="0" rIns="0"/>
            <a:lstStyle/>
            <a:p>
              <a:pPr algn="l">
                <a:lnSpc>
                  <a:spcPts val="2160"/>
                </a:lnSpc>
              </a:pPr>
              <a:r>
                <a:rPr lang="en-US" sz="1800" b="true">
                  <a:solidFill>
                    <a:srgbClr val="DAF1DE"/>
                  </a:solidFill>
                  <a:latin typeface="Calibri (MS) Bold"/>
                  <a:ea typeface="Calibri (MS) Bold"/>
                  <a:cs typeface="Calibri (MS) Bold"/>
                  <a:sym typeface="Calibri (MS) Bold"/>
                </a:rPr>
                <a:t>IA aplicada</a:t>
              </a:r>
            </a:p>
          </p:txBody>
        </p:sp>
      </p:grpSp>
      <p:grpSp>
        <p:nvGrpSpPr>
          <p:cNvPr name="Group 79" id="79"/>
          <p:cNvGrpSpPr/>
          <p:nvPr/>
        </p:nvGrpSpPr>
        <p:grpSpPr>
          <a:xfrm rot="0">
            <a:off x="9189720" y="7063740"/>
            <a:ext cx="685800" cy="685800"/>
            <a:chOff x="0" y="0"/>
            <a:chExt cx="914400" cy="914400"/>
          </a:xfrm>
        </p:grpSpPr>
        <p:sp>
          <p:nvSpPr>
            <p:cNvPr name="Freeform 80" id="80"/>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DAF1DE"/>
            </a:solidFill>
          </p:spPr>
        </p:sp>
      </p:grpSp>
      <p:grpSp>
        <p:nvGrpSpPr>
          <p:cNvPr name="Group 81" id="81"/>
          <p:cNvGrpSpPr/>
          <p:nvPr/>
        </p:nvGrpSpPr>
        <p:grpSpPr>
          <a:xfrm rot="0">
            <a:off x="9354312" y="7228332"/>
            <a:ext cx="356616" cy="356616"/>
            <a:chOff x="0" y="0"/>
            <a:chExt cx="475488" cy="475488"/>
          </a:xfrm>
        </p:grpSpPr>
        <p:sp>
          <p:nvSpPr>
            <p:cNvPr name="Freeform 82" id="82" descr="/home/claude/sms-security/icons/lock_dark1.png"/>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7"/>
              <a:stretch>
                <a:fillRect l="0" t="0" r="0" b="0"/>
              </a:stretch>
            </a:blipFill>
          </p:spPr>
        </p:sp>
      </p:grpSp>
      <p:grpSp>
        <p:nvGrpSpPr>
          <p:cNvPr name="Group 83" id="83"/>
          <p:cNvGrpSpPr/>
          <p:nvPr/>
        </p:nvGrpSpPr>
        <p:grpSpPr>
          <a:xfrm rot="0">
            <a:off x="10040112" y="7063740"/>
            <a:ext cx="2880360" cy="685800"/>
            <a:chOff x="0" y="0"/>
            <a:chExt cx="3840480" cy="914400"/>
          </a:xfrm>
        </p:grpSpPr>
        <p:sp>
          <p:nvSpPr>
            <p:cNvPr name="Freeform 84" id="84"/>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837" r="0" b="-31837"/>
              </a:stretch>
            </a:blipFill>
          </p:spPr>
        </p:sp>
        <p:sp>
          <p:nvSpPr>
            <p:cNvPr name="TextBox 85" id="85"/>
            <p:cNvSpPr txBox="true"/>
            <p:nvPr/>
          </p:nvSpPr>
          <p:spPr>
            <a:xfrm>
              <a:off x="0" y="-38100"/>
              <a:ext cx="3840480" cy="952500"/>
            </a:xfrm>
            <a:prstGeom prst="rect">
              <a:avLst/>
            </a:prstGeom>
          </p:spPr>
          <p:txBody>
            <a:bodyPr anchor="ctr" rtlCol="false" tIns="0" lIns="0" bIns="0" rIns="0"/>
            <a:lstStyle/>
            <a:p>
              <a:pPr algn="l">
                <a:lnSpc>
                  <a:spcPts val="2160"/>
                </a:lnSpc>
              </a:pPr>
              <a:r>
                <a:rPr lang="en-US" sz="1800" b="true">
                  <a:solidFill>
                    <a:srgbClr val="DAF1DE"/>
                  </a:solidFill>
                  <a:latin typeface="Calibri (MS) Bold"/>
                  <a:ea typeface="Calibri (MS) Bold"/>
                  <a:cs typeface="Calibri (MS) Bold"/>
                  <a:sym typeface="Calibri (MS) Bold"/>
                </a:rPr>
                <a:t>Ciberseguridad</a:t>
              </a:r>
            </a:p>
          </p:txBody>
        </p:sp>
      </p:grpSp>
      <p:grpSp>
        <p:nvGrpSpPr>
          <p:cNvPr name="Group 86" id="86"/>
          <p:cNvGrpSpPr/>
          <p:nvPr/>
        </p:nvGrpSpPr>
        <p:grpSpPr>
          <a:xfrm rot="0">
            <a:off x="1234440" y="8503920"/>
            <a:ext cx="15773400" cy="1165860"/>
            <a:chOff x="0" y="0"/>
            <a:chExt cx="21031200" cy="1554480"/>
          </a:xfrm>
        </p:grpSpPr>
        <p:sp>
          <p:nvSpPr>
            <p:cNvPr name="Freeform 87" id="87"/>
            <p:cNvSpPr/>
            <p:nvPr/>
          </p:nvSpPr>
          <p:spPr>
            <a:xfrm flipH="false" flipV="false" rot="0">
              <a:off x="0" y="0"/>
              <a:ext cx="21031200" cy="1554480"/>
            </a:xfrm>
            <a:custGeom>
              <a:avLst/>
              <a:gdLst/>
              <a:ahLst/>
              <a:cxnLst/>
              <a:rect r="r" b="b" t="t" l="l"/>
              <a:pathLst>
                <a:path h="1554480" w="21031200">
                  <a:moveTo>
                    <a:pt x="0" y="182880"/>
                  </a:moveTo>
                  <a:cubicBezTo>
                    <a:pt x="0" y="81915"/>
                    <a:pt x="81915" y="0"/>
                    <a:pt x="182880" y="0"/>
                  </a:cubicBezTo>
                  <a:lnTo>
                    <a:pt x="20848320" y="0"/>
                  </a:lnTo>
                  <a:cubicBezTo>
                    <a:pt x="20949284" y="0"/>
                    <a:pt x="21031200" y="81915"/>
                    <a:pt x="21031200" y="182880"/>
                  </a:cubicBezTo>
                  <a:lnTo>
                    <a:pt x="21031200" y="1371600"/>
                  </a:lnTo>
                  <a:cubicBezTo>
                    <a:pt x="21031200" y="1472565"/>
                    <a:pt x="20949284" y="1554480"/>
                    <a:pt x="20848320" y="1554480"/>
                  </a:cubicBezTo>
                  <a:lnTo>
                    <a:pt x="182880" y="1554480"/>
                  </a:lnTo>
                  <a:cubicBezTo>
                    <a:pt x="81915" y="1554480"/>
                    <a:pt x="0" y="1472565"/>
                    <a:pt x="0" y="1371600"/>
                  </a:cubicBezTo>
                  <a:close/>
                </a:path>
              </a:pathLst>
            </a:custGeom>
            <a:solidFill>
              <a:srgbClr val="0B2B26"/>
            </a:solidFill>
          </p:spPr>
        </p:sp>
      </p:grpSp>
      <p:grpSp>
        <p:nvGrpSpPr>
          <p:cNvPr name="Group 88" id="88"/>
          <p:cNvGrpSpPr/>
          <p:nvPr/>
        </p:nvGrpSpPr>
        <p:grpSpPr>
          <a:xfrm rot="0">
            <a:off x="1577340" y="8613648"/>
            <a:ext cx="855878" cy="960120"/>
            <a:chOff x="0" y="0"/>
            <a:chExt cx="1141171" cy="1280160"/>
          </a:xfrm>
        </p:grpSpPr>
        <p:sp>
          <p:nvSpPr>
            <p:cNvPr name="Freeform 89" id="89"/>
            <p:cNvSpPr/>
            <p:nvPr/>
          </p:nvSpPr>
          <p:spPr>
            <a:xfrm flipH="false" flipV="false" rot="0">
              <a:off x="0" y="0"/>
              <a:ext cx="1141171" cy="1280160"/>
            </a:xfrm>
            <a:custGeom>
              <a:avLst/>
              <a:gdLst/>
              <a:ahLst/>
              <a:cxnLst/>
              <a:rect r="r" b="b" t="t" l="l"/>
              <a:pathLst>
                <a:path h="1280160" w="1141171">
                  <a:moveTo>
                    <a:pt x="0" y="0"/>
                  </a:moveTo>
                  <a:lnTo>
                    <a:pt x="1141171" y="0"/>
                  </a:lnTo>
                  <a:lnTo>
                    <a:pt x="1141171" y="1280160"/>
                  </a:lnTo>
                  <a:lnTo>
                    <a:pt x="0" y="1280160"/>
                  </a:lnTo>
                  <a:close/>
                </a:path>
              </a:pathLst>
            </a:custGeom>
            <a:blipFill>
              <a:blip r:embed="rId4">
                <a:alphaModFix amt="0"/>
              </a:blip>
              <a:stretch>
                <a:fillRect l="-15725" t="0" r="-172135" b="0"/>
              </a:stretch>
            </a:blipFill>
          </p:spPr>
        </p:sp>
        <p:sp>
          <p:nvSpPr>
            <p:cNvPr name="TextBox 90" id="90"/>
            <p:cNvSpPr txBox="true"/>
            <p:nvPr/>
          </p:nvSpPr>
          <p:spPr>
            <a:xfrm>
              <a:off x="0" y="-28575"/>
              <a:ext cx="1141171" cy="1308735"/>
            </a:xfrm>
            <a:prstGeom prst="rect">
              <a:avLst/>
            </a:prstGeom>
          </p:spPr>
          <p:txBody>
            <a:bodyPr anchor="ctr" rtlCol="false" tIns="0" lIns="0" bIns="0" rIns="0"/>
            <a:lstStyle/>
            <a:p>
              <a:pPr algn="l">
                <a:lnSpc>
                  <a:spcPts val="1980"/>
                </a:lnSpc>
              </a:pPr>
              <a:r>
                <a:rPr lang="en-US" sz="1650" b="true">
                  <a:solidFill>
                    <a:srgbClr val="8EB69B"/>
                  </a:solidFill>
                  <a:latin typeface="Calibri (MS) Bold"/>
                  <a:ea typeface="Calibri (MS) Bold"/>
                  <a:cs typeface="Calibri (MS) Bold"/>
                  <a:sym typeface="Calibri (MS) Bold"/>
                </a:rPr>
                <a:t>Equipo</a:t>
              </a:r>
            </a:p>
          </p:txBody>
        </p:sp>
      </p:grpSp>
      <p:grpSp>
        <p:nvGrpSpPr>
          <p:cNvPr name="Group 91" id="91"/>
          <p:cNvGrpSpPr/>
          <p:nvPr/>
        </p:nvGrpSpPr>
        <p:grpSpPr>
          <a:xfrm rot="0">
            <a:off x="2564892" y="8613648"/>
            <a:ext cx="5109505" cy="960120"/>
            <a:chOff x="0" y="0"/>
            <a:chExt cx="6812674" cy="1280160"/>
          </a:xfrm>
        </p:grpSpPr>
        <p:sp>
          <p:nvSpPr>
            <p:cNvPr name="Freeform 92" id="92"/>
            <p:cNvSpPr/>
            <p:nvPr/>
          </p:nvSpPr>
          <p:spPr>
            <a:xfrm flipH="false" flipV="false" rot="0">
              <a:off x="0" y="0"/>
              <a:ext cx="6812674" cy="1280160"/>
            </a:xfrm>
            <a:custGeom>
              <a:avLst/>
              <a:gdLst/>
              <a:ahLst/>
              <a:cxnLst/>
              <a:rect r="r" b="b" t="t" l="l"/>
              <a:pathLst>
                <a:path h="1280160" w="6812674">
                  <a:moveTo>
                    <a:pt x="0" y="0"/>
                  </a:moveTo>
                  <a:lnTo>
                    <a:pt x="6812674" y="0"/>
                  </a:lnTo>
                  <a:lnTo>
                    <a:pt x="6812674" y="1280160"/>
                  </a:lnTo>
                  <a:lnTo>
                    <a:pt x="0" y="1280160"/>
                  </a:lnTo>
                  <a:close/>
                </a:path>
              </a:pathLst>
            </a:custGeom>
            <a:blipFill>
              <a:blip r:embed="rId4">
                <a:alphaModFix amt="0"/>
              </a:blip>
              <a:stretch>
                <a:fillRect l="0" t="-130932" r="-74486" b="-130932"/>
              </a:stretch>
            </a:blipFill>
          </p:spPr>
        </p:sp>
        <p:sp>
          <p:nvSpPr>
            <p:cNvPr name="TextBox 93" id="93"/>
            <p:cNvSpPr txBox="true"/>
            <p:nvPr/>
          </p:nvSpPr>
          <p:spPr>
            <a:xfrm>
              <a:off x="0" y="-47625"/>
              <a:ext cx="6812674" cy="1327785"/>
            </a:xfrm>
            <a:prstGeom prst="rect">
              <a:avLst/>
            </a:prstGeom>
          </p:spPr>
          <p:txBody>
            <a:bodyPr anchor="ctr" rtlCol="false" tIns="0" lIns="0" bIns="0" rIns="0"/>
            <a:lstStyle/>
            <a:p>
              <a:pPr algn="l">
                <a:lnSpc>
                  <a:spcPts val="2340"/>
                </a:lnSpc>
              </a:pPr>
              <a:r>
                <a:rPr lang="en-US" sz="1950">
                  <a:solidFill>
                    <a:srgbClr val="DAF1DE"/>
                  </a:solidFill>
                  <a:latin typeface="Calibri (MS)"/>
                  <a:ea typeface="Calibri (MS)"/>
                  <a:cs typeface="Calibri (MS)"/>
                  <a:sym typeface="Calibri (MS)"/>
                </a:rPr>
                <a:t>Bryan Acuña</a:t>
              </a:r>
              <a:r>
                <a:rPr lang="en-US" sz="1950">
                  <a:solidFill>
                    <a:srgbClr val="DAF1DE"/>
                  </a:solidFill>
                  <a:latin typeface="Calibri (MS)"/>
                  <a:ea typeface="Calibri (MS)"/>
                  <a:cs typeface="Calibri (MS)"/>
                  <a:sym typeface="Calibri (MS)"/>
                </a:rPr>
                <a:t>   ·   Manuel Rivas   ·   Marcel Tusach</a:t>
              </a:r>
            </a:p>
          </p:txBody>
        </p:sp>
      </p:grpSp>
      <p:grpSp>
        <p:nvGrpSpPr>
          <p:cNvPr name="Group 94" id="94"/>
          <p:cNvGrpSpPr/>
          <p:nvPr/>
        </p:nvGrpSpPr>
        <p:grpSpPr>
          <a:xfrm rot="0">
            <a:off x="12618720" y="8613648"/>
            <a:ext cx="4114800" cy="960120"/>
            <a:chOff x="0" y="0"/>
            <a:chExt cx="5486400" cy="1280160"/>
          </a:xfrm>
        </p:grpSpPr>
        <p:sp>
          <p:nvSpPr>
            <p:cNvPr name="Freeform 95" id="95"/>
            <p:cNvSpPr/>
            <p:nvPr/>
          </p:nvSpPr>
          <p:spPr>
            <a:xfrm flipH="false" flipV="false" rot="0">
              <a:off x="0" y="0"/>
              <a:ext cx="5486400" cy="1280160"/>
            </a:xfrm>
            <a:custGeom>
              <a:avLst/>
              <a:gdLst/>
              <a:ahLst/>
              <a:cxnLst/>
              <a:rect r="r" b="b" t="t" l="l"/>
              <a:pathLst>
                <a:path h="1280160" w="5486400">
                  <a:moveTo>
                    <a:pt x="0" y="0"/>
                  </a:moveTo>
                  <a:lnTo>
                    <a:pt x="5486400" y="0"/>
                  </a:lnTo>
                  <a:lnTo>
                    <a:pt x="5486400" y="1280160"/>
                  </a:lnTo>
                  <a:lnTo>
                    <a:pt x="0" y="1280160"/>
                  </a:lnTo>
                  <a:close/>
                </a:path>
              </a:pathLst>
            </a:custGeom>
            <a:blipFill>
              <a:blip r:embed="rId4">
                <a:alphaModFix amt="0"/>
              </a:blip>
              <a:stretch>
                <a:fillRect l="0" t="-33507" r="0" b="-33507"/>
              </a:stretch>
            </a:blipFill>
          </p:spPr>
        </p:sp>
        <p:sp>
          <p:nvSpPr>
            <p:cNvPr name="TextBox 96" id="96"/>
            <p:cNvSpPr txBox="true"/>
            <p:nvPr/>
          </p:nvSpPr>
          <p:spPr>
            <a:xfrm>
              <a:off x="0" y="-38100"/>
              <a:ext cx="5486400" cy="1318260"/>
            </a:xfrm>
            <a:prstGeom prst="rect">
              <a:avLst/>
            </a:prstGeom>
          </p:spPr>
          <p:txBody>
            <a:bodyPr anchor="ctr" rtlCol="false" tIns="0" lIns="0" bIns="0" rIns="0"/>
            <a:lstStyle/>
            <a:p>
              <a:pPr algn="r">
                <a:lnSpc>
                  <a:spcPts val="2160"/>
                </a:lnSpc>
              </a:pPr>
              <a:r>
                <a:rPr lang="en-US" sz="1800">
                  <a:solidFill>
                    <a:srgbClr val="8EB69B"/>
                  </a:solidFill>
                  <a:latin typeface="Calibri (MS)"/>
                  <a:ea typeface="Calibri (MS)"/>
                  <a:cs typeface="Calibri (MS)"/>
                  <a:sym typeface="Calibri (MS)"/>
                </a:rPr>
                <a:t>Ingeniería en Informática · San Joaquin</a:t>
              </a:r>
            </a:p>
          </p:txBody>
        </p:sp>
      </p:grpSp>
      <p:grpSp>
        <p:nvGrpSpPr>
          <p:cNvPr name="Group 97" id="97"/>
          <p:cNvGrpSpPr/>
          <p:nvPr/>
        </p:nvGrpSpPr>
        <p:grpSpPr>
          <a:xfrm rot="0">
            <a:off x="8086954" y="8606790"/>
            <a:ext cx="855878" cy="960120"/>
            <a:chOff x="0" y="0"/>
            <a:chExt cx="1141171" cy="1280160"/>
          </a:xfrm>
        </p:grpSpPr>
        <p:sp>
          <p:nvSpPr>
            <p:cNvPr name="Freeform 98" id="98"/>
            <p:cNvSpPr/>
            <p:nvPr/>
          </p:nvSpPr>
          <p:spPr>
            <a:xfrm flipH="false" flipV="false" rot="0">
              <a:off x="0" y="0"/>
              <a:ext cx="1141171" cy="1280160"/>
            </a:xfrm>
            <a:custGeom>
              <a:avLst/>
              <a:gdLst/>
              <a:ahLst/>
              <a:cxnLst/>
              <a:rect r="r" b="b" t="t" l="l"/>
              <a:pathLst>
                <a:path h="1280160" w="1141171">
                  <a:moveTo>
                    <a:pt x="0" y="0"/>
                  </a:moveTo>
                  <a:lnTo>
                    <a:pt x="1141171" y="0"/>
                  </a:lnTo>
                  <a:lnTo>
                    <a:pt x="1141171" y="1280160"/>
                  </a:lnTo>
                  <a:lnTo>
                    <a:pt x="0" y="1280160"/>
                  </a:lnTo>
                  <a:close/>
                </a:path>
              </a:pathLst>
            </a:custGeom>
            <a:blipFill>
              <a:blip r:embed="rId4">
                <a:alphaModFix amt="0"/>
              </a:blip>
              <a:stretch>
                <a:fillRect l="-15725" t="0" r="-172135" b="0"/>
              </a:stretch>
            </a:blipFill>
          </p:spPr>
        </p:sp>
        <p:sp>
          <p:nvSpPr>
            <p:cNvPr name="TextBox 99" id="99"/>
            <p:cNvSpPr txBox="true"/>
            <p:nvPr/>
          </p:nvSpPr>
          <p:spPr>
            <a:xfrm>
              <a:off x="0" y="-28575"/>
              <a:ext cx="1141171" cy="1308735"/>
            </a:xfrm>
            <a:prstGeom prst="rect">
              <a:avLst/>
            </a:prstGeom>
          </p:spPr>
          <p:txBody>
            <a:bodyPr anchor="ctr" rtlCol="false" tIns="0" lIns="0" bIns="0" rIns="0"/>
            <a:lstStyle/>
            <a:p>
              <a:pPr algn="l">
                <a:lnSpc>
                  <a:spcPts val="1980"/>
                </a:lnSpc>
              </a:pPr>
              <a:r>
                <a:rPr lang="en-US" sz="1650" b="true">
                  <a:solidFill>
                    <a:srgbClr val="8EB69B"/>
                  </a:solidFill>
                  <a:latin typeface="Calibri (MS) Bold"/>
                  <a:ea typeface="Calibri (MS) Bold"/>
                  <a:cs typeface="Calibri (MS) Bold"/>
                  <a:sym typeface="Calibri (MS) Bold"/>
                </a:rPr>
                <a:t>Docente</a:t>
              </a:r>
            </a:p>
          </p:txBody>
        </p:sp>
      </p:grpSp>
      <p:grpSp>
        <p:nvGrpSpPr>
          <p:cNvPr name="Group 100" id="100"/>
          <p:cNvGrpSpPr/>
          <p:nvPr/>
        </p:nvGrpSpPr>
        <p:grpSpPr>
          <a:xfrm rot="0">
            <a:off x="9076182" y="8613648"/>
            <a:ext cx="1772879" cy="960120"/>
            <a:chOff x="0" y="0"/>
            <a:chExt cx="2363838" cy="1280160"/>
          </a:xfrm>
        </p:grpSpPr>
        <p:sp>
          <p:nvSpPr>
            <p:cNvPr name="Freeform 101" id="101"/>
            <p:cNvSpPr/>
            <p:nvPr/>
          </p:nvSpPr>
          <p:spPr>
            <a:xfrm flipH="false" flipV="false" rot="0">
              <a:off x="0" y="0"/>
              <a:ext cx="2363838" cy="1280160"/>
            </a:xfrm>
            <a:custGeom>
              <a:avLst/>
              <a:gdLst/>
              <a:ahLst/>
              <a:cxnLst/>
              <a:rect r="r" b="b" t="t" l="l"/>
              <a:pathLst>
                <a:path h="1280160" w="2363838">
                  <a:moveTo>
                    <a:pt x="0" y="0"/>
                  </a:moveTo>
                  <a:lnTo>
                    <a:pt x="2363838" y="0"/>
                  </a:lnTo>
                  <a:lnTo>
                    <a:pt x="2363838" y="1280160"/>
                  </a:lnTo>
                  <a:lnTo>
                    <a:pt x="0" y="1280160"/>
                  </a:lnTo>
                  <a:close/>
                </a:path>
              </a:pathLst>
            </a:custGeom>
            <a:blipFill>
              <a:blip r:embed="rId4">
                <a:alphaModFix amt="0"/>
              </a:blip>
              <a:stretch>
                <a:fillRect l="0" t="-130932" r="-402877" b="-130932"/>
              </a:stretch>
            </a:blipFill>
          </p:spPr>
        </p:sp>
        <p:sp>
          <p:nvSpPr>
            <p:cNvPr name="TextBox 102" id="102"/>
            <p:cNvSpPr txBox="true"/>
            <p:nvPr/>
          </p:nvSpPr>
          <p:spPr>
            <a:xfrm>
              <a:off x="0" y="-47625"/>
              <a:ext cx="2363838" cy="1327785"/>
            </a:xfrm>
            <a:prstGeom prst="rect">
              <a:avLst/>
            </a:prstGeom>
          </p:spPr>
          <p:txBody>
            <a:bodyPr anchor="ctr" rtlCol="false" tIns="0" lIns="0" bIns="0" rIns="0"/>
            <a:lstStyle/>
            <a:p>
              <a:pPr algn="l">
                <a:lnSpc>
                  <a:spcPts val="2340"/>
                </a:lnSpc>
              </a:pPr>
              <a:r>
                <a:rPr lang="en-US" sz="1950">
                  <a:solidFill>
                    <a:srgbClr val="DAF1DE"/>
                  </a:solidFill>
                  <a:latin typeface="Calibri (MS)"/>
                  <a:ea typeface="Calibri (MS)"/>
                  <a:cs typeface="Calibri (MS)"/>
                  <a:sym typeface="Calibri (MS)"/>
                </a:rPr>
                <a:t>Karla Roco</a:t>
              </a:r>
              <a:r>
                <a:rPr lang="en-US" sz="1950">
                  <a:solidFill>
                    <a:srgbClr val="DAF1DE"/>
                  </a:solidFill>
                  <a:latin typeface="Calibri (MS)"/>
                  <a:ea typeface="Calibri (MS)"/>
                  <a:cs typeface="Calibri (MS)"/>
                  <a:sym typeface="Calibri (MS)"/>
                </a:rPr>
                <a:t>  Ramirez </a:t>
              </a:r>
            </a:p>
          </p:txBody>
        </p:sp>
      </p:grpSp>
      <p:sp>
        <p:nvSpPr>
          <p:cNvPr name="Freeform 103" id="103"/>
          <p:cNvSpPr/>
          <p:nvPr/>
        </p:nvSpPr>
        <p:spPr>
          <a:xfrm flipH="false" flipV="false" rot="0">
            <a:off x="13275416" y="539014"/>
            <a:ext cx="3983884" cy="979371"/>
          </a:xfrm>
          <a:custGeom>
            <a:avLst/>
            <a:gdLst/>
            <a:ahLst/>
            <a:cxnLst/>
            <a:rect r="r" b="b" t="t" l="l"/>
            <a:pathLst>
              <a:path h="979371" w="3983884">
                <a:moveTo>
                  <a:pt x="0" y="0"/>
                </a:moveTo>
                <a:lnTo>
                  <a:pt x="3983884" y="0"/>
                </a:lnTo>
                <a:lnTo>
                  <a:pt x="3983884" y="979372"/>
                </a:lnTo>
                <a:lnTo>
                  <a:pt x="0" y="979372"/>
                </a:lnTo>
                <a:lnTo>
                  <a:pt x="0" y="0"/>
                </a:lnTo>
                <a:close/>
              </a:path>
            </a:pathLst>
          </a:custGeom>
          <a:blipFill>
            <a:blip r:embed="rId8"/>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51F20"/>
        </a:solidFill>
      </p:bgPr>
    </p:bg>
    <p:spTree>
      <p:nvGrpSpPr>
        <p:cNvPr id="1" name=""/>
        <p:cNvGrpSpPr/>
        <p:nvPr/>
      </p:nvGrpSpPr>
      <p:grpSpPr>
        <a:xfrm>
          <a:off x="0" y="0"/>
          <a:ext cx="0" cy="0"/>
          <a:chOff x="0" y="0"/>
          <a:chExt cx="0" cy="0"/>
        </a:xfrm>
      </p:grpSpPr>
      <p:grpSp>
        <p:nvGrpSpPr>
          <p:cNvPr name="Group 2" id="2"/>
          <p:cNvGrpSpPr/>
          <p:nvPr/>
        </p:nvGrpSpPr>
        <p:grpSpPr>
          <a:xfrm rot="0">
            <a:off x="1028700" y="-246123"/>
            <a:ext cx="14401800" cy="3081449"/>
            <a:chOff x="0" y="0"/>
            <a:chExt cx="19202400" cy="4108599"/>
          </a:xfrm>
        </p:grpSpPr>
        <p:sp>
          <p:nvSpPr>
            <p:cNvPr name="Freeform 3" id="3"/>
            <p:cNvSpPr/>
            <p:nvPr/>
          </p:nvSpPr>
          <p:spPr>
            <a:xfrm flipH="false" flipV="false" rot="0">
              <a:off x="0" y="0"/>
              <a:ext cx="19202400" cy="4108599"/>
            </a:xfrm>
            <a:custGeom>
              <a:avLst/>
              <a:gdLst/>
              <a:ahLst/>
              <a:cxnLst/>
              <a:rect r="r" b="b" t="t" l="l"/>
              <a:pathLst>
                <a:path h="4108599" w="19202400">
                  <a:moveTo>
                    <a:pt x="0" y="0"/>
                  </a:moveTo>
                  <a:lnTo>
                    <a:pt x="19202400" y="0"/>
                  </a:lnTo>
                  <a:lnTo>
                    <a:pt x="19202400" y="4108599"/>
                  </a:lnTo>
                  <a:lnTo>
                    <a:pt x="0" y="4108599"/>
                  </a:lnTo>
                  <a:close/>
                </a:path>
              </a:pathLst>
            </a:custGeom>
            <a:blipFill>
              <a:blip r:embed="rId2">
                <a:alphaModFix amt="0"/>
              </a:blip>
              <a:stretch>
                <a:fillRect l="0" t="-78826" r="0" b="-3308"/>
              </a:stretch>
            </a:blipFill>
          </p:spPr>
        </p:sp>
        <p:sp>
          <p:nvSpPr>
            <p:cNvPr name="TextBox 4" id="4"/>
            <p:cNvSpPr txBox="true"/>
            <p:nvPr/>
          </p:nvSpPr>
          <p:spPr>
            <a:xfrm>
              <a:off x="0" y="-9525"/>
              <a:ext cx="19202400" cy="4118124"/>
            </a:xfrm>
            <a:prstGeom prst="rect">
              <a:avLst/>
            </a:prstGeom>
          </p:spPr>
          <p:txBody>
            <a:bodyPr anchor="ctr" rtlCol="false" tIns="0" lIns="0" bIns="0" rIns="0"/>
            <a:lstStyle/>
            <a:p>
              <a:pPr algn="l">
                <a:lnSpc>
                  <a:spcPts val="5040"/>
                </a:lnSpc>
              </a:pPr>
              <a:r>
                <a:rPr lang="en-US" sz="4200" b="true">
                  <a:solidFill>
                    <a:srgbClr val="DAF1DE"/>
                  </a:solidFill>
                  <a:latin typeface="Cambria Bold"/>
                  <a:ea typeface="Cambria Bold"/>
                  <a:cs typeface="Cambria Bold"/>
                  <a:sym typeface="Cambria Bold"/>
                </a:rPr>
                <a:t>Carta Gantt</a:t>
              </a:r>
            </a:p>
          </p:txBody>
        </p:sp>
      </p:grpSp>
      <p:sp>
        <p:nvSpPr>
          <p:cNvPr name="Freeform 5" id="5"/>
          <p:cNvSpPr/>
          <p:nvPr/>
        </p:nvSpPr>
        <p:spPr>
          <a:xfrm flipH="false" flipV="false" rot="0">
            <a:off x="116389" y="1706512"/>
            <a:ext cx="18073338" cy="6743614"/>
          </a:xfrm>
          <a:custGeom>
            <a:avLst/>
            <a:gdLst/>
            <a:ahLst/>
            <a:cxnLst/>
            <a:rect r="r" b="b" t="t" l="l"/>
            <a:pathLst>
              <a:path h="6743614" w="18073338">
                <a:moveTo>
                  <a:pt x="0" y="0"/>
                </a:moveTo>
                <a:lnTo>
                  <a:pt x="18073338" y="0"/>
                </a:lnTo>
                <a:lnTo>
                  <a:pt x="18073338" y="6743614"/>
                </a:lnTo>
                <a:lnTo>
                  <a:pt x="0" y="6743614"/>
                </a:lnTo>
                <a:lnTo>
                  <a:pt x="0" y="0"/>
                </a:lnTo>
                <a:close/>
              </a:path>
            </a:pathLst>
          </a:custGeom>
          <a:blipFill>
            <a:blip r:embed="rId3"/>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DAF1DE"/>
        </a:solidFill>
      </p:bgPr>
    </p:bg>
    <p:spTree>
      <p:nvGrpSpPr>
        <p:cNvPr id="1" name=""/>
        <p:cNvGrpSpPr/>
        <p:nvPr/>
      </p:nvGrpSpPr>
      <p:grpSpPr>
        <a:xfrm>
          <a:off x="0" y="0"/>
          <a:ext cx="0" cy="0"/>
          <a:chOff x="0" y="0"/>
          <a:chExt cx="0" cy="0"/>
        </a:xfrm>
      </p:grpSpPr>
      <p:sp>
        <p:nvSpPr>
          <p:cNvPr name="Freeform 2" id="2"/>
          <p:cNvSpPr/>
          <p:nvPr/>
        </p:nvSpPr>
        <p:spPr>
          <a:xfrm flipH="false" flipV="false" rot="0">
            <a:off x="0" y="45720"/>
            <a:ext cx="18288000" cy="10241280"/>
          </a:xfrm>
          <a:custGeom>
            <a:avLst/>
            <a:gdLst/>
            <a:ahLst/>
            <a:cxnLst/>
            <a:rect r="r" b="b" t="t" l="l"/>
            <a:pathLst>
              <a:path h="10241280" w="18288000">
                <a:moveTo>
                  <a:pt x="0" y="0"/>
                </a:moveTo>
                <a:lnTo>
                  <a:pt x="18288000" y="0"/>
                </a:lnTo>
                <a:lnTo>
                  <a:pt x="18288000" y="10241280"/>
                </a:lnTo>
                <a:lnTo>
                  <a:pt x="0" y="10241280"/>
                </a:lnTo>
                <a:lnTo>
                  <a:pt x="0" y="0"/>
                </a:lnTo>
                <a:close/>
              </a:path>
            </a:pathLst>
          </a:custGeom>
          <a:blipFill>
            <a:blip r:embed="rId2">
              <a:alphaModFix amt="40000"/>
            </a:blip>
            <a:stretch>
              <a:fillRect l="0" t="0" r="0" b="0"/>
            </a:stretch>
          </a:blipFill>
        </p:spPr>
      </p:sp>
      <p:grpSp>
        <p:nvGrpSpPr>
          <p:cNvPr name="Group 3" id="3"/>
          <p:cNvGrpSpPr/>
          <p:nvPr/>
        </p:nvGrpSpPr>
        <p:grpSpPr>
          <a:xfrm rot="0">
            <a:off x="514350" y="556696"/>
            <a:ext cx="1028700" cy="1028700"/>
            <a:chOff x="0" y="0"/>
            <a:chExt cx="1371600" cy="1371600"/>
          </a:xfrm>
        </p:grpSpPr>
        <p:sp>
          <p:nvSpPr>
            <p:cNvPr name="Freeform 4" id="4"/>
            <p:cNvSpPr/>
            <p:nvPr/>
          </p:nvSpPr>
          <p:spPr>
            <a:xfrm flipH="false" flipV="false" rot="0">
              <a:off x="0" y="0"/>
              <a:ext cx="1371600" cy="1371600"/>
            </a:xfrm>
            <a:custGeom>
              <a:avLst/>
              <a:gdLst/>
              <a:ahLst/>
              <a:cxnLst/>
              <a:rect r="r" b="b" t="t" l="l"/>
              <a:pathLst>
                <a:path h="1371600" w="1371600">
                  <a:moveTo>
                    <a:pt x="0" y="685800"/>
                  </a:moveTo>
                  <a:cubicBezTo>
                    <a:pt x="0" y="307086"/>
                    <a:pt x="307086" y="0"/>
                    <a:pt x="685800" y="0"/>
                  </a:cubicBezTo>
                  <a:cubicBezTo>
                    <a:pt x="1064514" y="0"/>
                    <a:pt x="1371600" y="307086"/>
                    <a:pt x="1371600" y="685800"/>
                  </a:cubicBezTo>
                  <a:cubicBezTo>
                    <a:pt x="1371600" y="1064514"/>
                    <a:pt x="1064514" y="1371600"/>
                    <a:pt x="685800" y="1371600"/>
                  </a:cubicBezTo>
                  <a:cubicBezTo>
                    <a:pt x="307086" y="1371600"/>
                    <a:pt x="0" y="1064514"/>
                    <a:pt x="0" y="685800"/>
                  </a:cubicBezTo>
                  <a:close/>
                </a:path>
              </a:pathLst>
            </a:custGeom>
            <a:solidFill>
              <a:srgbClr val="0B2B26"/>
            </a:solidFill>
          </p:spPr>
        </p:sp>
      </p:grpSp>
      <p:grpSp>
        <p:nvGrpSpPr>
          <p:cNvPr name="Group 5" id="5"/>
          <p:cNvGrpSpPr/>
          <p:nvPr/>
        </p:nvGrpSpPr>
        <p:grpSpPr>
          <a:xfrm rot="0">
            <a:off x="1764185" y="-620735"/>
            <a:ext cx="9875472" cy="3081449"/>
            <a:chOff x="0" y="0"/>
            <a:chExt cx="13167296" cy="4108599"/>
          </a:xfrm>
        </p:grpSpPr>
        <p:sp>
          <p:nvSpPr>
            <p:cNvPr name="Freeform 6" id="6"/>
            <p:cNvSpPr/>
            <p:nvPr/>
          </p:nvSpPr>
          <p:spPr>
            <a:xfrm flipH="false" flipV="false" rot="0">
              <a:off x="0" y="0"/>
              <a:ext cx="13167296" cy="4108599"/>
            </a:xfrm>
            <a:custGeom>
              <a:avLst/>
              <a:gdLst/>
              <a:ahLst/>
              <a:cxnLst/>
              <a:rect r="r" b="b" t="t" l="l"/>
              <a:pathLst>
                <a:path h="4108599" w="13167296">
                  <a:moveTo>
                    <a:pt x="0" y="0"/>
                  </a:moveTo>
                  <a:lnTo>
                    <a:pt x="13167296" y="0"/>
                  </a:lnTo>
                  <a:lnTo>
                    <a:pt x="13167296" y="4108599"/>
                  </a:lnTo>
                  <a:lnTo>
                    <a:pt x="0" y="4108599"/>
                  </a:lnTo>
                  <a:close/>
                </a:path>
              </a:pathLst>
            </a:custGeom>
            <a:blipFill>
              <a:blip r:embed="rId3">
                <a:alphaModFix amt="0"/>
              </a:blip>
              <a:stretch>
                <a:fillRect l="0" t="-78826" r="-45834" b="-3308"/>
              </a:stretch>
            </a:blipFill>
          </p:spPr>
        </p:sp>
        <p:sp>
          <p:nvSpPr>
            <p:cNvPr name="TextBox 7" id="7"/>
            <p:cNvSpPr txBox="true"/>
            <p:nvPr/>
          </p:nvSpPr>
          <p:spPr>
            <a:xfrm>
              <a:off x="0" y="-9525"/>
              <a:ext cx="13167296" cy="4118124"/>
            </a:xfrm>
            <a:prstGeom prst="rect">
              <a:avLst/>
            </a:prstGeom>
          </p:spPr>
          <p:txBody>
            <a:bodyPr anchor="ctr" rtlCol="false" tIns="0" lIns="0" bIns="0" rIns="0"/>
            <a:lstStyle/>
            <a:p>
              <a:pPr algn="l">
                <a:lnSpc>
                  <a:spcPts val="5040"/>
                </a:lnSpc>
              </a:pPr>
              <a:r>
                <a:rPr lang="en-US" sz="4200" b="true">
                  <a:solidFill>
                    <a:srgbClr val="051F20"/>
                  </a:solidFill>
                  <a:latin typeface="Cambria Bold"/>
                  <a:ea typeface="Cambria Bold"/>
                  <a:cs typeface="Cambria Bold"/>
                  <a:sym typeface="Cambria Bold"/>
                </a:rPr>
                <a:t>Requisitos Funcionales y No funcionales</a:t>
              </a:r>
            </a:p>
          </p:txBody>
        </p:sp>
      </p:grpSp>
      <p:grpSp>
        <p:nvGrpSpPr>
          <p:cNvPr name="Group 8" id="8"/>
          <p:cNvGrpSpPr/>
          <p:nvPr/>
        </p:nvGrpSpPr>
        <p:grpSpPr>
          <a:xfrm rot="0">
            <a:off x="1764185" y="1193988"/>
            <a:ext cx="4129522" cy="391409"/>
            <a:chOff x="0" y="0"/>
            <a:chExt cx="5506029" cy="521878"/>
          </a:xfrm>
        </p:grpSpPr>
        <p:sp>
          <p:nvSpPr>
            <p:cNvPr name="Freeform 9" id="9"/>
            <p:cNvSpPr/>
            <p:nvPr/>
          </p:nvSpPr>
          <p:spPr>
            <a:xfrm flipH="false" flipV="false" rot="0">
              <a:off x="0" y="0"/>
              <a:ext cx="5506029" cy="521878"/>
            </a:xfrm>
            <a:custGeom>
              <a:avLst/>
              <a:gdLst/>
              <a:ahLst/>
              <a:cxnLst/>
              <a:rect r="r" b="b" t="t" l="l"/>
              <a:pathLst>
                <a:path h="521878" w="5506029">
                  <a:moveTo>
                    <a:pt x="0" y="0"/>
                  </a:moveTo>
                  <a:lnTo>
                    <a:pt x="5506029" y="0"/>
                  </a:lnTo>
                  <a:lnTo>
                    <a:pt x="5506029" y="521878"/>
                  </a:lnTo>
                  <a:lnTo>
                    <a:pt x="0" y="521878"/>
                  </a:lnTo>
                  <a:close/>
                </a:path>
              </a:pathLst>
            </a:custGeom>
            <a:blipFill>
              <a:blip r:embed="rId3">
                <a:alphaModFix amt="0"/>
              </a:blip>
              <a:stretch>
                <a:fillRect l="0" t="-655623" r="-248752" b="-678272"/>
              </a:stretch>
            </a:blipFill>
          </p:spPr>
        </p:sp>
        <p:sp>
          <p:nvSpPr>
            <p:cNvPr name="TextBox 10" id="10"/>
            <p:cNvSpPr txBox="true"/>
            <p:nvPr/>
          </p:nvSpPr>
          <p:spPr>
            <a:xfrm>
              <a:off x="0" y="-47625"/>
              <a:ext cx="5506029" cy="569503"/>
            </a:xfrm>
            <a:prstGeom prst="rect">
              <a:avLst/>
            </a:prstGeom>
          </p:spPr>
          <p:txBody>
            <a:bodyPr anchor="ctr" rtlCol="false" tIns="0" lIns="0" bIns="0" rIns="0"/>
            <a:lstStyle/>
            <a:p>
              <a:pPr algn="l">
                <a:lnSpc>
                  <a:spcPts val="2340"/>
                </a:lnSpc>
              </a:pPr>
              <a:r>
                <a:rPr lang="en-US" sz="1950" i="true">
                  <a:solidFill>
                    <a:srgbClr val="235347"/>
                  </a:solidFill>
                  <a:latin typeface="Calibri (MS) Italics"/>
                  <a:ea typeface="Calibri (MS) Italics"/>
                  <a:cs typeface="Calibri (MS) Italics"/>
                  <a:sym typeface="Calibri (MS) Italics"/>
                </a:rPr>
                <a:t>Objetivos logrados hasta la fecha actual</a:t>
              </a:r>
            </a:p>
          </p:txBody>
        </p:sp>
      </p:grpSp>
      <p:grpSp>
        <p:nvGrpSpPr>
          <p:cNvPr name="Group 11" id="11"/>
          <p:cNvGrpSpPr/>
          <p:nvPr/>
        </p:nvGrpSpPr>
        <p:grpSpPr>
          <a:xfrm rot="0">
            <a:off x="227293" y="1997188"/>
            <a:ext cx="3771900" cy="3626935"/>
            <a:chOff x="0" y="0"/>
            <a:chExt cx="5029200" cy="4835913"/>
          </a:xfrm>
        </p:grpSpPr>
        <p:sp>
          <p:nvSpPr>
            <p:cNvPr name="Freeform 12" id="12"/>
            <p:cNvSpPr/>
            <p:nvPr/>
          </p:nvSpPr>
          <p:spPr>
            <a:xfrm flipH="false" flipV="false" rot="0">
              <a:off x="0" y="0"/>
              <a:ext cx="5029200" cy="4835913"/>
            </a:xfrm>
            <a:custGeom>
              <a:avLst/>
              <a:gdLst/>
              <a:ahLst/>
              <a:cxnLst/>
              <a:rect r="r" b="b" t="t" l="l"/>
              <a:pathLst>
                <a:path h="4835913" w="5029200">
                  <a:moveTo>
                    <a:pt x="0" y="205784"/>
                  </a:moveTo>
                  <a:cubicBezTo>
                    <a:pt x="0" y="92174"/>
                    <a:pt x="81915" y="0"/>
                    <a:pt x="182880" y="0"/>
                  </a:cubicBezTo>
                  <a:lnTo>
                    <a:pt x="4846320" y="0"/>
                  </a:lnTo>
                  <a:cubicBezTo>
                    <a:pt x="4947285" y="0"/>
                    <a:pt x="5029200" y="92174"/>
                    <a:pt x="5029200" y="205784"/>
                  </a:cubicBezTo>
                  <a:lnTo>
                    <a:pt x="5029200" y="4630130"/>
                  </a:lnTo>
                  <a:cubicBezTo>
                    <a:pt x="5029200" y="4743740"/>
                    <a:pt x="4947285" y="4835913"/>
                    <a:pt x="4846320" y="4835913"/>
                  </a:cubicBezTo>
                  <a:lnTo>
                    <a:pt x="182880" y="4835913"/>
                  </a:lnTo>
                  <a:cubicBezTo>
                    <a:pt x="81915" y="4835913"/>
                    <a:pt x="0" y="4743740"/>
                    <a:pt x="0" y="4630130"/>
                  </a:cubicBezTo>
                  <a:close/>
                </a:path>
              </a:pathLst>
            </a:custGeom>
            <a:solidFill>
              <a:srgbClr val="FFFFFF"/>
            </a:solidFill>
          </p:spPr>
        </p:sp>
      </p:grpSp>
      <p:grpSp>
        <p:nvGrpSpPr>
          <p:cNvPr name="Group 13" id="13"/>
          <p:cNvGrpSpPr/>
          <p:nvPr/>
        </p:nvGrpSpPr>
        <p:grpSpPr>
          <a:xfrm rot="0">
            <a:off x="1573456" y="2126936"/>
            <a:ext cx="891540" cy="891540"/>
            <a:chOff x="0" y="0"/>
            <a:chExt cx="1188720" cy="1188720"/>
          </a:xfrm>
        </p:grpSpPr>
        <p:sp>
          <p:nvSpPr>
            <p:cNvPr name="Freeform 14" id="14"/>
            <p:cNvSpPr/>
            <p:nvPr/>
          </p:nvSpPr>
          <p:spPr>
            <a:xfrm flipH="false" flipV="false" rot="0">
              <a:off x="0" y="0"/>
              <a:ext cx="1188720" cy="1188720"/>
            </a:xfrm>
            <a:custGeom>
              <a:avLst/>
              <a:gdLst/>
              <a:ahLst/>
              <a:cxnLst/>
              <a:rect r="r" b="b" t="t" l="l"/>
              <a:pathLst>
                <a:path h="1188720" w="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655"/>
                    <a:pt x="0" y="594360"/>
                  </a:cubicBezTo>
                  <a:close/>
                </a:path>
              </a:pathLst>
            </a:custGeom>
            <a:solidFill>
              <a:srgbClr val="235347"/>
            </a:solidFill>
          </p:spPr>
        </p:sp>
      </p:grpSp>
      <p:grpSp>
        <p:nvGrpSpPr>
          <p:cNvPr name="Group 15" id="15"/>
          <p:cNvGrpSpPr/>
          <p:nvPr/>
        </p:nvGrpSpPr>
        <p:grpSpPr>
          <a:xfrm rot="0">
            <a:off x="1787425" y="2340905"/>
            <a:ext cx="463601" cy="463601"/>
            <a:chOff x="0" y="0"/>
            <a:chExt cx="618134" cy="618134"/>
          </a:xfrm>
        </p:grpSpPr>
        <p:sp>
          <p:nvSpPr>
            <p:cNvPr name="Freeform 16" id="16" descr="/home/claude/sms-security/icons/code_light.png"/>
            <p:cNvSpPr/>
            <p:nvPr/>
          </p:nvSpPr>
          <p:spPr>
            <a:xfrm flipH="false" flipV="false" rot="0">
              <a:off x="0" y="0"/>
              <a:ext cx="618109" cy="618109"/>
            </a:xfrm>
            <a:custGeom>
              <a:avLst/>
              <a:gdLst/>
              <a:ahLst/>
              <a:cxnLst/>
              <a:rect r="r" b="b" t="t" l="l"/>
              <a:pathLst>
                <a:path h="618109" w="618109">
                  <a:moveTo>
                    <a:pt x="0" y="0"/>
                  </a:moveTo>
                  <a:lnTo>
                    <a:pt x="618109" y="0"/>
                  </a:lnTo>
                  <a:lnTo>
                    <a:pt x="618109" y="618109"/>
                  </a:lnTo>
                  <a:lnTo>
                    <a:pt x="0" y="618109"/>
                  </a:lnTo>
                  <a:lnTo>
                    <a:pt x="0" y="0"/>
                  </a:lnTo>
                  <a:close/>
                </a:path>
              </a:pathLst>
            </a:custGeom>
            <a:blipFill>
              <a:blip r:embed="rId4"/>
              <a:stretch>
                <a:fillRect l="0" t="0" r="-4" b="-4"/>
              </a:stretch>
            </a:blipFill>
          </p:spPr>
        </p:sp>
      </p:grpSp>
      <p:grpSp>
        <p:nvGrpSpPr>
          <p:cNvPr name="Group 17" id="17"/>
          <p:cNvGrpSpPr/>
          <p:nvPr/>
        </p:nvGrpSpPr>
        <p:grpSpPr>
          <a:xfrm rot="0">
            <a:off x="474250" y="2956014"/>
            <a:ext cx="3360420" cy="548640"/>
            <a:chOff x="0" y="0"/>
            <a:chExt cx="4480560" cy="731520"/>
          </a:xfrm>
        </p:grpSpPr>
        <p:sp>
          <p:nvSpPr>
            <p:cNvPr name="Freeform 18" id="18"/>
            <p:cNvSpPr/>
            <p:nvPr/>
          </p:nvSpPr>
          <p:spPr>
            <a:xfrm flipH="false" flipV="false" rot="0">
              <a:off x="0" y="0"/>
              <a:ext cx="4480560" cy="731520"/>
            </a:xfrm>
            <a:custGeom>
              <a:avLst/>
              <a:gdLst/>
              <a:ahLst/>
              <a:cxnLst/>
              <a:rect r="r" b="b" t="t" l="l"/>
              <a:pathLst>
                <a:path h="731520" w="4480560">
                  <a:moveTo>
                    <a:pt x="0" y="0"/>
                  </a:moveTo>
                  <a:lnTo>
                    <a:pt x="4480560" y="0"/>
                  </a:lnTo>
                  <a:lnTo>
                    <a:pt x="4480560" y="731520"/>
                  </a:lnTo>
                  <a:lnTo>
                    <a:pt x="0" y="731520"/>
                  </a:lnTo>
                  <a:close/>
                </a:path>
              </a:pathLst>
            </a:custGeom>
            <a:blipFill>
              <a:blip r:embed="rId3">
                <a:alphaModFix amt="0"/>
              </a:blip>
              <a:stretch>
                <a:fillRect l="0" t="-69345" r="0" b="-69345"/>
              </a:stretch>
            </a:blipFill>
          </p:spPr>
        </p:sp>
        <p:sp>
          <p:nvSpPr>
            <p:cNvPr name="TextBox 19" id="19"/>
            <p:cNvSpPr txBox="true"/>
            <p:nvPr/>
          </p:nvSpPr>
          <p:spPr>
            <a:xfrm>
              <a:off x="0" y="-38100"/>
              <a:ext cx="4480560" cy="769620"/>
            </a:xfrm>
            <a:prstGeom prst="rect">
              <a:avLst/>
            </a:prstGeom>
          </p:spPr>
          <p:txBody>
            <a:bodyPr anchor="ctr" rtlCol="false" tIns="0" lIns="0" bIns="0" rIns="0"/>
            <a:lstStyle/>
            <a:p>
              <a:pPr algn="ctr">
                <a:lnSpc>
                  <a:spcPts val="2160"/>
                </a:lnSpc>
              </a:pPr>
              <a:r>
                <a:rPr lang="en-US" sz="1800" b="true">
                  <a:solidFill>
                    <a:srgbClr val="051F20"/>
                  </a:solidFill>
                  <a:latin typeface="Calibri (MS) Bold"/>
                  <a:ea typeface="Calibri (MS) Bold"/>
                  <a:cs typeface="Calibri (MS) Bold"/>
                  <a:sym typeface="Calibri (MS) Bold"/>
                </a:rPr>
                <a:t>RF-01(Analisis del Texto)</a:t>
              </a:r>
            </a:p>
          </p:txBody>
        </p:sp>
      </p:grpSp>
      <p:grpSp>
        <p:nvGrpSpPr>
          <p:cNvPr name="Group 20" id="20"/>
          <p:cNvGrpSpPr/>
          <p:nvPr/>
        </p:nvGrpSpPr>
        <p:grpSpPr>
          <a:xfrm rot="0">
            <a:off x="455200" y="3389951"/>
            <a:ext cx="3379470" cy="2069280"/>
            <a:chOff x="0" y="0"/>
            <a:chExt cx="4505960" cy="2759041"/>
          </a:xfrm>
        </p:grpSpPr>
        <p:sp>
          <p:nvSpPr>
            <p:cNvPr name="Freeform 21" id="21"/>
            <p:cNvSpPr/>
            <p:nvPr/>
          </p:nvSpPr>
          <p:spPr>
            <a:xfrm flipH="false" flipV="false" rot="0">
              <a:off x="0" y="0"/>
              <a:ext cx="4505960" cy="2759041"/>
            </a:xfrm>
            <a:custGeom>
              <a:avLst/>
              <a:gdLst/>
              <a:ahLst/>
              <a:cxnLst/>
              <a:rect r="r" b="b" t="t" l="l"/>
              <a:pathLst>
                <a:path h="2759041" w="4505960">
                  <a:moveTo>
                    <a:pt x="0" y="339685"/>
                  </a:moveTo>
                  <a:cubicBezTo>
                    <a:pt x="0" y="152094"/>
                    <a:pt x="66929" y="0"/>
                    <a:pt x="149479" y="0"/>
                  </a:cubicBezTo>
                  <a:lnTo>
                    <a:pt x="4356481" y="0"/>
                  </a:lnTo>
                  <a:cubicBezTo>
                    <a:pt x="4439031" y="0"/>
                    <a:pt x="4505960" y="152094"/>
                    <a:pt x="4505960" y="339685"/>
                  </a:cubicBezTo>
                  <a:lnTo>
                    <a:pt x="4505960" y="2419355"/>
                  </a:lnTo>
                  <a:cubicBezTo>
                    <a:pt x="4505960" y="2606947"/>
                    <a:pt x="4439031" y="2759041"/>
                    <a:pt x="4356481" y="2759041"/>
                  </a:cubicBezTo>
                  <a:lnTo>
                    <a:pt x="149479" y="2759041"/>
                  </a:lnTo>
                  <a:cubicBezTo>
                    <a:pt x="66929" y="2759041"/>
                    <a:pt x="0" y="2606947"/>
                    <a:pt x="0" y="2419355"/>
                  </a:cubicBezTo>
                  <a:close/>
                </a:path>
              </a:pathLst>
            </a:custGeom>
            <a:solidFill>
              <a:srgbClr val="FFFFFF"/>
            </a:solidFill>
            <a:ln w="19050" cap="sq">
              <a:solidFill>
                <a:srgbClr val="8EB69B"/>
              </a:solidFill>
              <a:prstDash val="dash"/>
              <a:miter/>
            </a:ln>
          </p:spPr>
        </p:sp>
      </p:grpSp>
      <p:grpSp>
        <p:nvGrpSpPr>
          <p:cNvPr name="Group 22" id="22"/>
          <p:cNvGrpSpPr/>
          <p:nvPr/>
        </p:nvGrpSpPr>
        <p:grpSpPr>
          <a:xfrm rot="0">
            <a:off x="4303321" y="1997188"/>
            <a:ext cx="3771900" cy="3626935"/>
            <a:chOff x="0" y="0"/>
            <a:chExt cx="5029200" cy="4835913"/>
          </a:xfrm>
        </p:grpSpPr>
        <p:sp>
          <p:nvSpPr>
            <p:cNvPr name="Freeform 23" id="23"/>
            <p:cNvSpPr/>
            <p:nvPr/>
          </p:nvSpPr>
          <p:spPr>
            <a:xfrm flipH="false" flipV="false" rot="0">
              <a:off x="0" y="0"/>
              <a:ext cx="5029200" cy="4835913"/>
            </a:xfrm>
            <a:custGeom>
              <a:avLst/>
              <a:gdLst/>
              <a:ahLst/>
              <a:cxnLst/>
              <a:rect r="r" b="b" t="t" l="l"/>
              <a:pathLst>
                <a:path h="4835913" w="5029200">
                  <a:moveTo>
                    <a:pt x="0" y="205784"/>
                  </a:moveTo>
                  <a:cubicBezTo>
                    <a:pt x="0" y="92174"/>
                    <a:pt x="81915" y="0"/>
                    <a:pt x="182880" y="0"/>
                  </a:cubicBezTo>
                  <a:lnTo>
                    <a:pt x="4846320" y="0"/>
                  </a:lnTo>
                  <a:cubicBezTo>
                    <a:pt x="4947285" y="0"/>
                    <a:pt x="5029200" y="92174"/>
                    <a:pt x="5029200" y="205784"/>
                  </a:cubicBezTo>
                  <a:lnTo>
                    <a:pt x="5029200" y="4630130"/>
                  </a:lnTo>
                  <a:cubicBezTo>
                    <a:pt x="5029200" y="4743740"/>
                    <a:pt x="4947285" y="4835913"/>
                    <a:pt x="4846320" y="4835913"/>
                  </a:cubicBezTo>
                  <a:lnTo>
                    <a:pt x="182880" y="4835913"/>
                  </a:lnTo>
                  <a:cubicBezTo>
                    <a:pt x="81915" y="4835913"/>
                    <a:pt x="0" y="4743740"/>
                    <a:pt x="0" y="4630130"/>
                  </a:cubicBezTo>
                  <a:close/>
                </a:path>
              </a:pathLst>
            </a:custGeom>
            <a:solidFill>
              <a:srgbClr val="FFFFFF"/>
            </a:solidFill>
          </p:spPr>
        </p:sp>
      </p:grpSp>
      <p:grpSp>
        <p:nvGrpSpPr>
          <p:cNvPr name="Group 24" id="24"/>
          <p:cNvGrpSpPr/>
          <p:nvPr/>
        </p:nvGrpSpPr>
        <p:grpSpPr>
          <a:xfrm rot="0">
            <a:off x="5743501" y="2100949"/>
            <a:ext cx="891540" cy="891540"/>
            <a:chOff x="0" y="0"/>
            <a:chExt cx="1188720" cy="1188720"/>
          </a:xfrm>
        </p:grpSpPr>
        <p:sp>
          <p:nvSpPr>
            <p:cNvPr name="Freeform 25" id="25"/>
            <p:cNvSpPr/>
            <p:nvPr/>
          </p:nvSpPr>
          <p:spPr>
            <a:xfrm flipH="false" flipV="false" rot="0">
              <a:off x="0" y="0"/>
              <a:ext cx="1188720" cy="1188720"/>
            </a:xfrm>
            <a:custGeom>
              <a:avLst/>
              <a:gdLst/>
              <a:ahLst/>
              <a:cxnLst/>
              <a:rect r="r" b="b" t="t" l="l"/>
              <a:pathLst>
                <a:path h="1188720" w="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655"/>
                    <a:pt x="0" y="594360"/>
                  </a:cubicBezTo>
                  <a:close/>
                </a:path>
              </a:pathLst>
            </a:custGeom>
            <a:solidFill>
              <a:srgbClr val="235347"/>
            </a:solidFill>
          </p:spPr>
        </p:sp>
      </p:grpSp>
      <p:grpSp>
        <p:nvGrpSpPr>
          <p:cNvPr name="Group 26" id="26"/>
          <p:cNvGrpSpPr/>
          <p:nvPr/>
        </p:nvGrpSpPr>
        <p:grpSpPr>
          <a:xfrm rot="0">
            <a:off x="4544646" y="2929246"/>
            <a:ext cx="3360420" cy="548640"/>
            <a:chOff x="0" y="0"/>
            <a:chExt cx="4480560" cy="731520"/>
          </a:xfrm>
        </p:grpSpPr>
        <p:sp>
          <p:nvSpPr>
            <p:cNvPr name="Freeform 27" id="27"/>
            <p:cNvSpPr/>
            <p:nvPr/>
          </p:nvSpPr>
          <p:spPr>
            <a:xfrm flipH="false" flipV="false" rot="0">
              <a:off x="0" y="0"/>
              <a:ext cx="4480560" cy="731520"/>
            </a:xfrm>
            <a:custGeom>
              <a:avLst/>
              <a:gdLst/>
              <a:ahLst/>
              <a:cxnLst/>
              <a:rect r="r" b="b" t="t" l="l"/>
              <a:pathLst>
                <a:path h="731520" w="4480560">
                  <a:moveTo>
                    <a:pt x="0" y="0"/>
                  </a:moveTo>
                  <a:lnTo>
                    <a:pt x="4480560" y="0"/>
                  </a:lnTo>
                  <a:lnTo>
                    <a:pt x="4480560" y="731520"/>
                  </a:lnTo>
                  <a:lnTo>
                    <a:pt x="0" y="731520"/>
                  </a:lnTo>
                  <a:close/>
                </a:path>
              </a:pathLst>
            </a:custGeom>
            <a:blipFill>
              <a:blip r:embed="rId3">
                <a:alphaModFix amt="0"/>
              </a:blip>
              <a:stretch>
                <a:fillRect l="0" t="-69345" r="0" b="-69345"/>
              </a:stretch>
            </a:blipFill>
          </p:spPr>
        </p:sp>
        <p:sp>
          <p:nvSpPr>
            <p:cNvPr name="TextBox 28" id="28"/>
            <p:cNvSpPr txBox="true"/>
            <p:nvPr/>
          </p:nvSpPr>
          <p:spPr>
            <a:xfrm>
              <a:off x="0" y="-38100"/>
              <a:ext cx="4480560" cy="769620"/>
            </a:xfrm>
            <a:prstGeom prst="rect">
              <a:avLst/>
            </a:prstGeom>
          </p:spPr>
          <p:txBody>
            <a:bodyPr anchor="ctr" rtlCol="false" tIns="0" lIns="0" bIns="0" rIns="0"/>
            <a:lstStyle/>
            <a:p>
              <a:pPr algn="ctr">
                <a:lnSpc>
                  <a:spcPts val="2160"/>
                </a:lnSpc>
              </a:pPr>
              <a:r>
                <a:rPr lang="en-US" sz="1800" b="true">
                  <a:solidFill>
                    <a:srgbClr val="051F20"/>
                  </a:solidFill>
                  <a:latin typeface="Calibri (MS) Bold"/>
                  <a:ea typeface="Calibri (MS) Bold"/>
                  <a:cs typeface="Calibri (MS) Bold"/>
                  <a:sym typeface="Calibri (MS) Bold"/>
                </a:rPr>
                <a:t>RF-02(Análisis de Enlaces)</a:t>
              </a:r>
            </a:p>
          </p:txBody>
        </p:sp>
      </p:grpSp>
      <p:grpSp>
        <p:nvGrpSpPr>
          <p:cNvPr name="Group 29" id="29"/>
          <p:cNvGrpSpPr/>
          <p:nvPr/>
        </p:nvGrpSpPr>
        <p:grpSpPr>
          <a:xfrm rot="0">
            <a:off x="4499536" y="3389951"/>
            <a:ext cx="3379470" cy="2106538"/>
            <a:chOff x="0" y="0"/>
            <a:chExt cx="4505960" cy="2808717"/>
          </a:xfrm>
        </p:grpSpPr>
        <p:sp>
          <p:nvSpPr>
            <p:cNvPr name="Freeform 30" id="30"/>
            <p:cNvSpPr/>
            <p:nvPr/>
          </p:nvSpPr>
          <p:spPr>
            <a:xfrm flipH="false" flipV="false" rot="0">
              <a:off x="0" y="0"/>
              <a:ext cx="4505960" cy="2808717"/>
            </a:xfrm>
            <a:custGeom>
              <a:avLst/>
              <a:gdLst/>
              <a:ahLst/>
              <a:cxnLst/>
              <a:rect r="r" b="b" t="t" l="l"/>
              <a:pathLst>
                <a:path h="2808717" w="4505960">
                  <a:moveTo>
                    <a:pt x="0" y="345801"/>
                  </a:moveTo>
                  <a:cubicBezTo>
                    <a:pt x="0" y="154832"/>
                    <a:pt x="66929" y="0"/>
                    <a:pt x="149479" y="0"/>
                  </a:cubicBezTo>
                  <a:lnTo>
                    <a:pt x="4356481" y="0"/>
                  </a:lnTo>
                  <a:cubicBezTo>
                    <a:pt x="4439031" y="0"/>
                    <a:pt x="4505960" y="154832"/>
                    <a:pt x="4505960" y="345801"/>
                  </a:cubicBezTo>
                  <a:lnTo>
                    <a:pt x="4505960" y="2462916"/>
                  </a:lnTo>
                  <a:cubicBezTo>
                    <a:pt x="4505960" y="2653885"/>
                    <a:pt x="4439031" y="2808717"/>
                    <a:pt x="4356481" y="2808717"/>
                  </a:cubicBezTo>
                  <a:lnTo>
                    <a:pt x="149479" y="2808717"/>
                  </a:lnTo>
                  <a:cubicBezTo>
                    <a:pt x="66929" y="2808717"/>
                    <a:pt x="0" y="2653885"/>
                    <a:pt x="0" y="2462916"/>
                  </a:cubicBezTo>
                  <a:close/>
                </a:path>
              </a:pathLst>
            </a:custGeom>
            <a:solidFill>
              <a:srgbClr val="FFFFFF"/>
            </a:solidFill>
            <a:ln w="19050" cap="sq">
              <a:solidFill>
                <a:srgbClr val="8EB69B"/>
              </a:solidFill>
              <a:prstDash val="dash"/>
              <a:miter/>
            </a:ln>
          </p:spPr>
        </p:sp>
      </p:grpSp>
      <p:grpSp>
        <p:nvGrpSpPr>
          <p:cNvPr name="Group 31" id="31"/>
          <p:cNvGrpSpPr/>
          <p:nvPr/>
        </p:nvGrpSpPr>
        <p:grpSpPr>
          <a:xfrm rot="0">
            <a:off x="8360971" y="1997188"/>
            <a:ext cx="3771900" cy="3626935"/>
            <a:chOff x="0" y="0"/>
            <a:chExt cx="5029200" cy="4835913"/>
          </a:xfrm>
        </p:grpSpPr>
        <p:sp>
          <p:nvSpPr>
            <p:cNvPr name="Freeform 32" id="32"/>
            <p:cNvSpPr/>
            <p:nvPr/>
          </p:nvSpPr>
          <p:spPr>
            <a:xfrm flipH="false" flipV="false" rot="0">
              <a:off x="0" y="0"/>
              <a:ext cx="5029200" cy="4835913"/>
            </a:xfrm>
            <a:custGeom>
              <a:avLst/>
              <a:gdLst/>
              <a:ahLst/>
              <a:cxnLst/>
              <a:rect r="r" b="b" t="t" l="l"/>
              <a:pathLst>
                <a:path h="4835913" w="5029200">
                  <a:moveTo>
                    <a:pt x="0" y="205784"/>
                  </a:moveTo>
                  <a:cubicBezTo>
                    <a:pt x="0" y="92174"/>
                    <a:pt x="81915" y="0"/>
                    <a:pt x="182880" y="0"/>
                  </a:cubicBezTo>
                  <a:lnTo>
                    <a:pt x="4846320" y="0"/>
                  </a:lnTo>
                  <a:cubicBezTo>
                    <a:pt x="4947285" y="0"/>
                    <a:pt x="5029200" y="92174"/>
                    <a:pt x="5029200" y="205784"/>
                  </a:cubicBezTo>
                  <a:lnTo>
                    <a:pt x="5029200" y="4630130"/>
                  </a:lnTo>
                  <a:cubicBezTo>
                    <a:pt x="5029200" y="4743740"/>
                    <a:pt x="4947285" y="4835913"/>
                    <a:pt x="4846320" y="4835913"/>
                  </a:cubicBezTo>
                  <a:lnTo>
                    <a:pt x="182880" y="4835913"/>
                  </a:lnTo>
                  <a:cubicBezTo>
                    <a:pt x="81915" y="4835913"/>
                    <a:pt x="0" y="4743740"/>
                    <a:pt x="0" y="4630130"/>
                  </a:cubicBezTo>
                  <a:close/>
                </a:path>
              </a:pathLst>
            </a:custGeom>
            <a:solidFill>
              <a:srgbClr val="FFFFFF"/>
            </a:solidFill>
          </p:spPr>
        </p:sp>
      </p:grpSp>
      <p:grpSp>
        <p:nvGrpSpPr>
          <p:cNvPr name="Group 33" id="33"/>
          <p:cNvGrpSpPr/>
          <p:nvPr/>
        </p:nvGrpSpPr>
        <p:grpSpPr>
          <a:xfrm rot="0">
            <a:off x="9703043" y="2120441"/>
            <a:ext cx="891540" cy="891540"/>
            <a:chOff x="0" y="0"/>
            <a:chExt cx="1188720" cy="1188720"/>
          </a:xfrm>
        </p:grpSpPr>
        <p:sp>
          <p:nvSpPr>
            <p:cNvPr name="Freeform 34" id="34"/>
            <p:cNvSpPr/>
            <p:nvPr/>
          </p:nvSpPr>
          <p:spPr>
            <a:xfrm flipH="false" flipV="false" rot="0">
              <a:off x="0" y="0"/>
              <a:ext cx="1188720" cy="1188720"/>
            </a:xfrm>
            <a:custGeom>
              <a:avLst/>
              <a:gdLst/>
              <a:ahLst/>
              <a:cxnLst/>
              <a:rect r="r" b="b" t="t" l="l"/>
              <a:pathLst>
                <a:path h="1188720" w="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655"/>
                    <a:pt x="0" y="594360"/>
                  </a:cubicBezTo>
                  <a:close/>
                </a:path>
              </a:pathLst>
            </a:custGeom>
            <a:solidFill>
              <a:srgbClr val="235347"/>
            </a:solidFill>
          </p:spPr>
        </p:sp>
      </p:grpSp>
      <p:grpSp>
        <p:nvGrpSpPr>
          <p:cNvPr name="Group 35" id="35"/>
          <p:cNvGrpSpPr/>
          <p:nvPr/>
        </p:nvGrpSpPr>
        <p:grpSpPr>
          <a:xfrm rot="0">
            <a:off x="9917013" y="2325227"/>
            <a:ext cx="463601" cy="463601"/>
            <a:chOff x="0" y="0"/>
            <a:chExt cx="618134" cy="618134"/>
          </a:xfrm>
        </p:grpSpPr>
        <p:sp>
          <p:nvSpPr>
            <p:cNvPr name="Freeform 36" id="36" descr="/home/claude/sms-security/icons/layers_light.png"/>
            <p:cNvSpPr/>
            <p:nvPr/>
          </p:nvSpPr>
          <p:spPr>
            <a:xfrm flipH="false" flipV="false" rot="0">
              <a:off x="0" y="0"/>
              <a:ext cx="618109" cy="618109"/>
            </a:xfrm>
            <a:custGeom>
              <a:avLst/>
              <a:gdLst/>
              <a:ahLst/>
              <a:cxnLst/>
              <a:rect r="r" b="b" t="t" l="l"/>
              <a:pathLst>
                <a:path h="618109" w="618109">
                  <a:moveTo>
                    <a:pt x="0" y="0"/>
                  </a:moveTo>
                  <a:lnTo>
                    <a:pt x="618109" y="0"/>
                  </a:lnTo>
                  <a:lnTo>
                    <a:pt x="618109" y="618109"/>
                  </a:lnTo>
                  <a:lnTo>
                    <a:pt x="0" y="618109"/>
                  </a:lnTo>
                  <a:lnTo>
                    <a:pt x="0" y="0"/>
                  </a:lnTo>
                  <a:close/>
                </a:path>
              </a:pathLst>
            </a:custGeom>
            <a:blipFill>
              <a:blip r:embed="rId5"/>
              <a:stretch>
                <a:fillRect l="0" t="0" r="-4" b="-4"/>
              </a:stretch>
            </a:blipFill>
          </p:spPr>
        </p:sp>
      </p:grpSp>
      <p:grpSp>
        <p:nvGrpSpPr>
          <p:cNvPr name="Group 37" id="37"/>
          <p:cNvGrpSpPr/>
          <p:nvPr/>
        </p:nvGrpSpPr>
        <p:grpSpPr>
          <a:xfrm rot="0">
            <a:off x="8608621" y="2956014"/>
            <a:ext cx="3360420" cy="548640"/>
            <a:chOff x="0" y="0"/>
            <a:chExt cx="4480560" cy="731520"/>
          </a:xfrm>
        </p:grpSpPr>
        <p:sp>
          <p:nvSpPr>
            <p:cNvPr name="Freeform 38" id="38"/>
            <p:cNvSpPr/>
            <p:nvPr/>
          </p:nvSpPr>
          <p:spPr>
            <a:xfrm flipH="false" flipV="false" rot="0">
              <a:off x="0" y="0"/>
              <a:ext cx="4480560" cy="731520"/>
            </a:xfrm>
            <a:custGeom>
              <a:avLst/>
              <a:gdLst/>
              <a:ahLst/>
              <a:cxnLst/>
              <a:rect r="r" b="b" t="t" l="l"/>
              <a:pathLst>
                <a:path h="731520" w="4480560">
                  <a:moveTo>
                    <a:pt x="0" y="0"/>
                  </a:moveTo>
                  <a:lnTo>
                    <a:pt x="4480560" y="0"/>
                  </a:lnTo>
                  <a:lnTo>
                    <a:pt x="4480560" y="731520"/>
                  </a:lnTo>
                  <a:lnTo>
                    <a:pt x="0" y="731520"/>
                  </a:lnTo>
                  <a:close/>
                </a:path>
              </a:pathLst>
            </a:custGeom>
            <a:blipFill>
              <a:blip r:embed="rId3">
                <a:alphaModFix amt="0"/>
              </a:blip>
              <a:stretch>
                <a:fillRect l="0" t="-69345" r="0" b="-69345"/>
              </a:stretch>
            </a:blipFill>
          </p:spPr>
        </p:sp>
        <p:sp>
          <p:nvSpPr>
            <p:cNvPr name="TextBox 39" id="39"/>
            <p:cNvSpPr txBox="true"/>
            <p:nvPr/>
          </p:nvSpPr>
          <p:spPr>
            <a:xfrm>
              <a:off x="0" y="-38100"/>
              <a:ext cx="4480560" cy="769620"/>
            </a:xfrm>
            <a:prstGeom prst="rect">
              <a:avLst/>
            </a:prstGeom>
          </p:spPr>
          <p:txBody>
            <a:bodyPr anchor="ctr" rtlCol="false" tIns="0" lIns="0" bIns="0" rIns="0"/>
            <a:lstStyle/>
            <a:p>
              <a:pPr algn="ctr">
                <a:lnSpc>
                  <a:spcPts val="2160"/>
                </a:lnSpc>
              </a:pPr>
              <a:r>
                <a:rPr lang="en-US" sz="1800" b="true">
                  <a:solidFill>
                    <a:srgbClr val="051F20"/>
                  </a:solidFill>
                  <a:latin typeface="Calibri (MS) Bold"/>
                  <a:ea typeface="Calibri (MS) Bold"/>
                  <a:cs typeface="Calibri (MS) Bold"/>
                  <a:sym typeface="Calibri (MS) Bold"/>
                </a:rPr>
                <a:t>RF-03(Clasificación de Riesgo)</a:t>
              </a:r>
            </a:p>
          </p:txBody>
        </p:sp>
      </p:grpSp>
      <p:grpSp>
        <p:nvGrpSpPr>
          <p:cNvPr name="Group 40" id="40"/>
          <p:cNvGrpSpPr/>
          <p:nvPr/>
        </p:nvGrpSpPr>
        <p:grpSpPr>
          <a:xfrm rot="0">
            <a:off x="8557186" y="3417216"/>
            <a:ext cx="3379470" cy="2079272"/>
            <a:chOff x="0" y="0"/>
            <a:chExt cx="4505960" cy="2772363"/>
          </a:xfrm>
        </p:grpSpPr>
        <p:sp>
          <p:nvSpPr>
            <p:cNvPr name="Freeform 41" id="41"/>
            <p:cNvSpPr/>
            <p:nvPr/>
          </p:nvSpPr>
          <p:spPr>
            <a:xfrm flipH="false" flipV="false" rot="0">
              <a:off x="0" y="0"/>
              <a:ext cx="4505960" cy="2772363"/>
            </a:xfrm>
            <a:custGeom>
              <a:avLst/>
              <a:gdLst/>
              <a:ahLst/>
              <a:cxnLst/>
              <a:rect r="r" b="b" t="t" l="l"/>
              <a:pathLst>
                <a:path h="2772363" w="4505960">
                  <a:moveTo>
                    <a:pt x="0" y="341325"/>
                  </a:moveTo>
                  <a:cubicBezTo>
                    <a:pt x="0" y="152828"/>
                    <a:pt x="66929" y="0"/>
                    <a:pt x="149479" y="0"/>
                  </a:cubicBezTo>
                  <a:lnTo>
                    <a:pt x="4356481" y="0"/>
                  </a:lnTo>
                  <a:cubicBezTo>
                    <a:pt x="4439031" y="0"/>
                    <a:pt x="4505960" y="152828"/>
                    <a:pt x="4505960" y="341325"/>
                  </a:cubicBezTo>
                  <a:lnTo>
                    <a:pt x="4505960" y="2431037"/>
                  </a:lnTo>
                  <a:cubicBezTo>
                    <a:pt x="4505960" y="2619535"/>
                    <a:pt x="4439031" y="2772363"/>
                    <a:pt x="4356481" y="2772363"/>
                  </a:cubicBezTo>
                  <a:lnTo>
                    <a:pt x="149479" y="2772363"/>
                  </a:lnTo>
                  <a:cubicBezTo>
                    <a:pt x="66929" y="2772363"/>
                    <a:pt x="0" y="2619535"/>
                    <a:pt x="0" y="2431037"/>
                  </a:cubicBezTo>
                  <a:close/>
                </a:path>
              </a:pathLst>
            </a:custGeom>
            <a:solidFill>
              <a:srgbClr val="FFFFFF"/>
            </a:solidFill>
            <a:ln w="19050" cap="sq">
              <a:solidFill>
                <a:srgbClr val="8EB69B"/>
              </a:solidFill>
              <a:prstDash val="dash"/>
              <a:miter/>
            </a:ln>
          </p:spPr>
        </p:sp>
      </p:grpSp>
      <p:grpSp>
        <p:nvGrpSpPr>
          <p:cNvPr name="Group 42" id="42"/>
          <p:cNvGrpSpPr/>
          <p:nvPr/>
        </p:nvGrpSpPr>
        <p:grpSpPr>
          <a:xfrm rot="0">
            <a:off x="227293" y="5833673"/>
            <a:ext cx="3771900" cy="3789987"/>
            <a:chOff x="0" y="0"/>
            <a:chExt cx="5029200" cy="5053316"/>
          </a:xfrm>
        </p:grpSpPr>
        <p:sp>
          <p:nvSpPr>
            <p:cNvPr name="Freeform 43" id="43"/>
            <p:cNvSpPr/>
            <p:nvPr/>
          </p:nvSpPr>
          <p:spPr>
            <a:xfrm flipH="false" flipV="false" rot="0">
              <a:off x="0" y="0"/>
              <a:ext cx="5029200" cy="5053316"/>
            </a:xfrm>
            <a:custGeom>
              <a:avLst/>
              <a:gdLst/>
              <a:ahLst/>
              <a:cxnLst/>
              <a:rect r="r" b="b" t="t" l="l"/>
              <a:pathLst>
                <a:path h="5053316" w="5029200">
                  <a:moveTo>
                    <a:pt x="0" y="215035"/>
                  </a:moveTo>
                  <a:cubicBezTo>
                    <a:pt x="0" y="96318"/>
                    <a:pt x="81915" y="0"/>
                    <a:pt x="182880" y="0"/>
                  </a:cubicBezTo>
                  <a:lnTo>
                    <a:pt x="4846320" y="0"/>
                  </a:lnTo>
                  <a:cubicBezTo>
                    <a:pt x="4947285" y="0"/>
                    <a:pt x="5029200" y="96318"/>
                    <a:pt x="5029200" y="215035"/>
                  </a:cubicBezTo>
                  <a:lnTo>
                    <a:pt x="5029200" y="4838281"/>
                  </a:lnTo>
                  <a:cubicBezTo>
                    <a:pt x="5029200" y="4956999"/>
                    <a:pt x="4947285" y="5053316"/>
                    <a:pt x="4846320" y="5053316"/>
                  </a:cubicBezTo>
                  <a:lnTo>
                    <a:pt x="182880" y="5053316"/>
                  </a:lnTo>
                  <a:cubicBezTo>
                    <a:pt x="81915" y="5053316"/>
                    <a:pt x="0" y="4956999"/>
                    <a:pt x="0" y="4838281"/>
                  </a:cubicBezTo>
                  <a:close/>
                </a:path>
              </a:pathLst>
            </a:custGeom>
            <a:solidFill>
              <a:srgbClr val="FFFFFF"/>
            </a:solidFill>
          </p:spPr>
        </p:sp>
      </p:grpSp>
      <p:grpSp>
        <p:nvGrpSpPr>
          <p:cNvPr name="Group 44" id="44"/>
          <p:cNvGrpSpPr/>
          <p:nvPr/>
        </p:nvGrpSpPr>
        <p:grpSpPr>
          <a:xfrm rot="0">
            <a:off x="1649566" y="5956815"/>
            <a:ext cx="891540" cy="891540"/>
            <a:chOff x="0" y="0"/>
            <a:chExt cx="1188720" cy="1188720"/>
          </a:xfrm>
        </p:grpSpPr>
        <p:sp>
          <p:nvSpPr>
            <p:cNvPr name="Freeform 45" id="45"/>
            <p:cNvSpPr/>
            <p:nvPr/>
          </p:nvSpPr>
          <p:spPr>
            <a:xfrm flipH="false" flipV="false" rot="0">
              <a:off x="0" y="0"/>
              <a:ext cx="1188720" cy="1188720"/>
            </a:xfrm>
            <a:custGeom>
              <a:avLst/>
              <a:gdLst/>
              <a:ahLst/>
              <a:cxnLst/>
              <a:rect r="r" b="b" t="t" l="l"/>
              <a:pathLst>
                <a:path h="1188720" w="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655"/>
                    <a:pt x="0" y="594360"/>
                  </a:cubicBezTo>
                  <a:close/>
                </a:path>
              </a:pathLst>
            </a:custGeom>
            <a:solidFill>
              <a:srgbClr val="235347"/>
            </a:solidFill>
          </p:spPr>
        </p:sp>
      </p:grpSp>
      <p:grpSp>
        <p:nvGrpSpPr>
          <p:cNvPr name="Group 46" id="46"/>
          <p:cNvGrpSpPr/>
          <p:nvPr/>
        </p:nvGrpSpPr>
        <p:grpSpPr>
          <a:xfrm rot="0">
            <a:off x="442558" y="6758211"/>
            <a:ext cx="3360420" cy="548640"/>
            <a:chOff x="0" y="0"/>
            <a:chExt cx="4480560" cy="731520"/>
          </a:xfrm>
        </p:grpSpPr>
        <p:sp>
          <p:nvSpPr>
            <p:cNvPr name="Freeform 47" id="47"/>
            <p:cNvSpPr/>
            <p:nvPr/>
          </p:nvSpPr>
          <p:spPr>
            <a:xfrm flipH="false" flipV="false" rot="0">
              <a:off x="0" y="0"/>
              <a:ext cx="4480560" cy="731520"/>
            </a:xfrm>
            <a:custGeom>
              <a:avLst/>
              <a:gdLst/>
              <a:ahLst/>
              <a:cxnLst/>
              <a:rect r="r" b="b" t="t" l="l"/>
              <a:pathLst>
                <a:path h="731520" w="4480560">
                  <a:moveTo>
                    <a:pt x="0" y="0"/>
                  </a:moveTo>
                  <a:lnTo>
                    <a:pt x="4480560" y="0"/>
                  </a:lnTo>
                  <a:lnTo>
                    <a:pt x="4480560" y="731520"/>
                  </a:lnTo>
                  <a:lnTo>
                    <a:pt x="0" y="731520"/>
                  </a:lnTo>
                  <a:close/>
                </a:path>
              </a:pathLst>
            </a:custGeom>
            <a:blipFill>
              <a:blip r:embed="rId3">
                <a:alphaModFix amt="0"/>
              </a:blip>
              <a:stretch>
                <a:fillRect l="0" t="-69345" r="0" b="-69345"/>
              </a:stretch>
            </a:blipFill>
          </p:spPr>
        </p:sp>
        <p:sp>
          <p:nvSpPr>
            <p:cNvPr name="TextBox 48" id="48"/>
            <p:cNvSpPr txBox="true"/>
            <p:nvPr/>
          </p:nvSpPr>
          <p:spPr>
            <a:xfrm>
              <a:off x="0" y="-38100"/>
              <a:ext cx="4480560" cy="769620"/>
            </a:xfrm>
            <a:prstGeom prst="rect">
              <a:avLst/>
            </a:prstGeom>
          </p:spPr>
          <p:txBody>
            <a:bodyPr anchor="ctr" rtlCol="false" tIns="0" lIns="0" bIns="0" rIns="0"/>
            <a:lstStyle/>
            <a:p>
              <a:pPr algn="ctr">
                <a:lnSpc>
                  <a:spcPts val="2160"/>
                </a:lnSpc>
              </a:pPr>
              <a:r>
                <a:rPr lang="en-US" sz="1800" b="true">
                  <a:solidFill>
                    <a:srgbClr val="051F20"/>
                  </a:solidFill>
                  <a:latin typeface="Calibri (MS) Bold"/>
                  <a:ea typeface="Calibri (MS) Bold"/>
                  <a:cs typeface="Calibri (MS) Bold"/>
                  <a:sym typeface="Calibri (MS) Bold"/>
                </a:rPr>
                <a:t>RF-04(Asistencia con IA)</a:t>
              </a:r>
            </a:p>
          </p:txBody>
        </p:sp>
      </p:grpSp>
      <p:grpSp>
        <p:nvGrpSpPr>
          <p:cNvPr name="Group 49" id="49"/>
          <p:cNvGrpSpPr/>
          <p:nvPr/>
        </p:nvGrpSpPr>
        <p:grpSpPr>
          <a:xfrm rot="0">
            <a:off x="423508" y="7270446"/>
            <a:ext cx="3379470" cy="2216454"/>
            <a:chOff x="0" y="0"/>
            <a:chExt cx="4505960" cy="2955272"/>
          </a:xfrm>
        </p:grpSpPr>
        <p:sp>
          <p:nvSpPr>
            <p:cNvPr name="Freeform 50" id="50"/>
            <p:cNvSpPr/>
            <p:nvPr/>
          </p:nvSpPr>
          <p:spPr>
            <a:xfrm flipH="false" flipV="false" rot="0">
              <a:off x="0" y="0"/>
              <a:ext cx="4505960" cy="2955272"/>
            </a:xfrm>
            <a:custGeom>
              <a:avLst/>
              <a:gdLst/>
              <a:ahLst/>
              <a:cxnLst/>
              <a:rect r="r" b="b" t="t" l="l"/>
              <a:pathLst>
                <a:path h="2955272" w="4505960">
                  <a:moveTo>
                    <a:pt x="0" y="363845"/>
                  </a:moveTo>
                  <a:cubicBezTo>
                    <a:pt x="0" y="162911"/>
                    <a:pt x="66929" y="0"/>
                    <a:pt x="149479" y="0"/>
                  </a:cubicBezTo>
                  <a:lnTo>
                    <a:pt x="4356481" y="0"/>
                  </a:lnTo>
                  <a:cubicBezTo>
                    <a:pt x="4439031" y="0"/>
                    <a:pt x="4505960" y="162911"/>
                    <a:pt x="4505960" y="363845"/>
                  </a:cubicBezTo>
                  <a:lnTo>
                    <a:pt x="4505960" y="2591427"/>
                  </a:lnTo>
                  <a:cubicBezTo>
                    <a:pt x="4505960" y="2792361"/>
                    <a:pt x="4439031" y="2955272"/>
                    <a:pt x="4356481" y="2955272"/>
                  </a:cubicBezTo>
                  <a:lnTo>
                    <a:pt x="149479" y="2955272"/>
                  </a:lnTo>
                  <a:cubicBezTo>
                    <a:pt x="66929" y="2955272"/>
                    <a:pt x="0" y="2792361"/>
                    <a:pt x="0" y="2591427"/>
                  </a:cubicBezTo>
                  <a:close/>
                </a:path>
              </a:pathLst>
            </a:custGeom>
            <a:solidFill>
              <a:srgbClr val="FFFFFF"/>
            </a:solidFill>
            <a:ln w="19050" cap="sq">
              <a:solidFill>
                <a:srgbClr val="8EB69B"/>
              </a:solidFill>
              <a:prstDash val="dash"/>
              <a:miter/>
            </a:ln>
          </p:spPr>
        </p:sp>
      </p:grpSp>
      <p:grpSp>
        <p:nvGrpSpPr>
          <p:cNvPr name="Group 51" id="51"/>
          <p:cNvGrpSpPr/>
          <p:nvPr/>
        </p:nvGrpSpPr>
        <p:grpSpPr>
          <a:xfrm rot="0">
            <a:off x="12571021" y="2517766"/>
            <a:ext cx="5166715" cy="6796507"/>
            <a:chOff x="0" y="0"/>
            <a:chExt cx="6888954" cy="9062010"/>
          </a:xfrm>
        </p:grpSpPr>
        <p:sp>
          <p:nvSpPr>
            <p:cNvPr name="Freeform 52" id="52"/>
            <p:cNvSpPr/>
            <p:nvPr/>
          </p:nvSpPr>
          <p:spPr>
            <a:xfrm flipH="false" flipV="false" rot="0">
              <a:off x="0" y="0"/>
              <a:ext cx="6888954" cy="9062010"/>
            </a:xfrm>
            <a:custGeom>
              <a:avLst/>
              <a:gdLst/>
              <a:ahLst/>
              <a:cxnLst/>
              <a:rect r="r" b="b" t="t" l="l"/>
              <a:pathLst>
                <a:path h="9062010" w="6888954">
                  <a:moveTo>
                    <a:pt x="0" y="489838"/>
                  </a:moveTo>
                  <a:cubicBezTo>
                    <a:pt x="0" y="219407"/>
                    <a:pt x="25189" y="0"/>
                    <a:pt x="56236" y="0"/>
                  </a:cubicBezTo>
                  <a:lnTo>
                    <a:pt x="6832718" y="0"/>
                  </a:lnTo>
                  <a:cubicBezTo>
                    <a:pt x="6863765" y="0"/>
                    <a:pt x="6888954" y="219407"/>
                    <a:pt x="6888954" y="489838"/>
                  </a:cubicBezTo>
                  <a:lnTo>
                    <a:pt x="6888954" y="8572171"/>
                  </a:lnTo>
                  <a:cubicBezTo>
                    <a:pt x="6888954" y="8842604"/>
                    <a:pt x="6863765" y="9062010"/>
                    <a:pt x="6832718" y="9062010"/>
                  </a:cubicBezTo>
                  <a:lnTo>
                    <a:pt x="56236" y="9062010"/>
                  </a:lnTo>
                  <a:cubicBezTo>
                    <a:pt x="25189" y="9062010"/>
                    <a:pt x="0" y="8842604"/>
                    <a:pt x="0" y="8572171"/>
                  </a:cubicBezTo>
                  <a:close/>
                </a:path>
              </a:pathLst>
            </a:custGeom>
            <a:solidFill>
              <a:srgbClr val="051F20"/>
            </a:solidFill>
          </p:spPr>
        </p:sp>
      </p:grpSp>
      <p:grpSp>
        <p:nvGrpSpPr>
          <p:cNvPr name="Group 53" id="53"/>
          <p:cNvGrpSpPr/>
          <p:nvPr/>
        </p:nvGrpSpPr>
        <p:grpSpPr>
          <a:xfrm rot="0">
            <a:off x="12838281" y="2731736"/>
            <a:ext cx="798305" cy="822960"/>
            <a:chOff x="0" y="0"/>
            <a:chExt cx="1064406" cy="1097280"/>
          </a:xfrm>
        </p:grpSpPr>
        <p:sp>
          <p:nvSpPr>
            <p:cNvPr name="Freeform 54" id="54"/>
            <p:cNvSpPr/>
            <p:nvPr/>
          </p:nvSpPr>
          <p:spPr>
            <a:xfrm flipH="false" flipV="false" rot="0">
              <a:off x="0" y="0"/>
              <a:ext cx="1064406" cy="1097280"/>
            </a:xfrm>
            <a:custGeom>
              <a:avLst/>
              <a:gdLst/>
              <a:ahLst/>
              <a:cxnLst/>
              <a:rect r="r" b="b" t="t" l="l"/>
              <a:pathLst>
                <a:path h="1097280" w="1064406">
                  <a:moveTo>
                    <a:pt x="0" y="548640"/>
                  </a:moveTo>
                  <a:cubicBezTo>
                    <a:pt x="0" y="245618"/>
                    <a:pt x="238259" y="0"/>
                    <a:pt x="532203" y="0"/>
                  </a:cubicBezTo>
                  <a:cubicBezTo>
                    <a:pt x="826147" y="0"/>
                    <a:pt x="1064406" y="245618"/>
                    <a:pt x="1064406" y="548640"/>
                  </a:cubicBezTo>
                  <a:cubicBezTo>
                    <a:pt x="1064406" y="851662"/>
                    <a:pt x="826147" y="1097280"/>
                    <a:pt x="532203" y="1097280"/>
                  </a:cubicBezTo>
                  <a:cubicBezTo>
                    <a:pt x="238260" y="1097280"/>
                    <a:pt x="0" y="851662"/>
                    <a:pt x="0" y="548640"/>
                  </a:cubicBezTo>
                  <a:close/>
                </a:path>
              </a:pathLst>
            </a:custGeom>
            <a:solidFill>
              <a:srgbClr val="8EB69B"/>
            </a:solidFill>
          </p:spPr>
        </p:sp>
      </p:grpSp>
      <p:grpSp>
        <p:nvGrpSpPr>
          <p:cNvPr name="Group 55" id="55"/>
          <p:cNvGrpSpPr/>
          <p:nvPr/>
        </p:nvGrpSpPr>
        <p:grpSpPr>
          <a:xfrm rot="0">
            <a:off x="13029874" y="2929246"/>
            <a:ext cx="415118" cy="427939"/>
            <a:chOff x="0" y="0"/>
            <a:chExt cx="553491" cy="570586"/>
          </a:xfrm>
        </p:grpSpPr>
        <p:sp>
          <p:nvSpPr>
            <p:cNvPr name="Freeform 56" id="56" descr="/home/claude/sms-security/icons/comment_dark1.png"/>
            <p:cNvSpPr/>
            <p:nvPr/>
          </p:nvSpPr>
          <p:spPr>
            <a:xfrm flipH="false" flipV="false" rot="0">
              <a:off x="0" y="0"/>
              <a:ext cx="553517" cy="570611"/>
            </a:xfrm>
            <a:custGeom>
              <a:avLst/>
              <a:gdLst/>
              <a:ahLst/>
              <a:cxnLst/>
              <a:rect r="r" b="b" t="t" l="l"/>
              <a:pathLst>
                <a:path h="570611" w="553517">
                  <a:moveTo>
                    <a:pt x="0" y="0"/>
                  </a:moveTo>
                  <a:lnTo>
                    <a:pt x="553517" y="0"/>
                  </a:lnTo>
                  <a:lnTo>
                    <a:pt x="553517" y="570611"/>
                  </a:lnTo>
                  <a:lnTo>
                    <a:pt x="0" y="570611"/>
                  </a:lnTo>
                  <a:lnTo>
                    <a:pt x="0" y="0"/>
                  </a:lnTo>
                  <a:close/>
                </a:path>
              </a:pathLst>
            </a:custGeom>
            <a:blipFill>
              <a:blip r:embed="rId6"/>
              <a:stretch>
                <a:fillRect l="-1548" t="-4" r="-1544" b="0"/>
              </a:stretch>
            </a:blipFill>
          </p:spPr>
        </p:sp>
      </p:grpSp>
      <p:grpSp>
        <p:nvGrpSpPr>
          <p:cNvPr name="Group 57" id="57"/>
          <p:cNvGrpSpPr/>
          <p:nvPr/>
        </p:nvGrpSpPr>
        <p:grpSpPr>
          <a:xfrm rot="0">
            <a:off x="13803752" y="2100949"/>
            <a:ext cx="4855413" cy="1994697"/>
            <a:chOff x="0" y="0"/>
            <a:chExt cx="6473884" cy="2659596"/>
          </a:xfrm>
        </p:grpSpPr>
        <p:sp>
          <p:nvSpPr>
            <p:cNvPr name="Freeform 58" id="58"/>
            <p:cNvSpPr/>
            <p:nvPr/>
          </p:nvSpPr>
          <p:spPr>
            <a:xfrm flipH="false" flipV="false" rot="0">
              <a:off x="0" y="0"/>
              <a:ext cx="6473884" cy="2659596"/>
            </a:xfrm>
            <a:custGeom>
              <a:avLst/>
              <a:gdLst/>
              <a:ahLst/>
              <a:cxnLst/>
              <a:rect r="r" b="b" t="t" l="l"/>
              <a:pathLst>
                <a:path h="2659596" w="6473884">
                  <a:moveTo>
                    <a:pt x="0" y="0"/>
                  </a:moveTo>
                  <a:lnTo>
                    <a:pt x="6473884" y="0"/>
                  </a:lnTo>
                  <a:lnTo>
                    <a:pt x="6473884" y="2659596"/>
                  </a:lnTo>
                  <a:lnTo>
                    <a:pt x="0" y="2659596"/>
                  </a:lnTo>
                  <a:close/>
                </a:path>
              </a:pathLst>
            </a:custGeom>
            <a:blipFill>
              <a:blip r:embed="rId3">
                <a:alphaModFix amt="0"/>
              </a:blip>
              <a:stretch>
                <a:fillRect l="0" t="-63199" r="-69493" b="2419"/>
              </a:stretch>
            </a:blipFill>
          </p:spPr>
        </p:sp>
        <p:sp>
          <p:nvSpPr>
            <p:cNvPr name="TextBox 59" id="59"/>
            <p:cNvSpPr txBox="true"/>
            <p:nvPr/>
          </p:nvSpPr>
          <p:spPr>
            <a:xfrm>
              <a:off x="0" y="-19050"/>
              <a:ext cx="6473884" cy="2678646"/>
            </a:xfrm>
            <a:prstGeom prst="rect">
              <a:avLst/>
            </a:prstGeom>
          </p:spPr>
          <p:txBody>
            <a:bodyPr anchor="ctr" rtlCol="false" tIns="0" lIns="0" bIns="0" rIns="0"/>
            <a:lstStyle/>
            <a:p>
              <a:pPr algn="l">
                <a:lnSpc>
                  <a:spcPts val="2700"/>
                </a:lnSpc>
              </a:pPr>
              <a:r>
                <a:rPr lang="en-US" sz="2250" b="true">
                  <a:solidFill>
                    <a:srgbClr val="DAF1DE"/>
                  </a:solidFill>
                  <a:latin typeface="Cambria Bold"/>
                  <a:ea typeface="Cambria Bold"/>
                  <a:cs typeface="Cambria Bold"/>
                  <a:sym typeface="Cambria Bold"/>
                </a:rPr>
                <a:t>Requisitos No Funcionales</a:t>
              </a:r>
            </a:p>
          </p:txBody>
        </p:sp>
      </p:grpSp>
      <p:grpSp>
        <p:nvGrpSpPr>
          <p:cNvPr name="Group 60" id="60"/>
          <p:cNvGrpSpPr/>
          <p:nvPr/>
        </p:nvGrpSpPr>
        <p:grpSpPr>
          <a:xfrm rot="0">
            <a:off x="12850926" y="3743177"/>
            <a:ext cx="4601060" cy="5369141"/>
            <a:chOff x="0" y="0"/>
            <a:chExt cx="6134747" cy="7158855"/>
          </a:xfrm>
        </p:grpSpPr>
        <p:sp>
          <p:nvSpPr>
            <p:cNvPr name="Freeform 61" id="61"/>
            <p:cNvSpPr/>
            <p:nvPr/>
          </p:nvSpPr>
          <p:spPr>
            <a:xfrm flipH="false" flipV="false" rot="0">
              <a:off x="0" y="0"/>
              <a:ext cx="6134747" cy="7158855"/>
            </a:xfrm>
            <a:custGeom>
              <a:avLst/>
              <a:gdLst/>
              <a:ahLst/>
              <a:cxnLst/>
              <a:rect r="r" b="b" t="t" l="l"/>
              <a:pathLst>
                <a:path h="7158855" w="6134747">
                  <a:moveTo>
                    <a:pt x="0" y="715886"/>
                  </a:moveTo>
                  <a:cubicBezTo>
                    <a:pt x="0" y="320682"/>
                    <a:pt x="19176" y="0"/>
                    <a:pt x="42807" y="0"/>
                  </a:cubicBezTo>
                  <a:lnTo>
                    <a:pt x="6091939" y="0"/>
                  </a:lnTo>
                  <a:cubicBezTo>
                    <a:pt x="6115571" y="0"/>
                    <a:pt x="6134747" y="320682"/>
                    <a:pt x="6134747" y="715886"/>
                  </a:cubicBezTo>
                  <a:lnTo>
                    <a:pt x="6134747" y="6442970"/>
                  </a:lnTo>
                  <a:cubicBezTo>
                    <a:pt x="6134747" y="6838173"/>
                    <a:pt x="6115571" y="7158855"/>
                    <a:pt x="6091939" y="7158855"/>
                  </a:cubicBezTo>
                  <a:lnTo>
                    <a:pt x="42807" y="7158855"/>
                  </a:lnTo>
                  <a:cubicBezTo>
                    <a:pt x="19176" y="7158855"/>
                    <a:pt x="0" y="6838173"/>
                    <a:pt x="0" y="6442970"/>
                  </a:cubicBezTo>
                  <a:close/>
                </a:path>
              </a:pathLst>
            </a:custGeom>
            <a:solidFill>
              <a:srgbClr val="FFFFFF"/>
            </a:solidFill>
            <a:ln w="19050" cap="sq">
              <a:solidFill>
                <a:srgbClr val="8EB69B"/>
              </a:solidFill>
              <a:prstDash val="dash"/>
              <a:miter/>
            </a:ln>
          </p:spPr>
        </p:sp>
      </p:grpSp>
      <p:grpSp>
        <p:nvGrpSpPr>
          <p:cNvPr name="Group 62" id="62"/>
          <p:cNvGrpSpPr/>
          <p:nvPr/>
        </p:nvGrpSpPr>
        <p:grpSpPr>
          <a:xfrm rot="0">
            <a:off x="17053103" y="9601200"/>
            <a:ext cx="822960" cy="480060"/>
            <a:chOff x="0" y="0"/>
            <a:chExt cx="1097280" cy="640080"/>
          </a:xfrm>
        </p:grpSpPr>
        <p:sp>
          <p:nvSpPr>
            <p:cNvPr name="Freeform 63" id="63"/>
            <p:cNvSpPr/>
            <p:nvPr/>
          </p:nvSpPr>
          <p:spPr>
            <a:xfrm flipH="false" flipV="false" rot="0">
              <a:off x="0" y="0"/>
              <a:ext cx="1097280" cy="640080"/>
            </a:xfrm>
            <a:custGeom>
              <a:avLst/>
              <a:gdLst/>
              <a:ahLst/>
              <a:cxnLst/>
              <a:rect r="r" b="b" t="t" l="l"/>
              <a:pathLst>
                <a:path h="640080" w="1097280">
                  <a:moveTo>
                    <a:pt x="0" y="0"/>
                  </a:moveTo>
                  <a:lnTo>
                    <a:pt x="1097280" y="0"/>
                  </a:lnTo>
                  <a:lnTo>
                    <a:pt x="1097280" y="640080"/>
                  </a:lnTo>
                  <a:lnTo>
                    <a:pt x="0" y="640080"/>
                  </a:lnTo>
                  <a:close/>
                </a:path>
              </a:pathLst>
            </a:custGeom>
            <a:blipFill>
              <a:blip r:embed="rId3">
                <a:alphaModFix amt="0"/>
              </a:blip>
              <a:stretch>
                <a:fillRect l="-24843" t="0" r="-24843" b="0"/>
              </a:stretch>
            </a:blipFill>
          </p:spPr>
        </p:sp>
        <p:sp>
          <p:nvSpPr>
            <p:cNvPr name="TextBox 64" id="64"/>
            <p:cNvSpPr txBox="true"/>
            <p:nvPr/>
          </p:nvSpPr>
          <p:spPr>
            <a:xfrm>
              <a:off x="0" y="-38100"/>
              <a:ext cx="1097280" cy="678180"/>
            </a:xfrm>
            <a:prstGeom prst="rect">
              <a:avLst/>
            </a:prstGeom>
          </p:spPr>
          <p:txBody>
            <a:bodyPr anchor="ctr" rtlCol="false" tIns="0" lIns="0" bIns="0" rIns="0"/>
            <a:lstStyle/>
            <a:p>
              <a:pPr algn="r">
                <a:lnSpc>
                  <a:spcPts val="1800"/>
                </a:lnSpc>
              </a:pPr>
              <a:r>
                <a:rPr lang="en-US" sz="1500">
                  <a:solidFill>
                    <a:srgbClr val="235347"/>
                  </a:solidFill>
                  <a:latin typeface="Calibri (MS)"/>
                  <a:ea typeface="Calibri (MS)"/>
                  <a:cs typeface="Calibri (MS)"/>
                  <a:sym typeface="Calibri (MS)"/>
                </a:rPr>
                <a:t>03</a:t>
              </a:r>
            </a:p>
          </p:txBody>
        </p:sp>
      </p:grpSp>
      <p:grpSp>
        <p:nvGrpSpPr>
          <p:cNvPr name="Group 65" id="65"/>
          <p:cNvGrpSpPr/>
          <p:nvPr/>
        </p:nvGrpSpPr>
        <p:grpSpPr>
          <a:xfrm rot="0">
            <a:off x="4303321" y="5833673"/>
            <a:ext cx="3771900" cy="3789987"/>
            <a:chOff x="0" y="0"/>
            <a:chExt cx="5029200" cy="5053316"/>
          </a:xfrm>
        </p:grpSpPr>
        <p:sp>
          <p:nvSpPr>
            <p:cNvPr name="Freeform 66" id="66"/>
            <p:cNvSpPr/>
            <p:nvPr/>
          </p:nvSpPr>
          <p:spPr>
            <a:xfrm flipH="false" flipV="false" rot="0">
              <a:off x="0" y="0"/>
              <a:ext cx="5029200" cy="5053316"/>
            </a:xfrm>
            <a:custGeom>
              <a:avLst/>
              <a:gdLst/>
              <a:ahLst/>
              <a:cxnLst/>
              <a:rect r="r" b="b" t="t" l="l"/>
              <a:pathLst>
                <a:path h="5053316" w="5029200">
                  <a:moveTo>
                    <a:pt x="0" y="215035"/>
                  </a:moveTo>
                  <a:cubicBezTo>
                    <a:pt x="0" y="96318"/>
                    <a:pt x="81915" y="0"/>
                    <a:pt x="182880" y="0"/>
                  </a:cubicBezTo>
                  <a:lnTo>
                    <a:pt x="4846320" y="0"/>
                  </a:lnTo>
                  <a:cubicBezTo>
                    <a:pt x="4947285" y="0"/>
                    <a:pt x="5029200" y="96318"/>
                    <a:pt x="5029200" y="215035"/>
                  </a:cubicBezTo>
                  <a:lnTo>
                    <a:pt x="5029200" y="4838281"/>
                  </a:lnTo>
                  <a:cubicBezTo>
                    <a:pt x="5029200" y="4956999"/>
                    <a:pt x="4947285" y="5053316"/>
                    <a:pt x="4846320" y="5053316"/>
                  </a:cubicBezTo>
                  <a:lnTo>
                    <a:pt x="182880" y="5053316"/>
                  </a:lnTo>
                  <a:cubicBezTo>
                    <a:pt x="81915" y="5053316"/>
                    <a:pt x="0" y="4956999"/>
                    <a:pt x="0" y="4838281"/>
                  </a:cubicBezTo>
                  <a:close/>
                </a:path>
              </a:pathLst>
            </a:custGeom>
            <a:solidFill>
              <a:srgbClr val="FFFFFF"/>
            </a:solidFill>
          </p:spPr>
        </p:sp>
      </p:grpSp>
      <p:grpSp>
        <p:nvGrpSpPr>
          <p:cNvPr name="Group 67" id="67"/>
          <p:cNvGrpSpPr/>
          <p:nvPr/>
        </p:nvGrpSpPr>
        <p:grpSpPr>
          <a:xfrm rot="0">
            <a:off x="5733976" y="5929887"/>
            <a:ext cx="891540" cy="891540"/>
            <a:chOff x="0" y="0"/>
            <a:chExt cx="1188720" cy="1188720"/>
          </a:xfrm>
        </p:grpSpPr>
        <p:sp>
          <p:nvSpPr>
            <p:cNvPr name="Freeform 68" id="68"/>
            <p:cNvSpPr/>
            <p:nvPr/>
          </p:nvSpPr>
          <p:spPr>
            <a:xfrm flipH="false" flipV="false" rot="0">
              <a:off x="0" y="0"/>
              <a:ext cx="1188720" cy="1188720"/>
            </a:xfrm>
            <a:custGeom>
              <a:avLst/>
              <a:gdLst/>
              <a:ahLst/>
              <a:cxnLst/>
              <a:rect r="r" b="b" t="t" l="l"/>
              <a:pathLst>
                <a:path h="1188720" w="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655"/>
                    <a:pt x="0" y="594360"/>
                  </a:cubicBezTo>
                  <a:close/>
                </a:path>
              </a:pathLst>
            </a:custGeom>
            <a:solidFill>
              <a:srgbClr val="235347"/>
            </a:solidFill>
          </p:spPr>
        </p:sp>
      </p:grpSp>
      <p:grpSp>
        <p:nvGrpSpPr>
          <p:cNvPr name="Group 69" id="69"/>
          <p:cNvGrpSpPr/>
          <p:nvPr/>
        </p:nvGrpSpPr>
        <p:grpSpPr>
          <a:xfrm rot="0">
            <a:off x="4544646" y="6821427"/>
            <a:ext cx="3360420" cy="548640"/>
            <a:chOff x="0" y="0"/>
            <a:chExt cx="4480560" cy="731520"/>
          </a:xfrm>
        </p:grpSpPr>
        <p:sp>
          <p:nvSpPr>
            <p:cNvPr name="Freeform 70" id="70"/>
            <p:cNvSpPr/>
            <p:nvPr/>
          </p:nvSpPr>
          <p:spPr>
            <a:xfrm flipH="false" flipV="false" rot="0">
              <a:off x="0" y="0"/>
              <a:ext cx="4480560" cy="731520"/>
            </a:xfrm>
            <a:custGeom>
              <a:avLst/>
              <a:gdLst/>
              <a:ahLst/>
              <a:cxnLst/>
              <a:rect r="r" b="b" t="t" l="l"/>
              <a:pathLst>
                <a:path h="731520" w="4480560">
                  <a:moveTo>
                    <a:pt x="0" y="0"/>
                  </a:moveTo>
                  <a:lnTo>
                    <a:pt x="4480560" y="0"/>
                  </a:lnTo>
                  <a:lnTo>
                    <a:pt x="4480560" y="731520"/>
                  </a:lnTo>
                  <a:lnTo>
                    <a:pt x="0" y="731520"/>
                  </a:lnTo>
                  <a:close/>
                </a:path>
              </a:pathLst>
            </a:custGeom>
            <a:blipFill>
              <a:blip r:embed="rId3">
                <a:alphaModFix amt="0"/>
              </a:blip>
              <a:stretch>
                <a:fillRect l="0" t="-69345" r="0" b="-69345"/>
              </a:stretch>
            </a:blipFill>
          </p:spPr>
        </p:sp>
        <p:sp>
          <p:nvSpPr>
            <p:cNvPr name="TextBox 71" id="71"/>
            <p:cNvSpPr txBox="true"/>
            <p:nvPr/>
          </p:nvSpPr>
          <p:spPr>
            <a:xfrm>
              <a:off x="0" y="-38100"/>
              <a:ext cx="4480560" cy="769620"/>
            </a:xfrm>
            <a:prstGeom prst="rect">
              <a:avLst/>
            </a:prstGeom>
          </p:spPr>
          <p:txBody>
            <a:bodyPr anchor="ctr" rtlCol="false" tIns="0" lIns="0" bIns="0" rIns="0"/>
            <a:lstStyle/>
            <a:p>
              <a:pPr algn="ctr">
                <a:lnSpc>
                  <a:spcPts val="2160"/>
                </a:lnSpc>
              </a:pPr>
              <a:r>
                <a:rPr lang="en-US" sz="1800" b="true">
                  <a:solidFill>
                    <a:srgbClr val="051F20"/>
                  </a:solidFill>
                  <a:latin typeface="Calibri (MS) Bold"/>
                  <a:ea typeface="Calibri (MS) Bold"/>
                  <a:cs typeface="Calibri (MS) Bold"/>
                  <a:sym typeface="Calibri (MS) Bold"/>
                </a:rPr>
                <a:t>RF-05(Panel de Monitoreo)</a:t>
              </a:r>
            </a:p>
          </p:txBody>
        </p:sp>
      </p:grpSp>
      <p:grpSp>
        <p:nvGrpSpPr>
          <p:cNvPr name="Group 72" id="72"/>
          <p:cNvGrpSpPr/>
          <p:nvPr/>
        </p:nvGrpSpPr>
        <p:grpSpPr>
          <a:xfrm rot="0">
            <a:off x="4544646" y="7370067"/>
            <a:ext cx="3379470" cy="2017212"/>
            <a:chOff x="0" y="0"/>
            <a:chExt cx="4505960" cy="2689616"/>
          </a:xfrm>
        </p:grpSpPr>
        <p:sp>
          <p:nvSpPr>
            <p:cNvPr name="Freeform 73" id="73"/>
            <p:cNvSpPr/>
            <p:nvPr/>
          </p:nvSpPr>
          <p:spPr>
            <a:xfrm flipH="false" flipV="false" rot="0">
              <a:off x="0" y="0"/>
              <a:ext cx="4505960" cy="2689617"/>
            </a:xfrm>
            <a:custGeom>
              <a:avLst/>
              <a:gdLst/>
              <a:ahLst/>
              <a:cxnLst/>
              <a:rect r="r" b="b" t="t" l="l"/>
              <a:pathLst>
                <a:path h="2689617" w="4505960">
                  <a:moveTo>
                    <a:pt x="0" y="331138"/>
                  </a:moveTo>
                  <a:cubicBezTo>
                    <a:pt x="0" y="148267"/>
                    <a:pt x="66929" y="0"/>
                    <a:pt x="149479" y="0"/>
                  </a:cubicBezTo>
                  <a:lnTo>
                    <a:pt x="4356481" y="0"/>
                  </a:lnTo>
                  <a:cubicBezTo>
                    <a:pt x="4439031" y="0"/>
                    <a:pt x="4505960" y="148267"/>
                    <a:pt x="4505960" y="331138"/>
                  </a:cubicBezTo>
                  <a:lnTo>
                    <a:pt x="4505960" y="2358479"/>
                  </a:lnTo>
                  <a:cubicBezTo>
                    <a:pt x="4505960" y="2541350"/>
                    <a:pt x="4439031" y="2689617"/>
                    <a:pt x="4356481" y="2689617"/>
                  </a:cubicBezTo>
                  <a:lnTo>
                    <a:pt x="149479" y="2689617"/>
                  </a:lnTo>
                  <a:cubicBezTo>
                    <a:pt x="66929" y="2689616"/>
                    <a:pt x="0" y="2541350"/>
                    <a:pt x="0" y="2358479"/>
                  </a:cubicBezTo>
                  <a:close/>
                </a:path>
              </a:pathLst>
            </a:custGeom>
            <a:solidFill>
              <a:srgbClr val="FFFFFF"/>
            </a:solidFill>
            <a:ln w="19050" cap="sq">
              <a:solidFill>
                <a:srgbClr val="8EB69B"/>
              </a:solidFill>
              <a:prstDash val="dash"/>
              <a:miter/>
            </a:ln>
          </p:spPr>
        </p:sp>
      </p:grpSp>
      <p:grpSp>
        <p:nvGrpSpPr>
          <p:cNvPr name="Group 74" id="74"/>
          <p:cNvGrpSpPr/>
          <p:nvPr/>
        </p:nvGrpSpPr>
        <p:grpSpPr>
          <a:xfrm rot="0">
            <a:off x="722785" y="722785"/>
            <a:ext cx="611830" cy="611830"/>
            <a:chOff x="0" y="0"/>
            <a:chExt cx="618134" cy="618134"/>
          </a:xfrm>
        </p:grpSpPr>
        <p:sp>
          <p:nvSpPr>
            <p:cNvPr name="Freeform 75" id="75" descr="/home/claude/sms-security/icons/clipboard_light.png"/>
            <p:cNvSpPr/>
            <p:nvPr/>
          </p:nvSpPr>
          <p:spPr>
            <a:xfrm flipH="false" flipV="false" rot="0">
              <a:off x="0" y="0"/>
              <a:ext cx="618109" cy="618109"/>
            </a:xfrm>
            <a:custGeom>
              <a:avLst/>
              <a:gdLst/>
              <a:ahLst/>
              <a:cxnLst/>
              <a:rect r="r" b="b" t="t" l="l"/>
              <a:pathLst>
                <a:path h="618109" w="618109">
                  <a:moveTo>
                    <a:pt x="0" y="0"/>
                  </a:moveTo>
                  <a:lnTo>
                    <a:pt x="618109" y="0"/>
                  </a:lnTo>
                  <a:lnTo>
                    <a:pt x="618109" y="618109"/>
                  </a:lnTo>
                  <a:lnTo>
                    <a:pt x="0" y="618109"/>
                  </a:lnTo>
                  <a:lnTo>
                    <a:pt x="0" y="0"/>
                  </a:lnTo>
                  <a:close/>
                </a:path>
              </a:pathLst>
            </a:custGeom>
            <a:blipFill>
              <a:blip r:embed="rId7"/>
              <a:stretch>
                <a:fillRect l="0" t="0" r="-4" b="-4"/>
              </a:stretch>
            </a:blipFill>
          </p:spPr>
        </p:sp>
      </p:grpSp>
      <p:sp>
        <p:nvSpPr>
          <p:cNvPr name="Freeform 76" id="76"/>
          <p:cNvSpPr/>
          <p:nvPr/>
        </p:nvSpPr>
        <p:spPr>
          <a:xfrm flipH="false" flipV="false" rot="0">
            <a:off x="5909875" y="6073198"/>
            <a:ext cx="558792" cy="604917"/>
          </a:xfrm>
          <a:custGeom>
            <a:avLst/>
            <a:gdLst/>
            <a:ahLst/>
            <a:cxnLst/>
            <a:rect r="r" b="b" t="t" l="l"/>
            <a:pathLst>
              <a:path h="604917" w="558792">
                <a:moveTo>
                  <a:pt x="0" y="0"/>
                </a:moveTo>
                <a:lnTo>
                  <a:pt x="558792" y="0"/>
                </a:lnTo>
                <a:lnTo>
                  <a:pt x="558792" y="604917"/>
                </a:lnTo>
                <a:lnTo>
                  <a:pt x="0" y="60491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77" id="77"/>
          <p:cNvGrpSpPr/>
          <p:nvPr/>
        </p:nvGrpSpPr>
        <p:grpSpPr>
          <a:xfrm rot="0">
            <a:off x="5904900" y="2282182"/>
            <a:ext cx="549691" cy="549691"/>
            <a:chOff x="0" y="0"/>
            <a:chExt cx="736600" cy="736600"/>
          </a:xfrm>
        </p:grpSpPr>
        <p:sp>
          <p:nvSpPr>
            <p:cNvPr name="Freeform 78" id="78"/>
            <p:cNvSpPr/>
            <p:nvPr/>
          </p:nvSpPr>
          <p:spPr>
            <a:xfrm flipH="false" flipV="false" rot="0">
              <a:off x="0" y="0"/>
              <a:ext cx="736600" cy="736600"/>
            </a:xfrm>
            <a:custGeom>
              <a:avLst/>
              <a:gdLst/>
              <a:ahLst/>
              <a:cxnLst/>
              <a:rect r="r" b="b" t="t" l="l"/>
              <a:pathLst>
                <a:path h="736600" w="736600">
                  <a:moveTo>
                    <a:pt x="386011" y="429"/>
                  </a:moveTo>
                  <a:lnTo>
                    <a:pt x="415652" y="58853"/>
                  </a:lnTo>
                  <a:cubicBezTo>
                    <a:pt x="438360" y="62325"/>
                    <a:pt x="460615" y="68279"/>
                    <a:pt x="482016" y="76631"/>
                  </a:cubicBezTo>
                  <a:lnTo>
                    <a:pt x="536896" y="40852"/>
                  </a:lnTo>
                  <a:cubicBezTo>
                    <a:pt x="547402" y="46262"/>
                    <a:pt x="557639" y="52174"/>
                    <a:pt x="567576" y="58574"/>
                  </a:cubicBezTo>
                  <a:lnTo>
                    <a:pt x="564034" y="123985"/>
                  </a:lnTo>
                  <a:cubicBezTo>
                    <a:pt x="581962" y="138346"/>
                    <a:pt x="598254" y="154633"/>
                    <a:pt x="612617" y="172565"/>
                  </a:cubicBezTo>
                  <a:lnTo>
                    <a:pt x="678031" y="169023"/>
                  </a:lnTo>
                  <a:cubicBezTo>
                    <a:pt x="684425" y="178965"/>
                    <a:pt x="690335" y="189200"/>
                    <a:pt x="695744" y="199699"/>
                  </a:cubicBezTo>
                  <a:lnTo>
                    <a:pt x="659969" y="254582"/>
                  </a:lnTo>
                  <a:cubicBezTo>
                    <a:pt x="668316" y="275985"/>
                    <a:pt x="674277" y="298239"/>
                    <a:pt x="677752" y="320940"/>
                  </a:cubicBezTo>
                  <a:lnTo>
                    <a:pt x="736173" y="350585"/>
                  </a:lnTo>
                  <a:cubicBezTo>
                    <a:pt x="736742" y="362381"/>
                    <a:pt x="736742" y="374206"/>
                    <a:pt x="736173" y="386015"/>
                  </a:cubicBezTo>
                  <a:lnTo>
                    <a:pt x="677752" y="415646"/>
                  </a:lnTo>
                  <a:cubicBezTo>
                    <a:pt x="674277" y="438361"/>
                    <a:pt x="668316" y="460615"/>
                    <a:pt x="659969" y="482018"/>
                  </a:cubicBezTo>
                  <a:lnTo>
                    <a:pt x="695744" y="536887"/>
                  </a:lnTo>
                  <a:cubicBezTo>
                    <a:pt x="690335" y="547401"/>
                    <a:pt x="684425" y="557635"/>
                    <a:pt x="678031" y="567577"/>
                  </a:cubicBezTo>
                  <a:lnTo>
                    <a:pt x="612617" y="564036"/>
                  </a:lnTo>
                  <a:cubicBezTo>
                    <a:pt x="598254" y="581953"/>
                    <a:pt x="581962" y="598254"/>
                    <a:pt x="564034" y="612616"/>
                  </a:cubicBezTo>
                  <a:lnTo>
                    <a:pt x="567576" y="678026"/>
                  </a:lnTo>
                  <a:cubicBezTo>
                    <a:pt x="557639" y="684426"/>
                    <a:pt x="547402" y="690324"/>
                    <a:pt x="536896" y="695734"/>
                  </a:cubicBezTo>
                  <a:lnTo>
                    <a:pt x="482016" y="659968"/>
                  </a:lnTo>
                  <a:cubicBezTo>
                    <a:pt x="460615" y="668307"/>
                    <a:pt x="438360" y="674275"/>
                    <a:pt x="415652" y="677747"/>
                  </a:cubicBezTo>
                  <a:lnTo>
                    <a:pt x="386011" y="736171"/>
                  </a:lnTo>
                  <a:cubicBezTo>
                    <a:pt x="374211" y="736743"/>
                    <a:pt x="362388" y="736743"/>
                    <a:pt x="350586" y="736171"/>
                  </a:cubicBezTo>
                  <a:lnTo>
                    <a:pt x="320946" y="677747"/>
                  </a:lnTo>
                  <a:cubicBezTo>
                    <a:pt x="298238" y="674275"/>
                    <a:pt x="275984" y="668307"/>
                    <a:pt x="254582" y="659968"/>
                  </a:cubicBezTo>
                  <a:lnTo>
                    <a:pt x="199705" y="695734"/>
                  </a:lnTo>
                  <a:cubicBezTo>
                    <a:pt x="189191" y="690324"/>
                    <a:pt x="178956" y="684426"/>
                    <a:pt x="169014" y="678026"/>
                  </a:cubicBezTo>
                  <a:lnTo>
                    <a:pt x="172570" y="612616"/>
                  </a:lnTo>
                  <a:cubicBezTo>
                    <a:pt x="154638" y="598254"/>
                    <a:pt x="138337" y="581953"/>
                    <a:pt x="123975" y="564036"/>
                  </a:cubicBezTo>
                  <a:lnTo>
                    <a:pt x="58565" y="567577"/>
                  </a:lnTo>
                  <a:cubicBezTo>
                    <a:pt x="52178" y="557635"/>
                    <a:pt x="46266" y="547401"/>
                    <a:pt x="40856" y="536887"/>
                  </a:cubicBezTo>
                  <a:lnTo>
                    <a:pt x="76622" y="482018"/>
                  </a:lnTo>
                  <a:cubicBezTo>
                    <a:pt x="68283" y="460615"/>
                    <a:pt x="62315" y="438361"/>
                    <a:pt x="58843" y="415646"/>
                  </a:cubicBezTo>
                  <a:lnTo>
                    <a:pt x="418" y="386015"/>
                  </a:lnTo>
                  <a:cubicBezTo>
                    <a:pt x="-139" y="374206"/>
                    <a:pt x="-139" y="362381"/>
                    <a:pt x="418" y="350585"/>
                  </a:cubicBezTo>
                  <a:lnTo>
                    <a:pt x="58843" y="320940"/>
                  </a:lnTo>
                  <a:cubicBezTo>
                    <a:pt x="62315" y="298239"/>
                    <a:pt x="68283" y="275985"/>
                    <a:pt x="76622" y="254582"/>
                  </a:cubicBezTo>
                  <a:lnTo>
                    <a:pt x="40856" y="199699"/>
                  </a:lnTo>
                  <a:cubicBezTo>
                    <a:pt x="46266" y="189200"/>
                    <a:pt x="52178" y="178965"/>
                    <a:pt x="58565" y="169023"/>
                  </a:cubicBezTo>
                  <a:lnTo>
                    <a:pt x="123975" y="172565"/>
                  </a:lnTo>
                  <a:cubicBezTo>
                    <a:pt x="138337" y="154633"/>
                    <a:pt x="154638" y="138346"/>
                    <a:pt x="172570" y="123985"/>
                  </a:cubicBezTo>
                  <a:lnTo>
                    <a:pt x="169014" y="58574"/>
                  </a:lnTo>
                  <a:cubicBezTo>
                    <a:pt x="178956" y="52174"/>
                    <a:pt x="189191" y="46262"/>
                    <a:pt x="199705" y="40852"/>
                  </a:cubicBezTo>
                  <a:lnTo>
                    <a:pt x="254582" y="76631"/>
                  </a:lnTo>
                  <a:cubicBezTo>
                    <a:pt x="275984" y="68279"/>
                    <a:pt x="298238" y="62325"/>
                    <a:pt x="320946" y="58853"/>
                  </a:cubicBezTo>
                  <a:lnTo>
                    <a:pt x="350586" y="429"/>
                  </a:lnTo>
                  <a:cubicBezTo>
                    <a:pt x="362388" y="-143"/>
                    <a:pt x="374211" y="-143"/>
                    <a:pt x="386011" y="429"/>
                  </a:cubicBezTo>
                  <a:close/>
                  <a:moveTo>
                    <a:pt x="368299" y="189701"/>
                  </a:moveTo>
                  <a:cubicBezTo>
                    <a:pt x="269726" y="189701"/>
                    <a:pt x="189708" y="269725"/>
                    <a:pt x="189708" y="368294"/>
                  </a:cubicBezTo>
                  <a:cubicBezTo>
                    <a:pt x="189708" y="466876"/>
                    <a:pt x="269726" y="546899"/>
                    <a:pt x="368299" y="546899"/>
                  </a:cubicBezTo>
                  <a:cubicBezTo>
                    <a:pt x="466870" y="546899"/>
                    <a:pt x="546898" y="466876"/>
                    <a:pt x="546898" y="368294"/>
                  </a:cubicBezTo>
                  <a:cubicBezTo>
                    <a:pt x="546898" y="269725"/>
                    <a:pt x="466870" y="189701"/>
                    <a:pt x="368299" y="189701"/>
                  </a:cubicBezTo>
                  <a:close/>
                </a:path>
              </a:pathLst>
            </a:custGeom>
            <a:solidFill>
              <a:srgbClr val="DAF1DE"/>
            </a:solidFill>
          </p:spPr>
        </p:sp>
        <p:sp>
          <p:nvSpPr>
            <p:cNvPr name="TextBox 79" id="79"/>
            <p:cNvSpPr txBox="true"/>
            <p:nvPr/>
          </p:nvSpPr>
          <p:spPr>
            <a:xfrm>
              <a:off x="184150" y="146050"/>
              <a:ext cx="368300" cy="406400"/>
            </a:xfrm>
            <a:prstGeom prst="rect">
              <a:avLst/>
            </a:prstGeom>
          </p:spPr>
          <p:txBody>
            <a:bodyPr anchor="ctr" rtlCol="false" tIns="50800" lIns="50800" bIns="50800" rIns="50800"/>
            <a:lstStyle/>
            <a:p>
              <a:pPr algn="ctr">
                <a:lnSpc>
                  <a:spcPts val="2160"/>
                </a:lnSpc>
              </a:pPr>
            </a:p>
          </p:txBody>
        </p:sp>
      </p:grpSp>
      <p:sp>
        <p:nvSpPr>
          <p:cNvPr name="Freeform 80" id="80"/>
          <p:cNvSpPr/>
          <p:nvPr/>
        </p:nvSpPr>
        <p:spPr>
          <a:xfrm flipH="false" flipV="false" rot="0">
            <a:off x="1774458" y="6080640"/>
            <a:ext cx="677570" cy="677570"/>
          </a:xfrm>
          <a:custGeom>
            <a:avLst/>
            <a:gdLst/>
            <a:ahLst/>
            <a:cxnLst/>
            <a:rect r="r" b="b" t="t" l="l"/>
            <a:pathLst>
              <a:path h="677570" w="677570">
                <a:moveTo>
                  <a:pt x="0" y="0"/>
                </a:moveTo>
                <a:lnTo>
                  <a:pt x="677570" y="0"/>
                </a:lnTo>
                <a:lnTo>
                  <a:pt x="677570" y="677571"/>
                </a:lnTo>
                <a:lnTo>
                  <a:pt x="0" y="67757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81" id="81"/>
          <p:cNvSpPr txBox="true"/>
          <p:nvPr/>
        </p:nvSpPr>
        <p:spPr>
          <a:xfrm rot="0">
            <a:off x="803836" y="3512466"/>
            <a:ext cx="2766060" cy="1762125"/>
          </a:xfrm>
          <a:prstGeom prst="rect">
            <a:avLst/>
          </a:prstGeom>
        </p:spPr>
        <p:txBody>
          <a:bodyPr anchor="t" rtlCol="false" tIns="0" lIns="0" bIns="0" rIns="0">
            <a:spAutoFit/>
          </a:bodyPr>
          <a:lstStyle/>
          <a:p>
            <a:pPr algn="l">
              <a:lnSpc>
                <a:spcPts val="1980"/>
              </a:lnSpc>
            </a:pPr>
            <a:r>
              <a:rPr lang="en-US" sz="1650" i="true">
                <a:solidFill>
                  <a:srgbClr val="7A9E8E"/>
                </a:solidFill>
                <a:latin typeface="Calibri (MS) Italics"/>
                <a:ea typeface="Calibri (MS) Italics"/>
                <a:cs typeface="Calibri (MS) Italics"/>
                <a:sym typeface="Calibri (MS) Italics"/>
              </a:rPr>
              <a:t>El sistema debe ser capaz de analizar el contenido de texto de un mensaje SMS mediante un sistema de reglas, comparándolo con un dataset propio de patrones de smishing detectados en Chile.</a:t>
            </a:r>
          </a:p>
        </p:txBody>
      </p:sp>
      <p:sp>
        <p:nvSpPr>
          <p:cNvPr name="TextBox 82" id="82"/>
          <p:cNvSpPr txBox="true"/>
          <p:nvPr/>
        </p:nvSpPr>
        <p:spPr>
          <a:xfrm rot="0">
            <a:off x="4806241" y="3505803"/>
            <a:ext cx="2766060" cy="1762125"/>
          </a:xfrm>
          <a:prstGeom prst="rect">
            <a:avLst/>
          </a:prstGeom>
        </p:spPr>
        <p:txBody>
          <a:bodyPr anchor="t" rtlCol="false" tIns="0" lIns="0" bIns="0" rIns="0">
            <a:spAutoFit/>
          </a:bodyPr>
          <a:lstStyle/>
          <a:p>
            <a:pPr algn="l">
              <a:lnSpc>
                <a:spcPts val="1980"/>
              </a:lnSpc>
            </a:pPr>
            <a:r>
              <a:rPr lang="en-US" sz="1650" i="true">
                <a:solidFill>
                  <a:srgbClr val="7A9E8E"/>
                </a:solidFill>
                <a:latin typeface="Calibri (MS) Italics"/>
                <a:ea typeface="Calibri (MS) Italics"/>
                <a:cs typeface="Calibri (MS) Italics"/>
                <a:sym typeface="Calibri (MS) Italics"/>
              </a:rPr>
              <a:t> El sistema debe verificar la reputación</a:t>
            </a:r>
            <a:r>
              <a:rPr lang="en-US" sz="1650" i="true">
                <a:solidFill>
                  <a:srgbClr val="7A9E8E"/>
                </a:solidFill>
                <a:latin typeface="Calibri (MS) Italics"/>
                <a:ea typeface="Calibri (MS) Italics"/>
                <a:cs typeface="Calibri (MS) Italics"/>
                <a:sym typeface="Calibri (MS) Italics"/>
              </a:rPr>
              <a:t> y la antigüedad de los dominios (incluyendo dominios .cl) extraídos del mensaje, mediante la consulta a la API de VirusTotal y los protocolos WHOIS y RDAP. </a:t>
            </a:r>
          </a:p>
        </p:txBody>
      </p:sp>
      <p:sp>
        <p:nvSpPr>
          <p:cNvPr name="TextBox 83" id="83"/>
          <p:cNvSpPr txBox="true"/>
          <p:nvPr/>
        </p:nvSpPr>
        <p:spPr>
          <a:xfrm rot="0">
            <a:off x="8905801" y="3519275"/>
            <a:ext cx="2766060" cy="1762125"/>
          </a:xfrm>
          <a:prstGeom prst="rect">
            <a:avLst/>
          </a:prstGeom>
        </p:spPr>
        <p:txBody>
          <a:bodyPr anchor="t" rtlCol="false" tIns="0" lIns="0" bIns="0" rIns="0">
            <a:spAutoFit/>
          </a:bodyPr>
          <a:lstStyle/>
          <a:p>
            <a:pPr algn="l">
              <a:lnSpc>
                <a:spcPts val="1980"/>
              </a:lnSpc>
            </a:pPr>
            <a:r>
              <a:rPr lang="en-US" sz="1650" i="true">
                <a:solidFill>
                  <a:srgbClr val="7A9E8E"/>
                </a:solidFill>
                <a:latin typeface="Calibri (MS) Italics"/>
                <a:ea typeface="Calibri (MS) Italics"/>
                <a:cs typeface="Calibri (MS) Italics"/>
                <a:sym typeface="Calibri (MS) Italics"/>
              </a:rPr>
              <a:t>El backend debe procesar los datos obtenidos</a:t>
            </a:r>
            <a:r>
              <a:rPr lang="en-US" sz="1650" i="true">
                <a:solidFill>
                  <a:srgbClr val="7A9E8E"/>
                </a:solidFill>
                <a:latin typeface="Calibri (MS) Italics"/>
                <a:ea typeface="Calibri (MS) Italics"/>
                <a:cs typeface="Calibri (MS) Italics"/>
                <a:sym typeface="Calibri (MS) Italics"/>
              </a:rPr>
              <a:t> del análisis textual y de URLs para generar un puntaje de riesgo (score), el cual clasificará y mostrará el nivel de peligrosidad del mensaje al usuario. </a:t>
            </a:r>
          </a:p>
        </p:txBody>
      </p:sp>
      <p:sp>
        <p:nvSpPr>
          <p:cNvPr name="TextBox 84" id="84"/>
          <p:cNvSpPr txBox="true"/>
          <p:nvPr/>
        </p:nvSpPr>
        <p:spPr>
          <a:xfrm rot="0">
            <a:off x="730213" y="7353186"/>
            <a:ext cx="2766060" cy="2009775"/>
          </a:xfrm>
          <a:prstGeom prst="rect">
            <a:avLst/>
          </a:prstGeom>
        </p:spPr>
        <p:txBody>
          <a:bodyPr anchor="t" rtlCol="false" tIns="0" lIns="0" bIns="0" rIns="0">
            <a:spAutoFit/>
          </a:bodyPr>
          <a:lstStyle/>
          <a:p>
            <a:pPr algn="l">
              <a:lnSpc>
                <a:spcPts val="1980"/>
              </a:lnSpc>
            </a:pPr>
            <a:r>
              <a:rPr lang="en-US" sz="1650" i="true">
                <a:solidFill>
                  <a:srgbClr val="7A9E8E"/>
                </a:solidFill>
                <a:latin typeface="Calibri (MS) Italics"/>
                <a:ea typeface="Calibri (MS) Italics"/>
                <a:cs typeface="Calibri (MS) Italics"/>
                <a:sym typeface="Calibri (MS) Italics"/>
              </a:rPr>
              <a:t>La aplicación debe contar con un chatbot educativo integrado</a:t>
            </a:r>
            <a:r>
              <a:rPr lang="en-US" sz="1650" i="true">
                <a:solidFill>
                  <a:srgbClr val="7A9E8E"/>
                </a:solidFill>
                <a:latin typeface="Calibri (MS) Italics"/>
                <a:ea typeface="Calibri (MS) Italics"/>
                <a:cs typeface="Calibri (MS) Italics"/>
                <a:sym typeface="Calibri (MS) Italics"/>
              </a:rPr>
              <a:t> con la API de Google Gemini, capaz de explicar en palabras simples los resultados del análisis y brindar recomendaciones de seguridad frente al mensaje evaluado.</a:t>
            </a:r>
          </a:p>
        </p:txBody>
      </p:sp>
      <p:sp>
        <p:nvSpPr>
          <p:cNvPr name="TextBox 85" id="85"/>
          <p:cNvSpPr txBox="true"/>
          <p:nvPr/>
        </p:nvSpPr>
        <p:spPr>
          <a:xfrm rot="0">
            <a:off x="13009731" y="3926449"/>
            <a:ext cx="4307456" cy="4981575"/>
          </a:xfrm>
          <a:prstGeom prst="rect">
            <a:avLst/>
          </a:prstGeom>
        </p:spPr>
        <p:txBody>
          <a:bodyPr anchor="t" rtlCol="false" tIns="0" lIns="0" bIns="0" rIns="0">
            <a:spAutoFit/>
          </a:bodyPr>
          <a:lstStyle/>
          <a:p>
            <a:pPr algn="l" marL="356235" indent="-178118" lvl="1">
              <a:lnSpc>
                <a:spcPts val="1980"/>
              </a:lnSpc>
              <a:buFont typeface="Arial"/>
              <a:buChar char="•"/>
            </a:pPr>
            <a:r>
              <a:rPr lang="en-US" b="true" sz="1650" i="true">
                <a:solidFill>
                  <a:srgbClr val="7A9E8E"/>
                </a:solidFill>
                <a:latin typeface="Calibri (MS) Bold Italics"/>
                <a:ea typeface="Calibri (MS) Bold Italics"/>
                <a:cs typeface="Calibri (MS) Bold Italics"/>
                <a:sym typeface="Calibri (MS) Bold Italics"/>
              </a:rPr>
              <a:t>RNF-01 (Entorno y Tecnologías):</a:t>
            </a:r>
          </a:p>
          <a:p>
            <a:pPr algn="ctr">
              <a:lnSpc>
                <a:spcPts val="1980"/>
              </a:lnSpc>
            </a:pPr>
            <a:r>
              <a:rPr lang="en-US" sz="1650" i="true">
                <a:solidFill>
                  <a:srgbClr val="7A9E8E"/>
                </a:solidFill>
                <a:latin typeface="Calibri (MS) Italics"/>
                <a:ea typeface="Calibri (MS) Italics"/>
                <a:cs typeface="Calibri (MS) Italics"/>
                <a:sym typeface="Calibri (MS) Italics"/>
              </a:rPr>
              <a:t>La aplicación móvil debe estar desarrollada           exclusivamente para dispositivos Android utilizando React Native. El backend debe estar construido en Node.js y utilizar MongoDB como motor de base de datos. </a:t>
            </a:r>
          </a:p>
          <a:p>
            <a:pPr algn="l">
              <a:lnSpc>
                <a:spcPts val="1980"/>
              </a:lnSpc>
            </a:pPr>
          </a:p>
          <a:p>
            <a:pPr algn="l" marL="356235" indent="-178118" lvl="1">
              <a:lnSpc>
                <a:spcPts val="1980"/>
              </a:lnSpc>
              <a:buFont typeface="Arial"/>
              <a:buChar char="•"/>
            </a:pPr>
            <a:r>
              <a:rPr lang="en-US" b="true" sz="1650" i="true">
                <a:solidFill>
                  <a:srgbClr val="7A9E8E"/>
                </a:solidFill>
                <a:latin typeface="Calibri (MS) Bold Italics"/>
                <a:ea typeface="Calibri (MS) Bold Italics"/>
                <a:cs typeface="Calibri (MS) Bold Italics"/>
                <a:sym typeface="Calibri (MS) Bold Italics"/>
              </a:rPr>
              <a:t>RNF-02 (Usabilidad y Accesibilidad):</a:t>
            </a:r>
            <a:r>
              <a:rPr lang="en-US" sz="1650" i="true">
                <a:solidFill>
                  <a:srgbClr val="7A9E8E"/>
                </a:solidFill>
                <a:latin typeface="Calibri (MS) Italics"/>
                <a:ea typeface="Calibri (MS) Italics"/>
                <a:cs typeface="Calibri (MS) Italics"/>
                <a:sym typeface="Calibri (MS) Italics"/>
              </a:rPr>
              <a:t> </a:t>
            </a:r>
          </a:p>
          <a:p>
            <a:pPr algn="ctr">
              <a:lnSpc>
                <a:spcPts val="1980"/>
              </a:lnSpc>
            </a:pPr>
            <a:r>
              <a:rPr lang="en-US" sz="1650" i="true">
                <a:solidFill>
                  <a:srgbClr val="7A9E8E"/>
                </a:solidFill>
                <a:latin typeface="Calibri (MS) Italics"/>
                <a:ea typeface="Calibri (MS) Italics"/>
                <a:cs typeface="Calibri (MS) Italics"/>
                <a:sym typeface="Calibri (MS) Italics"/>
              </a:rPr>
              <a:t>La interfaz gráfica debe poseer un diseño altamente intuitivo, adaptado ergonómica y visualmente para las necesidades tecnológicas de los adultos mayores.</a:t>
            </a:r>
          </a:p>
          <a:p>
            <a:pPr algn="l">
              <a:lnSpc>
                <a:spcPts val="1980"/>
              </a:lnSpc>
            </a:pPr>
          </a:p>
          <a:p>
            <a:pPr algn="l" marL="356235" indent="-178118" lvl="1">
              <a:lnSpc>
                <a:spcPts val="1980"/>
              </a:lnSpc>
              <a:buFont typeface="Arial"/>
              <a:buChar char="•"/>
            </a:pPr>
            <a:r>
              <a:rPr lang="en-US" b="true" sz="1650" i="true">
                <a:solidFill>
                  <a:srgbClr val="7A9E8E"/>
                </a:solidFill>
                <a:latin typeface="Calibri (MS) Bold Italics"/>
                <a:ea typeface="Calibri (MS) Bold Italics"/>
                <a:cs typeface="Calibri (MS) Bold Italics"/>
                <a:sym typeface="Calibri (MS) Bold Italics"/>
              </a:rPr>
              <a:t>RNF-03 (Optimización de Recursos):</a:t>
            </a:r>
          </a:p>
          <a:p>
            <a:pPr algn="ctr">
              <a:lnSpc>
                <a:spcPts val="1980"/>
              </a:lnSpc>
            </a:pPr>
            <a:r>
              <a:rPr lang="en-US" sz="1650" i="true">
                <a:solidFill>
                  <a:srgbClr val="7A9E8E"/>
                </a:solidFill>
                <a:latin typeface="Calibri (MS) Italics"/>
                <a:ea typeface="Calibri (MS) Italics"/>
                <a:cs typeface="Calibri (MS) Italics"/>
                <a:sym typeface="Calibri (MS) Italics"/>
              </a:rPr>
              <a:t> El backend debe implementar un sistema de caché de consultas para evitar realizar llamadas redundantes sobre un mismo dominio, respetando así el límite de peticiones de la versión gratuita de VirusTotal (4 por minuto y 500 al día).</a:t>
            </a:r>
          </a:p>
          <a:p>
            <a:pPr algn="l">
              <a:lnSpc>
                <a:spcPts val="1980"/>
              </a:lnSpc>
            </a:pPr>
          </a:p>
        </p:txBody>
      </p:sp>
      <p:sp>
        <p:nvSpPr>
          <p:cNvPr name="TextBox 86" id="86"/>
          <p:cNvSpPr txBox="true"/>
          <p:nvPr/>
        </p:nvSpPr>
        <p:spPr>
          <a:xfrm rot="0">
            <a:off x="4841826" y="7600836"/>
            <a:ext cx="2766060" cy="1514475"/>
          </a:xfrm>
          <a:prstGeom prst="rect">
            <a:avLst/>
          </a:prstGeom>
        </p:spPr>
        <p:txBody>
          <a:bodyPr anchor="t" rtlCol="false" tIns="0" lIns="0" bIns="0" rIns="0">
            <a:spAutoFit/>
          </a:bodyPr>
          <a:lstStyle/>
          <a:p>
            <a:pPr algn="l">
              <a:lnSpc>
                <a:spcPts val="1980"/>
              </a:lnSpc>
            </a:pPr>
            <a:r>
              <a:rPr lang="en-US" sz="1650" i="true">
                <a:solidFill>
                  <a:srgbClr val="7A9E8E"/>
                </a:solidFill>
                <a:latin typeface="Calibri (MS) Italics"/>
                <a:ea typeface="Calibri (MS) Italics"/>
                <a:cs typeface="Calibri (MS) Italics"/>
                <a:sym typeface="Calibri (MS) Italics"/>
              </a:rPr>
              <a:t>El sistema</a:t>
            </a:r>
            <a:r>
              <a:rPr lang="en-US" sz="1650" i="true">
                <a:solidFill>
                  <a:srgbClr val="7A9E8E"/>
                </a:solidFill>
                <a:latin typeface="Calibri (MS) Italics"/>
                <a:ea typeface="Calibri (MS) Italics"/>
                <a:cs typeface="Calibri (MS) Italics"/>
                <a:sym typeface="Calibri (MS) Italics"/>
              </a:rPr>
              <a:t> debe proporcionar un panel de administración web que permita al equipo visualizar estadísticas de análisis, reportes pendientes y las categorías de smishing más frecuentes. </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051F20"/>
        </a:solidFill>
      </p:bgPr>
    </p:bg>
    <p:spTree>
      <p:nvGrpSpPr>
        <p:cNvPr id="1" name=""/>
        <p:cNvGrpSpPr/>
        <p:nvPr/>
      </p:nvGrpSpPr>
      <p:grpSpPr>
        <a:xfrm>
          <a:off x="0" y="0"/>
          <a:ext cx="0" cy="0"/>
          <a:chOff x="0" y="0"/>
          <a:chExt cx="0" cy="0"/>
        </a:xfrm>
      </p:grpSpPr>
      <p:sp>
        <p:nvSpPr>
          <p:cNvPr name="Freeform 2" id="2"/>
          <p:cNvSpPr/>
          <p:nvPr/>
        </p:nvSpPr>
        <p:spPr>
          <a:xfrm flipH="false" flipV="false" rot="0">
            <a:off x="1028700" y="2305639"/>
            <a:ext cx="7519359" cy="6493656"/>
          </a:xfrm>
          <a:custGeom>
            <a:avLst/>
            <a:gdLst/>
            <a:ahLst/>
            <a:cxnLst/>
            <a:rect r="r" b="b" t="t" l="l"/>
            <a:pathLst>
              <a:path h="6493656" w="7519359">
                <a:moveTo>
                  <a:pt x="0" y="0"/>
                </a:moveTo>
                <a:lnTo>
                  <a:pt x="7519359" y="0"/>
                </a:lnTo>
                <a:lnTo>
                  <a:pt x="7519359" y="6493656"/>
                </a:lnTo>
                <a:lnTo>
                  <a:pt x="0" y="6493656"/>
                </a:lnTo>
                <a:lnTo>
                  <a:pt x="0" y="0"/>
                </a:lnTo>
                <a:close/>
              </a:path>
            </a:pathLst>
          </a:custGeom>
          <a:blipFill>
            <a:blip r:embed="rId2"/>
            <a:stretch>
              <a:fillRect l="0" t="0" r="0" b="0"/>
            </a:stretch>
          </a:blipFill>
        </p:spPr>
      </p:sp>
      <p:grpSp>
        <p:nvGrpSpPr>
          <p:cNvPr name="Group 3" id="3"/>
          <p:cNvGrpSpPr/>
          <p:nvPr/>
        </p:nvGrpSpPr>
        <p:grpSpPr>
          <a:xfrm rot="0">
            <a:off x="754380" y="685800"/>
            <a:ext cx="1028700" cy="1028700"/>
            <a:chOff x="0" y="0"/>
            <a:chExt cx="1371600" cy="1371600"/>
          </a:xfrm>
        </p:grpSpPr>
        <p:sp>
          <p:nvSpPr>
            <p:cNvPr name="Freeform 4" id="4"/>
            <p:cNvSpPr/>
            <p:nvPr/>
          </p:nvSpPr>
          <p:spPr>
            <a:xfrm flipH="false" flipV="false" rot="0">
              <a:off x="0" y="0"/>
              <a:ext cx="1371600" cy="1371600"/>
            </a:xfrm>
            <a:custGeom>
              <a:avLst/>
              <a:gdLst/>
              <a:ahLst/>
              <a:cxnLst/>
              <a:rect r="r" b="b" t="t" l="l"/>
              <a:pathLst>
                <a:path h="1371600" w="1371600">
                  <a:moveTo>
                    <a:pt x="0" y="685800"/>
                  </a:moveTo>
                  <a:cubicBezTo>
                    <a:pt x="0" y="307086"/>
                    <a:pt x="307086" y="0"/>
                    <a:pt x="685800" y="0"/>
                  </a:cubicBezTo>
                  <a:cubicBezTo>
                    <a:pt x="1064514" y="0"/>
                    <a:pt x="1371600" y="307086"/>
                    <a:pt x="1371600" y="685800"/>
                  </a:cubicBezTo>
                  <a:cubicBezTo>
                    <a:pt x="1371600" y="1064514"/>
                    <a:pt x="1064514" y="1371600"/>
                    <a:pt x="685800" y="1371600"/>
                  </a:cubicBezTo>
                  <a:cubicBezTo>
                    <a:pt x="307086" y="1371600"/>
                    <a:pt x="0" y="1064514"/>
                    <a:pt x="0" y="685800"/>
                  </a:cubicBezTo>
                  <a:close/>
                </a:path>
              </a:pathLst>
            </a:custGeom>
            <a:solidFill>
              <a:srgbClr val="8EB69B"/>
            </a:solidFill>
          </p:spPr>
        </p:sp>
      </p:grpSp>
      <p:sp>
        <p:nvSpPr>
          <p:cNvPr name="Freeform 5" id="5"/>
          <p:cNvSpPr/>
          <p:nvPr/>
        </p:nvSpPr>
        <p:spPr>
          <a:xfrm flipH="false" flipV="false" rot="0">
            <a:off x="887651" y="838125"/>
            <a:ext cx="762157" cy="724049"/>
          </a:xfrm>
          <a:custGeom>
            <a:avLst/>
            <a:gdLst/>
            <a:ahLst/>
            <a:cxnLst/>
            <a:rect r="r" b="b" t="t" l="l"/>
            <a:pathLst>
              <a:path h="724049" w="762157">
                <a:moveTo>
                  <a:pt x="0" y="0"/>
                </a:moveTo>
                <a:lnTo>
                  <a:pt x="762158" y="0"/>
                </a:lnTo>
                <a:lnTo>
                  <a:pt x="762158" y="724050"/>
                </a:lnTo>
                <a:lnTo>
                  <a:pt x="0" y="72405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6" id="6"/>
          <p:cNvSpPr txBox="true"/>
          <p:nvPr/>
        </p:nvSpPr>
        <p:spPr>
          <a:xfrm rot="0">
            <a:off x="1988199" y="796290"/>
            <a:ext cx="7519359" cy="721995"/>
          </a:xfrm>
          <a:prstGeom prst="rect">
            <a:avLst/>
          </a:prstGeom>
        </p:spPr>
        <p:txBody>
          <a:bodyPr anchor="t" rtlCol="false" tIns="0" lIns="0" bIns="0" rIns="0">
            <a:spAutoFit/>
          </a:bodyPr>
          <a:lstStyle/>
          <a:p>
            <a:pPr algn="l">
              <a:lnSpc>
                <a:spcPts val="5880"/>
              </a:lnSpc>
            </a:pPr>
            <a:r>
              <a:rPr lang="en-US" sz="4200" b="true">
                <a:solidFill>
                  <a:srgbClr val="DAF1DE"/>
                </a:solidFill>
                <a:latin typeface="Cambria Bold"/>
                <a:ea typeface="Cambria Bold"/>
                <a:cs typeface="Cambria Bold"/>
                <a:sym typeface="Cambria Bold"/>
              </a:rPr>
              <a:t>Modelo Base de datos</a:t>
            </a:r>
          </a:p>
        </p:txBody>
      </p:sp>
      <p:sp>
        <p:nvSpPr>
          <p:cNvPr name="TextBox 7" id="7"/>
          <p:cNvSpPr txBox="true"/>
          <p:nvPr/>
        </p:nvSpPr>
        <p:spPr>
          <a:xfrm rot="0">
            <a:off x="9264675" y="2287082"/>
            <a:ext cx="8142473" cy="5698490"/>
          </a:xfrm>
          <a:prstGeom prst="rect">
            <a:avLst/>
          </a:prstGeom>
        </p:spPr>
        <p:txBody>
          <a:bodyPr anchor="t" rtlCol="false" tIns="0" lIns="0" bIns="0" rIns="0">
            <a:spAutoFit/>
          </a:bodyPr>
          <a:lstStyle/>
          <a:p>
            <a:pPr algn="just">
              <a:lnSpc>
                <a:spcPts val="4060"/>
              </a:lnSpc>
            </a:pPr>
            <a:r>
              <a:rPr lang="en-US" sz="2900">
                <a:solidFill>
                  <a:srgbClr val="DAF1DE"/>
                </a:solidFill>
                <a:latin typeface="Calibri (MS)"/>
                <a:ea typeface="Calibri (MS)"/>
                <a:cs typeface="Calibri (MS)"/>
                <a:sym typeface="Calibri (MS)"/>
              </a:rPr>
              <a:t>El dia</a:t>
            </a:r>
            <a:r>
              <a:rPr lang="en-US" sz="2900">
                <a:solidFill>
                  <a:srgbClr val="DAF1DE"/>
                </a:solidFill>
                <a:latin typeface="Calibri (MS)"/>
                <a:ea typeface="Calibri (MS)"/>
                <a:cs typeface="Calibri (MS)"/>
                <a:sym typeface="Calibri (MS)"/>
              </a:rPr>
              <a:t>grama representa la estructura NoSQL del sistema. Destacan dos decisiones arquitectónicas: la separación del número telefónico en la colección USUARIO para garantizar la privacidad y anonimización de los datos mediante una referencia de ObjectId en la colección REPORTE, y la implementación de CACHEDOMINIO con un índice de expiración de tiempo (TTL). Esta caché actúa como contingencia para evitar consultas redundantes y no exceder los límites gratuitos de la API de VirusTotal.</a:t>
            </a:r>
          </a:p>
          <a:p>
            <a:pPr algn="just">
              <a:lnSpc>
                <a:spcPts val="4060"/>
              </a:lnSpc>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DAF1DE"/>
        </a:solidFill>
      </p:bgPr>
    </p:bg>
    <p:spTree>
      <p:nvGrpSpPr>
        <p:cNvPr id="1" name=""/>
        <p:cNvGrpSpPr/>
        <p:nvPr/>
      </p:nvGrpSpPr>
      <p:grpSpPr>
        <a:xfrm>
          <a:off x="0" y="0"/>
          <a:ext cx="0" cy="0"/>
          <a:chOff x="0" y="0"/>
          <a:chExt cx="0" cy="0"/>
        </a:xfrm>
      </p:grpSpPr>
      <p:sp>
        <p:nvSpPr>
          <p:cNvPr name="Freeform 2" id="2"/>
          <p:cNvSpPr/>
          <p:nvPr/>
        </p:nvSpPr>
        <p:spPr>
          <a:xfrm flipH="false" flipV="false" rot="0">
            <a:off x="0" y="45720"/>
            <a:ext cx="18288000" cy="10241280"/>
          </a:xfrm>
          <a:custGeom>
            <a:avLst/>
            <a:gdLst/>
            <a:ahLst/>
            <a:cxnLst/>
            <a:rect r="r" b="b" t="t" l="l"/>
            <a:pathLst>
              <a:path h="10241280" w="18288000">
                <a:moveTo>
                  <a:pt x="0" y="0"/>
                </a:moveTo>
                <a:lnTo>
                  <a:pt x="18288000" y="0"/>
                </a:lnTo>
                <a:lnTo>
                  <a:pt x="18288000" y="10241280"/>
                </a:lnTo>
                <a:lnTo>
                  <a:pt x="0" y="10241280"/>
                </a:lnTo>
                <a:lnTo>
                  <a:pt x="0" y="0"/>
                </a:lnTo>
                <a:close/>
              </a:path>
            </a:pathLst>
          </a:custGeom>
          <a:blipFill>
            <a:blip r:embed="rId2">
              <a:alphaModFix amt="40000"/>
            </a:blip>
            <a:stretch>
              <a:fillRect l="0" t="0" r="0" b="0"/>
            </a:stretch>
          </a:blipFill>
        </p:spPr>
      </p:sp>
      <p:grpSp>
        <p:nvGrpSpPr>
          <p:cNvPr name="Group 3" id="3"/>
          <p:cNvGrpSpPr/>
          <p:nvPr/>
        </p:nvGrpSpPr>
        <p:grpSpPr>
          <a:xfrm rot="0">
            <a:off x="754380" y="685800"/>
            <a:ext cx="1028700" cy="1028700"/>
            <a:chOff x="0" y="0"/>
            <a:chExt cx="1371600" cy="1371600"/>
          </a:xfrm>
        </p:grpSpPr>
        <p:sp>
          <p:nvSpPr>
            <p:cNvPr name="Freeform 4" id="4"/>
            <p:cNvSpPr/>
            <p:nvPr/>
          </p:nvSpPr>
          <p:spPr>
            <a:xfrm flipH="false" flipV="false" rot="0">
              <a:off x="0" y="0"/>
              <a:ext cx="1371600" cy="1371600"/>
            </a:xfrm>
            <a:custGeom>
              <a:avLst/>
              <a:gdLst/>
              <a:ahLst/>
              <a:cxnLst/>
              <a:rect r="r" b="b" t="t" l="l"/>
              <a:pathLst>
                <a:path h="1371600" w="1371600">
                  <a:moveTo>
                    <a:pt x="0" y="685800"/>
                  </a:moveTo>
                  <a:cubicBezTo>
                    <a:pt x="0" y="307086"/>
                    <a:pt x="307086" y="0"/>
                    <a:pt x="685800" y="0"/>
                  </a:cubicBezTo>
                  <a:cubicBezTo>
                    <a:pt x="1064514" y="0"/>
                    <a:pt x="1371600" y="307086"/>
                    <a:pt x="1371600" y="685800"/>
                  </a:cubicBezTo>
                  <a:cubicBezTo>
                    <a:pt x="1371600" y="1064514"/>
                    <a:pt x="1064514" y="1371600"/>
                    <a:pt x="685800" y="1371600"/>
                  </a:cubicBezTo>
                  <a:cubicBezTo>
                    <a:pt x="307086" y="1371600"/>
                    <a:pt x="0" y="1064514"/>
                    <a:pt x="0" y="685800"/>
                  </a:cubicBezTo>
                  <a:close/>
                </a:path>
              </a:pathLst>
            </a:custGeom>
            <a:solidFill>
              <a:srgbClr val="0B2B26"/>
            </a:solidFill>
          </p:spPr>
        </p:sp>
      </p:grpSp>
      <p:sp>
        <p:nvSpPr>
          <p:cNvPr name="Freeform 5" id="5"/>
          <p:cNvSpPr/>
          <p:nvPr/>
        </p:nvSpPr>
        <p:spPr>
          <a:xfrm flipH="false" flipV="false" rot="0">
            <a:off x="882589" y="814009"/>
            <a:ext cx="772282" cy="772282"/>
          </a:xfrm>
          <a:custGeom>
            <a:avLst/>
            <a:gdLst/>
            <a:ahLst/>
            <a:cxnLst/>
            <a:rect r="r" b="b" t="t" l="l"/>
            <a:pathLst>
              <a:path h="772282" w="772282">
                <a:moveTo>
                  <a:pt x="0" y="0"/>
                </a:moveTo>
                <a:lnTo>
                  <a:pt x="772282" y="0"/>
                </a:lnTo>
                <a:lnTo>
                  <a:pt x="772282" y="772282"/>
                </a:lnTo>
                <a:lnTo>
                  <a:pt x="0" y="77228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5417230" y="1714500"/>
            <a:ext cx="12292653" cy="8243761"/>
          </a:xfrm>
          <a:custGeom>
            <a:avLst/>
            <a:gdLst/>
            <a:ahLst/>
            <a:cxnLst/>
            <a:rect r="r" b="b" t="t" l="l"/>
            <a:pathLst>
              <a:path h="8243761" w="12292653">
                <a:moveTo>
                  <a:pt x="0" y="0"/>
                </a:moveTo>
                <a:lnTo>
                  <a:pt x="12292653" y="0"/>
                </a:lnTo>
                <a:lnTo>
                  <a:pt x="12292653" y="8243761"/>
                </a:lnTo>
                <a:lnTo>
                  <a:pt x="0" y="8243761"/>
                </a:lnTo>
                <a:lnTo>
                  <a:pt x="0" y="0"/>
                </a:lnTo>
                <a:close/>
              </a:path>
            </a:pathLst>
          </a:custGeom>
          <a:blipFill>
            <a:blip r:embed="rId5"/>
            <a:stretch>
              <a:fillRect l="0" t="0" r="0" b="0"/>
            </a:stretch>
          </a:blipFill>
        </p:spPr>
      </p:sp>
      <p:sp>
        <p:nvSpPr>
          <p:cNvPr name="TextBox 7" id="7"/>
          <p:cNvSpPr txBox="true"/>
          <p:nvPr/>
        </p:nvSpPr>
        <p:spPr>
          <a:xfrm rot="0">
            <a:off x="1932351" y="796290"/>
            <a:ext cx="5897910" cy="721995"/>
          </a:xfrm>
          <a:prstGeom prst="rect">
            <a:avLst/>
          </a:prstGeom>
        </p:spPr>
        <p:txBody>
          <a:bodyPr anchor="t" rtlCol="false" tIns="0" lIns="0" bIns="0" rIns="0">
            <a:spAutoFit/>
          </a:bodyPr>
          <a:lstStyle/>
          <a:p>
            <a:pPr algn="ctr">
              <a:lnSpc>
                <a:spcPts val="5880"/>
              </a:lnSpc>
            </a:pPr>
            <a:r>
              <a:rPr lang="en-US" sz="4200" b="true">
                <a:solidFill>
                  <a:srgbClr val="051F20"/>
                </a:solidFill>
                <a:latin typeface="Cambria Bold"/>
                <a:ea typeface="Cambria Bold"/>
                <a:cs typeface="Cambria Bold"/>
                <a:sym typeface="Cambria Bold"/>
              </a:rPr>
              <a:t>Arquitectura de Sistema</a:t>
            </a:r>
          </a:p>
        </p:txBody>
      </p:sp>
      <p:sp>
        <p:nvSpPr>
          <p:cNvPr name="TextBox 8" id="8"/>
          <p:cNvSpPr txBox="true"/>
          <p:nvPr/>
        </p:nvSpPr>
        <p:spPr>
          <a:xfrm rot="0">
            <a:off x="220213" y="2609739"/>
            <a:ext cx="4865576" cy="5484926"/>
          </a:xfrm>
          <a:prstGeom prst="rect">
            <a:avLst/>
          </a:prstGeom>
        </p:spPr>
        <p:txBody>
          <a:bodyPr anchor="t" rtlCol="false" tIns="0" lIns="0" bIns="0" rIns="0">
            <a:spAutoFit/>
          </a:bodyPr>
          <a:lstStyle/>
          <a:p>
            <a:pPr algn="just">
              <a:lnSpc>
                <a:spcPts val="2706"/>
              </a:lnSpc>
            </a:pPr>
            <a:r>
              <a:rPr lang="en-US" sz="1933">
                <a:solidFill>
                  <a:srgbClr val="051F20"/>
                </a:solidFill>
                <a:latin typeface="Cambria"/>
                <a:ea typeface="Cambria"/>
                <a:cs typeface="Cambria"/>
                <a:sym typeface="Cambria"/>
              </a:rPr>
              <a:t>Infraestructura y Componentes Tecnológicos</a:t>
            </a:r>
          </a:p>
          <a:p>
            <a:pPr algn="just" marL="417339" indent="-208670" lvl="1">
              <a:lnSpc>
                <a:spcPts val="2706"/>
              </a:lnSpc>
              <a:buFont typeface="Arial"/>
              <a:buChar char="•"/>
            </a:pPr>
            <a:r>
              <a:rPr lang="en-US" sz="1933">
                <a:solidFill>
                  <a:srgbClr val="051F20"/>
                </a:solidFill>
                <a:latin typeface="Cambria"/>
                <a:ea typeface="Cambria"/>
                <a:cs typeface="Cambria"/>
                <a:sym typeface="Cambria"/>
              </a:rPr>
              <a:t>Frontend / Cliente: React Native / </a:t>
            </a:r>
            <a:r>
              <a:rPr lang="en-US" sz="1933">
                <a:solidFill>
                  <a:srgbClr val="051F20"/>
                </a:solidFill>
                <a:latin typeface="Cambria"/>
                <a:ea typeface="Cambria"/>
                <a:cs typeface="Cambria"/>
                <a:sym typeface="Cambria"/>
              </a:rPr>
              <a:t>Android (Captura SMS, Portapapeles e Interfaz de Usuario).</a:t>
            </a:r>
          </a:p>
          <a:p>
            <a:pPr algn="just" marL="417339" indent="-208670" lvl="1">
              <a:lnSpc>
                <a:spcPts val="2706"/>
              </a:lnSpc>
              <a:buFont typeface="Arial"/>
              <a:buChar char="•"/>
            </a:pPr>
            <a:r>
              <a:rPr lang="en-US" sz="1933">
                <a:solidFill>
                  <a:srgbClr val="051F20"/>
                </a:solidFill>
                <a:latin typeface="Cambria"/>
                <a:ea typeface="Cambria"/>
                <a:cs typeface="Cambria"/>
                <a:sym typeface="Cambria"/>
              </a:rPr>
              <a:t>Backend (PaaS): Node.js / Express en Render para orquestación de reglas de negocio y scoring.</a:t>
            </a:r>
          </a:p>
          <a:p>
            <a:pPr algn="just" marL="417339" indent="-208670" lvl="1">
              <a:lnSpc>
                <a:spcPts val="2706"/>
              </a:lnSpc>
              <a:buFont typeface="Arial"/>
              <a:buChar char="•"/>
            </a:pPr>
            <a:r>
              <a:rPr lang="en-US" sz="1933">
                <a:solidFill>
                  <a:srgbClr val="051F20"/>
                </a:solidFill>
                <a:latin typeface="Cambria"/>
                <a:ea typeface="Cambria"/>
                <a:cs typeface="Cambria"/>
                <a:sym typeface="Cambria"/>
              </a:rPr>
              <a:t>Servicios de Inteligencia: Integración con VirusTotal API (Reputación de URLs), RDAP/WHOIS (Antigüedad de Dominio) y Google Gemini API (Chatbot Educativo).</a:t>
            </a:r>
          </a:p>
          <a:p>
            <a:pPr algn="just" marL="417339" indent="-208670" lvl="1">
              <a:lnSpc>
                <a:spcPts val="2706"/>
              </a:lnSpc>
              <a:buFont typeface="Arial"/>
              <a:buChar char="•"/>
            </a:pPr>
            <a:r>
              <a:rPr lang="en-US" sz="1933">
                <a:solidFill>
                  <a:srgbClr val="051F20"/>
                </a:solidFill>
                <a:latin typeface="Cambria"/>
                <a:ea typeface="Cambria"/>
                <a:cs typeface="Cambria"/>
                <a:sym typeface="Cambria"/>
              </a:rPr>
              <a:t>Base de Datos (DBaaS): Cluster NoSQL MongoDB Atlas estructurado con estrategia Cache-Aside y colección de reportes por usuario.</a:t>
            </a:r>
          </a:p>
          <a:p>
            <a:pPr algn="just">
              <a:lnSpc>
                <a:spcPts val="2706"/>
              </a:lnSpc>
            </a:pP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DAF1DE"/>
        </a:solidFill>
      </p:bgPr>
    </p:bg>
    <p:spTree>
      <p:nvGrpSpPr>
        <p:cNvPr id="1" name=""/>
        <p:cNvGrpSpPr/>
        <p:nvPr/>
      </p:nvGrpSpPr>
      <p:grpSpPr>
        <a:xfrm>
          <a:off x="0" y="0"/>
          <a:ext cx="0" cy="0"/>
          <a:chOff x="0" y="0"/>
          <a:chExt cx="0" cy="0"/>
        </a:xfrm>
      </p:grpSpPr>
      <p:sp>
        <p:nvSpPr>
          <p:cNvPr name="Freeform 2" id="2"/>
          <p:cNvSpPr/>
          <p:nvPr/>
        </p:nvSpPr>
        <p:spPr>
          <a:xfrm flipH="false" flipV="false" rot="0">
            <a:off x="0" y="45720"/>
            <a:ext cx="18288000" cy="10241280"/>
          </a:xfrm>
          <a:custGeom>
            <a:avLst/>
            <a:gdLst/>
            <a:ahLst/>
            <a:cxnLst/>
            <a:rect r="r" b="b" t="t" l="l"/>
            <a:pathLst>
              <a:path h="10241280" w="18288000">
                <a:moveTo>
                  <a:pt x="0" y="0"/>
                </a:moveTo>
                <a:lnTo>
                  <a:pt x="18288000" y="0"/>
                </a:lnTo>
                <a:lnTo>
                  <a:pt x="18288000" y="10241280"/>
                </a:lnTo>
                <a:lnTo>
                  <a:pt x="0" y="10241280"/>
                </a:lnTo>
                <a:lnTo>
                  <a:pt x="0" y="0"/>
                </a:lnTo>
                <a:close/>
              </a:path>
            </a:pathLst>
          </a:custGeom>
          <a:blipFill>
            <a:blip r:embed="rId2">
              <a:alphaModFix amt="40000"/>
            </a:blip>
            <a:stretch>
              <a:fillRect l="0" t="0" r="0" b="0"/>
            </a:stretch>
          </a:blipFill>
        </p:spPr>
      </p:sp>
      <p:grpSp>
        <p:nvGrpSpPr>
          <p:cNvPr name="Group 3" id="3"/>
          <p:cNvGrpSpPr/>
          <p:nvPr/>
        </p:nvGrpSpPr>
        <p:grpSpPr>
          <a:xfrm rot="0">
            <a:off x="754380" y="685800"/>
            <a:ext cx="1028700" cy="1028700"/>
            <a:chOff x="0" y="0"/>
            <a:chExt cx="1371600" cy="1371600"/>
          </a:xfrm>
        </p:grpSpPr>
        <p:sp>
          <p:nvSpPr>
            <p:cNvPr name="Freeform 4" id="4"/>
            <p:cNvSpPr/>
            <p:nvPr/>
          </p:nvSpPr>
          <p:spPr>
            <a:xfrm flipH="false" flipV="false" rot="0">
              <a:off x="0" y="0"/>
              <a:ext cx="1371600" cy="1371600"/>
            </a:xfrm>
            <a:custGeom>
              <a:avLst/>
              <a:gdLst/>
              <a:ahLst/>
              <a:cxnLst/>
              <a:rect r="r" b="b" t="t" l="l"/>
              <a:pathLst>
                <a:path h="1371600" w="1371600">
                  <a:moveTo>
                    <a:pt x="0" y="685800"/>
                  </a:moveTo>
                  <a:cubicBezTo>
                    <a:pt x="0" y="307086"/>
                    <a:pt x="307086" y="0"/>
                    <a:pt x="685800" y="0"/>
                  </a:cubicBezTo>
                  <a:cubicBezTo>
                    <a:pt x="1064514" y="0"/>
                    <a:pt x="1371600" y="307086"/>
                    <a:pt x="1371600" y="685800"/>
                  </a:cubicBezTo>
                  <a:cubicBezTo>
                    <a:pt x="1371600" y="1064514"/>
                    <a:pt x="1064514" y="1371600"/>
                    <a:pt x="685800" y="1371600"/>
                  </a:cubicBezTo>
                  <a:cubicBezTo>
                    <a:pt x="307086" y="1371600"/>
                    <a:pt x="0" y="1064514"/>
                    <a:pt x="0" y="685800"/>
                  </a:cubicBezTo>
                  <a:close/>
                </a:path>
              </a:pathLst>
            </a:custGeom>
            <a:solidFill>
              <a:srgbClr val="0B2B26"/>
            </a:solidFill>
          </p:spPr>
        </p:sp>
      </p:grpSp>
      <p:grpSp>
        <p:nvGrpSpPr>
          <p:cNvPr name="Group 5" id="5"/>
          <p:cNvGrpSpPr/>
          <p:nvPr/>
        </p:nvGrpSpPr>
        <p:grpSpPr>
          <a:xfrm rot="0">
            <a:off x="1001268" y="932688"/>
            <a:ext cx="534924" cy="534924"/>
            <a:chOff x="0" y="0"/>
            <a:chExt cx="713232" cy="713232"/>
          </a:xfrm>
        </p:grpSpPr>
        <p:sp>
          <p:nvSpPr>
            <p:cNvPr name="Freeform 6" id="6" descr="/home/claude/sms-security/icons/target_light.png"/>
            <p:cNvSpPr/>
            <p:nvPr/>
          </p:nvSpPr>
          <p:spPr>
            <a:xfrm flipH="false" flipV="false" rot="0">
              <a:off x="0" y="0"/>
              <a:ext cx="713232" cy="713232"/>
            </a:xfrm>
            <a:custGeom>
              <a:avLst/>
              <a:gdLst/>
              <a:ahLst/>
              <a:cxnLst/>
              <a:rect r="r" b="b" t="t" l="l"/>
              <a:pathLst>
                <a:path h="713232" w="713232">
                  <a:moveTo>
                    <a:pt x="0" y="0"/>
                  </a:moveTo>
                  <a:lnTo>
                    <a:pt x="713232" y="0"/>
                  </a:lnTo>
                  <a:lnTo>
                    <a:pt x="713232" y="713232"/>
                  </a:lnTo>
                  <a:lnTo>
                    <a:pt x="0" y="713232"/>
                  </a:lnTo>
                  <a:lnTo>
                    <a:pt x="0" y="0"/>
                  </a:lnTo>
                  <a:close/>
                </a:path>
              </a:pathLst>
            </a:custGeom>
            <a:blipFill>
              <a:blip r:embed="rId3"/>
              <a:stretch>
                <a:fillRect l="0" t="0" r="0" b="0"/>
              </a:stretch>
            </a:blipFill>
          </p:spPr>
        </p:sp>
      </p:grpSp>
      <p:grpSp>
        <p:nvGrpSpPr>
          <p:cNvPr name="Group 7" id="7"/>
          <p:cNvGrpSpPr/>
          <p:nvPr/>
        </p:nvGrpSpPr>
        <p:grpSpPr>
          <a:xfrm rot="0">
            <a:off x="2057400" y="-537131"/>
            <a:ext cx="14401800" cy="3081449"/>
            <a:chOff x="0" y="0"/>
            <a:chExt cx="19202400" cy="4108599"/>
          </a:xfrm>
        </p:grpSpPr>
        <p:sp>
          <p:nvSpPr>
            <p:cNvPr name="Freeform 8" id="8"/>
            <p:cNvSpPr/>
            <p:nvPr/>
          </p:nvSpPr>
          <p:spPr>
            <a:xfrm flipH="false" flipV="false" rot="0">
              <a:off x="0" y="0"/>
              <a:ext cx="19202400" cy="4108599"/>
            </a:xfrm>
            <a:custGeom>
              <a:avLst/>
              <a:gdLst/>
              <a:ahLst/>
              <a:cxnLst/>
              <a:rect r="r" b="b" t="t" l="l"/>
              <a:pathLst>
                <a:path h="4108599" w="19202400">
                  <a:moveTo>
                    <a:pt x="0" y="0"/>
                  </a:moveTo>
                  <a:lnTo>
                    <a:pt x="19202400" y="0"/>
                  </a:lnTo>
                  <a:lnTo>
                    <a:pt x="19202400" y="4108599"/>
                  </a:lnTo>
                  <a:lnTo>
                    <a:pt x="0" y="4108599"/>
                  </a:lnTo>
                  <a:close/>
                </a:path>
              </a:pathLst>
            </a:custGeom>
            <a:blipFill>
              <a:blip r:embed="rId4">
                <a:alphaModFix amt="0"/>
              </a:blip>
              <a:stretch>
                <a:fillRect l="0" t="-78826" r="0" b="-3308"/>
              </a:stretch>
            </a:blipFill>
          </p:spPr>
        </p:sp>
        <p:sp>
          <p:nvSpPr>
            <p:cNvPr name="TextBox 9" id="9"/>
            <p:cNvSpPr txBox="true"/>
            <p:nvPr/>
          </p:nvSpPr>
          <p:spPr>
            <a:xfrm>
              <a:off x="0" y="-9525"/>
              <a:ext cx="19202400" cy="4118124"/>
            </a:xfrm>
            <a:prstGeom prst="rect">
              <a:avLst/>
            </a:prstGeom>
          </p:spPr>
          <p:txBody>
            <a:bodyPr anchor="ctr" rtlCol="false" tIns="0" lIns="0" bIns="0" rIns="0"/>
            <a:lstStyle/>
            <a:p>
              <a:pPr algn="l">
                <a:lnSpc>
                  <a:spcPts val="5040"/>
                </a:lnSpc>
              </a:pPr>
              <a:r>
                <a:rPr lang="en-US" sz="4200" b="true">
                  <a:solidFill>
                    <a:srgbClr val="051F20"/>
                  </a:solidFill>
                  <a:latin typeface="Cambria Bold"/>
                  <a:ea typeface="Cambria Bold"/>
                  <a:cs typeface="Cambria Bold"/>
                  <a:sym typeface="Cambria Bold"/>
                </a:rPr>
                <a:t>BackEnd</a:t>
              </a:r>
            </a:p>
          </p:txBody>
        </p:sp>
      </p:grpSp>
      <p:grpSp>
        <p:nvGrpSpPr>
          <p:cNvPr name="Group 10" id="10"/>
          <p:cNvGrpSpPr/>
          <p:nvPr/>
        </p:nvGrpSpPr>
        <p:grpSpPr>
          <a:xfrm rot="0">
            <a:off x="1988820" y="1303020"/>
            <a:ext cx="14401800" cy="480060"/>
            <a:chOff x="0" y="0"/>
            <a:chExt cx="19202400" cy="640080"/>
          </a:xfrm>
        </p:grpSpPr>
        <p:sp>
          <p:nvSpPr>
            <p:cNvPr name="Freeform 11" id="11"/>
            <p:cNvSpPr/>
            <p:nvPr/>
          </p:nvSpPr>
          <p:spPr>
            <a:xfrm flipH="false" flipV="false" rot="0">
              <a:off x="0" y="0"/>
              <a:ext cx="19202400" cy="640080"/>
            </a:xfrm>
            <a:custGeom>
              <a:avLst/>
              <a:gdLst/>
              <a:ahLst/>
              <a:cxnLst/>
              <a:rect r="r" b="b" t="t" l="l"/>
              <a:pathLst>
                <a:path h="640080" w="19202400">
                  <a:moveTo>
                    <a:pt x="0" y="0"/>
                  </a:moveTo>
                  <a:lnTo>
                    <a:pt x="19202400" y="0"/>
                  </a:lnTo>
                  <a:lnTo>
                    <a:pt x="19202400" y="640080"/>
                  </a:lnTo>
                  <a:lnTo>
                    <a:pt x="0" y="640080"/>
                  </a:lnTo>
                  <a:close/>
                </a:path>
              </a:pathLst>
            </a:custGeom>
            <a:blipFill>
              <a:blip r:embed="rId4">
                <a:alphaModFix amt="0"/>
              </a:blip>
              <a:stretch>
                <a:fillRect l="0" t="-534551" r="0" b="-534551"/>
              </a:stretch>
            </a:blipFill>
          </p:spPr>
        </p:sp>
        <p:sp>
          <p:nvSpPr>
            <p:cNvPr name="TextBox 12" id="12"/>
            <p:cNvSpPr txBox="true"/>
            <p:nvPr/>
          </p:nvSpPr>
          <p:spPr>
            <a:xfrm>
              <a:off x="0" y="-47625"/>
              <a:ext cx="19202400" cy="687705"/>
            </a:xfrm>
            <a:prstGeom prst="rect">
              <a:avLst/>
            </a:prstGeom>
          </p:spPr>
          <p:txBody>
            <a:bodyPr anchor="ctr" rtlCol="false" tIns="0" lIns="0" bIns="0" rIns="0"/>
            <a:lstStyle/>
            <a:p>
              <a:pPr algn="l">
                <a:lnSpc>
                  <a:spcPts val="2340"/>
                </a:lnSpc>
              </a:pPr>
              <a:r>
                <a:rPr lang="en-US" sz="1950" i="true">
                  <a:solidFill>
                    <a:srgbClr val="235347"/>
                  </a:solidFill>
                  <a:latin typeface="Calibri (MS) Italics"/>
                  <a:ea typeface="Calibri (MS) Italics"/>
                  <a:cs typeface="Calibri (MS) Italics"/>
                  <a:sym typeface="Calibri (MS) Italics"/>
                </a:rPr>
                <a:t>Avances Obtenidos en el Backend</a:t>
              </a:r>
            </a:p>
          </p:txBody>
        </p:sp>
      </p:grpSp>
      <p:grpSp>
        <p:nvGrpSpPr>
          <p:cNvPr name="Group 13" id="13"/>
          <p:cNvGrpSpPr/>
          <p:nvPr/>
        </p:nvGrpSpPr>
        <p:grpSpPr>
          <a:xfrm rot="0">
            <a:off x="754380" y="2125980"/>
            <a:ext cx="16802100" cy="2155434"/>
            <a:chOff x="0" y="0"/>
            <a:chExt cx="22402800" cy="2873911"/>
          </a:xfrm>
        </p:grpSpPr>
        <p:sp>
          <p:nvSpPr>
            <p:cNvPr name="Freeform 14" id="14"/>
            <p:cNvSpPr/>
            <p:nvPr/>
          </p:nvSpPr>
          <p:spPr>
            <a:xfrm flipH="false" flipV="false" rot="0">
              <a:off x="0" y="0"/>
              <a:ext cx="22402800" cy="2873911"/>
            </a:xfrm>
            <a:custGeom>
              <a:avLst/>
              <a:gdLst/>
              <a:ahLst/>
              <a:cxnLst/>
              <a:rect r="r" b="b" t="t" l="l"/>
              <a:pathLst>
                <a:path h="2873911" w="22402800">
                  <a:moveTo>
                    <a:pt x="0" y="249905"/>
                  </a:moveTo>
                  <a:cubicBezTo>
                    <a:pt x="0" y="111937"/>
                    <a:pt x="81915" y="0"/>
                    <a:pt x="182880" y="0"/>
                  </a:cubicBezTo>
                  <a:lnTo>
                    <a:pt x="22219920" y="0"/>
                  </a:lnTo>
                  <a:cubicBezTo>
                    <a:pt x="22320884" y="0"/>
                    <a:pt x="22402800" y="111937"/>
                    <a:pt x="22402800" y="249905"/>
                  </a:cubicBezTo>
                  <a:lnTo>
                    <a:pt x="22402800" y="2624006"/>
                  </a:lnTo>
                  <a:cubicBezTo>
                    <a:pt x="22402800" y="2761975"/>
                    <a:pt x="22320884" y="2873911"/>
                    <a:pt x="22219920" y="2873911"/>
                  </a:cubicBezTo>
                  <a:lnTo>
                    <a:pt x="182880" y="2873911"/>
                  </a:lnTo>
                  <a:cubicBezTo>
                    <a:pt x="81915" y="2873912"/>
                    <a:pt x="0" y="2761975"/>
                    <a:pt x="0" y="2624006"/>
                  </a:cubicBezTo>
                  <a:close/>
                </a:path>
              </a:pathLst>
            </a:custGeom>
            <a:solidFill>
              <a:srgbClr val="051F20"/>
            </a:solidFill>
          </p:spPr>
        </p:sp>
      </p:grpSp>
      <p:grpSp>
        <p:nvGrpSpPr>
          <p:cNvPr name="Group 15" id="15"/>
          <p:cNvGrpSpPr/>
          <p:nvPr/>
        </p:nvGrpSpPr>
        <p:grpSpPr>
          <a:xfrm rot="0">
            <a:off x="1097280" y="2400300"/>
            <a:ext cx="960120" cy="960120"/>
            <a:chOff x="0" y="0"/>
            <a:chExt cx="1280160" cy="1280160"/>
          </a:xfrm>
        </p:grpSpPr>
        <p:sp>
          <p:nvSpPr>
            <p:cNvPr name="Freeform 16" id="16"/>
            <p:cNvSpPr/>
            <p:nvPr/>
          </p:nvSpPr>
          <p:spPr>
            <a:xfrm flipH="false" flipV="false" rot="0">
              <a:off x="0" y="0"/>
              <a:ext cx="1280160" cy="1280160"/>
            </a:xfrm>
            <a:custGeom>
              <a:avLst/>
              <a:gdLst/>
              <a:ahLst/>
              <a:cxnLst/>
              <a:rect r="r" b="b" t="t" l="l"/>
              <a:pathLst>
                <a:path h="1280160" w="1280160">
                  <a:moveTo>
                    <a:pt x="0" y="640080"/>
                  </a:moveTo>
                  <a:cubicBezTo>
                    <a:pt x="0" y="286512"/>
                    <a:pt x="286512" y="0"/>
                    <a:pt x="640080" y="0"/>
                  </a:cubicBezTo>
                  <a:cubicBezTo>
                    <a:pt x="993648" y="0"/>
                    <a:pt x="1280160" y="286512"/>
                    <a:pt x="1280160" y="640080"/>
                  </a:cubicBezTo>
                  <a:cubicBezTo>
                    <a:pt x="1280160" y="993648"/>
                    <a:pt x="993648" y="1280160"/>
                    <a:pt x="640080" y="1280160"/>
                  </a:cubicBezTo>
                  <a:cubicBezTo>
                    <a:pt x="286512" y="1280160"/>
                    <a:pt x="0" y="993648"/>
                    <a:pt x="0" y="640080"/>
                  </a:cubicBezTo>
                  <a:close/>
                </a:path>
              </a:pathLst>
            </a:custGeom>
            <a:solidFill>
              <a:srgbClr val="8EB69B"/>
            </a:solidFill>
          </p:spPr>
        </p:sp>
      </p:grpSp>
      <p:grpSp>
        <p:nvGrpSpPr>
          <p:cNvPr name="Group 17" id="17"/>
          <p:cNvGrpSpPr/>
          <p:nvPr/>
        </p:nvGrpSpPr>
        <p:grpSpPr>
          <a:xfrm rot="0">
            <a:off x="1327709" y="2630729"/>
            <a:ext cx="499262" cy="499262"/>
            <a:chOff x="0" y="0"/>
            <a:chExt cx="665683" cy="665683"/>
          </a:xfrm>
        </p:grpSpPr>
        <p:sp>
          <p:nvSpPr>
            <p:cNvPr name="Freeform 18" id="18" descr="/home/claude/sms-security/icons/flag_dark1.png"/>
            <p:cNvSpPr/>
            <p:nvPr/>
          </p:nvSpPr>
          <p:spPr>
            <a:xfrm flipH="false" flipV="false" rot="0">
              <a:off x="0" y="0"/>
              <a:ext cx="665734" cy="665734"/>
            </a:xfrm>
            <a:custGeom>
              <a:avLst/>
              <a:gdLst/>
              <a:ahLst/>
              <a:cxnLst/>
              <a:rect r="r" b="b" t="t" l="l"/>
              <a:pathLst>
                <a:path h="665734" w="665734">
                  <a:moveTo>
                    <a:pt x="0" y="0"/>
                  </a:moveTo>
                  <a:lnTo>
                    <a:pt x="665734" y="0"/>
                  </a:lnTo>
                  <a:lnTo>
                    <a:pt x="665734" y="665734"/>
                  </a:lnTo>
                  <a:lnTo>
                    <a:pt x="0" y="665734"/>
                  </a:lnTo>
                  <a:lnTo>
                    <a:pt x="0" y="0"/>
                  </a:lnTo>
                  <a:close/>
                </a:path>
              </a:pathLst>
            </a:custGeom>
            <a:blipFill>
              <a:blip r:embed="rId5"/>
              <a:stretch>
                <a:fillRect l="0" t="0" r="7" b="7"/>
              </a:stretch>
            </a:blipFill>
          </p:spPr>
        </p:sp>
      </p:grpSp>
      <p:grpSp>
        <p:nvGrpSpPr>
          <p:cNvPr name="Group 19" id="19"/>
          <p:cNvGrpSpPr/>
          <p:nvPr/>
        </p:nvGrpSpPr>
        <p:grpSpPr>
          <a:xfrm rot="0">
            <a:off x="2263140" y="2304288"/>
            <a:ext cx="5486400" cy="480060"/>
            <a:chOff x="0" y="0"/>
            <a:chExt cx="7315200" cy="640080"/>
          </a:xfrm>
        </p:grpSpPr>
        <p:sp>
          <p:nvSpPr>
            <p:cNvPr name="Freeform 20" id="20"/>
            <p:cNvSpPr/>
            <p:nvPr/>
          </p:nvSpPr>
          <p:spPr>
            <a:xfrm flipH="false" flipV="false" rot="0">
              <a:off x="0" y="0"/>
              <a:ext cx="7315200" cy="640080"/>
            </a:xfrm>
            <a:custGeom>
              <a:avLst/>
              <a:gdLst/>
              <a:ahLst/>
              <a:cxnLst/>
              <a:rect r="r" b="b" t="t" l="l"/>
              <a:pathLst>
                <a:path h="640080" w="7315200">
                  <a:moveTo>
                    <a:pt x="0" y="0"/>
                  </a:moveTo>
                  <a:lnTo>
                    <a:pt x="7315200" y="0"/>
                  </a:lnTo>
                  <a:lnTo>
                    <a:pt x="7315200" y="640080"/>
                  </a:lnTo>
                  <a:lnTo>
                    <a:pt x="0" y="640080"/>
                  </a:lnTo>
                  <a:close/>
                </a:path>
              </a:pathLst>
            </a:custGeom>
            <a:blipFill>
              <a:blip r:embed="rId4">
                <a:alphaModFix amt="0"/>
              </a:blip>
              <a:stretch>
                <a:fillRect l="0" t="-172686" r="0" b="-172686"/>
              </a:stretch>
            </a:blipFill>
          </p:spPr>
        </p:sp>
        <p:sp>
          <p:nvSpPr>
            <p:cNvPr name="TextBox 21" id="21"/>
            <p:cNvSpPr txBox="true"/>
            <p:nvPr/>
          </p:nvSpPr>
          <p:spPr>
            <a:xfrm>
              <a:off x="0" y="-28575"/>
              <a:ext cx="7315200" cy="668655"/>
            </a:xfrm>
            <a:prstGeom prst="rect">
              <a:avLst/>
            </a:prstGeom>
          </p:spPr>
          <p:txBody>
            <a:bodyPr anchor="ctr" rtlCol="false" tIns="0" lIns="0" bIns="0" rIns="0"/>
            <a:lstStyle/>
            <a:p>
              <a:pPr algn="l">
                <a:lnSpc>
                  <a:spcPts val="1980"/>
                </a:lnSpc>
              </a:pPr>
              <a:r>
                <a:rPr lang="en-US" b="true" sz="1650" spc="150">
                  <a:solidFill>
                    <a:srgbClr val="8EB69B"/>
                  </a:solidFill>
                  <a:latin typeface="Calibri (MS) Bold"/>
                  <a:ea typeface="Calibri (MS) Bold"/>
                  <a:cs typeface="Calibri (MS) Bold"/>
                  <a:sym typeface="Calibri (MS) Bold"/>
                </a:rPr>
                <a:t>ESTADO ACTUAL DE LA ARQUITECTURA</a:t>
              </a:r>
            </a:p>
          </p:txBody>
        </p:sp>
      </p:grpSp>
      <p:grpSp>
        <p:nvGrpSpPr>
          <p:cNvPr name="Group 22" id="22"/>
          <p:cNvGrpSpPr/>
          <p:nvPr/>
        </p:nvGrpSpPr>
        <p:grpSpPr>
          <a:xfrm rot="0">
            <a:off x="2253615" y="2761107"/>
            <a:ext cx="14969490" cy="1188472"/>
            <a:chOff x="0" y="0"/>
            <a:chExt cx="19959320" cy="1584629"/>
          </a:xfrm>
        </p:grpSpPr>
        <p:sp>
          <p:nvSpPr>
            <p:cNvPr name="Freeform 23" id="23"/>
            <p:cNvSpPr/>
            <p:nvPr/>
          </p:nvSpPr>
          <p:spPr>
            <a:xfrm flipH="false" flipV="false" rot="0">
              <a:off x="0" y="0"/>
              <a:ext cx="19959321" cy="1584629"/>
            </a:xfrm>
            <a:custGeom>
              <a:avLst/>
              <a:gdLst/>
              <a:ahLst/>
              <a:cxnLst/>
              <a:rect r="r" b="b" t="t" l="l"/>
              <a:pathLst>
                <a:path h="1584629" w="19959321">
                  <a:moveTo>
                    <a:pt x="0" y="230474"/>
                  </a:moveTo>
                  <a:cubicBezTo>
                    <a:pt x="0" y="103235"/>
                    <a:pt x="67183" y="0"/>
                    <a:pt x="149987" y="0"/>
                  </a:cubicBezTo>
                  <a:lnTo>
                    <a:pt x="19809333" y="0"/>
                  </a:lnTo>
                  <a:cubicBezTo>
                    <a:pt x="19892138" y="0"/>
                    <a:pt x="19959321" y="103235"/>
                    <a:pt x="19959321" y="230474"/>
                  </a:cubicBezTo>
                  <a:lnTo>
                    <a:pt x="19959321" y="1354155"/>
                  </a:lnTo>
                  <a:cubicBezTo>
                    <a:pt x="19959321" y="1481394"/>
                    <a:pt x="19892138" y="1584629"/>
                    <a:pt x="19809333" y="1584629"/>
                  </a:cubicBezTo>
                  <a:lnTo>
                    <a:pt x="149987" y="1584629"/>
                  </a:lnTo>
                  <a:cubicBezTo>
                    <a:pt x="67183" y="1584629"/>
                    <a:pt x="0" y="1481394"/>
                    <a:pt x="0" y="1354155"/>
                  </a:cubicBezTo>
                  <a:close/>
                </a:path>
              </a:pathLst>
            </a:custGeom>
            <a:solidFill>
              <a:srgbClr val="FFFFFF"/>
            </a:solidFill>
            <a:ln w="19050" cap="sq">
              <a:solidFill>
                <a:srgbClr val="8EB69B"/>
              </a:solidFill>
              <a:prstDash val="dash"/>
              <a:miter/>
            </a:ln>
          </p:spPr>
        </p:sp>
      </p:grpSp>
      <p:grpSp>
        <p:nvGrpSpPr>
          <p:cNvPr name="Group 24" id="24"/>
          <p:cNvGrpSpPr/>
          <p:nvPr/>
        </p:nvGrpSpPr>
        <p:grpSpPr>
          <a:xfrm rot="0">
            <a:off x="17053103" y="9601200"/>
            <a:ext cx="822960" cy="480060"/>
            <a:chOff x="0" y="0"/>
            <a:chExt cx="1097280" cy="640080"/>
          </a:xfrm>
        </p:grpSpPr>
        <p:sp>
          <p:nvSpPr>
            <p:cNvPr name="Freeform 25" id="25"/>
            <p:cNvSpPr/>
            <p:nvPr/>
          </p:nvSpPr>
          <p:spPr>
            <a:xfrm flipH="false" flipV="false" rot="0">
              <a:off x="0" y="0"/>
              <a:ext cx="1097280" cy="640080"/>
            </a:xfrm>
            <a:custGeom>
              <a:avLst/>
              <a:gdLst/>
              <a:ahLst/>
              <a:cxnLst/>
              <a:rect r="r" b="b" t="t" l="l"/>
              <a:pathLst>
                <a:path h="640080" w="1097280">
                  <a:moveTo>
                    <a:pt x="0" y="0"/>
                  </a:moveTo>
                  <a:lnTo>
                    <a:pt x="1097280" y="0"/>
                  </a:lnTo>
                  <a:lnTo>
                    <a:pt x="1097280" y="640080"/>
                  </a:lnTo>
                  <a:lnTo>
                    <a:pt x="0" y="640080"/>
                  </a:lnTo>
                  <a:close/>
                </a:path>
              </a:pathLst>
            </a:custGeom>
            <a:blipFill>
              <a:blip r:embed="rId4">
                <a:alphaModFix amt="0"/>
              </a:blip>
              <a:stretch>
                <a:fillRect l="-24843" t="0" r="-24843" b="0"/>
              </a:stretch>
            </a:blipFill>
          </p:spPr>
        </p:sp>
        <p:sp>
          <p:nvSpPr>
            <p:cNvPr name="TextBox 26" id="26"/>
            <p:cNvSpPr txBox="true"/>
            <p:nvPr/>
          </p:nvSpPr>
          <p:spPr>
            <a:xfrm>
              <a:off x="0" y="-38100"/>
              <a:ext cx="1097280" cy="678180"/>
            </a:xfrm>
            <a:prstGeom prst="rect">
              <a:avLst/>
            </a:prstGeom>
          </p:spPr>
          <p:txBody>
            <a:bodyPr anchor="ctr" rtlCol="false" tIns="0" lIns="0" bIns="0" rIns="0"/>
            <a:lstStyle/>
            <a:p>
              <a:pPr algn="r">
                <a:lnSpc>
                  <a:spcPts val="1800"/>
                </a:lnSpc>
              </a:pPr>
              <a:r>
                <a:rPr lang="en-US" sz="1500">
                  <a:solidFill>
                    <a:srgbClr val="235347"/>
                  </a:solidFill>
                  <a:latin typeface="Calibri (MS)"/>
                  <a:ea typeface="Calibri (MS)"/>
                  <a:cs typeface="Calibri (MS)"/>
                  <a:sym typeface="Calibri (MS)"/>
                </a:rPr>
                <a:t>05</a:t>
              </a:r>
            </a:p>
          </p:txBody>
        </p:sp>
      </p:grpSp>
      <p:sp>
        <p:nvSpPr>
          <p:cNvPr name="Freeform 27" id="27"/>
          <p:cNvSpPr/>
          <p:nvPr/>
        </p:nvSpPr>
        <p:spPr>
          <a:xfrm flipH="false" flipV="false" rot="0">
            <a:off x="451453" y="5301689"/>
            <a:ext cx="3516529" cy="2084560"/>
          </a:xfrm>
          <a:custGeom>
            <a:avLst/>
            <a:gdLst/>
            <a:ahLst/>
            <a:cxnLst/>
            <a:rect r="r" b="b" t="t" l="l"/>
            <a:pathLst>
              <a:path h="2084560" w="3516529">
                <a:moveTo>
                  <a:pt x="0" y="0"/>
                </a:moveTo>
                <a:lnTo>
                  <a:pt x="3516529" y="0"/>
                </a:lnTo>
                <a:lnTo>
                  <a:pt x="3516529" y="2084559"/>
                </a:lnTo>
                <a:lnTo>
                  <a:pt x="0" y="2084559"/>
                </a:lnTo>
                <a:lnTo>
                  <a:pt x="0" y="0"/>
                </a:lnTo>
                <a:close/>
              </a:path>
            </a:pathLst>
          </a:custGeom>
          <a:blipFill>
            <a:blip r:embed="rId6"/>
            <a:stretch>
              <a:fillRect l="-228452" t="-26915" r="-29506" b="-229736"/>
            </a:stretch>
          </a:blipFill>
        </p:spPr>
      </p:sp>
      <p:grpSp>
        <p:nvGrpSpPr>
          <p:cNvPr name="Group 28" id="28"/>
          <p:cNvGrpSpPr/>
          <p:nvPr/>
        </p:nvGrpSpPr>
        <p:grpSpPr>
          <a:xfrm rot="0">
            <a:off x="451453" y="4805289"/>
            <a:ext cx="3062272" cy="480060"/>
            <a:chOff x="0" y="0"/>
            <a:chExt cx="4083029" cy="640080"/>
          </a:xfrm>
        </p:grpSpPr>
        <p:sp>
          <p:nvSpPr>
            <p:cNvPr name="Freeform 29" id="29"/>
            <p:cNvSpPr/>
            <p:nvPr/>
          </p:nvSpPr>
          <p:spPr>
            <a:xfrm flipH="false" flipV="false" rot="0">
              <a:off x="0" y="0"/>
              <a:ext cx="4083029" cy="640080"/>
            </a:xfrm>
            <a:custGeom>
              <a:avLst/>
              <a:gdLst/>
              <a:ahLst/>
              <a:cxnLst/>
              <a:rect r="r" b="b" t="t" l="l"/>
              <a:pathLst>
                <a:path h="640080" w="4083029">
                  <a:moveTo>
                    <a:pt x="0" y="0"/>
                  </a:moveTo>
                  <a:lnTo>
                    <a:pt x="4083029" y="0"/>
                  </a:lnTo>
                  <a:lnTo>
                    <a:pt x="4083029" y="640080"/>
                  </a:lnTo>
                  <a:lnTo>
                    <a:pt x="0" y="640080"/>
                  </a:lnTo>
                  <a:close/>
                </a:path>
              </a:pathLst>
            </a:custGeom>
            <a:blipFill>
              <a:blip r:embed="rId4">
                <a:alphaModFix amt="0"/>
              </a:blip>
              <a:stretch>
                <a:fillRect l="0" t="-534551" r="-370297" b="-534551"/>
              </a:stretch>
            </a:blipFill>
          </p:spPr>
        </p:sp>
        <p:sp>
          <p:nvSpPr>
            <p:cNvPr name="TextBox 30" id="30"/>
            <p:cNvSpPr txBox="true"/>
            <p:nvPr/>
          </p:nvSpPr>
          <p:spPr>
            <a:xfrm>
              <a:off x="0" y="-47625"/>
              <a:ext cx="4083029" cy="687705"/>
            </a:xfrm>
            <a:prstGeom prst="rect">
              <a:avLst/>
            </a:prstGeom>
          </p:spPr>
          <p:txBody>
            <a:bodyPr anchor="ctr" rtlCol="false" tIns="0" lIns="0" bIns="0" rIns="0"/>
            <a:lstStyle/>
            <a:p>
              <a:pPr algn="l">
                <a:lnSpc>
                  <a:spcPts val="2340"/>
                </a:lnSpc>
              </a:pPr>
              <a:r>
                <a:rPr lang="en-US" sz="1950" i="true">
                  <a:solidFill>
                    <a:srgbClr val="235347"/>
                  </a:solidFill>
                  <a:latin typeface="Calibri (MS) Italics"/>
                  <a:ea typeface="Calibri (MS) Italics"/>
                  <a:cs typeface="Calibri (MS) Italics"/>
                  <a:sym typeface="Calibri (MS) Italics"/>
                </a:rPr>
                <a:t>Funcion de antiguedad</a:t>
              </a:r>
            </a:p>
          </p:txBody>
        </p:sp>
      </p:grpSp>
      <p:sp>
        <p:nvSpPr>
          <p:cNvPr name="Freeform 31" id="31"/>
          <p:cNvSpPr/>
          <p:nvPr/>
        </p:nvSpPr>
        <p:spPr>
          <a:xfrm flipH="false" flipV="false" rot="0">
            <a:off x="451453" y="7652073"/>
            <a:ext cx="3074734" cy="2330512"/>
          </a:xfrm>
          <a:custGeom>
            <a:avLst/>
            <a:gdLst/>
            <a:ahLst/>
            <a:cxnLst/>
            <a:rect r="r" b="b" t="t" l="l"/>
            <a:pathLst>
              <a:path h="2330512" w="3074734">
                <a:moveTo>
                  <a:pt x="0" y="0"/>
                </a:moveTo>
                <a:lnTo>
                  <a:pt x="3074734" y="0"/>
                </a:lnTo>
                <a:lnTo>
                  <a:pt x="3074734" y="2330512"/>
                </a:lnTo>
                <a:lnTo>
                  <a:pt x="0" y="2330512"/>
                </a:lnTo>
                <a:lnTo>
                  <a:pt x="0" y="0"/>
                </a:lnTo>
                <a:close/>
              </a:path>
            </a:pathLst>
          </a:custGeom>
          <a:blipFill>
            <a:blip r:embed="rId7"/>
            <a:stretch>
              <a:fillRect l="-253190" t="-13609" r="-33911" b="-188033"/>
            </a:stretch>
          </a:blipFill>
        </p:spPr>
      </p:sp>
      <p:sp>
        <p:nvSpPr>
          <p:cNvPr name="Freeform 32" id="32"/>
          <p:cNvSpPr/>
          <p:nvPr/>
        </p:nvSpPr>
        <p:spPr>
          <a:xfrm flipH="false" flipV="false" rot="0">
            <a:off x="4096243" y="5301689"/>
            <a:ext cx="3404763" cy="2510680"/>
          </a:xfrm>
          <a:custGeom>
            <a:avLst/>
            <a:gdLst/>
            <a:ahLst/>
            <a:cxnLst/>
            <a:rect r="r" b="b" t="t" l="l"/>
            <a:pathLst>
              <a:path h="2510680" w="3404763">
                <a:moveTo>
                  <a:pt x="0" y="0"/>
                </a:moveTo>
                <a:lnTo>
                  <a:pt x="3404764" y="0"/>
                </a:lnTo>
                <a:lnTo>
                  <a:pt x="3404764" y="2510680"/>
                </a:lnTo>
                <a:lnTo>
                  <a:pt x="0" y="2510680"/>
                </a:lnTo>
                <a:lnTo>
                  <a:pt x="0" y="0"/>
                </a:lnTo>
                <a:close/>
              </a:path>
            </a:pathLst>
          </a:custGeom>
          <a:blipFill>
            <a:blip r:embed="rId8"/>
            <a:stretch>
              <a:fillRect l="-179548" t="-15990" r="-21593" b="-125210"/>
            </a:stretch>
          </a:blipFill>
        </p:spPr>
      </p:sp>
      <p:grpSp>
        <p:nvGrpSpPr>
          <p:cNvPr name="Group 33" id="33"/>
          <p:cNvGrpSpPr/>
          <p:nvPr/>
        </p:nvGrpSpPr>
        <p:grpSpPr>
          <a:xfrm rot="0">
            <a:off x="4123594" y="4598665"/>
            <a:ext cx="3404763" cy="686684"/>
            <a:chOff x="0" y="0"/>
            <a:chExt cx="4539685" cy="915578"/>
          </a:xfrm>
        </p:grpSpPr>
        <p:sp>
          <p:nvSpPr>
            <p:cNvPr name="Freeform 34" id="34"/>
            <p:cNvSpPr/>
            <p:nvPr/>
          </p:nvSpPr>
          <p:spPr>
            <a:xfrm flipH="false" flipV="false" rot="0">
              <a:off x="0" y="0"/>
              <a:ext cx="4539685" cy="915578"/>
            </a:xfrm>
            <a:custGeom>
              <a:avLst/>
              <a:gdLst/>
              <a:ahLst/>
              <a:cxnLst/>
              <a:rect r="r" b="b" t="t" l="l"/>
              <a:pathLst>
                <a:path h="915578" w="4539685">
                  <a:moveTo>
                    <a:pt x="0" y="0"/>
                  </a:moveTo>
                  <a:lnTo>
                    <a:pt x="4539685" y="0"/>
                  </a:lnTo>
                  <a:lnTo>
                    <a:pt x="4539685" y="915578"/>
                  </a:lnTo>
                  <a:lnTo>
                    <a:pt x="0" y="915578"/>
                  </a:lnTo>
                  <a:close/>
                </a:path>
              </a:pathLst>
            </a:custGeom>
            <a:blipFill>
              <a:blip r:embed="rId4">
                <a:alphaModFix amt="0"/>
              </a:blip>
              <a:stretch>
                <a:fillRect l="0" t="-373704" r="-322989" b="-343614"/>
              </a:stretch>
            </a:blipFill>
          </p:spPr>
        </p:sp>
        <p:sp>
          <p:nvSpPr>
            <p:cNvPr name="TextBox 35" id="35"/>
            <p:cNvSpPr txBox="true"/>
            <p:nvPr/>
          </p:nvSpPr>
          <p:spPr>
            <a:xfrm>
              <a:off x="0" y="-47625"/>
              <a:ext cx="4539685" cy="963203"/>
            </a:xfrm>
            <a:prstGeom prst="rect">
              <a:avLst/>
            </a:prstGeom>
          </p:spPr>
          <p:txBody>
            <a:bodyPr anchor="ctr" rtlCol="false" tIns="0" lIns="0" bIns="0" rIns="0"/>
            <a:lstStyle/>
            <a:p>
              <a:pPr algn="l">
                <a:lnSpc>
                  <a:spcPts val="2340"/>
                </a:lnSpc>
              </a:pPr>
              <a:r>
                <a:rPr lang="en-US" sz="1950" i="true">
                  <a:solidFill>
                    <a:srgbClr val="235347"/>
                  </a:solidFill>
                  <a:latin typeface="Calibri (MS) Italics"/>
                  <a:ea typeface="Calibri (MS) Italics"/>
                  <a:cs typeface="Calibri (MS) Italics"/>
                  <a:sym typeface="Calibri (MS) Italics"/>
                </a:rPr>
                <a:t>Función Desacortador URL y</a:t>
              </a:r>
            </a:p>
            <a:p>
              <a:pPr algn="l">
                <a:lnSpc>
                  <a:spcPts val="2340"/>
                </a:lnSpc>
              </a:pPr>
              <a:r>
                <a:rPr lang="en-US" sz="1950" i="true">
                  <a:solidFill>
                    <a:srgbClr val="235347"/>
                  </a:solidFill>
                  <a:latin typeface="Calibri (MS) Italics"/>
                  <a:ea typeface="Calibri (MS) Italics"/>
                  <a:cs typeface="Calibri (MS) Italics"/>
                  <a:sym typeface="Calibri (MS) Italics"/>
                </a:rPr>
                <a:t>Comprobación API VirusTotal</a:t>
              </a:r>
            </a:p>
          </p:txBody>
        </p:sp>
      </p:grpSp>
      <p:grpSp>
        <p:nvGrpSpPr>
          <p:cNvPr name="Group 36" id="36"/>
          <p:cNvGrpSpPr/>
          <p:nvPr/>
        </p:nvGrpSpPr>
        <p:grpSpPr>
          <a:xfrm rot="0">
            <a:off x="8071063" y="4281414"/>
            <a:ext cx="7464677" cy="686684"/>
            <a:chOff x="0" y="0"/>
            <a:chExt cx="9952903" cy="915578"/>
          </a:xfrm>
        </p:grpSpPr>
        <p:sp>
          <p:nvSpPr>
            <p:cNvPr name="Freeform 37" id="37"/>
            <p:cNvSpPr/>
            <p:nvPr/>
          </p:nvSpPr>
          <p:spPr>
            <a:xfrm flipH="false" flipV="false" rot="0">
              <a:off x="0" y="0"/>
              <a:ext cx="9952903" cy="915578"/>
            </a:xfrm>
            <a:custGeom>
              <a:avLst/>
              <a:gdLst/>
              <a:ahLst/>
              <a:cxnLst/>
              <a:rect r="r" b="b" t="t" l="l"/>
              <a:pathLst>
                <a:path h="915578" w="9952903">
                  <a:moveTo>
                    <a:pt x="0" y="0"/>
                  </a:moveTo>
                  <a:lnTo>
                    <a:pt x="9952903" y="0"/>
                  </a:lnTo>
                  <a:lnTo>
                    <a:pt x="9952903" y="915578"/>
                  </a:lnTo>
                  <a:lnTo>
                    <a:pt x="0" y="915578"/>
                  </a:lnTo>
                  <a:close/>
                </a:path>
              </a:pathLst>
            </a:custGeom>
            <a:blipFill>
              <a:blip r:embed="rId4">
                <a:alphaModFix amt="0"/>
              </a:blip>
              <a:stretch>
                <a:fillRect l="0" t="-373704" r="-92932" b="-343614"/>
              </a:stretch>
            </a:blipFill>
          </p:spPr>
        </p:sp>
        <p:sp>
          <p:nvSpPr>
            <p:cNvPr name="TextBox 38" id="38"/>
            <p:cNvSpPr txBox="true"/>
            <p:nvPr/>
          </p:nvSpPr>
          <p:spPr>
            <a:xfrm>
              <a:off x="0" y="-47625"/>
              <a:ext cx="9952903" cy="963203"/>
            </a:xfrm>
            <a:prstGeom prst="rect">
              <a:avLst/>
            </a:prstGeom>
          </p:spPr>
          <p:txBody>
            <a:bodyPr anchor="ctr" rtlCol="false" tIns="0" lIns="0" bIns="0" rIns="0"/>
            <a:lstStyle/>
            <a:p>
              <a:pPr algn="l">
                <a:lnSpc>
                  <a:spcPts val="2340"/>
                </a:lnSpc>
              </a:pPr>
              <a:r>
                <a:rPr lang="en-US" sz="1950" i="true">
                  <a:solidFill>
                    <a:srgbClr val="235347"/>
                  </a:solidFill>
                  <a:latin typeface="Calibri (MS) Italics"/>
                  <a:ea typeface="Calibri (MS) Italics"/>
                  <a:cs typeface="Calibri (MS) Italics"/>
                  <a:sym typeface="Calibri (MS) Italics"/>
                </a:rPr>
                <a:t>CRUD de la base de datos en MongoDB</a:t>
              </a:r>
            </a:p>
          </p:txBody>
        </p:sp>
      </p:grpSp>
      <p:sp>
        <p:nvSpPr>
          <p:cNvPr name="Freeform 39" id="39"/>
          <p:cNvSpPr/>
          <p:nvPr/>
        </p:nvSpPr>
        <p:spPr>
          <a:xfrm flipH="false" flipV="false" rot="0">
            <a:off x="8071063" y="4813636"/>
            <a:ext cx="9711391" cy="3277752"/>
          </a:xfrm>
          <a:custGeom>
            <a:avLst/>
            <a:gdLst/>
            <a:ahLst/>
            <a:cxnLst/>
            <a:rect r="r" b="b" t="t" l="l"/>
            <a:pathLst>
              <a:path h="3277752" w="9711391">
                <a:moveTo>
                  <a:pt x="0" y="0"/>
                </a:moveTo>
                <a:lnTo>
                  <a:pt x="9711391" y="0"/>
                </a:lnTo>
                <a:lnTo>
                  <a:pt x="9711391" y="3277752"/>
                </a:lnTo>
                <a:lnTo>
                  <a:pt x="0" y="3277752"/>
                </a:lnTo>
                <a:lnTo>
                  <a:pt x="0" y="0"/>
                </a:lnTo>
                <a:close/>
              </a:path>
            </a:pathLst>
          </a:custGeom>
          <a:blipFill>
            <a:blip r:embed="rId9"/>
            <a:stretch>
              <a:fillRect l="-24724" t="-5139" r="-12625" b="-101193"/>
            </a:stretch>
          </a:blipFill>
        </p:spPr>
      </p:sp>
      <p:sp>
        <p:nvSpPr>
          <p:cNvPr name="Freeform 40" id="40"/>
          <p:cNvSpPr/>
          <p:nvPr/>
        </p:nvSpPr>
        <p:spPr>
          <a:xfrm flipH="false" flipV="false" rot="0">
            <a:off x="8050520" y="8179198"/>
            <a:ext cx="7400762" cy="1634109"/>
          </a:xfrm>
          <a:custGeom>
            <a:avLst/>
            <a:gdLst/>
            <a:ahLst/>
            <a:cxnLst/>
            <a:rect r="r" b="b" t="t" l="l"/>
            <a:pathLst>
              <a:path h="1634109" w="7400762">
                <a:moveTo>
                  <a:pt x="0" y="0"/>
                </a:moveTo>
                <a:lnTo>
                  <a:pt x="7400762" y="0"/>
                </a:lnTo>
                <a:lnTo>
                  <a:pt x="7400762" y="1634109"/>
                </a:lnTo>
                <a:lnTo>
                  <a:pt x="0" y="1634109"/>
                </a:lnTo>
                <a:lnTo>
                  <a:pt x="0" y="0"/>
                </a:lnTo>
                <a:close/>
              </a:path>
            </a:pathLst>
          </a:custGeom>
          <a:blipFill>
            <a:blip r:embed="rId10"/>
            <a:stretch>
              <a:fillRect l="-37802" t="-26552" r="-7010" b="-256707"/>
            </a:stretch>
          </a:blipFill>
        </p:spPr>
      </p:sp>
      <p:sp>
        <p:nvSpPr>
          <p:cNvPr name="TextBox 41" id="41"/>
          <p:cNvSpPr txBox="true"/>
          <p:nvPr/>
        </p:nvSpPr>
        <p:spPr>
          <a:xfrm rot="0">
            <a:off x="2423160" y="2851785"/>
            <a:ext cx="14356080" cy="1266825"/>
          </a:xfrm>
          <a:prstGeom prst="rect">
            <a:avLst/>
          </a:prstGeom>
        </p:spPr>
        <p:txBody>
          <a:bodyPr anchor="t" rtlCol="false" tIns="0" lIns="0" bIns="0" rIns="0">
            <a:spAutoFit/>
          </a:bodyPr>
          <a:lstStyle/>
          <a:p>
            <a:pPr algn="l" marL="356235" indent="-178118" lvl="1">
              <a:lnSpc>
                <a:spcPts val="1980"/>
              </a:lnSpc>
              <a:buFont typeface="Arial"/>
              <a:buChar char="•"/>
            </a:pPr>
            <a:r>
              <a:rPr lang="en-US" sz="1650" i="true">
                <a:solidFill>
                  <a:srgbClr val="7A9E8E"/>
                </a:solidFill>
                <a:latin typeface="Calibri (MS) Italics"/>
                <a:ea typeface="Calibri (MS) Italics"/>
                <a:cs typeface="Calibri (MS) Italics"/>
                <a:sym typeface="Calibri (MS) Italics"/>
              </a:rPr>
              <a:t>Backend (API REST): Node.js con Express. Su naturaleza asíncrona (basada en eventos) es ideal para manejar múltiples peticiones simultáneas a APIs externas (VirusTotal, RDAP, Gemini) sin bloquear el hilo de ejecución principal, garantizando efectivos tiempos de respuesta. </a:t>
            </a:r>
          </a:p>
          <a:p>
            <a:pPr algn="l" marL="356235" indent="-178118" lvl="1">
              <a:lnSpc>
                <a:spcPts val="1980"/>
              </a:lnSpc>
              <a:buFont typeface="Arial"/>
              <a:buChar char="•"/>
            </a:pPr>
            <a:r>
              <a:rPr lang="en-US" sz="1650" i="true">
                <a:solidFill>
                  <a:srgbClr val="7A9E8E"/>
                </a:solidFill>
                <a:latin typeface="Calibri (MS) Italics"/>
                <a:ea typeface="Calibri (MS) Italics"/>
                <a:cs typeface="Calibri (MS) Italics"/>
                <a:sym typeface="Calibri (MS) Italics"/>
              </a:rPr>
              <a:t>Base de Datos: MongoDB. Se elige este motor NoSQL por la flexibilidad de su esquema basado en documentos JSON/BSON, lo cual facilita el almacenamiento de respuestas estructuradas y variables provenientes de las distintas APIs externas sin requerir migraciones complejas. </a:t>
            </a:r>
          </a:p>
          <a:p>
            <a:pPr algn="l">
              <a:lnSpc>
                <a:spcPts val="1980"/>
              </a:lnSpc>
            </a:pP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DAF1DE"/>
        </a:solidFill>
      </p:bgPr>
    </p:bg>
    <p:spTree>
      <p:nvGrpSpPr>
        <p:cNvPr id="1" name=""/>
        <p:cNvGrpSpPr/>
        <p:nvPr/>
      </p:nvGrpSpPr>
      <p:grpSpPr>
        <a:xfrm>
          <a:off x="0" y="0"/>
          <a:ext cx="0" cy="0"/>
          <a:chOff x="0" y="0"/>
          <a:chExt cx="0" cy="0"/>
        </a:xfrm>
      </p:grpSpPr>
      <p:sp>
        <p:nvSpPr>
          <p:cNvPr name="Freeform 2" id="2"/>
          <p:cNvSpPr/>
          <p:nvPr/>
        </p:nvSpPr>
        <p:spPr>
          <a:xfrm flipH="false" flipV="false" rot="0">
            <a:off x="0" y="45720"/>
            <a:ext cx="18288000" cy="10241280"/>
          </a:xfrm>
          <a:custGeom>
            <a:avLst/>
            <a:gdLst/>
            <a:ahLst/>
            <a:cxnLst/>
            <a:rect r="r" b="b" t="t" l="l"/>
            <a:pathLst>
              <a:path h="10241280" w="18288000">
                <a:moveTo>
                  <a:pt x="0" y="0"/>
                </a:moveTo>
                <a:lnTo>
                  <a:pt x="18288000" y="0"/>
                </a:lnTo>
                <a:lnTo>
                  <a:pt x="18288000" y="10241280"/>
                </a:lnTo>
                <a:lnTo>
                  <a:pt x="0" y="10241280"/>
                </a:lnTo>
                <a:lnTo>
                  <a:pt x="0" y="0"/>
                </a:lnTo>
                <a:close/>
              </a:path>
            </a:pathLst>
          </a:custGeom>
          <a:blipFill>
            <a:blip r:embed="rId2">
              <a:alphaModFix amt="40000"/>
            </a:blip>
            <a:stretch>
              <a:fillRect l="0" t="0" r="0" b="0"/>
            </a:stretch>
          </a:blipFill>
        </p:spPr>
      </p:sp>
      <p:grpSp>
        <p:nvGrpSpPr>
          <p:cNvPr name="Group 3" id="3"/>
          <p:cNvGrpSpPr/>
          <p:nvPr/>
        </p:nvGrpSpPr>
        <p:grpSpPr>
          <a:xfrm rot="0">
            <a:off x="754380" y="685800"/>
            <a:ext cx="1028700" cy="1028700"/>
            <a:chOff x="0" y="0"/>
            <a:chExt cx="1371600" cy="1371600"/>
          </a:xfrm>
        </p:grpSpPr>
        <p:sp>
          <p:nvSpPr>
            <p:cNvPr name="Freeform 4" id="4"/>
            <p:cNvSpPr/>
            <p:nvPr/>
          </p:nvSpPr>
          <p:spPr>
            <a:xfrm flipH="false" flipV="false" rot="0">
              <a:off x="0" y="0"/>
              <a:ext cx="1371600" cy="1371600"/>
            </a:xfrm>
            <a:custGeom>
              <a:avLst/>
              <a:gdLst/>
              <a:ahLst/>
              <a:cxnLst/>
              <a:rect r="r" b="b" t="t" l="l"/>
              <a:pathLst>
                <a:path h="1371600" w="1371600">
                  <a:moveTo>
                    <a:pt x="0" y="685800"/>
                  </a:moveTo>
                  <a:cubicBezTo>
                    <a:pt x="0" y="307086"/>
                    <a:pt x="307086" y="0"/>
                    <a:pt x="685800" y="0"/>
                  </a:cubicBezTo>
                  <a:cubicBezTo>
                    <a:pt x="1064514" y="0"/>
                    <a:pt x="1371600" y="307086"/>
                    <a:pt x="1371600" y="685800"/>
                  </a:cubicBezTo>
                  <a:cubicBezTo>
                    <a:pt x="1371600" y="1064514"/>
                    <a:pt x="1064514" y="1371600"/>
                    <a:pt x="685800" y="1371600"/>
                  </a:cubicBezTo>
                  <a:cubicBezTo>
                    <a:pt x="307086" y="1371600"/>
                    <a:pt x="0" y="1064514"/>
                    <a:pt x="0" y="685800"/>
                  </a:cubicBezTo>
                  <a:close/>
                </a:path>
              </a:pathLst>
            </a:custGeom>
            <a:solidFill>
              <a:srgbClr val="0B2B26"/>
            </a:solidFill>
          </p:spPr>
        </p:sp>
      </p:grpSp>
      <p:grpSp>
        <p:nvGrpSpPr>
          <p:cNvPr name="Group 5" id="5"/>
          <p:cNvGrpSpPr/>
          <p:nvPr/>
        </p:nvGrpSpPr>
        <p:grpSpPr>
          <a:xfrm rot="0">
            <a:off x="1001268" y="932688"/>
            <a:ext cx="534924" cy="534924"/>
            <a:chOff x="0" y="0"/>
            <a:chExt cx="713232" cy="713232"/>
          </a:xfrm>
        </p:grpSpPr>
        <p:sp>
          <p:nvSpPr>
            <p:cNvPr name="Freeform 6" id="6" descr="/home/claude/sms-security/icons/clock_light.png"/>
            <p:cNvSpPr/>
            <p:nvPr/>
          </p:nvSpPr>
          <p:spPr>
            <a:xfrm flipH="false" flipV="false" rot="0">
              <a:off x="0" y="0"/>
              <a:ext cx="713232" cy="713232"/>
            </a:xfrm>
            <a:custGeom>
              <a:avLst/>
              <a:gdLst/>
              <a:ahLst/>
              <a:cxnLst/>
              <a:rect r="r" b="b" t="t" l="l"/>
              <a:pathLst>
                <a:path h="713232" w="713232">
                  <a:moveTo>
                    <a:pt x="0" y="0"/>
                  </a:moveTo>
                  <a:lnTo>
                    <a:pt x="713232" y="0"/>
                  </a:lnTo>
                  <a:lnTo>
                    <a:pt x="713232" y="713232"/>
                  </a:lnTo>
                  <a:lnTo>
                    <a:pt x="0" y="713232"/>
                  </a:lnTo>
                  <a:lnTo>
                    <a:pt x="0" y="0"/>
                  </a:lnTo>
                  <a:close/>
                </a:path>
              </a:pathLst>
            </a:custGeom>
            <a:blipFill>
              <a:blip r:embed="rId3"/>
              <a:stretch>
                <a:fillRect l="0" t="0" r="0" b="0"/>
              </a:stretch>
            </a:blipFill>
          </p:spPr>
        </p:sp>
      </p:grpSp>
      <p:grpSp>
        <p:nvGrpSpPr>
          <p:cNvPr name="Group 7" id="7"/>
          <p:cNvGrpSpPr/>
          <p:nvPr/>
        </p:nvGrpSpPr>
        <p:grpSpPr>
          <a:xfrm rot="0">
            <a:off x="1920240" y="-543989"/>
            <a:ext cx="14401800" cy="3081449"/>
            <a:chOff x="0" y="0"/>
            <a:chExt cx="19202400" cy="4108599"/>
          </a:xfrm>
        </p:grpSpPr>
        <p:sp>
          <p:nvSpPr>
            <p:cNvPr name="Freeform 8" id="8"/>
            <p:cNvSpPr/>
            <p:nvPr/>
          </p:nvSpPr>
          <p:spPr>
            <a:xfrm flipH="false" flipV="false" rot="0">
              <a:off x="0" y="0"/>
              <a:ext cx="19202400" cy="4108599"/>
            </a:xfrm>
            <a:custGeom>
              <a:avLst/>
              <a:gdLst/>
              <a:ahLst/>
              <a:cxnLst/>
              <a:rect r="r" b="b" t="t" l="l"/>
              <a:pathLst>
                <a:path h="4108599" w="19202400">
                  <a:moveTo>
                    <a:pt x="0" y="0"/>
                  </a:moveTo>
                  <a:lnTo>
                    <a:pt x="19202400" y="0"/>
                  </a:lnTo>
                  <a:lnTo>
                    <a:pt x="19202400" y="4108599"/>
                  </a:lnTo>
                  <a:lnTo>
                    <a:pt x="0" y="4108599"/>
                  </a:lnTo>
                  <a:close/>
                </a:path>
              </a:pathLst>
            </a:custGeom>
            <a:blipFill>
              <a:blip r:embed="rId4">
                <a:alphaModFix amt="0"/>
              </a:blip>
              <a:stretch>
                <a:fillRect l="0" t="-78826" r="0" b="-3308"/>
              </a:stretch>
            </a:blipFill>
          </p:spPr>
        </p:sp>
        <p:sp>
          <p:nvSpPr>
            <p:cNvPr name="TextBox 9" id="9"/>
            <p:cNvSpPr txBox="true"/>
            <p:nvPr/>
          </p:nvSpPr>
          <p:spPr>
            <a:xfrm>
              <a:off x="0" y="-9525"/>
              <a:ext cx="19202400" cy="4118124"/>
            </a:xfrm>
            <a:prstGeom prst="rect">
              <a:avLst/>
            </a:prstGeom>
          </p:spPr>
          <p:txBody>
            <a:bodyPr anchor="ctr" rtlCol="false" tIns="0" lIns="0" bIns="0" rIns="0"/>
            <a:lstStyle/>
            <a:p>
              <a:pPr algn="l">
                <a:lnSpc>
                  <a:spcPts val="5040"/>
                </a:lnSpc>
              </a:pPr>
              <a:r>
                <a:rPr lang="en-US" sz="4200" b="true">
                  <a:solidFill>
                    <a:srgbClr val="051F20"/>
                  </a:solidFill>
                  <a:latin typeface="Cambria Bold"/>
                  <a:ea typeface="Cambria Bold"/>
                  <a:cs typeface="Cambria Bold"/>
                  <a:sym typeface="Cambria Bold"/>
                </a:rPr>
                <a:t>FrontEnd</a:t>
              </a:r>
            </a:p>
          </p:txBody>
        </p:sp>
      </p:grpSp>
      <p:grpSp>
        <p:nvGrpSpPr>
          <p:cNvPr name="Group 10" id="10"/>
          <p:cNvGrpSpPr/>
          <p:nvPr/>
        </p:nvGrpSpPr>
        <p:grpSpPr>
          <a:xfrm rot="0">
            <a:off x="1988820" y="1303020"/>
            <a:ext cx="14401800" cy="480060"/>
            <a:chOff x="0" y="0"/>
            <a:chExt cx="19202400" cy="640080"/>
          </a:xfrm>
        </p:grpSpPr>
        <p:sp>
          <p:nvSpPr>
            <p:cNvPr name="Freeform 11" id="11"/>
            <p:cNvSpPr/>
            <p:nvPr/>
          </p:nvSpPr>
          <p:spPr>
            <a:xfrm flipH="false" flipV="false" rot="0">
              <a:off x="0" y="0"/>
              <a:ext cx="19202400" cy="640080"/>
            </a:xfrm>
            <a:custGeom>
              <a:avLst/>
              <a:gdLst/>
              <a:ahLst/>
              <a:cxnLst/>
              <a:rect r="r" b="b" t="t" l="l"/>
              <a:pathLst>
                <a:path h="640080" w="19202400">
                  <a:moveTo>
                    <a:pt x="0" y="0"/>
                  </a:moveTo>
                  <a:lnTo>
                    <a:pt x="19202400" y="0"/>
                  </a:lnTo>
                  <a:lnTo>
                    <a:pt x="19202400" y="640080"/>
                  </a:lnTo>
                  <a:lnTo>
                    <a:pt x="0" y="640080"/>
                  </a:lnTo>
                  <a:close/>
                </a:path>
              </a:pathLst>
            </a:custGeom>
            <a:blipFill>
              <a:blip r:embed="rId4">
                <a:alphaModFix amt="0"/>
              </a:blip>
              <a:stretch>
                <a:fillRect l="0" t="-534551" r="0" b="-534551"/>
              </a:stretch>
            </a:blipFill>
          </p:spPr>
        </p:sp>
        <p:sp>
          <p:nvSpPr>
            <p:cNvPr name="TextBox 12" id="12"/>
            <p:cNvSpPr txBox="true"/>
            <p:nvPr/>
          </p:nvSpPr>
          <p:spPr>
            <a:xfrm>
              <a:off x="0" y="-47625"/>
              <a:ext cx="19202400" cy="687705"/>
            </a:xfrm>
            <a:prstGeom prst="rect">
              <a:avLst/>
            </a:prstGeom>
          </p:spPr>
          <p:txBody>
            <a:bodyPr anchor="ctr" rtlCol="false" tIns="0" lIns="0" bIns="0" rIns="0"/>
            <a:lstStyle/>
            <a:p>
              <a:pPr algn="l">
                <a:lnSpc>
                  <a:spcPts val="2340"/>
                </a:lnSpc>
              </a:pPr>
              <a:r>
                <a:rPr lang="en-US" sz="1950" i="true">
                  <a:solidFill>
                    <a:srgbClr val="235347"/>
                  </a:solidFill>
                  <a:latin typeface="Calibri (MS) Italics"/>
                  <a:ea typeface="Calibri (MS) Italics"/>
                  <a:cs typeface="Calibri (MS) Italics"/>
                  <a:sym typeface="Calibri (MS) Italics"/>
                </a:rPr>
                <a:t>Avances obtenidos en el FrontEnd APP</a:t>
              </a:r>
            </a:p>
          </p:txBody>
        </p:sp>
      </p:grpSp>
      <p:grpSp>
        <p:nvGrpSpPr>
          <p:cNvPr name="Group 13" id="13"/>
          <p:cNvGrpSpPr/>
          <p:nvPr/>
        </p:nvGrpSpPr>
        <p:grpSpPr>
          <a:xfrm rot="0">
            <a:off x="754380" y="2125980"/>
            <a:ext cx="16549248" cy="7715250"/>
            <a:chOff x="0" y="0"/>
            <a:chExt cx="22065664" cy="10287000"/>
          </a:xfrm>
        </p:grpSpPr>
        <p:sp>
          <p:nvSpPr>
            <p:cNvPr name="Freeform 14" id="14"/>
            <p:cNvSpPr/>
            <p:nvPr/>
          </p:nvSpPr>
          <p:spPr>
            <a:xfrm flipH="false" flipV="false" rot="0">
              <a:off x="0" y="0"/>
              <a:ext cx="22065666" cy="10287000"/>
            </a:xfrm>
            <a:custGeom>
              <a:avLst/>
              <a:gdLst/>
              <a:ahLst/>
              <a:cxnLst/>
              <a:rect r="r" b="b" t="t" l="l"/>
              <a:pathLst>
                <a:path h="10287000" w="22065666">
                  <a:moveTo>
                    <a:pt x="0" y="223630"/>
                  </a:moveTo>
                  <a:cubicBezTo>
                    <a:pt x="0" y="100168"/>
                    <a:pt x="168950" y="0"/>
                    <a:pt x="377191" y="0"/>
                  </a:cubicBezTo>
                  <a:lnTo>
                    <a:pt x="21688473" y="0"/>
                  </a:lnTo>
                  <a:cubicBezTo>
                    <a:pt x="21896715" y="0"/>
                    <a:pt x="22065666" y="100168"/>
                    <a:pt x="22065666" y="223630"/>
                  </a:cubicBezTo>
                  <a:lnTo>
                    <a:pt x="22065666" y="10063369"/>
                  </a:lnTo>
                  <a:cubicBezTo>
                    <a:pt x="22065666" y="10186832"/>
                    <a:pt x="21896715" y="10287000"/>
                    <a:pt x="21688473" y="10287000"/>
                  </a:cubicBezTo>
                  <a:lnTo>
                    <a:pt x="377191" y="10287000"/>
                  </a:lnTo>
                  <a:cubicBezTo>
                    <a:pt x="168950" y="10287000"/>
                    <a:pt x="0" y="10186832"/>
                    <a:pt x="0" y="10063369"/>
                  </a:cubicBezTo>
                  <a:close/>
                </a:path>
              </a:pathLst>
            </a:custGeom>
            <a:solidFill>
              <a:srgbClr val="FFFFFF"/>
            </a:solidFill>
          </p:spPr>
        </p:sp>
      </p:grpSp>
      <p:grpSp>
        <p:nvGrpSpPr>
          <p:cNvPr name="Group 15" id="15"/>
          <p:cNvGrpSpPr/>
          <p:nvPr/>
        </p:nvGrpSpPr>
        <p:grpSpPr>
          <a:xfrm rot="0">
            <a:off x="17053103" y="9601200"/>
            <a:ext cx="822960" cy="480060"/>
            <a:chOff x="0" y="0"/>
            <a:chExt cx="1097280" cy="640080"/>
          </a:xfrm>
        </p:grpSpPr>
        <p:sp>
          <p:nvSpPr>
            <p:cNvPr name="Freeform 16" id="16"/>
            <p:cNvSpPr/>
            <p:nvPr/>
          </p:nvSpPr>
          <p:spPr>
            <a:xfrm flipH="false" flipV="false" rot="0">
              <a:off x="0" y="0"/>
              <a:ext cx="1097280" cy="640080"/>
            </a:xfrm>
            <a:custGeom>
              <a:avLst/>
              <a:gdLst/>
              <a:ahLst/>
              <a:cxnLst/>
              <a:rect r="r" b="b" t="t" l="l"/>
              <a:pathLst>
                <a:path h="640080" w="1097280">
                  <a:moveTo>
                    <a:pt x="0" y="0"/>
                  </a:moveTo>
                  <a:lnTo>
                    <a:pt x="1097280" y="0"/>
                  </a:lnTo>
                  <a:lnTo>
                    <a:pt x="1097280" y="640080"/>
                  </a:lnTo>
                  <a:lnTo>
                    <a:pt x="0" y="640080"/>
                  </a:lnTo>
                  <a:close/>
                </a:path>
              </a:pathLst>
            </a:custGeom>
            <a:blipFill>
              <a:blip r:embed="rId4">
                <a:alphaModFix amt="0"/>
              </a:blip>
              <a:stretch>
                <a:fillRect l="-24843" t="0" r="-24843" b="0"/>
              </a:stretch>
            </a:blipFill>
          </p:spPr>
        </p:sp>
        <p:sp>
          <p:nvSpPr>
            <p:cNvPr name="TextBox 17" id="17"/>
            <p:cNvSpPr txBox="true"/>
            <p:nvPr/>
          </p:nvSpPr>
          <p:spPr>
            <a:xfrm>
              <a:off x="0" y="-38100"/>
              <a:ext cx="1097280" cy="678180"/>
            </a:xfrm>
            <a:prstGeom prst="rect">
              <a:avLst/>
            </a:prstGeom>
          </p:spPr>
          <p:txBody>
            <a:bodyPr anchor="ctr" rtlCol="false" tIns="0" lIns="0" bIns="0" rIns="0"/>
            <a:lstStyle/>
            <a:p>
              <a:pPr algn="r">
                <a:lnSpc>
                  <a:spcPts val="1800"/>
                </a:lnSpc>
              </a:pPr>
              <a:r>
                <a:rPr lang="en-US" sz="1500">
                  <a:solidFill>
                    <a:srgbClr val="235347"/>
                  </a:solidFill>
                  <a:latin typeface="Calibri (MS)"/>
                  <a:ea typeface="Calibri (MS)"/>
                  <a:cs typeface="Calibri (MS)"/>
                  <a:sym typeface="Calibri (MS)"/>
                </a:rPr>
                <a:t>04</a:t>
              </a:r>
            </a:p>
          </p:txBody>
        </p:sp>
      </p:grpSp>
      <p:sp>
        <p:nvSpPr>
          <p:cNvPr name="Freeform 18" id="18"/>
          <p:cNvSpPr/>
          <p:nvPr/>
        </p:nvSpPr>
        <p:spPr>
          <a:xfrm flipH="false" flipV="false" rot="0">
            <a:off x="1001268" y="2786498"/>
            <a:ext cx="3604747" cy="6881004"/>
          </a:xfrm>
          <a:custGeom>
            <a:avLst/>
            <a:gdLst/>
            <a:ahLst/>
            <a:cxnLst/>
            <a:rect r="r" b="b" t="t" l="l"/>
            <a:pathLst>
              <a:path h="6881004" w="3604747">
                <a:moveTo>
                  <a:pt x="0" y="0"/>
                </a:moveTo>
                <a:lnTo>
                  <a:pt x="3604747" y="0"/>
                </a:lnTo>
                <a:lnTo>
                  <a:pt x="3604747" y="6881004"/>
                </a:lnTo>
                <a:lnTo>
                  <a:pt x="0" y="6881004"/>
                </a:lnTo>
                <a:lnTo>
                  <a:pt x="0" y="0"/>
                </a:lnTo>
                <a:close/>
              </a:path>
            </a:pathLst>
          </a:custGeom>
          <a:blipFill>
            <a:blip r:embed="rId5"/>
            <a:stretch>
              <a:fillRect l="0" t="0" r="0" b="0"/>
            </a:stretch>
          </a:blipFill>
        </p:spPr>
      </p:sp>
      <p:sp>
        <p:nvSpPr>
          <p:cNvPr name="Freeform 19" id="19"/>
          <p:cNvSpPr/>
          <p:nvPr/>
        </p:nvSpPr>
        <p:spPr>
          <a:xfrm flipH="false" flipV="false" rot="0">
            <a:off x="5168021" y="2786498"/>
            <a:ext cx="3079249" cy="6881004"/>
          </a:xfrm>
          <a:custGeom>
            <a:avLst/>
            <a:gdLst/>
            <a:ahLst/>
            <a:cxnLst/>
            <a:rect r="r" b="b" t="t" l="l"/>
            <a:pathLst>
              <a:path h="6881004" w="3079249">
                <a:moveTo>
                  <a:pt x="0" y="0"/>
                </a:moveTo>
                <a:lnTo>
                  <a:pt x="3079249" y="0"/>
                </a:lnTo>
                <a:lnTo>
                  <a:pt x="3079249" y="6881004"/>
                </a:lnTo>
                <a:lnTo>
                  <a:pt x="0" y="6881004"/>
                </a:lnTo>
                <a:lnTo>
                  <a:pt x="0" y="0"/>
                </a:lnTo>
                <a:close/>
              </a:path>
            </a:pathLst>
          </a:custGeom>
          <a:blipFill>
            <a:blip r:embed="rId6"/>
            <a:stretch>
              <a:fillRect l="0" t="0" r="0" b="0"/>
            </a:stretch>
          </a:blipFill>
        </p:spPr>
      </p:sp>
      <p:sp>
        <p:nvSpPr>
          <p:cNvPr name="Freeform 20" id="20"/>
          <p:cNvSpPr/>
          <p:nvPr/>
        </p:nvSpPr>
        <p:spPr>
          <a:xfrm flipH="false" flipV="false" rot="0">
            <a:off x="9359084" y="2786498"/>
            <a:ext cx="3067557" cy="6854875"/>
          </a:xfrm>
          <a:custGeom>
            <a:avLst/>
            <a:gdLst/>
            <a:ahLst/>
            <a:cxnLst/>
            <a:rect r="r" b="b" t="t" l="l"/>
            <a:pathLst>
              <a:path h="6854875" w="3067557">
                <a:moveTo>
                  <a:pt x="0" y="0"/>
                </a:moveTo>
                <a:lnTo>
                  <a:pt x="3067557" y="0"/>
                </a:lnTo>
                <a:lnTo>
                  <a:pt x="3067557" y="6854876"/>
                </a:lnTo>
                <a:lnTo>
                  <a:pt x="0" y="6854876"/>
                </a:lnTo>
                <a:lnTo>
                  <a:pt x="0" y="0"/>
                </a:lnTo>
                <a:close/>
              </a:path>
            </a:pathLst>
          </a:custGeom>
          <a:blipFill>
            <a:blip r:embed="rId7"/>
            <a:stretch>
              <a:fillRect l="0" t="0" r="0" b="0"/>
            </a:stretch>
          </a:blipFill>
        </p:spPr>
      </p:sp>
      <p:sp>
        <p:nvSpPr>
          <p:cNvPr name="Freeform 21" id="21"/>
          <p:cNvSpPr/>
          <p:nvPr/>
        </p:nvSpPr>
        <p:spPr>
          <a:xfrm flipH="false" flipV="false" rot="0">
            <a:off x="13531438" y="2786498"/>
            <a:ext cx="3079249" cy="6881004"/>
          </a:xfrm>
          <a:custGeom>
            <a:avLst/>
            <a:gdLst/>
            <a:ahLst/>
            <a:cxnLst/>
            <a:rect r="r" b="b" t="t" l="l"/>
            <a:pathLst>
              <a:path h="6881004" w="3079249">
                <a:moveTo>
                  <a:pt x="0" y="0"/>
                </a:moveTo>
                <a:lnTo>
                  <a:pt x="3079250" y="0"/>
                </a:lnTo>
                <a:lnTo>
                  <a:pt x="3079250" y="6881004"/>
                </a:lnTo>
                <a:lnTo>
                  <a:pt x="0" y="6881004"/>
                </a:lnTo>
                <a:lnTo>
                  <a:pt x="0" y="0"/>
                </a:lnTo>
                <a:close/>
              </a:path>
            </a:pathLst>
          </a:custGeom>
          <a:blipFill>
            <a:blip r:embed="rId8"/>
            <a:stretch>
              <a:fillRect l="0" t="0" r="0" b="0"/>
            </a:stretch>
          </a:blipFill>
        </p:spPr>
      </p:sp>
      <p:sp>
        <p:nvSpPr>
          <p:cNvPr name="TextBox 22" id="22"/>
          <p:cNvSpPr txBox="true"/>
          <p:nvPr/>
        </p:nvSpPr>
        <p:spPr>
          <a:xfrm rot="0">
            <a:off x="2135254" y="2313450"/>
            <a:ext cx="1336774" cy="391574"/>
          </a:xfrm>
          <a:prstGeom prst="rect">
            <a:avLst/>
          </a:prstGeom>
        </p:spPr>
        <p:txBody>
          <a:bodyPr anchor="t" rtlCol="false" tIns="0" lIns="0" bIns="0" rIns="0">
            <a:spAutoFit/>
          </a:bodyPr>
          <a:lstStyle/>
          <a:p>
            <a:pPr algn="ctr">
              <a:lnSpc>
                <a:spcPts val="3092"/>
              </a:lnSpc>
            </a:pPr>
            <a:r>
              <a:rPr lang="en-US" sz="2208">
                <a:solidFill>
                  <a:srgbClr val="051F20"/>
                </a:solidFill>
                <a:latin typeface="Cambria"/>
                <a:ea typeface="Cambria"/>
                <a:cs typeface="Cambria"/>
                <a:sym typeface="Cambria"/>
              </a:rPr>
              <a:t>Bienvenida</a:t>
            </a:r>
          </a:p>
        </p:txBody>
      </p:sp>
      <p:sp>
        <p:nvSpPr>
          <p:cNvPr name="TextBox 23" id="23"/>
          <p:cNvSpPr txBox="true"/>
          <p:nvPr/>
        </p:nvSpPr>
        <p:spPr>
          <a:xfrm rot="0">
            <a:off x="5550953" y="2313450"/>
            <a:ext cx="2313384" cy="391574"/>
          </a:xfrm>
          <a:prstGeom prst="rect">
            <a:avLst/>
          </a:prstGeom>
        </p:spPr>
        <p:txBody>
          <a:bodyPr anchor="t" rtlCol="false" tIns="0" lIns="0" bIns="0" rIns="0">
            <a:spAutoFit/>
          </a:bodyPr>
          <a:lstStyle/>
          <a:p>
            <a:pPr algn="ctr">
              <a:lnSpc>
                <a:spcPts val="3092"/>
              </a:lnSpc>
            </a:pPr>
            <a:r>
              <a:rPr lang="en-US" sz="2208">
                <a:solidFill>
                  <a:srgbClr val="051F20"/>
                </a:solidFill>
                <a:latin typeface="Cambria"/>
                <a:ea typeface="Cambria"/>
                <a:cs typeface="Cambria"/>
                <a:sym typeface="Cambria"/>
              </a:rPr>
              <a:t>Bandeja de entrada</a:t>
            </a:r>
          </a:p>
        </p:txBody>
      </p:sp>
      <p:sp>
        <p:nvSpPr>
          <p:cNvPr name="TextBox 24" id="24"/>
          <p:cNvSpPr txBox="true"/>
          <p:nvPr/>
        </p:nvSpPr>
        <p:spPr>
          <a:xfrm rot="0">
            <a:off x="9677830" y="2313450"/>
            <a:ext cx="2430066" cy="391574"/>
          </a:xfrm>
          <a:prstGeom prst="rect">
            <a:avLst/>
          </a:prstGeom>
        </p:spPr>
        <p:txBody>
          <a:bodyPr anchor="t" rtlCol="false" tIns="0" lIns="0" bIns="0" rIns="0">
            <a:spAutoFit/>
          </a:bodyPr>
          <a:lstStyle/>
          <a:p>
            <a:pPr algn="ctr">
              <a:lnSpc>
                <a:spcPts val="3092"/>
              </a:lnSpc>
            </a:pPr>
            <a:r>
              <a:rPr lang="en-US" sz="2208">
                <a:solidFill>
                  <a:srgbClr val="051F20"/>
                </a:solidFill>
                <a:latin typeface="Cambria"/>
                <a:ea typeface="Cambria"/>
                <a:cs typeface="Cambria"/>
                <a:sym typeface="Cambria"/>
              </a:rPr>
              <a:t>Detalle mensaje pt 1</a:t>
            </a:r>
          </a:p>
        </p:txBody>
      </p:sp>
      <p:sp>
        <p:nvSpPr>
          <p:cNvPr name="TextBox 25" id="25"/>
          <p:cNvSpPr txBox="true"/>
          <p:nvPr/>
        </p:nvSpPr>
        <p:spPr>
          <a:xfrm rot="0">
            <a:off x="13856030" y="2313450"/>
            <a:ext cx="2430066" cy="391574"/>
          </a:xfrm>
          <a:prstGeom prst="rect">
            <a:avLst/>
          </a:prstGeom>
        </p:spPr>
        <p:txBody>
          <a:bodyPr anchor="t" rtlCol="false" tIns="0" lIns="0" bIns="0" rIns="0">
            <a:spAutoFit/>
          </a:bodyPr>
          <a:lstStyle/>
          <a:p>
            <a:pPr algn="ctr">
              <a:lnSpc>
                <a:spcPts val="3092"/>
              </a:lnSpc>
            </a:pPr>
            <a:r>
              <a:rPr lang="en-US" sz="2208">
                <a:solidFill>
                  <a:srgbClr val="051F20"/>
                </a:solidFill>
                <a:latin typeface="Cambria"/>
                <a:ea typeface="Cambria"/>
                <a:cs typeface="Cambria"/>
                <a:sym typeface="Cambria"/>
              </a:rPr>
              <a:t>Detalle mensaje pt 2</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DAF1DE"/>
        </a:solidFill>
      </p:bgPr>
    </p:bg>
    <p:spTree>
      <p:nvGrpSpPr>
        <p:cNvPr id="1" name=""/>
        <p:cNvGrpSpPr/>
        <p:nvPr/>
      </p:nvGrpSpPr>
      <p:grpSpPr>
        <a:xfrm>
          <a:off x="0" y="0"/>
          <a:ext cx="0" cy="0"/>
          <a:chOff x="0" y="0"/>
          <a:chExt cx="0" cy="0"/>
        </a:xfrm>
      </p:grpSpPr>
      <p:sp>
        <p:nvSpPr>
          <p:cNvPr name="Freeform 2" id="2"/>
          <p:cNvSpPr/>
          <p:nvPr/>
        </p:nvSpPr>
        <p:spPr>
          <a:xfrm flipH="false" flipV="false" rot="0">
            <a:off x="0" y="45720"/>
            <a:ext cx="18288000" cy="10241280"/>
          </a:xfrm>
          <a:custGeom>
            <a:avLst/>
            <a:gdLst/>
            <a:ahLst/>
            <a:cxnLst/>
            <a:rect r="r" b="b" t="t" l="l"/>
            <a:pathLst>
              <a:path h="10241280" w="18288000">
                <a:moveTo>
                  <a:pt x="0" y="0"/>
                </a:moveTo>
                <a:lnTo>
                  <a:pt x="18288000" y="0"/>
                </a:lnTo>
                <a:lnTo>
                  <a:pt x="18288000" y="10241280"/>
                </a:lnTo>
                <a:lnTo>
                  <a:pt x="0" y="10241280"/>
                </a:lnTo>
                <a:lnTo>
                  <a:pt x="0" y="0"/>
                </a:lnTo>
                <a:close/>
              </a:path>
            </a:pathLst>
          </a:custGeom>
          <a:blipFill>
            <a:blip r:embed="rId2">
              <a:alphaModFix amt="40000"/>
            </a:blip>
            <a:stretch>
              <a:fillRect l="0" t="0" r="0" b="0"/>
            </a:stretch>
          </a:blipFill>
        </p:spPr>
      </p:sp>
      <p:grpSp>
        <p:nvGrpSpPr>
          <p:cNvPr name="Group 3" id="3"/>
          <p:cNvGrpSpPr/>
          <p:nvPr/>
        </p:nvGrpSpPr>
        <p:grpSpPr>
          <a:xfrm rot="0">
            <a:off x="754380" y="685800"/>
            <a:ext cx="1028700" cy="1028700"/>
            <a:chOff x="0" y="0"/>
            <a:chExt cx="1371600" cy="1371600"/>
          </a:xfrm>
        </p:grpSpPr>
        <p:sp>
          <p:nvSpPr>
            <p:cNvPr name="Freeform 4" id="4"/>
            <p:cNvSpPr/>
            <p:nvPr/>
          </p:nvSpPr>
          <p:spPr>
            <a:xfrm flipH="false" flipV="false" rot="0">
              <a:off x="0" y="0"/>
              <a:ext cx="1371600" cy="1371600"/>
            </a:xfrm>
            <a:custGeom>
              <a:avLst/>
              <a:gdLst/>
              <a:ahLst/>
              <a:cxnLst/>
              <a:rect r="r" b="b" t="t" l="l"/>
              <a:pathLst>
                <a:path h="1371600" w="1371600">
                  <a:moveTo>
                    <a:pt x="0" y="685800"/>
                  </a:moveTo>
                  <a:cubicBezTo>
                    <a:pt x="0" y="307086"/>
                    <a:pt x="307086" y="0"/>
                    <a:pt x="685800" y="0"/>
                  </a:cubicBezTo>
                  <a:cubicBezTo>
                    <a:pt x="1064514" y="0"/>
                    <a:pt x="1371600" y="307086"/>
                    <a:pt x="1371600" y="685800"/>
                  </a:cubicBezTo>
                  <a:cubicBezTo>
                    <a:pt x="1371600" y="1064514"/>
                    <a:pt x="1064514" y="1371600"/>
                    <a:pt x="685800" y="1371600"/>
                  </a:cubicBezTo>
                  <a:cubicBezTo>
                    <a:pt x="307086" y="1371600"/>
                    <a:pt x="0" y="1064514"/>
                    <a:pt x="0" y="685800"/>
                  </a:cubicBezTo>
                  <a:close/>
                </a:path>
              </a:pathLst>
            </a:custGeom>
            <a:solidFill>
              <a:srgbClr val="0B2B26"/>
            </a:solidFill>
          </p:spPr>
        </p:sp>
      </p:grpSp>
      <p:grpSp>
        <p:nvGrpSpPr>
          <p:cNvPr name="Group 5" id="5"/>
          <p:cNvGrpSpPr/>
          <p:nvPr/>
        </p:nvGrpSpPr>
        <p:grpSpPr>
          <a:xfrm rot="0">
            <a:off x="1001268" y="932688"/>
            <a:ext cx="534924" cy="534924"/>
            <a:chOff x="0" y="0"/>
            <a:chExt cx="713232" cy="713232"/>
          </a:xfrm>
        </p:grpSpPr>
        <p:sp>
          <p:nvSpPr>
            <p:cNvPr name="Freeform 6" id="6" descr="/home/claude/sms-security/icons/clock_light.png"/>
            <p:cNvSpPr/>
            <p:nvPr/>
          </p:nvSpPr>
          <p:spPr>
            <a:xfrm flipH="false" flipV="false" rot="0">
              <a:off x="0" y="0"/>
              <a:ext cx="713232" cy="713232"/>
            </a:xfrm>
            <a:custGeom>
              <a:avLst/>
              <a:gdLst/>
              <a:ahLst/>
              <a:cxnLst/>
              <a:rect r="r" b="b" t="t" l="l"/>
              <a:pathLst>
                <a:path h="713232" w="713232">
                  <a:moveTo>
                    <a:pt x="0" y="0"/>
                  </a:moveTo>
                  <a:lnTo>
                    <a:pt x="713232" y="0"/>
                  </a:lnTo>
                  <a:lnTo>
                    <a:pt x="713232" y="713232"/>
                  </a:lnTo>
                  <a:lnTo>
                    <a:pt x="0" y="713232"/>
                  </a:lnTo>
                  <a:lnTo>
                    <a:pt x="0" y="0"/>
                  </a:lnTo>
                  <a:close/>
                </a:path>
              </a:pathLst>
            </a:custGeom>
            <a:blipFill>
              <a:blip r:embed="rId3"/>
              <a:stretch>
                <a:fillRect l="0" t="0" r="0" b="0"/>
              </a:stretch>
            </a:blipFill>
          </p:spPr>
        </p:sp>
      </p:grpSp>
      <p:grpSp>
        <p:nvGrpSpPr>
          <p:cNvPr name="Group 7" id="7"/>
          <p:cNvGrpSpPr/>
          <p:nvPr/>
        </p:nvGrpSpPr>
        <p:grpSpPr>
          <a:xfrm rot="0">
            <a:off x="1920240" y="-543989"/>
            <a:ext cx="14401800" cy="3081449"/>
            <a:chOff x="0" y="0"/>
            <a:chExt cx="19202400" cy="4108599"/>
          </a:xfrm>
        </p:grpSpPr>
        <p:sp>
          <p:nvSpPr>
            <p:cNvPr name="Freeform 8" id="8"/>
            <p:cNvSpPr/>
            <p:nvPr/>
          </p:nvSpPr>
          <p:spPr>
            <a:xfrm flipH="false" flipV="false" rot="0">
              <a:off x="0" y="0"/>
              <a:ext cx="19202400" cy="4108599"/>
            </a:xfrm>
            <a:custGeom>
              <a:avLst/>
              <a:gdLst/>
              <a:ahLst/>
              <a:cxnLst/>
              <a:rect r="r" b="b" t="t" l="l"/>
              <a:pathLst>
                <a:path h="4108599" w="19202400">
                  <a:moveTo>
                    <a:pt x="0" y="0"/>
                  </a:moveTo>
                  <a:lnTo>
                    <a:pt x="19202400" y="0"/>
                  </a:lnTo>
                  <a:lnTo>
                    <a:pt x="19202400" y="4108599"/>
                  </a:lnTo>
                  <a:lnTo>
                    <a:pt x="0" y="4108599"/>
                  </a:lnTo>
                  <a:close/>
                </a:path>
              </a:pathLst>
            </a:custGeom>
            <a:blipFill>
              <a:blip r:embed="rId4">
                <a:alphaModFix amt="0"/>
              </a:blip>
              <a:stretch>
                <a:fillRect l="0" t="-78826" r="0" b="-3308"/>
              </a:stretch>
            </a:blipFill>
          </p:spPr>
        </p:sp>
        <p:sp>
          <p:nvSpPr>
            <p:cNvPr name="TextBox 9" id="9"/>
            <p:cNvSpPr txBox="true"/>
            <p:nvPr/>
          </p:nvSpPr>
          <p:spPr>
            <a:xfrm>
              <a:off x="0" y="-9525"/>
              <a:ext cx="19202400" cy="4118124"/>
            </a:xfrm>
            <a:prstGeom prst="rect">
              <a:avLst/>
            </a:prstGeom>
          </p:spPr>
          <p:txBody>
            <a:bodyPr anchor="ctr" rtlCol="false" tIns="0" lIns="0" bIns="0" rIns="0"/>
            <a:lstStyle/>
            <a:p>
              <a:pPr algn="l">
                <a:lnSpc>
                  <a:spcPts val="5040"/>
                </a:lnSpc>
              </a:pPr>
              <a:r>
                <a:rPr lang="en-US" sz="4200" b="true">
                  <a:solidFill>
                    <a:srgbClr val="051F20"/>
                  </a:solidFill>
                  <a:latin typeface="Cambria Bold"/>
                  <a:ea typeface="Cambria Bold"/>
                  <a:cs typeface="Cambria Bold"/>
                  <a:sym typeface="Cambria Bold"/>
                </a:rPr>
                <a:t>FrontEnd</a:t>
              </a:r>
            </a:p>
          </p:txBody>
        </p:sp>
      </p:grpSp>
      <p:grpSp>
        <p:nvGrpSpPr>
          <p:cNvPr name="Group 10" id="10"/>
          <p:cNvGrpSpPr/>
          <p:nvPr/>
        </p:nvGrpSpPr>
        <p:grpSpPr>
          <a:xfrm rot="0">
            <a:off x="1988820" y="1303020"/>
            <a:ext cx="14401800" cy="480060"/>
            <a:chOff x="0" y="0"/>
            <a:chExt cx="19202400" cy="640080"/>
          </a:xfrm>
        </p:grpSpPr>
        <p:sp>
          <p:nvSpPr>
            <p:cNvPr name="Freeform 11" id="11"/>
            <p:cNvSpPr/>
            <p:nvPr/>
          </p:nvSpPr>
          <p:spPr>
            <a:xfrm flipH="false" flipV="false" rot="0">
              <a:off x="0" y="0"/>
              <a:ext cx="19202400" cy="640080"/>
            </a:xfrm>
            <a:custGeom>
              <a:avLst/>
              <a:gdLst/>
              <a:ahLst/>
              <a:cxnLst/>
              <a:rect r="r" b="b" t="t" l="l"/>
              <a:pathLst>
                <a:path h="640080" w="19202400">
                  <a:moveTo>
                    <a:pt x="0" y="0"/>
                  </a:moveTo>
                  <a:lnTo>
                    <a:pt x="19202400" y="0"/>
                  </a:lnTo>
                  <a:lnTo>
                    <a:pt x="19202400" y="640080"/>
                  </a:lnTo>
                  <a:lnTo>
                    <a:pt x="0" y="640080"/>
                  </a:lnTo>
                  <a:close/>
                </a:path>
              </a:pathLst>
            </a:custGeom>
            <a:blipFill>
              <a:blip r:embed="rId4">
                <a:alphaModFix amt="0"/>
              </a:blip>
              <a:stretch>
                <a:fillRect l="0" t="-534551" r="0" b="-534551"/>
              </a:stretch>
            </a:blipFill>
          </p:spPr>
        </p:sp>
        <p:sp>
          <p:nvSpPr>
            <p:cNvPr name="TextBox 12" id="12"/>
            <p:cNvSpPr txBox="true"/>
            <p:nvPr/>
          </p:nvSpPr>
          <p:spPr>
            <a:xfrm>
              <a:off x="0" y="-47625"/>
              <a:ext cx="19202400" cy="687705"/>
            </a:xfrm>
            <a:prstGeom prst="rect">
              <a:avLst/>
            </a:prstGeom>
          </p:spPr>
          <p:txBody>
            <a:bodyPr anchor="ctr" rtlCol="false" tIns="0" lIns="0" bIns="0" rIns="0"/>
            <a:lstStyle/>
            <a:p>
              <a:pPr algn="l">
                <a:lnSpc>
                  <a:spcPts val="2340"/>
                </a:lnSpc>
              </a:pPr>
              <a:r>
                <a:rPr lang="en-US" sz="1950" i="true">
                  <a:solidFill>
                    <a:srgbClr val="235347"/>
                  </a:solidFill>
                  <a:latin typeface="Calibri (MS) Italics"/>
                  <a:ea typeface="Calibri (MS) Italics"/>
                  <a:cs typeface="Calibri (MS) Italics"/>
                  <a:sym typeface="Calibri (MS) Italics"/>
                </a:rPr>
                <a:t>Avances obtenidos en el FrontEnd Panel DashBoard</a:t>
              </a:r>
            </a:p>
          </p:txBody>
        </p:sp>
      </p:grpSp>
      <p:grpSp>
        <p:nvGrpSpPr>
          <p:cNvPr name="Group 13" id="13"/>
          <p:cNvGrpSpPr/>
          <p:nvPr/>
        </p:nvGrpSpPr>
        <p:grpSpPr>
          <a:xfrm rot="0">
            <a:off x="754380" y="2125980"/>
            <a:ext cx="16549248" cy="7715250"/>
            <a:chOff x="0" y="0"/>
            <a:chExt cx="22065664" cy="10287000"/>
          </a:xfrm>
        </p:grpSpPr>
        <p:sp>
          <p:nvSpPr>
            <p:cNvPr name="Freeform 14" id="14"/>
            <p:cNvSpPr/>
            <p:nvPr/>
          </p:nvSpPr>
          <p:spPr>
            <a:xfrm flipH="false" flipV="false" rot="0">
              <a:off x="0" y="0"/>
              <a:ext cx="22065666" cy="10287000"/>
            </a:xfrm>
            <a:custGeom>
              <a:avLst/>
              <a:gdLst/>
              <a:ahLst/>
              <a:cxnLst/>
              <a:rect r="r" b="b" t="t" l="l"/>
              <a:pathLst>
                <a:path h="10287000" w="22065666">
                  <a:moveTo>
                    <a:pt x="0" y="223630"/>
                  </a:moveTo>
                  <a:cubicBezTo>
                    <a:pt x="0" y="100168"/>
                    <a:pt x="168950" y="0"/>
                    <a:pt x="377191" y="0"/>
                  </a:cubicBezTo>
                  <a:lnTo>
                    <a:pt x="21688473" y="0"/>
                  </a:lnTo>
                  <a:cubicBezTo>
                    <a:pt x="21896715" y="0"/>
                    <a:pt x="22065666" y="100168"/>
                    <a:pt x="22065666" y="223630"/>
                  </a:cubicBezTo>
                  <a:lnTo>
                    <a:pt x="22065666" y="10063369"/>
                  </a:lnTo>
                  <a:cubicBezTo>
                    <a:pt x="22065666" y="10186832"/>
                    <a:pt x="21896715" y="10287000"/>
                    <a:pt x="21688473" y="10287000"/>
                  </a:cubicBezTo>
                  <a:lnTo>
                    <a:pt x="377191" y="10287000"/>
                  </a:lnTo>
                  <a:cubicBezTo>
                    <a:pt x="168950" y="10287000"/>
                    <a:pt x="0" y="10186832"/>
                    <a:pt x="0" y="10063369"/>
                  </a:cubicBezTo>
                  <a:close/>
                </a:path>
              </a:pathLst>
            </a:custGeom>
            <a:solidFill>
              <a:srgbClr val="FFFFFF"/>
            </a:solidFill>
          </p:spPr>
        </p:sp>
      </p:grpSp>
      <p:grpSp>
        <p:nvGrpSpPr>
          <p:cNvPr name="Group 15" id="15"/>
          <p:cNvGrpSpPr/>
          <p:nvPr/>
        </p:nvGrpSpPr>
        <p:grpSpPr>
          <a:xfrm rot="0">
            <a:off x="17053103" y="9601200"/>
            <a:ext cx="822960" cy="480060"/>
            <a:chOff x="0" y="0"/>
            <a:chExt cx="1097280" cy="640080"/>
          </a:xfrm>
        </p:grpSpPr>
        <p:sp>
          <p:nvSpPr>
            <p:cNvPr name="Freeform 16" id="16"/>
            <p:cNvSpPr/>
            <p:nvPr/>
          </p:nvSpPr>
          <p:spPr>
            <a:xfrm flipH="false" flipV="false" rot="0">
              <a:off x="0" y="0"/>
              <a:ext cx="1097280" cy="640080"/>
            </a:xfrm>
            <a:custGeom>
              <a:avLst/>
              <a:gdLst/>
              <a:ahLst/>
              <a:cxnLst/>
              <a:rect r="r" b="b" t="t" l="l"/>
              <a:pathLst>
                <a:path h="640080" w="1097280">
                  <a:moveTo>
                    <a:pt x="0" y="0"/>
                  </a:moveTo>
                  <a:lnTo>
                    <a:pt x="1097280" y="0"/>
                  </a:lnTo>
                  <a:lnTo>
                    <a:pt x="1097280" y="640080"/>
                  </a:lnTo>
                  <a:lnTo>
                    <a:pt x="0" y="640080"/>
                  </a:lnTo>
                  <a:close/>
                </a:path>
              </a:pathLst>
            </a:custGeom>
            <a:blipFill>
              <a:blip r:embed="rId4">
                <a:alphaModFix amt="0"/>
              </a:blip>
              <a:stretch>
                <a:fillRect l="-24843" t="0" r="-24843" b="0"/>
              </a:stretch>
            </a:blipFill>
          </p:spPr>
        </p:sp>
        <p:sp>
          <p:nvSpPr>
            <p:cNvPr name="TextBox 17" id="17"/>
            <p:cNvSpPr txBox="true"/>
            <p:nvPr/>
          </p:nvSpPr>
          <p:spPr>
            <a:xfrm>
              <a:off x="0" y="-38100"/>
              <a:ext cx="1097280" cy="678180"/>
            </a:xfrm>
            <a:prstGeom prst="rect">
              <a:avLst/>
            </a:prstGeom>
          </p:spPr>
          <p:txBody>
            <a:bodyPr anchor="ctr" rtlCol="false" tIns="0" lIns="0" bIns="0" rIns="0"/>
            <a:lstStyle/>
            <a:p>
              <a:pPr algn="r">
                <a:lnSpc>
                  <a:spcPts val="1800"/>
                </a:lnSpc>
              </a:pPr>
              <a:r>
                <a:rPr lang="en-US" sz="1500">
                  <a:solidFill>
                    <a:srgbClr val="235347"/>
                  </a:solidFill>
                  <a:latin typeface="Calibri (MS)"/>
                  <a:ea typeface="Calibri (MS)"/>
                  <a:cs typeface="Calibri (MS)"/>
                  <a:sym typeface="Calibri (MS)"/>
                </a:rPr>
                <a:t>04</a:t>
              </a:r>
            </a:p>
          </p:txBody>
        </p:sp>
      </p:grpSp>
      <p:sp>
        <p:nvSpPr>
          <p:cNvPr name="Freeform 18" id="18"/>
          <p:cNvSpPr/>
          <p:nvPr/>
        </p:nvSpPr>
        <p:spPr>
          <a:xfrm flipH="false" flipV="false" rot="0">
            <a:off x="4429964" y="2410080"/>
            <a:ext cx="12434385" cy="6745654"/>
          </a:xfrm>
          <a:custGeom>
            <a:avLst/>
            <a:gdLst/>
            <a:ahLst/>
            <a:cxnLst/>
            <a:rect r="r" b="b" t="t" l="l"/>
            <a:pathLst>
              <a:path h="6745654" w="12434385">
                <a:moveTo>
                  <a:pt x="0" y="0"/>
                </a:moveTo>
                <a:lnTo>
                  <a:pt x="12434385" y="0"/>
                </a:lnTo>
                <a:lnTo>
                  <a:pt x="12434385" y="6745654"/>
                </a:lnTo>
                <a:lnTo>
                  <a:pt x="0" y="6745654"/>
                </a:lnTo>
                <a:lnTo>
                  <a:pt x="0" y="0"/>
                </a:lnTo>
                <a:close/>
              </a:path>
            </a:pathLst>
          </a:custGeom>
          <a:blipFill>
            <a:blip r:embed="rId5"/>
            <a:stretch>
              <a:fillRect l="0" t="0" r="0" b="0"/>
            </a:stretch>
          </a:blipFill>
        </p:spPr>
      </p:sp>
      <p:sp>
        <p:nvSpPr>
          <p:cNvPr name="TextBox 19" id="19"/>
          <p:cNvSpPr txBox="true"/>
          <p:nvPr/>
        </p:nvSpPr>
        <p:spPr>
          <a:xfrm rot="0">
            <a:off x="1154536" y="2849462"/>
            <a:ext cx="3014269" cy="5828789"/>
          </a:xfrm>
          <a:prstGeom prst="rect">
            <a:avLst/>
          </a:prstGeom>
        </p:spPr>
        <p:txBody>
          <a:bodyPr anchor="t" rtlCol="false" tIns="0" lIns="0" bIns="0" rIns="0">
            <a:spAutoFit/>
          </a:bodyPr>
          <a:lstStyle/>
          <a:p>
            <a:pPr algn="just">
              <a:lnSpc>
                <a:spcPts val="2626"/>
              </a:lnSpc>
            </a:pPr>
          </a:p>
          <a:p>
            <a:pPr algn="just" marL="405035" indent="-202518" lvl="1">
              <a:lnSpc>
                <a:spcPts val="2626"/>
              </a:lnSpc>
              <a:buFont typeface="Arial"/>
              <a:buChar char="•"/>
            </a:pPr>
            <a:r>
              <a:rPr lang="en-US" sz="1876">
                <a:solidFill>
                  <a:srgbClr val="000000"/>
                </a:solidFill>
                <a:latin typeface="Open Sans"/>
                <a:ea typeface="Open Sans"/>
                <a:cs typeface="Open Sans"/>
                <a:sym typeface="Open Sans"/>
              </a:rPr>
              <a:t>Métricas Principales: Monitoreo activo de SMS analizados, alertas de alto riesgo, reportes pendientes y dominios sospechosos.</a:t>
            </a:r>
          </a:p>
          <a:p>
            <a:pPr algn="just" marL="405035" indent="-202518" lvl="1">
              <a:lnSpc>
                <a:spcPts val="2626"/>
              </a:lnSpc>
              <a:buFont typeface="Arial"/>
              <a:buChar char="•"/>
            </a:pPr>
            <a:r>
              <a:rPr lang="en-US" sz="1876">
                <a:solidFill>
                  <a:srgbClr val="000000"/>
                </a:solidFill>
                <a:latin typeface="Open Sans"/>
                <a:ea typeface="Open Sans"/>
                <a:cs typeface="Open Sans"/>
                <a:sym typeface="Open Sans"/>
              </a:rPr>
              <a:t>Clasificación: Gráficos de distribución según la categoría del fraude (Banca, Courier, Servicios Públicos).</a:t>
            </a:r>
          </a:p>
          <a:p>
            <a:pPr algn="just" marL="405035" indent="-202518" lvl="1">
              <a:lnSpc>
                <a:spcPts val="2626"/>
              </a:lnSpc>
              <a:buFont typeface="Arial"/>
              <a:buChar char="•"/>
            </a:pPr>
            <a:r>
              <a:rPr lang="en-US" sz="1876">
                <a:solidFill>
                  <a:srgbClr val="000000"/>
                </a:solidFill>
                <a:latin typeface="Open Sans"/>
                <a:ea typeface="Open Sans"/>
                <a:cs typeface="Open Sans"/>
                <a:sym typeface="Open Sans"/>
              </a:rPr>
              <a:t>Gestión Operativa: Módulo de revisión de reportes para auditar y validar mensajes en tiempo real.</a:t>
            </a:r>
          </a:p>
          <a:p>
            <a:pPr algn="just">
              <a:lnSpc>
                <a:spcPts val="2626"/>
              </a:lnSpc>
            </a:pP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DAF1DE"/>
        </a:solidFill>
      </p:bgPr>
    </p:bg>
    <p:spTree>
      <p:nvGrpSpPr>
        <p:cNvPr id="1" name=""/>
        <p:cNvGrpSpPr/>
        <p:nvPr/>
      </p:nvGrpSpPr>
      <p:grpSpPr>
        <a:xfrm>
          <a:off x="0" y="0"/>
          <a:ext cx="0" cy="0"/>
          <a:chOff x="0" y="0"/>
          <a:chExt cx="0" cy="0"/>
        </a:xfrm>
      </p:grpSpPr>
      <p:sp>
        <p:nvSpPr>
          <p:cNvPr name="Freeform 2" id="2"/>
          <p:cNvSpPr/>
          <p:nvPr/>
        </p:nvSpPr>
        <p:spPr>
          <a:xfrm flipH="false" flipV="false" rot="0">
            <a:off x="0" y="45720"/>
            <a:ext cx="18288000" cy="10241280"/>
          </a:xfrm>
          <a:custGeom>
            <a:avLst/>
            <a:gdLst/>
            <a:ahLst/>
            <a:cxnLst/>
            <a:rect r="r" b="b" t="t" l="l"/>
            <a:pathLst>
              <a:path h="10241280" w="18288000">
                <a:moveTo>
                  <a:pt x="0" y="0"/>
                </a:moveTo>
                <a:lnTo>
                  <a:pt x="18288000" y="0"/>
                </a:lnTo>
                <a:lnTo>
                  <a:pt x="18288000" y="10241280"/>
                </a:lnTo>
                <a:lnTo>
                  <a:pt x="0" y="10241280"/>
                </a:lnTo>
                <a:lnTo>
                  <a:pt x="0" y="0"/>
                </a:lnTo>
                <a:close/>
              </a:path>
            </a:pathLst>
          </a:custGeom>
          <a:blipFill>
            <a:blip r:embed="rId2">
              <a:alphaModFix amt="40000"/>
            </a:blip>
            <a:stretch>
              <a:fillRect l="0" t="0" r="0" b="0"/>
            </a:stretch>
          </a:blipFill>
        </p:spPr>
      </p:sp>
      <p:grpSp>
        <p:nvGrpSpPr>
          <p:cNvPr name="Group 3" id="3"/>
          <p:cNvGrpSpPr/>
          <p:nvPr/>
        </p:nvGrpSpPr>
        <p:grpSpPr>
          <a:xfrm rot="0">
            <a:off x="2314004" y="1548860"/>
            <a:ext cx="5145672" cy="7709440"/>
            <a:chOff x="0" y="0"/>
            <a:chExt cx="1355239" cy="2030470"/>
          </a:xfrm>
        </p:grpSpPr>
        <p:sp>
          <p:nvSpPr>
            <p:cNvPr name="Freeform 4" id="4"/>
            <p:cNvSpPr/>
            <p:nvPr/>
          </p:nvSpPr>
          <p:spPr>
            <a:xfrm flipH="false" flipV="false" rot="0">
              <a:off x="0" y="0"/>
              <a:ext cx="1355239" cy="2030470"/>
            </a:xfrm>
            <a:custGeom>
              <a:avLst/>
              <a:gdLst/>
              <a:ahLst/>
              <a:cxnLst/>
              <a:rect r="r" b="b" t="t" l="l"/>
              <a:pathLst>
                <a:path h="2030470" w="1355239">
                  <a:moveTo>
                    <a:pt x="76732" y="0"/>
                  </a:moveTo>
                  <a:lnTo>
                    <a:pt x="1278507" y="0"/>
                  </a:lnTo>
                  <a:cubicBezTo>
                    <a:pt x="1298857" y="0"/>
                    <a:pt x="1318374" y="8084"/>
                    <a:pt x="1332764" y="22474"/>
                  </a:cubicBezTo>
                  <a:cubicBezTo>
                    <a:pt x="1347154" y="36864"/>
                    <a:pt x="1355239" y="56381"/>
                    <a:pt x="1355239" y="76732"/>
                  </a:cubicBezTo>
                  <a:lnTo>
                    <a:pt x="1355239" y="1953738"/>
                  </a:lnTo>
                  <a:cubicBezTo>
                    <a:pt x="1355239" y="1974088"/>
                    <a:pt x="1347154" y="1993605"/>
                    <a:pt x="1332764" y="2007996"/>
                  </a:cubicBezTo>
                  <a:cubicBezTo>
                    <a:pt x="1318374" y="2022386"/>
                    <a:pt x="1298857" y="2030470"/>
                    <a:pt x="1278507" y="2030470"/>
                  </a:cubicBezTo>
                  <a:lnTo>
                    <a:pt x="76732" y="2030470"/>
                  </a:lnTo>
                  <a:cubicBezTo>
                    <a:pt x="56381" y="2030470"/>
                    <a:pt x="36864" y="2022386"/>
                    <a:pt x="22474" y="2007996"/>
                  </a:cubicBezTo>
                  <a:cubicBezTo>
                    <a:pt x="8084" y="1993605"/>
                    <a:pt x="0" y="1974088"/>
                    <a:pt x="0" y="1953738"/>
                  </a:cubicBezTo>
                  <a:lnTo>
                    <a:pt x="0" y="76732"/>
                  </a:lnTo>
                  <a:cubicBezTo>
                    <a:pt x="0" y="56381"/>
                    <a:pt x="8084" y="36864"/>
                    <a:pt x="22474" y="22474"/>
                  </a:cubicBezTo>
                  <a:cubicBezTo>
                    <a:pt x="36864" y="8084"/>
                    <a:pt x="56381" y="0"/>
                    <a:pt x="76732" y="0"/>
                  </a:cubicBezTo>
                  <a:close/>
                </a:path>
              </a:pathLst>
            </a:custGeom>
            <a:solidFill>
              <a:srgbClr val="0B2B26"/>
            </a:solidFill>
          </p:spPr>
        </p:sp>
        <p:sp>
          <p:nvSpPr>
            <p:cNvPr name="TextBox 5" id="5"/>
            <p:cNvSpPr txBox="true"/>
            <p:nvPr/>
          </p:nvSpPr>
          <p:spPr>
            <a:xfrm>
              <a:off x="0" y="-47625"/>
              <a:ext cx="1355239" cy="2078095"/>
            </a:xfrm>
            <a:prstGeom prst="rect">
              <a:avLst/>
            </a:prstGeom>
          </p:spPr>
          <p:txBody>
            <a:bodyPr anchor="ctr" rtlCol="false" tIns="50800" lIns="50800" bIns="50800" rIns="50800"/>
            <a:lstStyle/>
            <a:p>
              <a:pPr algn="ctr">
                <a:lnSpc>
                  <a:spcPts val="2340"/>
                </a:lnSpc>
              </a:pPr>
            </a:p>
          </p:txBody>
        </p:sp>
      </p:grpSp>
      <p:grpSp>
        <p:nvGrpSpPr>
          <p:cNvPr name="Group 6" id="6"/>
          <p:cNvGrpSpPr/>
          <p:nvPr/>
        </p:nvGrpSpPr>
        <p:grpSpPr>
          <a:xfrm rot="0">
            <a:off x="2644147" y="1722631"/>
            <a:ext cx="4129522" cy="6887459"/>
            <a:chOff x="0" y="0"/>
            <a:chExt cx="5506029" cy="9183278"/>
          </a:xfrm>
        </p:grpSpPr>
        <p:sp>
          <p:nvSpPr>
            <p:cNvPr name="Freeform 7" id="7"/>
            <p:cNvSpPr/>
            <p:nvPr/>
          </p:nvSpPr>
          <p:spPr>
            <a:xfrm flipH="false" flipV="false" rot="0">
              <a:off x="0" y="0"/>
              <a:ext cx="5506029" cy="9183278"/>
            </a:xfrm>
            <a:custGeom>
              <a:avLst/>
              <a:gdLst/>
              <a:ahLst/>
              <a:cxnLst/>
              <a:rect r="r" b="b" t="t" l="l"/>
              <a:pathLst>
                <a:path h="9183278" w="5506029">
                  <a:moveTo>
                    <a:pt x="0" y="0"/>
                  </a:moveTo>
                  <a:lnTo>
                    <a:pt x="5506029" y="0"/>
                  </a:lnTo>
                  <a:lnTo>
                    <a:pt x="5506029" y="9183278"/>
                  </a:lnTo>
                  <a:lnTo>
                    <a:pt x="0" y="9183278"/>
                  </a:lnTo>
                  <a:close/>
                </a:path>
              </a:pathLst>
            </a:custGeom>
            <a:blipFill>
              <a:blip r:embed="rId3">
                <a:alphaModFix amt="0"/>
              </a:blip>
              <a:stretch>
                <a:fillRect l="0" t="-37258" r="-248752" b="55771"/>
              </a:stretch>
            </a:blipFill>
          </p:spPr>
        </p:sp>
        <p:sp>
          <p:nvSpPr>
            <p:cNvPr name="TextBox 8" id="8"/>
            <p:cNvSpPr txBox="true"/>
            <p:nvPr/>
          </p:nvSpPr>
          <p:spPr>
            <a:xfrm>
              <a:off x="0" y="-47625"/>
              <a:ext cx="5506029" cy="9230903"/>
            </a:xfrm>
            <a:prstGeom prst="rect">
              <a:avLst/>
            </a:prstGeom>
          </p:spPr>
          <p:txBody>
            <a:bodyPr anchor="ctr" rtlCol="false" tIns="0" lIns="0" bIns="0" rIns="0"/>
            <a:lstStyle/>
            <a:p>
              <a:pPr algn="l">
                <a:lnSpc>
                  <a:spcPts val="2340"/>
                </a:lnSpc>
              </a:pPr>
              <a:r>
                <a:rPr lang="en-US" sz="1950" i="true">
                  <a:solidFill>
                    <a:srgbClr val="DAF1DE"/>
                  </a:solidFill>
                  <a:latin typeface="Calibri (MS) Italics"/>
                  <a:ea typeface="Calibri (MS) Italics"/>
                  <a:cs typeface="Calibri (MS) Italics"/>
                  <a:sym typeface="Calibri (MS) Italics"/>
                </a:rPr>
                <a:t>Hitos Logrados (Progreso Actual)</a:t>
              </a:r>
            </a:p>
            <a:p>
              <a:pPr algn="l" marL="421005" indent="-210502" lvl="1">
                <a:lnSpc>
                  <a:spcPts val="2340"/>
                </a:lnSpc>
                <a:buFont typeface="Arial"/>
                <a:buChar char="•"/>
              </a:pPr>
              <a:r>
                <a:rPr lang="en-US" sz="1950" i="true">
                  <a:solidFill>
                    <a:srgbClr val="DAF1DE"/>
                  </a:solidFill>
                  <a:latin typeface="Calibri (MS) Italics"/>
                  <a:ea typeface="Calibri (MS) Italics"/>
                  <a:cs typeface="Calibri (MS) Italics"/>
                  <a:sym typeface="Calibri (MS) Italics"/>
                </a:rPr>
                <a:t>Cumplimiento de Planificación (Fases 1 y 2): Hemos completado con éxito la definición y el diseño arquitectónico del sistema. Actualmente, el desarrollo del Backend y Frontend se encuentra en una etapa avanzada y alineada con la Carta Gantt. </a:t>
              </a:r>
            </a:p>
            <a:p>
              <a:pPr algn="l" marL="421005" indent="-210502" lvl="1">
                <a:lnSpc>
                  <a:spcPts val="2340"/>
                </a:lnSpc>
                <a:buFont typeface="Arial"/>
                <a:buChar char="•"/>
              </a:pPr>
              <a:r>
                <a:rPr lang="en-US" sz="1950" i="true">
                  <a:solidFill>
                    <a:srgbClr val="DAF1DE"/>
                  </a:solidFill>
                  <a:latin typeface="Calibri (MS) Italics"/>
                  <a:ea typeface="Calibri (MS) Italics"/>
                  <a:cs typeface="Calibri (MS) Italics"/>
                  <a:sym typeface="Calibri (MS) Italics"/>
                </a:rPr>
                <a:t>Núcleo Funcional </a:t>
              </a:r>
              <a:r>
                <a:rPr lang="en-US" sz="1950" i="true">
                  <a:solidFill>
                    <a:srgbClr val="DAF1DE"/>
                  </a:solidFill>
                  <a:latin typeface="Calibri (MS) Italics"/>
                  <a:ea typeface="Calibri (MS) Italics"/>
                  <a:cs typeface="Calibri (MS) Italics"/>
                  <a:sym typeface="Calibri (MS) Italics"/>
                </a:rPr>
                <a:t>Operativo: El motor principal ya cumple con el análisis de texto y enlaces (RF-01, RF-02), generando exitosamente el scoring de riesgo (RF-03) mediante nuestras APIs. </a:t>
              </a:r>
            </a:p>
            <a:p>
              <a:pPr algn="l" marL="421005" indent="-210502" lvl="1">
                <a:lnSpc>
                  <a:spcPts val="2340"/>
                </a:lnSpc>
                <a:buFont typeface="Arial"/>
                <a:buChar char="•"/>
              </a:pPr>
              <a:r>
                <a:rPr lang="en-US" sz="1950" i="true">
                  <a:solidFill>
                    <a:srgbClr val="DAF1DE"/>
                  </a:solidFill>
                  <a:latin typeface="Calibri (MS) Italics"/>
                  <a:ea typeface="Calibri (MS) Italics"/>
                  <a:cs typeface="Calibri (MS) Italics"/>
                  <a:sym typeface="Calibri (MS) Italics"/>
                </a:rPr>
                <a:t>Arquitectura y Optimización: El stack tecnológico establecido (React Native, Node.js, MongoDB) está consolidado (RNF-01), incluyendo el sistema de caché para optimizar el consumo de recursos de las APIs externas (RNF-03). </a:t>
              </a:r>
            </a:p>
            <a:p>
              <a:pPr algn="l">
                <a:lnSpc>
                  <a:spcPts val="2340"/>
                </a:lnSpc>
              </a:pPr>
            </a:p>
          </p:txBody>
        </p:sp>
      </p:grpSp>
      <p:grpSp>
        <p:nvGrpSpPr>
          <p:cNvPr name="Group 9" id="9"/>
          <p:cNvGrpSpPr/>
          <p:nvPr/>
        </p:nvGrpSpPr>
        <p:grpSpPr>
          <a:xfrm rot="0">
            <a:off x="9751047" y="1548860"/>
            <a:ext cx="5145672" cy="7709440"/>
            <a:chOff x="0" y="0"/>
            <a:chExt cx="1355239" cy="2030470"/>
          </a:xfrm>
        </p:grpSpPr>
        <p:sp>
          <p:nvSpPr>
            <p:cNvPr name="Freeform 10" id="10"/>
            <p:cNvSpPr/>
            <p:nvPr/>
          </p:nvSpPr>
          <p:spPr>
            <a:xfrm flipH="false" flipV="false" rot="0">
              <a:off x="0" y="0"/>
              <a:ext cx="1355239" cy="2030470"/>
            </a:xfrm>
            <a:custGeom>
              <a:avLst/>
              <a:gdLst/>
              <a:ahLst/>
              <a:cxnLst/>
              <a:rect r="r" b="b" t="t" l="l"/>
              <a:pathLst>
                <a:path h="2030470" w="1355239">
                  <a:moveTo>
                    <a:pt x="76732" y="0"/>
                  </a:moveTo>
                  <a:lnTo>
                    <a:pt x="1278507" y="0"/>
                  </a:lnTo>
                  <a:cubicBezTo>
                    <a:pt x="1298857" y="0"/>
                    <a:pt x="1318374" y="8084"/>
                    <a:pt x="1332764" y="22474"/>
                  </a:cubicBezTo>
                  <a:cubicBezTo>
                    <a:pt x="1347154" y="36864"/>
                    <a:pt x="1355239" y="56381"/>
                    <a:pt x="1355239" y="76732"/>
                  </a:cubicBezTo>
                  <a:lnTo>
                    <a:pt x="1355239" y="1953738"/>
                  </a:lnTo>
                  <a:cubicBezTo>
                    <a:pt x="1355239" y="1974088"/>
                    <a:pt x="1347154" y="1993605"/>
                    <a:pt x="1332764" y="2007996"/>
                  </a:cubicBezTo>
                  <a:cubicBezTo>
                    <a:pt x="1318374" y="2022386"/>
                    <a:pt x="1298857" y="2030470"/>
                    <a:pt x="1278507" y="2030470"/>
                  </a:cubicBezTo>
                  <a:lnTo>
                    <a:pt x="76732" y="2030470"/>
                  </a:lnTo>
                  <a:cubicBezTo>
                    <a:pt x="56381" y="2030470"/>
                    <a:pt x="36864" y="2022386"/>
                    <a:pt x="22474" y="2007996"/>
                  </a:cubicBezTo>
                  <a:cubicBezTo>
                    <a:pt x="8084" y="1993605"/>
                    <a:pt x="0" y="1974088"/>
                    <a:pt x="0" y="1953738"/>
                  </a:cubicBezTo>
                  <a:lnTo>
                    <a:pt x="0" y="76732"/>
                  </a:lnTo>
                  <a:cubicBezTo>
                    <a:pt x="0" y="56381"/>
                    <a:pt x="8084" y="36864"/>
                    <a:pt x="22474" y="22474"/>
                  </a:cubicBezTo>
                  <a:cubicBezTo>
                    <a:pt x="36864" y="8084"/>
                    <a:pt x="56381" y="0"/>
                    <a:pt x="76732" y="0"/>
                  </a:cubicBezTo>
                  <a:close/>
                </a:path>
              </a:pathLst>
            </a:custGeom>
            <a:solidFill>
              <a:srgbClr val="0B2B26"/>
            </a:solidFill>
          </p:spPr>
        </p:sp>
        <p:sp>
          <p:nvSpPr>
            <p:cNvPr name="TextBox 11" id="11"/>
            <p:cNvSpPr txBox="true"/>
            <p:nvPr/>
          </p:nvSpPr>
          <p:spPr>
            <a:xfrm>
              <a:off x="0" y="-47625"/>
              <a:ext cx="1355239" cy="2078095"/>
            </a:xfrm>
            <a:prstGeom prst="rect">
              <a:avLst/>
            </a:prstGeom>
          </p:spPr>
          <p:txBody>
            <a:bodyPr anchor="ctr" rtlCol="false" tIns="50800" lIns="50800" bIns="50800" rIns="50800"/>
            <a:lstStyle/>
            <a:p>
              <a:pPr algn="ctr">
                <a:lnSpc>
                  <a:spcPts val="2340"/>
                </a:lnSpc>
              </a:pPr>
            </a:p>
          </p:txBody>
        </p:sp>
      </p:grpSp>
      <p:grpSp>
        <p:nvGrpSpPr>
          <p:cNvPr name="Group 12" id="12"/>
          <p:cNvGrpSpPr/>
          <p:nvPr/>
        </p:nvGrpSpPr>
        <p:grpSpPr>
          <a:xfrm rot="0">
            <a:off x="10062239" y="1722631"/>
            <a:ext cx="4129522" cy="6001634"/>
            <a:chOff x="0" y="0"/>
            <a:chExt cx="5506029" cy="8002178"/>
          </a:xfrm>
        </p:grpSpPr>
        <p:sp>
          <p:nvSpPr>
            <p:cNvPr name="Freeform 13" id="13"/>
            <p:cNvSpPr/>
            <p:nvPr/>
          </p:nvSpPr>
          <p:spPr>
            <a:xfrm flipH="false" flipV="false" rot="0">
              <a:off x="0" y="0"/>
              <a:ext cx="5506029" cy="8002178"/>
            </a:xfrm>
            <a:custGeom>
              <a:avLst/>
              <a:gdLst/>
              <a:ahLst/>
              <a:cxnLst/>
              <a:rect r="r" b="b" t="t" l="l"/>
              <a:pathLst>
                <a:path h="8002178" w="5506029">
                  <a:moveTo>
                    <a:pt x="0" y="0"/>
                  </a:moveTo>
                  <a:lnTo>
                    <a:pt x="5506029" y="0"/>
                  </a:lnTo>
                  <a:lnTo>
                    <a:pt x="5506029" y="8002178"/>
                  </a:lnTo>
                  <a:lnTo>
                    <a:pt x="0" y="8002178"/>
                  </a:lnTo>
                  <a:close/>
                </a:path>
              </a:pathLst>
            </a:custGeom>
            <a:blipFill>
              <a:blip r:embed="rId3">
                <a:alphaModFix amt="0"/>
              </a:blip>
              <a:stretch>
                <a:fillRect l="0" t="-42757" r="-248752" b="49243"/>
              </a:stretch>
            </a:blipFill>
          </p:spPr>
        </p:sp>
        <p:sp>
          <p:nvSpPr>
            <p:cNvPr name="TextBox 14" id="14"/>
            <p:cNvSpPr txBox="true"/>
            <p:nvPr/>
          </p:nvSpPr>
          <p:spPr>
            <a:xfrm>
              <a:off x="0" y="-47625"/>
              <a:ext cx="5506029" cy="8049803"/>
            </a:xfrm>
            <a:prstGeom prst="rect">
              <a:avLst/>
            </a:prstGeom>
          </p:spPr>
          <p:txBody>
            <a:bodyPr anchor="ctr" rtlCol="false" tIns="0" lIns="0" bIns="0" rIns="0"/>
            <a:lstStyle/>
            <a:p>
              <a:pPr algn="l">
                <a:lnSpc>
                  <a:spcPts val="2340"/>
                </a:lnSpc>
              </a:pPr>
              <a:r>
                <a:rPr lang="en-US" sz="1950" i="true">
                  <a:solidFill>
                    <a:srgbClr val="DAF1DE"/>
                  </a:solidFill>
                  <a:latin typeface="Calibri (MS) Italics"/>
                  <a:ea typeface="Calibri (MS) Italics"/>
                  <a:cs typeface="Calibri (MS) Italics"/>
                  <a:sym typeface="Calibri (MS) Italics"/>
                </a:rPr>
                <a:t>Trabajo Futuro (Transición a Fase 3)</a:t>
              </a:r>
            </a:p>
            <a:p>
              <a:pPr algn="l" marL="421005" indent="-210502" lvl="1">
                <a:lnSpc>
                  <a:spcPts val="2340"/>
                </a:lnSpc>
                <a:buFont typeface="Arial"/>
                <a:buChar char="•"/>
              </a:pPr>
              <a:r>
                <a:rPr lang="en-US" sz="1950" i="true">
                  <a:solidFill>
                    <a:srgbClr val="DAF1DE"/>
                  </a:solidFill>
                  <a:latin typeface="Calibri (MS) Italics"/>
                  <a:ea typeface="Calibri (MS) Italics"/>
                  <a:cs typeface="Calibri (MS) Italics"/>
                  <a:sym typeface="Calibri (MS) Italics"/>
                </a:rPr>
                <a:t>Integración Final de Componentes: Conectar al 100% las vistas del dispositivo móvil con los endpoints de la API, y finalizar la puesta en marcha del Chatbot educativo (RF-04). </a:t>
              </a:r>
            </a:p>
            <a:p>
              <a:pPr algn="l" marL="421005" indent="-210502" lvl="1">
                <a:lnSpc>
                  <a:spcPts val="2340"/>
                </a:lnSpc>
                <a:buFont typeface="Arial"/>
                <a:buChar char="•"/>
              </a:pPr>
              <a:r>
                <a:rPr lang="en-US" sz="1950" i="true">
                  <a:solidFill>
                    <a:srgbClr val="DAF1DE"/>
                  </a:solidFill>
                  <a:latin typeface="Calibri (MS) Italics"/>
                  <a:ea typeface="Calibri (MS) Italics"/>
                  <a:cs typeface="Calibri (MS) Italics"/>
                  <a:sym typeface="Calibri (MS) Italics"/>
                </a:rPr>
                <a:t>Pruebas Funcionales y de Usabilidad: Iniciar la Fase 3 del proyecto, ejecutando validaciones técnicas (QA) para garantizar que la interfaz cumple con la accesibilidad requerida para los adultos mayores (RNF-02). </a:t>
              </a:r>
            </a:p>
            <a:p>
              <a:pPr algn="l" marL="421005" indent="-210502" lvl="1">
                <a:lnSpc>
                  <a:spcPts val="2340"/>
                </a:lnSpc>
                <a:buFont typeface="Arial"/>
                <a:buChar char="•"/>
              </a:pPr>
              <a:r>
                <a:rPr lang="en-US" sz="1950" i="true">
                  <a:solidFill>
                    <a:srgbClr val="DAF1DE"/>
                  </a:solidFill>
                  <a:latin typeface="Calibri (MS) Italics"/>
                  <a:ea typeface="Calibri (MS) Italics"/>
                  <a:cs typeface="Calibri (MS) Italics"/>
                  <a:sym typeface="Calibri (MS) Italics"/>
                </a:rPr>
                <a:t>Cierre y Documentación: Preparar la entrega final del producto (APK) junto con la consolidación del panel de monitoreo (RF-05) y la documentación técnica de cierre. </a:t>
              </a:r>
            </a:p>
            <a:p>
              <a:pPr algn="l">
                <a:lnSpc>
                  <a:spcPts val="2340"/>
                </a:lnSpc>
              </a:pPr>
            </a:p>
          </p:txBody>
        </p:sp>
      </p:grpSp>
      <p:sp>
        <p:nvSpPr>
          <p:cNvPr name="Freeform 15" id="15"/>
          <p:cNvSpPr/>
          <p:nvPr/>
        </p:nvSpPr>
        <p:spPr>
          <a:xfrm flipH="false" flipV="false" rot="0">
            <a:off x="7764558" y="4873874"/>
            <a:ext cx="1681606" cy="1059412"/>
          </a:xfrm>
          <a:custGeom>
            <a:avLst/>
            <a:gdLst/>
            <a:ahLst/>
            <a:cxnLst/>
            <a:rect r="r" b="b" t="t" l="l"/>
            <a:pathLst>
              <a:path h="1059412" w="1681606">
                <a:moveTo>
                  <a:pt x="0" y="0"/>
                </a:moveTo>
                <a:lnTo>
                  <a:pt x="1681606" y="0"/>
                </a:lnTo>
                <a:lnTo>
                  <a:pt x="1681606" y="1059412"/>
                </a:lnTo>
                <a:lnTo>
                  <a:pt x="0" y="105941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6" id="16"/>
          <p:cNvSpPr/>
          <p:nvPr/>
        </p:nvSpPr>
        <p:spPr>
          <a:xfrm flipH="false" flipV="false" rot="0">
            <a:off x="6087661" y="8033843"/>
            <a:ext cx="1372015" cy="1152493"/>
          </a:xfrm>
          <a:custGeom>
            <a:avLst/>
            <a:gdLst/>
            <a:ahLst/>
            <a:cxnLst/>
            <a:rect r="r" b="b" t="t" l="l"/>
            <a:pathLst>
              <a:path h="1152493" w="1372015">
                <a:moveTo>
                  <a:pt x="0" y="0"/>
                </a:moveTo>
                <a:lnTo>
                  <a:pt x="1372015" y="0"/>
                </a:lnTo>
                <a:lnTo>
                  <a:pt x="1372015" y="1152493"/>
                </a:lnTo>
                <a:lnTo>
                  <a:pt x="0" y="115249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7" id="17"/>
          <p:cNvSpPr/>
          <p:nvPr/>
        </p:nvSpPr>
        <p:spPr>
          <a:xfrm flipH="false" flipV="false" rot="0">
            <a:off x="13594838" y="7961879"/>
            <a:ext cx="1193846" cy="1224457"/>
          </a:xfrm>
          <a:custGeom>
            <a:avLst/>
            <a:gdLst/>
            <a:ahLst/>
            <a:cxnLst/>
            <a:rect r="r" b="b" t="t" l="l"/>
            <a:pathLst>
              <a:path h="1224457" w="1193846">
                <a:moveTo>
                  <a:pt x="0" y="0"/>
                </a:moveTo>
                <a:lnTo>
                  <a:pt x="1193846" y="0"/>
                </a:lnTo>
                <a:lnTo>
                  <a:pt x="1193846" y="1224457"/>
                </a:lnTo>
                <a:lnTo>
                  <a:pt x="0" y="122445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18" id="18"/>
          <p:cNvGrpSpPr/>
          <p:nvPr/>
        </p:nvGrpSpPr>
        <p:grpSpPr>
          <a:xfrm rot="0">
            <a:off x="771122" y="463576"/>
            <a:ext cx="905649" cy="905649"/>
            <a:chOff x="0" y="0"/>
            <a:chExt cx="1371600" cy="1371600"/>
          </a:xfrm>
        </p:grpSpPr>
        <p:sp>
          <p:nvSpPr>
            <p:cNvPr name="Freeform 19" id="19"/>
            <p:cNvSpPr/>
            <p:nvPr/>
          </p:nvSpPr>
          <p:spPr>
            <a:xfrm flipH="false" flipV="false" rot="0">
              <a:off x="0" y="0"/>
              <a:ext cx="1371600" cy="1371600"/>
            </a:xfrm>
            <a:custGeom>
              <a:avLst/>
              <a:gdLst/>
              <a:ahLst/>
              <a:cxnLst/>
              <a:rect r="r" b="b" t="t" l="l"/>
              <a:pathLst>
                <a:path h="1371600" w="1371600">
                  <a:moveTo>
                    <a:pt x="0" y="685800"/>
                  </a:moveTo>
                  <a:cubicBezTo>
                    <a:pt x="0" y="307086"/>
                    <a:pt x="307086" y="0"/>
                    <a:pt x="685800" y="0"/>
                  </a:cubicBezTo>
                  <a:cubicBezTo>
                    <a:pt x="1064514" y="0"/>
                    <a:pt x="1371600" y="307086"/>
                    <a:pt x="1371600" y="685800"/>
                  </a:cubicBezTo>
                  <a:cubicBezTo>
                    <a:pt x="1371600" y="1064514"/>
                    <a:pt x="1064514" y="1371600"/>
                    <a:pt x="685800" y="1371600"/>
                  </a:cubicBezTo>
                  <a:cubicBezTo>
                    <a:pt x="307086" y="1371600"/>
                    <a:pt x="0" y="1064514"/>
                    <a:pt x="0" y="685800"/>
                  </a:cubicBezTo>
                  <a:close/>
                </a:path>
              </a:pathLst>
            </a:custGeom>
            <a:solidFill>
              <a:srgbClr val="0B2B26"/>
            </a:solidFill>
          </p:spPr>
        </p:sp>
      </p:grpSp>
      <p:sp>
        <p:nvSpPr>
          <p:cNvPr name="Freeform 20" id="20"/>
          <p:cNvSpPr/>
          <p:nvPr/>
        </p:nvSpPr>
        <p:spPr>
          <a:xfrm flipH="false" flipV="false" rot="0">
            <a:off x="788538" y="689988"/>
            <a:ext cx="870816" cy="452824"/>
          </a:xfrm>
          <a:custGeom>
            <a:avLst/>
            <a:gdLst/>
            <a:ahLst/>
            <a:cxnLst/>
            <a:rect r="r" b="b" t="t" l="l"/>
            <a:pathLst>
              <a:path h="452824" w="870816">
                <a:moveTo>
                  <a:pt x="0" y="0"/>
                </a:moveTo>
                <a:lnTo>
                  <a:pt x="870816" y="0"/>
                </a:lnTo>
                <a:lnTo>
                  <a:pt x="870816" y="452824"/>
                </a:lnTo>
                <a:lnTo>
                  <a:pt x="0" y="45282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1" id="21"/>
          <p:cNvSpPr txBox="true"/>
          <p:nvPr/>
        </p:nvSpPr>
        <p:spPr>
          <a:xfrm rot="0">
            <a:off x="1776465" y="512540"/>
            <a:ext cx="10350535" cy="721995"/>
          </a:xfrm>
          <a:prstGeom prst="rect">
            <a:avLst/>
          </a:prstGeom>
        </p:spPr>
        <p:txBody>
          <a:bodyPr anchor="t" rtlCol="false" tIns="0" lIns="0" bIns="0" rIns="0">
            <a:spAutoFit/>
          </a:bodyPr>
          <a:lstStyle/>
          <a:p>
            <a:pPr algn="l">
              <a:lnSpc>
                <a:spcPts val="5880"/>
              </a:lnSpc>
            </a:pPr>
            <a:r>
              <a:rPr lang="en-US" sz="4200" b="true">
                <a:solidFill>
                  <a:srgbClr val="051F20"/>
                </a:solidFill>
                <a:latin typeface="Cambria Bold"/>
                <a:ea typeface="Cambria Bold"/>
                <a:cs typeface="Cambria Bold"/>
                <a:sym typeface="Cambria Bold"/>
              </a:rPr>
              <a:t>Conclusi</a:t>
            </a:r>
            <a:r>
              <a:rPr lang="en-US" sz="4200" b="true">
                <a:solidFill>
                  <a:srgbClr val="051F20"/>
                </a:solidFill>
                <a:latin typeface="Cambria Bold"/>
                <a:ea typeface="Cambria Bold"/>
                <a:cs typeface="Cambria Bold"/>
                <a:sym typeface="Cambria Bold"/>
              </a:rPr>
              <a:t>ones del Avance y Próximos Pasos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DAHXd0Da08Y</dc:identifier>
  <dcterms:modified xsi:type="dcterms:W3CDTF">2011-08-01T06:04:30Z</dcterms:modified>
  <cp:revision>1</cp:revision>
  <dc:title>Presentación Proyecto Fase 2 parte 1</dc:title>
</cp:coreProperties>
</file>