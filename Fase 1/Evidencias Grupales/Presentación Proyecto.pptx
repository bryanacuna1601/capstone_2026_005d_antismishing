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Bold" charset="1" panose="020F0702030404030204"/>
      <p:regular r:id="rId16"/>
    </p:embeddedFont>
    <p:embeddedFont>
      <p:font typeface="Cambria Bold" charset="1" panose="02040803050406030204"/>
      <p:regular r:id="rId17"/>
    </p:embeddedFont>
    <p:embeddedFont>
      <p:font typeface="Calibri (MS)" charset="1" panose="020F0502020204030204"/>
      <p:regular r:id="rId18"/>
    </p:embeddedFont>
    <p:embeddedFont>
      <p:font typeface="Calibri (MS) Italics" charset="1" panose="020F05020202040A0204"/>
      <p:regular r:id="rId19"/>
    </p:embeddedFont>
    <p:embeddedFont>
      <p:font typeface="Calibri (MS) Bold Italics" charset="1" panose="020F07020304040A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3.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png" Type="http://schemas.openxmlformats.org/officeDocument/2006/relationships/image"/><Relationship Id="rId4" Target="../media/image3.jpe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jpe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4.png" Type="http://schemas.openxmlformats.org/officeDocument/2006/relationships/image"/><Relationship Id="rId4" Target="../media/image3.jpeg" Type="http://schemas.openxmlformats.org/officeDocument/2006/relationships/image"/><Relationship Id="rId5" Target="../media/image25.png" Type="http://schemas.openxmlformats.org/officeDocument/2006/relationships/image"/><Relationship Id="rId6"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3.jpe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2.png" Type="http://schemas.openxmlformats.org/officeDocument/2006/relationships/image"/><Relationship Id="rId4" Target="../media/image3.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2" Target="../media/image36.png" Type="http://schemas.openxmlformats.org/officeDocument/2006/relationships/image"/><Relationship Id="rId3" Target="../media/image3.jpeg" Type="http://schemas.openxmlformats.org/officeDocument/2006/relationships/image"/><Relationship Id="rId4" Target="../media/image33.png" Type="http://schemas.openxmlformats.org/officeDocument/2006/relationships/image"/><Relationship Id="rId5" Target="../media/image30.png" Type="http://schemas.openxmlformats.org/officeDocument/2006/relationships/image"/><Relationship Id="rId6" Target="../media/image37.png" Type="http://schemas.openxmlformats.org/officeDocument/2006/relationships/image"/><Relationship Id="rId7" Target="../media/image4.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jpeg" Type="http://schemas.openxmlformats.org/officeDocument/2006/relationships/image"/><Relationship Id="rId4" Target="https://www.trendtic.cl/2026/08/ley-neme-expertos-en-ciberseguridad-ofrecen-una-guia-para-evitar-estafas-por-sm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sp>
        <p:nvSpPr>
          <p:cNvPr name="Freeform 2" id="2"/>
          <p:cNvSpPr/>
          <p:nvPr/>
        </p:nvSpPr>
        <p:spPr>
          <a:xfrm flipH="false" flipV="false" rot="0">
            <a:off x="11480292" y="-24844"/>
            <a:ext cx="17854191" cy="10336688"/>
          </a:xfrm>
          <a:custGeom>
            <a:avLst/>
            <a:gdLst/>
            <a:ahLst/>
            <a:cxnLst/>
            <a:rect r="r" b="b" t="t" l="l"/>
            <a:pathLst>
              <a:path h="10336688" w="17854191">
                <a:moveTo>
                  <a:pt x="0" y="0"/>
                </a:moveTo>
                <a:lnTo>
                  <a:pt x="17854191" y="0"/>
                </a:lnTo>
                <a:lnTo>
                  <a:pt x="17854191" y="10336688"/>
                </a:lnTo>
                <a:lnTo>
                  <a:pt x="0" y="10336688"/>
                </a:lnTo>
                <a:lnTo>
                  <a:pt x="0" y="0"/>
                </a:lnTo>
                <a:close/>
              </a:path>
            </a:pathLst>
          </a:custGeom>
          <a:blipFill>
            <a:blip r:embed="rId2">
              <a:alphaModFix amt="59000"/>
            </a:blip>
            <a:stretch>
              <a:fillRect l="-4046" t="-320" r="0" b="-320"/>
            </a:stretch>
          </a:blipFill>
        </p:spPr>
      </p:sp>
      <p:grpSp>
        <p:nvGrpSpPr>
          <p:cNvPr name="Group 3" id="3"/>
          <p:cNvGrpSpPr/>
          <p:nvPr/>
        </p:nvGrpSpPr>
        <p:grpSpPr>
          <a:xfrm rot="0">
            <a:off x="13167360" y="822960"/>
            <a:ext cx="68580" cy="68580"/>
            <a:chOff x="0" y="0"/>
            <a:chExt cx="91440" cy="91440"/>
          </a:xfrm>
        </p:grpSpPr>
        <p:sp>
          <p:nvSpPr>
            <p:cNvPr name="Freeform 4" id="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5" id="5"/>
          <p:cNvGrpSpPr/>
          <p:nvPr/>
        </p:nvGrpSpPr>
        <p:grpSpPr>
          <a:xfrm rot="0">
            <a:off x="13167360" y="1261872"/>
            <a:ext cx="68580" cy="68580"/>
            <a:chOff x="0" y="0"/>
            <a:chExt cx="91440" cy="91440"/>
          </a:xfrm>
        </p:grpSpPr>
        <p:sp>
          <p:nvSpPr>
            <p:cNvPr name="Freeform 6" id="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7" id="7"/>
          <p:cNvGrpSpPr/>
          <p:nvPr/>
        </p:nvGrpSpPr>
        <p:grpSpPr>
          <a:xfrm rot="0">
            <a:off x="13167360" y="1700784"/>
            <a:ext cx="68580" cy="68580"/>
            <a:chOff x="0" y="0"/>
            <a:chExt cx="91440" cy="91440"/>
          </a:xfrm>
        </p:grpSpPr>
        <p:sp>
          <p:nvSpPr>
            <p:cNvPr name="Freeform 8" id="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9" id="9"/>
          <p:cNvGrpSpPr/>
          <p:nvPr/>
        </p:nvGrpSpPr>
        <p:grpSpPr>
          <a:xfrm rot="0">
            <a:off x="13167360" y="2139696"/>
            <a:ext cx="68580" cy="68580"/>
            <a:chOff x="0" y="0"/>
            <a:chExt cx="91440" cy="91440"/>
          </a:xfrm>
        </p:grpSpPr>
        <p:sp>
          <p:nvSpPr>
            <p:cNvPr name="Freeform 10" id="1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1" id="11"/>
          <p:cNvGrpSpPr/>
          <p:nvPr/>
        </p:nvGrpSpPr>
        <p:grpSpPr>
          <a:xfrm rot="0">
            <a:off x="13606272" y="822960"/>
            <a:ext cx="68580" cy="68580"/>
            <a:chOff x="0" y="0"/>
            <a:chExt cx="91440" cy="91440"/>
          </a:xfrm>
        </p:grpSpPr>
        <p:sp>
          <p:nvSpPr>
            <p:cNvPr name="Freeform 12" id="1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3" id="13"/>
          <p:cNvGrpSpPr/>
          <p:nvPr/>
        </p:nvGrpSpPr>
        <p:grpSpPr>
          <a:xfrm rot="0">
            <a:off x="13606272" y="1261872"/>
            <a:ext cx="68580" cy="68580"/>
            <a:chOff x="0" y="0"/>
            <a:chExt cx="91440" cy="91440"/>
          </a:xfrm>
        </p:grpSpPr>
        <p:sp>
          <p:nvSpPr>
            <p:cNvPr name="Freeform 14" id="1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5" id="15"/>
          <p:cNvGrpSpPr/>
          <p:nvPr/>
        </p:nvGrpSpPr>
        <p:grpSpPr>
          <a:xfrm rot="0">
            <a:off x="13606272" y="1700784"/>
            <a:ext cx="68580" cy="68580"/>
            <a:chOff x="0" y="0"/>
            <a:chExt cx="91440" cy="91440"/>
          </a:xfrm>
        </p:grpSpPr>
        <p:sp>
          <p:nvSpPr>
            <p:cNvPr name="Freeform 16" id="1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7" id="17"/>
          <p:cNvGrpSpPr/>
          <p:nvPr/>
        </p:nvGrpSpPr>
        <p:grpSpPr>
          <a:xfrm rot="0">
            <a:off x="13606272" y="2139696"/>
            <a:ext cx="68580" cy="68580"/>
            <a:chOff x="0" y="0"/>
            <a:chExt cx="91440" cy="91440"/>
          </a:xfrm>
        </p:grpSpPr>
        <p:sp>
          <p:nvSpPr>
            <p:cNvPr name="Freeform 18" id="1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9" id="19"/>
          <p:cNvGrpSpPr/>
          <p:nvPr/>
        </p:nvGrpSpPr>
        <p:grpSpPr>
          <a:xfrm rot="0">
            <a:off x="14045184" y="822960"/>
            <a:ext cx="68580" cy="68580"/>
            <a:chOff x="0" y="0"/>
            <a:chExt cx="91440" cy="91440"/>
          </a:xfrm>
        </p:grpSpPr>
        <p:sp>
          <p:nvSpPr>
            <p:cNvPr name="Freeform 20" id="2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1" id="21"/>
          <p:cNvGrpSpPr/>
          <p:nvPr/>
        </p:nvGrpSpPr>
        <p:grpSpPr>
          <a:xfrm rot="0">
            <a:off x="14045184" y="1261872"/>
            <a:ext cx="68580" cy="68580"/>
            <a:chOff x="0" y="0"/>
            <a:chExt cx="91440" cy="91440"/>
          </a:xfrm>
        </p:grpSpPr>
        <p:sp>
          <p:nvSpPr>
            <p:cNvPr name="Freeform 22" id="2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3" id="23"/>
          <p:cNvGrpSpPr/>
          <p:nvPr/>
        </p:nvGrpSpPr>
        <p:grpSpPr>
          <a:xfrm rot="0">
            <a:off x="14045184" y="1700784"/>
            <a:ext cx="68580" cy="68580"/>
            <a:chOff x="0" y="0"/>
            <a:chExt cx="91440" cy="91440"/>
          </a:xfrm>
        </p:grpSpPr>
        <p:sp>
          <p:nvSpPr>
            <p:cNvPr name="Freeform 24" id="2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5" id="25"/>
          <p:cNvGrpSpPr/>
          <p:nvPr/>
        </p:nvGrpSpPr>
        <p:grpSpPr>
          <a:xfrm rot="0">
            <a:off x="14045184" y="2139696"/>
            <a:ext cx="68580" cy="68580"/>
            <a:chOff x="0" y="0"/>
            <a:chExt cx="91440" cy="91440"/>
          </a:xfrm>
        </p:grpSpPr>
        <p:sp>
          <p:nvSpPr>
            <p:cNvPr name="Freeform 26" id="2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7" id="27"/>
          <p:cNvGrpSpPr/>
          <p:nvPr/>
        </p:nvGrpSpPr>
        <p:grpSpPr>
          <a:xfrm rot="0">
            <a:off x="14484096" y="822960"/>
            <a:ext cx="68580" cy="68580"/>
            <a:chOff x="0" y="0"/>
            <a:chExt cx="91440" cy="91440"/>
          </a:xfrm>
        </p:grpSpPr>
        <p:sp>
          <p:nvSpPr>
            <p:cNvPr name="Freeform 28" id="2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9" id="29"/>
          <p:cNvGrpSpPr/>
          <p:nvPr/>
        </p:nvGrpSpPr>
        <p:grpSpPr>
          <a:xfrm rot="0">
            <a:off x="14484096" y="1261872"/>
            <a:ext cx="68580" cy="68580"/>
            <a:chOff x="0" y="0"/>
            <a:chExt cx="91440" cy="91440"/>
          </a:xfrm>
        </p:grpSpPr>
        <p:sp>
          <p:nvSpPr>
            <p:cNvPr name="Freeform 30" id="3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1" id="31"/>
          <p:cNvGrpSpPr/>
          <p:nvPr/>
        </p:nvGrpSpPr>
        <p:grpSpPr>
          <a:xfrm rot="0">
            <a:off x="14484096" y="1700784"/>
            <a:ext cx="68580" cy="68580"/>
            <a:chOff x="0" y="0"/>
            <a:chExt cx="91440" cy="91440"/>
          </a:xfrm>
        </p:grpSpPr>
        <p:sp>
          <p:nvSpPr>
            <p:cNvPr name="Freeform 32" id="3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3" id="33"/>
          <p:cNvGrpSpPr/>
          <p:nvPr/>
        </p:nvGrpSpPr>
        <p:grpSpPr>
          <a:xfrm rot="0">
            <a:off x="14484096" y="2139696"/>
            <a:ext cx="68580" cy="68580"/>
            <a:chOff x="0" y="0"/>
            <a:chExt cx="91440" cy="91440"/>
          </a:xfrm>
        </p:grpSpPr>
        <p:sp>
          <p:nvSpPr>
            <p:cNvPr name="Freeform 34" id="3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5" id="35"/>
          <p:cNvGrpSpPr/>
          <p:nvPr/>
        </p:nvGrpSpPr>
        <p:grpSpPr>
          <a:xfrm rot="0">
            <a:off x="14923008" y="822960"/>
            <a:ext cx="68580" cy="68580"/>
            <a:chOff x="0" y="0"/>
            <a:chExt cx="91440" cy="91440"/>
          </a:xfrm>
        </p:grpSpPr>
        <p:sp>
          <p:nvSpPr>
            <p:cNvPr name="Freeform 36" id="3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7" id="37"/>
          <p:cNvGrpSpPr/>
          <p:nvPr/>
        </p:nvGrpSpPr>
        <p:grpSpPr>
          <a:xfrm rot="0">
            <a:off x="14923008" y="1261872"/>
            <a:ext cx="68580" cy="68580"/>
            <a:chOff x="0" y="0"/>
            <a:chExt cx="91440" cy="91440"/>
          </a:xfrm>
        </p:grpSpPr>
        <p:sp>
          <p:nvSpPr>
            <p:cNvPr name="Freeform 38" id="3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9" id="39"/>
          <p:cNvGrpSpPr/>
          <p:nvPr/>
        </p:nvGrpSpPr>
        <p:grpSpPr>
          <a:xfrm rot="0">
            <a:off x="14923008" y="1700784"/>
            <a:ext cx="68580" cy="68580"/>
            <a:chOff x="0" y="0"/>
            <a:chExt cx="91440" cy="91440"/>
          </a:xfrm>
        </p:grpSpPr>
        <p:sp>
          <p:nvSpPr>
            <p:cNvPr name="Freeform 40" id="4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1" id="41"/>
          <p:cNvGrpSpPr/>
          <p:nvPr/>
        </p:nvGrpSpPr>
        <p:grpSpPr>
          <a:xfrm rot="0">
            <a:off x="14923008" y="2139696"/>
            <a:ext cx="68580" cy="68580"/>
            <a:chOff x="0" y="0"/>
            <a:chExt cx="91440" cy="91440"/>
          </a:xfrm>
        </p:grpSpPr>
        <p:sp>
          <p:nvSpPr>
            <p:cNvPr name="Freeform 42" id="4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3" id="43"/>
          <p:cNvGrpSpPr/>
          <p:nvPr/>
        </p:nvGrpSpPr>
        <p:grpSpPr>
          <a:xfrm rot="0">
            <a:off x="15361920" y="822960"/>
            <a:ext cx="68580" cy="68580"/>
            <a:chOff x="0" y="0"/>
            <a:chExt cx="91440" cy="91440"/>
          </a:xfrm>
        </p:grpSpPr>
        <p:sp>
          <p:nvSpPr>
            <p:cNvPr name="Freeform 44" id="4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5" id="45"/>
          <p:cNvGrpSpPr/>
          <p:nvPr/>
        </p:nvGrpSpPr>
        <p:grpSpPr>
          <a:xfrm rot="0">
            <a:off x="15361920" y="1261872"/>
            <a:ext cx="68580" cy="68580"/>
            <a:chOff x="0" y="0"/>
            <a:chExt cx="91440" cy="91440"/>
          </a:xfrm>
        </p:grpSpPr>
        <p:sp>
          <p:nvSpPr>
            <p:cNvPr name="Freeform 46" id="4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7" id="47"/>
          <p:cNvGrpSpPr/>
          <p:nvPr/>
        </p:nvGrpSpPr>
        <p:grpSpPr>
          <a:xfrm rot="0">
            <a:off x="15361920" y="1700784"/>
            <a:ext cx="68580" cy="68580"/>
            <a:chOff x="0" y="0"/>
            <a:chExt cx="91440" cy="91440"/>
          </a:xfrm>
        </p:grpSpPr>
        <p:sp>
          <p:nvSpPr>
            <p:cNvPr name="Freeform 48" id="4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9" id="49"/>
          <p:cNvGrpSpPr/>
          <p:nvPr/>
        </p:nvGrpSpPr>
        <p:grpSpPr>
          <a:xfrm rot="0">
            <a:off x="15361920" y="2139696"/>
            <a:ext cx="68580" cy="68580"/>
            <a:chOff x="0" y="0"/>
            <a:chExt cx="91440" cy="91440"/>
          </a:xfrm>
        </p:grpSpPr>
        <p:sp>
          <p:nvSpPr>
            <p:cNvPr name="Freeform 50" id="5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sp>
        <p:nvSpPr>
          <p:cNvPr name="Freeform 51" id="51"/>
          <p:cNvSpPr/>
          <p:nvPr/>
        </p:nvSpPr>
        <p:spPr>
          <a:xfrm flipH="true" flipV="false" rot="0">
            <a:off x="-12560491" y="0"/>
            <a:ext cx="18458371" cy="10336688"/>
          </a:xfrm>
          <a:custGeom>
            <a:avLst/>
            <a:gdLst/>
            <a:ahLst/>
            <a:cxnLst/>
            <a:rect r="r" b="b" t="t" l="l"/>
            <a:pathLst>
              <a:path h="10336688" w="18458371">
                <a:moveTo>
                  <a:pt x="18458371" y="0"/>
                </a:moveTo>
                <a:lnTo>
                  <a:pt x="0" y="0"/>
                </a:lnTo>
                <a:lnTo>
                  <a:pt x="0" y="10336688"/>
                </a:lnTo>
                <a:lnTo>
                  <a:pt x="18458371" y="10336688"/>
                </a:lnTo>
                <a:lnTo>
                  <a:pt x="18458371" y="0"/>
                </a:lnTo>
                <a:close/>
              </a:path>
            </a:pathLst>
          </a:custGeom>
          <a:blipFill>
            <a:blip r:embed="rId2">
              <a:alphaModFix amt="40000"/>
            </a:blip>
            <a:stretch>
              <a:fillRect l="0" t="0" r="0" b="0"/>
            </a:stretch>
          </a:blipFill>
        </p:spPr>
      </p:sp>
      <p:grpSp>
        <p:nvGrpSpPr>
          <p:cNvPr name="Group 52" id="52"/>
          <p:cNvGrpSpPr/>
          <p:nvPr/>
        </p:nvGrpSpPr>
        <p:grpSpPr>
          <a:xfrm rot="0">
            <a:off x="1234440" y="1234440"/>
            <a:ext cx="1577340" cy="1577340"/>
            <a:chOff x="0" y="0"/>
            <a:chExt cx="2103120" cy="2103120"/>
          </a:xfrm>
        </p:grpSpPr>
        <p:sp>
          <p:nvSpPr>
            <p:cNvPr name="Freeform 53" id="53"/>
            <p:cNvSpPr/>
            <p:nvPr/>
          </p:nvSpPr>
          <p:spPr>
            <a:xfrm flipH="false" flipV="false" rot="0">
              <a:off x="0" y="0"/>
              <a:ext cx="2103120" cy="2103120"/>
            </a:xfrm>
            <a:custGeom>
              <a:avLst/>
              <a:gdLst/>
              <a:ahLst/>
              <a:cxnLst/>
              <a:rect r="r" b="b" t="t" l="l"/>
              <a:pathLst>
                <a:path h="2103120" w="2103120">
                  <a:moveTo>
                    <a:pt x="0" y="1051560"/>
                  </a:moveTo>
                  <a:cubicBezTo>
                    <a:pt x="0" y="470789"/>
                    <a:pt x="470789" y="0"/>
                    <a:pt x="1051560" y="0"/>
                  </a:cubicBezTo>
                  <a:cubicBezTo>
                    <a:pt x="1632331" y="0"/>
                    <a:pt x="2103120" y="470789"/>
                    <a:pt x="2103120" y="1051560"/>
                  </a:cubicBezTo>
                  <a:cubicBezTo>
                    <a:pt x="2103120" y="1632331"/>
                    <a:pt x="1632331" y="2103120"/>
                    <a:pt x="1051560" y="2103120"/>
                  </a:cubicBezTo>
                  <a:cubicBezTo>
                    <a:pt x="470789" y="2103120"/>
                    <a:pt x="0" y="1632331"/>
                    <a:pt x="0" y="1051560"/>
                  </a:cubicBezTo>
                  <a:close/>
                </a:path>
              </a:pathLst>
            </a:custGeom>
            <a:solidFill>
              <a:srgbClr val="8EB69B"/>
            </a:solidFill>
          </p:spPr>
        </p:sp>
      </p:grpSp>
      <p:grpSp>
        <p:nvGrpSpPr>
          <p:cNvPr name="Group 54" id="54"/>
          <p:cNvGrpSpPr/>
          <p:nvPr/>
        </p:nvGrpSpPr>
        <p:grpSpPr>
          <a:xfrm rot="0">
            <a:off x="1613002" y="1613002"/>
            <a:ext cx="820217" cy="820217"/>
            <a:chOff x="0" y="0"/>
            <a:chExt cx="1093622" cy="1093622"/>
          </a:xfrm>
        </p:grpSpPr>
        <p:sp>
          <p:nvSpPr>
            <p:cNvPr name="Freeform 55" id="55" descr="/home/claude/sms-security/icons/shield_dark1.png"/>
            <p:cNvSpPr/>
            <p:nvPr/>
          </p:nvSpPr>
          <p:spPr>
            <a:xfrm flipH="false" flipV="false" rot="0">
              <a:off x="0" y="0"/>
              <a:ext cx="1093597" cy="1093597"/>
            </a:xfrm>
            <a:custGeom>
              <a:avLst/>
              <a:gdLst/>
              <a:ahLst/>
              <a:cxnLst/>
              <a:rect r="r" b="b" t="t" l="l"/>
              <a:pathLst>
                <a:path h="1093597" w="1093597">
                  <a:moveTo>
                    <a:pt x="0" y="0"/>
                  </a:moveTo>
                  <a:lnTo>
                    <a:pt x="1093597" y="0"/>
                  </a:lnTo>
                  <a:lnTo>
                    <a:pt x="1093597" y="1093597"/>
                  </a:lnTo>
                  <a:lnTo>
                    <a:pt x="0" y="1093597"/>
                  </a:lnTo>
                  <a:lnTo>
                    <a:pt x="0" y="0"/>
                  </a:lnTo>
                  <a:close/>
                </a:path>
              </a:pathLst>
            </a:custGeom>
            <a:blipFill>
              <a:blip r:embed="rId3"/>
              <a:stretch>
                <a:fillRect l="0" t="0" r="-2" b="-2"/>
              </a:stretch>
            </a:blipFill>
          </p:spPr>
        </p:sp>
      </p:grpSp>
      <p:grpSp>
        <p:nvGrpSpPr>
          <p:cNvPr name="Group 56" id="56"/>
          <p:cNvGrpSpPr/>
          <p:nvPr/>
        </p:nvGrpSpPr>
        <p:grpSpPr>
          <a:xfrm rot="0">
            <a:off x="1234440" y="3223260"/>
            <a:ext cx="10972800" cy="548640"/>
            <a:chOff x="0" y="0"/>
            <a:chExt cx="14630400" cy="731520"/>
          </a:xfrm>
        </p:grpSpPr>
        <p:sp>
          <p:nvSpPr>
            <p:cNvPr name="Freeform 57" id="57"/>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4">
                <a:alphaModFix amt="0"/>
              </a:blip>
              <a:stretch>
                <a:fillRect l="0" t="-339700" r="0" b="-339700"/>
              </a:stretch>
            </a:blipFill>
          </p:spPr>
        </p:sp>
        <p:sp>
          <p:nvSpPr>
            <p:cNvPr name="TextBox 58" id="58"/>
            <p:cNvSpPr txBox="true"/>
            <p:nvPr/>
          </p:nvSpPr>
          <p:spPr>
            <a:xfrm>
              <a:off x="0" y="-47625"/>
              <a:ext cx="14630400" cy="779145"/>
            </a:xfrm>
            <a:prstGeom prst="rect">
              <a:avLst/>
            </a:prstGeom>
          </p:spPr>
          <p:txBody>
            <a:bodyPr anchor="ctr" rtlCol="false" tIns="0" lIns="0" bIns="0" rIns="0"/>
            <a:lstStyle/>
            <a:p>
              <a:pPr algn="l">
                <a:lnSpc>
                  <a:spcPts val="2340"/>
                </a:lnSpc>
              </a:pPr>
              <a:r>
                <a:rPr lang="en-US" b="true" sz="1950" spc="449">
                  <a:solidFill>
                    <a:srgbClr val="8EB69B"/>
                  </a:solidFill>
                  <a:latin typeface="Calibri (MS) Bold"/>
                  <a:ea typeface="Calibri (MS) Bold"/>
                  <a:cs typeface="Calibri (MS) Bold"/>
                  <a:sym typeface="Calibri (MS) Bold"/>
                </a:rPr>
                <a:t>CAPSTONE · SECCIÓN 005D</a:t>
              </a:r>
            </a:p>
          </p:txBody>
        </p:sp>
      </p:grpSp>
      <p:grpSp>
        <p:nvGrpSpPr>
          <p:cNvPr name="Group 59" id="59"/>
          <p:cNvGrpSpPr/>
          <p:nvPr/>
        </p:nvGrpSpPr>
        <p:grpSpPr>
          <a:xfrm rot="0">
            <a:off x="1165860" y="3771900"/>
            <a:ext cx="14401800" cy="1783080"/>
            <a:chOff x="0" y="0"/>
            <a:chExt cx="19202400" cy="2377440"/>
          </a:xfrm>
        </p:grpSpPr>
        <p:sp>
          <p:nvSpPr>
            <p:cNvPr name="Freeform 60" id="60"/>
            <p:cNvSpPr/>
            <p:nvPr/>
          </p:nvSpPr>
          <p:spPr>
            <a:xfrm flipH="false" flipV="false" rot="0">
              <a:off x="0" y="0"/>
              <a:ext cx="19202400" cy="2377440"/>
            </a:xfrm>
            <a:custGeom>
              <a:avLst/>
              <a:gdLst/>
              <a:ahLst/>
              <a:cxnLst/>
              <a:rect r="r" b="b" t="t" l="l"/>
              <a:pathLst>
                <a:path h="2377440" w="19202400">
                  <a:moveTo>
                    <a:pt x="0" y="0"/>
                  </a:moveTo>
                  <a:lnTo>
                    <a:pt x="19202400" y="0"/>
                  </a:lnTo>
                  <a:lnTo>
                    <a:pt x="19202400" y="2377440"/>
                  </a:lnTo>
                  <a:lnTo>
                    <a:pt x="0" y="2377440"/>
                  </a:lnTo>
                  <a:close/>
                </a:path>
              </a:pathLst>
            </a:custGeom>
            <a:blipFill>
              <a:blip r:embed="rId4">
                <a:alphaModFix amt="0"/>
              </a:blip>
              <a:stretch>
                <a:fillRect l="0" t="-107379" r="0" b="-107379"/>
              </a:stretch>
            </a:blipFill>
          </p:spPr>
        </p:sp>
        <p:sp>
          <p:nvSpPr>
            <p:cNvPr name="TextBox 61" id="61"/>
            <p:cNvSpPr txBox="true"/>
            <p:nvPr/>
          </p:nvSpPr>
          <p:spPr>
            <a:xfrm>
              <a:off x="0" y="-19050"/>
              <a:ext cx="19202400" cy="2396490"/>
            </a:xfrm>
            <a:prstGeom prst="rect">
              <a:avLst/>
            </a:prstGeom>
          </p:spPr>
          <p:txBody>
            <a:bodyPr anchor="ctr" rtlCol="false" tIns="0" lIns="0" bIns="0" rIns="0"/>
            <a:lstStyle/>
            <a:p>
              <a:pPr algn="l">
                <a:lnSpc>
                  <a:spcPts val="10800"/>
                </a:lnSpc>
              </a:pPr>
              <a:r>
                <a:rPr lang="en-US" sz="9000" b="true">
                  <a:solidFill>
                    <a:srgbClr val="DAF1DE"/>
                  </a:solidFill>
                  <a:latin typeface="Cambria Bold"/>
                  <a:ea typeface="Cambria Bold"/>
                  <a:cs typeface="Cambria Bold"/>
                  <a:sym typeface="Cambria Bold"/>
                </a:rPr>
                <a:t>SMS Security</a:t>
              </a:r>
            </a:p>
          </p:txBody>
        </p:sp>
      </p:grpSp>
      <p:grpSp>
        <p:nvGrpSpPr>
          <p:cNvPr name="Group 62" id="62"/>
          <p:cNvGrpSpPr/>
          <p:nvPr/>
        </p:nvGrpSpPr>
        <p:grpSpPr>
          <a:xfrm rot="0">
            <a:off x="1234440" y="5486400"/>
            <a:ext cx="11486134" cy="1097280"/>
            <a:chOff x="0" y="0"/>
            <a:chExt cx="15314845" cy="1463040"/>
          </a:xfrm>
        </p:grpSpPr>
        <p:sp>
          <p:nvSpPr>
            <p:cNvPr name="Freeform 63" id="63"/>
            <p:cNvSpPr/>
            <p:nvPr/>
          </p:nvSpPr>
          <p:spPr>
            <a:xfrm flipH="false" flipV="false" rot="0">
              <a:off x="0" y="0"/>
              <a:ext cx="15314845" cy="1463040"/>
            </a:xfrm>
            <a:custGeom>
              <a:avLst/>
              <a:gdLst/>
              <a:ahLst/>
              <a:cxnLst/>
              <a:rect r="r" b="b" t="t" l="l"/>
              <a:pathLst>
                <a:path h="1463040" w="15314845">
                  <a:moveTo>
                    <a:pt x="0" y="0"/>
                  </a:moveTo>
                  <a:lnTo>
                    <a:pt x="15314845" y="0"/>
                  </a:lnTo>
                  <a:lnTo>
                    <a:pt x="15314845" y="1463040"/>
                  </a:lnTo>
                  <a:lnTo>
                    <a:pt x="0" y="1463040"/>
                  </a:lnTo>
                  <a:close/>
                </a:path>
              </a:pathLst>
            </a:custGeom>
            <a:blipFill>
              <a:blip r:embed="rId4">
                <a:alphaModFix amt="0"/>
              </a:blip>
              <a:stretch>
                <a:fillRect l="0" t="-159464" r="-2695" b="-159464"/>
              </a:stretch>
            </a:blipFill>
          </p:spPr>
        </p:sp>
        <p:sp>
          <p:nvSpPr>
            <p:cNvPr name="TextBox 64" id="64"/>
            <p:cNvSpPr txBox="true"/>
            <p:nvPr/>
          </p:nvSpPr>
          <p:spPr>
            <a:xfrm>
              <a:off x="0" y="-38100"/>
              <a:ext cx="15314845" cy="1501140"/>
            </a:xfrm>
            <a:prstGeom prst="rect">
              <a:avLst/>
            </a:prstGeom>
          </p:spPr>
          <p:txBody>
            <a:bodyPr anchor="ctr" rtlCol="false" tIns="0" lIns="0" bIns="0" rIns="0"/>
            <a:lstStyle/>
            <a:p>
              <a:pPr algn="l">
                <a:lnSpc>
                  <a:spcPts val="2879"/>
                </a:lnSpc>
              </a:pPr>
              <a:r>
                <a:rPr lang="en-US" sz="2400">
                  <a:solidFill>
                    <a:srgbClr val="8EB69B"/>
                  </a:solidFill>
                  <a:latin typeface="Calibri (MS)"/>
                  <a:ea typeface="Calibri (MS)"/>
                  <a:cs typeface="Calibri (MS)"/>
                  <a:sym typeface="Calibri (MS)"/>
                </a:rPr>
                <a:t>Detección inteligente de fraude por SMS (smishing) para proteger a la población, con foco en personas de la tercera edad</a:t>
              </a:r>
            </a:p>
          </p:txBody>
        </p:sp>
      </p:grpSp>
      <p:grpSp>
        <p:nvGrpSpPr>
          <p:cNvPr name="Group 65" id="65"/>
          <p:cNvGrpSpPr/>
          <p:nvPr/>
        </p:nvGrpSpPr>
        <p:grpSpPr>
          <a:xfrm rot="0">
            <a:off x="1234440" y="7063740"/>
            <a:ext cx="685800" cy="685800"/>
            <a:chOff x="0" y="0"/>
            <a:chExt cx="914400" cy="914400"/>
          </a:xfrm>
        </p:grpSpPr>
        <p:sp>
          <p:nvSpPr>
            <p:cNvPr name="Freeform 66" id="6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67" id="67"/>
          <p:cNvGrpSpPr/>
          <p:nvPr/>
        </p:nvGrpSpPr>
        <p:grpSpPr>
          <a:xfrm rot="0">
            <a:off x="1399032" y="7228332"/>
            <a:ext cx="356616" cy="356616"/>
            <a:chOff x="0" y="0"/>
            <a:chExt cx="475488" cy="475488"/>
          </a:xfrm>
        </p:grpSpPr>
        <p:sp>
          <p:nvSpPr>
            <p:cNvPr name="Freeform 68" id="68" descr="/home/claude/sms-security/icons/mobile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69" id="69"/>
          <p:cNvGrpSpPr/>
          <p:nvPr/>
        </p:nvGrpSpPr>
        <p:grpSpPr>
          <a:xfrm rot="0">
            <a:off x="2084832" y="7063740"/>
            <a:ext cx="2880360" cy="685800"/>
            <a:chOff x="0" y="0"/>
            <a:chExt cx="3840480" cy="914400"/>
          </a:xfrm>
        </p:grpSpPr>
        <p:sp>
          <p:nvSpPr>
            <p:cNvPr name="Freeform 70" id="70"/>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1" id="71"/>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App móvil Android</a:t>
              </a:r>
            </a:p>
          </p:txBody>
        </p:sp>
      </p:grpSp>
      <p:grpSp>
        <p:nvGrpSpPr>
          <p:cNvPr name="Group 72" id="72"/>
          <p:cNvGrpSpPr/>
          <p:nvPr/>
        </p:nvGrpSpPr>
        <p:grpSpPr>
          <a:xfrm rot="0">
            <a:off x="5212080" y="7063740"/>
            <a:ext cx="685800" cy="685800"/>
            <a:chOff x="0" y="0"/>
            <a:chExt cx="914400" cy="914400"/>
          </a:xfrm>
        </p:grpSpPr>
        <p:sp>
          <p:nvSpPr>
            <p:cNvPr name="Freeform 73" id="7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74" id="74"/>
          <p:cNvGrpSpPr/>
          <p:nvPr/>
        </p:nvGrpSpPr>
        <p:grpSpPr>
          <a:xfrm rot="0">
            <a:off x="5376672" y="7228332"/>
            <a:ext cx="356616" cy="356616"/>
            <a:chOff x="0" y="0"/>
            <a:chExt cx="475488" cy="475488"/>
          </a:xfrm>
        </p:grpSpPr>
        <p:sp>
          <p:nvSpPr>
            <p:cNvPr name="Freeform 75" id="75" descr="/home/claude/sms-security/icons/robot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grpSp>
        <p:nvGrpSpPr>
          <p:cNvPr name="Group 76" id="76"/>
          <p:cNvGrpSpPr/>
          <p:nvPr/>
        </p:nvGrpSpPr>
        <p:grpSpPr>
          <a:xfrm rot="0">
            <a:off x="6062472" y="7063740"/>
            <a:ext cx="2880360" cy="685800"/>
            <a:chOff x="0" y="0"/>
            <a:chExt cx="3840480" cy="914400"/>
          </a:xfrm>
        </p:grpSpPr>
        <p:sp>
          <p:nvSpPr>
            <p:cNvPr name="Freeform 77" id="77"/>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8" id="78"/>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IA aplicada</a:t>
              </a:r>
            </a:p>
          </p:txBody>
        </p:sp>
      </p:grpSp>
      <p:grpSp>
        <p:nvGrpSpPr>
          <p:cNvPr name="Group 79" id="79"/>
          <p:cNvGrpSpPr/>
          <p:nvPr/>
        </p:nvGrpSpPr>
        <p:grpSpPr>
          <a:xfrm rot="0">
            <a:off x="9189720" y="7063740"/>
            <a:ext cx="685800" cy="685800"/>
            <a:chOff x="0" y="0"/>
            <a:chExt cx="914400" cy="914400"/>
          </a:xfrm>
        </p:grpSpPr>
        <p:sp>
          <p:nvSpPr>
            <p:cNvPr name="Freeform 80" id="8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81" id="81"/>
          <p:cNvGrpSpPr/>
          <p:nvPr/>
        </p:nvGrpSpPr>
        <p:grpSpPr>
          <a:xfrm rot="0">
            <a:off x="9354312" y="7228332"/>
            <a:ext cx="356616" cy="356616"/>
            <a:chOff x="0" y="0"/>
            <a:chExt cx="475488" cy="475488"/>
          </a:xfrm>
        </p:grpSpPr>
        <p:sp>
          <p:nvSpPr>
            <p:cNvPr name="Freeform 82" id="82" descr="/home/claude/sms-security/icons/lock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grpSp>
        <p:nvGrpSpPr>
          <p:cNvPr name="Group 83" id="83"/>
          <p:cNvGrpSpPr/>
          <p:nvPr/>
        </p:nvGrpSpPr>
        <p:grpSpPr>
          <a:xfrm rot="0">
            <a:off x="10040112" y="7063740"/>
            <a:ext cx="2880360" cy="685800"/>
            <a:chOff x="0" y="0"/>
            <a:chExt cx="3840480" cy="914400"/>
          </a:xfrm>
        </p:grpSpPr>
        <p:sp>
          <p:nvSpPr>
            <p:cNvPr name="Freeform 84" id="8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85" id="85"/>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Ciberseguridad</a:t>
              </a:r>
            </a:p>
          </p:txBody>
        </p:sp>
      </p:grpSp>
      <p:grpSp>
        <p:nvGrpSpPr>
          <p:cNvPr name="Group 86" id="86"/>
          <p:cNvGrpSpPr/>
          <p:nvPr/>
        </p:nvGrpSpPr>
        <p:grpSpPr>
          <a:xfrm rot="0">
            <a:off x="1234440" y="8503920"/>
            <a:ext cx="15773400" cy="1165860"/>
            <a:chOff x="0" y="0"/>
            <a:chExt cx="21031200" cy="1554480"/>
          </a:xfrm>
        </p:grpSpPr>
        <p:sp>
          <p:nvSpPr>
            <p:cNvPr name="Freeform 87" id="87"/>
            <p:cNvSpPr/>
            <p:nvPr/>
          </p:nvSpPr>
          <p:spPr>
            <a:xfrm flipH="false" flipV="false" rot="0">
              <a:off x="0" y="0"/>
              <a:ext cx="21031200" cy="1554480"/>
            </a:xfrm>
            <a:custGeom>
              <a:avLst/>
              <a:gdLst/>
              <a:ahLst/>
              <a:cxnLst/>
              <a:rect r="r" b="b" t="t" l="l"/>
              <a:pathLst>
                <a:path h="1554480" w="21031200">
                  <a:moveTo>
                    <a:pt x="0" y="182880"/>
                  </a:moveTo>
                  <a:cubicBezTo>
                    <a:pt x="0" y="81915"/>
                    <a:pt x="81915" y="0"/>
                    <a:pt x="182880" y="0"/>
                  </a:cubicBezTo>
                  <a:lnTo>
                    <a:pt x="20848320" y="0"/>
                  </a:lnTo>
                  <a:cubicBezTo>
                    <a:pt x="20949284" y="0"/>
                    <a:pt x="21031200" y="81915"/>
                    <a:pt x="21031200" y="182880"/>
                  </a:cubicBezTo>
                  <a:lnTo>
                    <a:pt x="21031200" y="1371600"/>
                  </a:lnTo>
                  <a:cubicBezTo>
                    <a:pt x="21031200" y="1472565"/>
                    <a:pt x="20949284" y="1554480"/>
                    <a:pt x="20848320" y="1554480"/>
                  </a:cubicBezTo>
                  <a:lnTo>
                    <a:pt x="182880" y="1554480"/>
                  </a:lnTo>
                  <a:cubicBezTo>
                    <a:pt x="81915" y="1554480"/>
                    <a:pt x="0" y="1472565"/>
                    <a:pt x="0" y="1371600"/>
                  </a:cubicBezTo>
                  <a:close/>
                </a:path>
              </a:pathLst>
            </a:custGeom>
            <a:solidFill>
              <a:srgbClr val="0B2B26"/>
            </a:solidFill>
          </p:spPr>
        </p:sp>
      </p:grpSp>
      <p:grpSp>
        <p:nvGrpSpPr>
          <p:cNvPr name="Group 88" id="88"/>
          <p:cNvGrpSpPr/>
          <p:nvPr/>
        </p:nvGrpSpPr>
        <p:grpSpPr>
          <a:xfrm rot="0">
            <a:off x="1577340" y="8613648"/>
            <a:ext cx="855878" cy="960120"/>
            <a:chOff x="0" y="0"/>
            <a:chExt cx="1141171" cy="1280160"/>
          </a:xfrm>
        </p:grpSpPr>
        <p:sp>
          <p:nvSpPr>
            <p:cNvPr name="Freeform 89" id="89"/>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0" id="90"/>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Equipo</a:t>
              </a:r>
            </a:p>
          </p:txBody>
        </p:sp>
      </p:grpSp>
      <p:grpSp>
        <p:nvGrpSpPr>
          <p:cNvPr name="Group 91" id="91"/>
          <p:cNvGrpSpPr/>
          <p:nvPr/>
        </p:nvGrpSpPr>
        <p:grpSpPr>
          <a:xfrm rot="0">
            <a:off x="2564892" y="8613648"/>
            <a:ext cx="5109505" cy="960120"/>
            <a:chOff x="0" y="0"/>
            <a:chExt cx="6812674" cy="1280160"/>
          </a:xfrm>
        </p:grpSpPr>
        <p:sp>
          <p:nvSpPr>
            <p:cNvPr name="Freeform 92" id="92"/>
            <p:cNvSpPr/>
            <p:nvPr/>
          </p:nvSpPr>
          <p:spPr>
            <a:xfrm flipH="false" flipV="false" rot="0">
              <a:off x="0" y="0"/>
              <a:ext cx="6812674" cy="1280160"/>
            </a:xfrm>
            <a:custGeom>
              <a:avLst/>
              <a:gdLst/>
              <a:ahLst/>
              <a:cxnLst/>
              <a:rect r="r" b="b" t="t" l="l"/>
              <a:pathLst>
                <a:path h="1280160" w="6812674">
                  <a:moveTo>
                    <a:pt x="0" y="0"/>
                  </a:moveTo>
                  <a:lnTo>
                    <a:pt x="6812674" y="0"/>
                  </a:lnTo>
                  <a:lnTo>
                    <a:pt x="6812674" y="1280160"/>
                  </a:lnTo>
                  <a:lnTo>
                    <a:pt x="0" y="1280160"/>
                  </a:lnTo>
                  <a:close/>
                </a:path>
              </a:pathLst>
            </a:custGeom>
            <a:blipFill>
              <a:blip r:embed="rId4">
                <a:alphaModFix amt="0"/>
              </a:blip>
              <a:stretch>
                <a:fillRect l="0" t="-130932" r="-74486" b="-130932"/>
              </a:stretch>
            </a:blipFill>
          </p:spPr>
        </p:sp>
        <p:sp>
          <p:nvSpPr>
            <p:cNvPr name="TextBox 93" id="93"/>
            <p:cNvSpPr txBox="true"/>
            <p:nvPr/>
          </p:nvSpPr>
          <p:spPr>
            <a:xfrm>
              <a:off x="0" y="-47625"/>
              <a:ext cx="6812674"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Bryan Acuña</a:t>
              </a:r>
              <a:r>
                <a:rPr lang="en-US" sz="1950">
                  <a:solidFill>
                    <a:srgbClr val="DAF1DE"/>
                  </a:solidFill>
                  <a:latin typeface="Calibri (MS)"/>
                  <a:ea typeface="Calibri (MS)"/>
                  <a:cs typeface="Calibri (MS)"/>
                  <a:sym typeface="Calibri (MS)"/>
                </a:rPr>
                <a:t>   ·   Manuel Rivas   ·   Marcel Tusach</a:t>
              </a:r>
            </a:p>
          </p:txBody>
        </p:sp>
      </p:grpSp>
      <p:grpSp>
        <p:nvGrpSpPr>
          <p:cNvPr name="Group 94" id="94"/>
          <p:cNvGrpSpPr/>
          <p:nvPr/>
        </p:nvGrpSpPr>
        <p:grpSpPr>
          <a:xfrm rot="0">
            <a:off x="12618720" y="8613648"/>
            <a:ext cx="4114800" cy="960120"/>
            <a:chOff x="0" y="0"/>
            <a:chExt cx="5486400" cy="1280160"/>
          </a:xfrm>
        </p:grpSpPr>
        <p:sp>
          <p:nvSpPr>
            <p:cNvPr name="Freeform 95" id="95"/>
            <p:cNvSpPr/>
            <p:nvPr/>
          </p:nvSpPr>
          <p:spPr>
            <a:xfrm flipH="false" flipV="false" rot="0">
              <a:off x="0" y="0"/>
              <a:ext cx="5486400" cy="1280160"/>
            </a:xfrm>
            <a:custGeom>
              <a:avLst/>
              <a:gdLst/>
              <a:ahLst/>
              <a:cxnLst/>
              <a:rect r="r" b="b" t="t" l="l"/>
              <a:pathLst>
                <a:path h="1280160" w="5486400">
                  <a:moveTo>
                    <a:pt x="0" y="0"/>
                  </a:moveTo>
                  <a:lnTo>
                    <a:pt x="5486400" y="0"/>
                  </a:lnTo>
                  <a:lnTo>
                    <a:pt x="5486400" y="1280160"/>
                  </a:lnTo>
                  <a:lnTo>
                    <a:pt x="0" y="1280160"/>
                  </a:lnTo>
                  <a:close/>
                </a:path>
              </a:pathLst>
            </a:custGeom>
            <a:blipFill>
              <a:blip r:embed="rId4">
                <a:alphaModFix amt="0"/>
              </a:blip>
              <a:stretch>
                <a:fillRect l="0" t="-33507" r="0" b="-33507"/>
              </a:stretch>
            </a:blipFill>
          </p:spPr>
        </p:sp>
        <p:sp>
          <p:nvSpPr>
            <p:cNvPr name="TextBox 96" id="96"/>
            <p:cNvSpPr txBox="true"/>
            <p:nvPr/>
          </p:nvSpPr>
          <p:spPr>
            <a:xfrm>
              <a:off x="0" y="-38100"/>
              <a:ext cx="5486400" cy="1318260"/>
            </a:xfrm>
            <a:prstGeom prst="rect">
              <a:avLst/>
            </a:prstGeom>
          </p:spPr>
          <p:txBody>
            <a:bodyPr anchor="ctr" rtlCol="false" tIns="0" lIns="0" bIns="0" rIns="0"/>
            <a:lstStyle/>
            <a:p>
              <a:pPr algn="r">
                <a:lnSpc>
                  <a:spcPts val="2160"/>
                </a:lnSpc>
              </a:pPr>
              <a:r>
                <a:rPr lang="en-US" sz="1800">
                  <a:solidFill>
                    <a:srgbClr val="8EB69B"/>
                  </a:solidFill>
                  <a:latin typeface="Calibri (MS)"/>
                  <a:ea typeface="Calibri (MS)"/>
                  <a:cs typeface="Calibri (MS)"/>
                  <a:sym typeface="Calibri (MS)"/>
                </a:rPr>
                <a:t>Ingeniería en Informática · San Joaquin</a:t>
              </a:r>
            </a:p>
          </p:txBody>
        </p:sp>
      </p:grpSp>
      <p:grpSp>
        <p:nvGrpSpPr>
          <p:cNvPr name="Group 97" id="97"/>
          <p:cNvGrpSpPr/>
          <p:nvPr/>
        </p:nvGrpSpPr>
        <p:grpSpPr>
          <a:xfrm rot="0">
            <a:off x="8086954" y="8606790"/>
            <a:ext cx="855878" cy="960120"/>
            <a:chOff x="0" y="0"/>
            <a:chExt cx="1141171" cy="1280160"/>
          </a:xfrm>
        </p:grpSpPr>
        <p:sp>
          <p:nvSpPr>
            <p:cNvPr name="Freeform 98" id="98"/>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9" id="99"/>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Docente</a:t>
              </a:r>
            </a:p>
          </p:txBody>
        </p:sp>
      </p:grpSp>
      <p:grpSp>
        <p:nvGrpSpPr>
          <p:cNvPr name="Group 100" id="100"/>
          <p:cNvGrpSpPr/>
          <p:nvPr/>
        </p:nvGrpSpPr>
        <p:grpSpPr>
          <a:xfrm rot="0">
            <a:off x="9076182" y="8613648"/>
            <a:ext cx="1772879" cy="960120"/>
            <a:chOff x="0" y="0"/>
            <a:chExt cx="2363838" cy="1280160"/>
          </a:xfrm>
        </p:grpSpPr>
        <p:sp>
          <p:nvSpPr>
            <p:cNvPr name="Freeform 101" id="101"/>
            <p:cNvSpPr/>
            <p:nvPr/>
          </p:nvSpPr>
          <p:spPr>
            <a:xfrm flipH="false" flipV="false" rot="0">
              <a:off x="0" y="0"/>
              <a:ext cx="2363838" cy="1280160"/>
            </a:xfrm>
            <a:custGeom>
              <a:avLst/>
              <a:gdLst/>
              <a:ahLst/>
              <a:cxnLst/>
              <a:rect r="r" b="b" t="t" l="l"/>
              <a:pathLst>
                <a:path h="1280160" w="2363838">
                  <a:moveTo>
                    <a:pt x="0" y="0"/>
                  </a:moveTo>
                  <a:lnTo>
                    <a:pt x="2363838" y="0"/>
                  </a:lnTo>
                  <a:lnTo>
                    <a:pt x="2363838" y="1280160"/>
                  </a:lnTo>
                  <a:lnTo>
                    <a:pt x="0" y="1280160"/>
                  </a:lnTo>
                  <a:close/>
                </a:path>
              </a:pathLst>
            </a:custGeom>
            <a:blipFill>
              <a:blip r:embed="rId4">
                <a:alphaModFix amt="0"/>
              </a:blip>
              <a:stretch>
                <a:fillRect l="0" t="-130932" r="-402877" b="-130932"/>
              </a:stretch>
            </a:blipFill>
          </p:spPr>
        </p:sp>
        <p:sp>
          <p:nvSpPr>
            <p:cNvPr name="TextBox 102" id="102"/>
            <p:cNvSpPr txBox="true"/>
            <p:nvPr/>
          </p:nvSpPr>
          <p:spPr>
            <a:xfrm>
              <a:off x="0" y="-47625"/>
              <a:ext cx="2363838"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Karla Roco</a:t>
              </a:r>
              <a:r>
                <a:rPr lang="en-US" sz="1950">
                  <a:solidFill>
                    <a:srgbClr val="DAF1DE"/>
                  </a:solidFill>
                  <a:latin typeface="Calibri (MS)"/>
                  <a:ea typeface="Calibri (MS)"/>
                  <a:cs typeface="Calibri (MS)"/>
                  <a:sym typeface="Calibri (MS)"/>
                </a:rPr>
                <a:t>  Ramirez </a:t>
              </a:r>
            </a:p>
          </p:txBody>
        </p:sp>
      </p:grpSp>
      <p:sp>
        <p:nvSpPr>
          <p:cNvPr name="Freeform 103" id="103"/>
          <p:cNvSpPr/>
          <p:nvPr/>
        </p:nvSpPr>
        <p:spPr>
          <a:xfrm flipH="false" flipV="false" rot="0">
            <a:off x="13275416" y="539014"/>
            <a:ext cx="3983884" cy="979371"/>
          </a:xfrm>
          <a:custGeom>
            <a:avLst/>
            <a:gdLst/>
            <a:ahLst/>
            <a:cxnLst/>
            <a:rect r="r" b="b" t="t" l="l"/>
            <a:pathLst>
              <a:path h="979371" w="3983884">
                <a:moveTo>
                  <a:pt x="0" y="0"/>
                </a:moveTo>
                <a:lnTo>
                  <a:pt x="3983884" y="0"/>
                </a:lnTo>
                <a:lnTo>
                  <a:pt x="3983884" y="979372"/>
                </a:lnTo>
                <a:lnTo>
                  <a:pt x="0" y="979372"/>
                </a:lnTo>
                <a:lnTo>
                  <a:pt x="0" y="0"/>
                </a:lnTo>
                <a:close/>
              </a:path>
            </a:pathLst>
          </a:custGeom>
          <a:blipFill>
            <a:blip r:embed="rId8"/>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shield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Definición e Impacto</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¿En qué consiste el proyecto y por qué es relevante?</a:t>
              </a:r>
            </a:p>
          </p:txBody>
        </p:sp>
      </p:grpSp>
      <p:grpSp>
        <p:nvGrpSpPr>
          <p:cNvPr name="Group 13" id="13"/>
          <p:cNvGrpSpPr/>
          <p:nvPr/>
        </p:nvGrpSpPr>
        <p:grpSpPr>
          <a:xfrm rot="0">
            <a:off x="754380" y="2125980"/>
            <a:ext cx="8023860" cy="3121667"/>
            <a:chOff x="0" y="0"/>
            <a:chExt cx="10698480" cy="4162223"/>
          </a:xfrm>
        </p:grpSpPr>
        <p:sp>
          <p:nvSpPr>
            <p:cNvPr name="Freeform 14" id="14"/>
            <p:cNvSpPr/>
            <p:nvPr/>
          </p:nvSpPr>
          <p:spPr>
            <a:xfrm flipH="false" flipV="false" rot="0">
              <a:off x="0" y="0"/>
              <a:ext cx="10698480" cy="4162223"/>
            </a:xfrm>
            <a:custGeom>
              <a:avLst/>
              <a:gdLst/>
              <a:ahLst/>
              <a:cxnLst/>
              <a:rect r="r" b="b" t="t" l="l"/>
              <a:pathLst>
                <a:path h="4162223" w="10698480">
                  <a:moveTo>
                    <a:pt x="0" y="91477"/>
                  </a:moveTo>
                  <a:cubicBezTo>
                    <a:pt x="0" y="40974"/>
                    <a:pt x="81915" y="0"/>
                    <a:pt x="182880" y="0"/>
                  </a:cubicBezTo>
                  <a:lnTo>
                    <a:pt x="10515600" y="0"/>
                  </a:lnTo>
                  <a:cubicBezTo>
                    <a:pt x="10616565" y="0"/>
                    <a:pt x="10698480" y="40974"/>
                    <a:pt x="10698480" y="91477"/>
                  </a:cubicBezTo>
                  <a:lnTo>
                    <a:pt x="10698480" y="4070746"/>
                  </a:lnTo>
                  <a:cubicBezTo>
                    <a:pt x="10698480" y="4121249"/>
                    <a:pt x="10616565" y="4162223"/>
                    <a:pt x="10515600" y="4162223"/>
                  </a:cubicBezTo>
                  <a:lnTo>
                    <a:pt x="182880" y="4162223"/>
                  </a:lnTo>
                  <a:cubicBezTo>
                    <a:pt x="81915" y="4162223"/>
                    <a:pt x="0" y="4121249"/>
                    <a:pt x="0" y="4070746"/>
                  </a:cubicBezTo>
                  <a:close/>
                </a:path>
              </a:pathLst>
            </a:custGeom>
            <a:solidFill>
              <a:srgbClr val="FFFFFF"/>
            </a:solidFill>
          </p:spPr>
        </p:sp>
      </p:grpSp>
      <p:grpSp>
        <p:nvGrpSpPr>
          <p:cNvPr name="Group 15" id="15"/>
          <p:cNvGrpSpPr/>
          <p:nvPr/>
        </p:nvGrpSpPr>
        <p:grpSpPr>
          <a:xfrm rot="0">
            <a:off x="1165860" y="2537460"/>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17" id="17"/>
          <p:cNvGrpSpPr/>
          <p:nvPr/>
        </p:nvGrpSpPr>
        <p:grpSpPr>
          <a:xfrm rot="0">
            <a:off x="1346911" y="2718511"/>
            <a:ext cx="392278" cy="392278"/>
            <a:chOff x="0" y="0"/>
            <a:chExt cx="523037" cy="523037"/>
          </a:xfrm>
        </p:grpSpPr>
        <p:sp>
          <p:nvSpPr>
            <p:cNvPr name="Freeform 18" id="18" descr="/home/claude/sms-security/icons/mobile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125980" y="2537460"/>
            <a:ext cx="6309360" cy="754380"/>
            <a:chOff x="0" y="0"/>
            <a:chExt cx="8412480" cy="1005840"/>
          </a:xfrm>
        </p:grpSpPr>
        <p:sp>
          <p:nvSpPr>
            <p:cNvPr name="Freeform 20" id="20"/>
            <p:cNvSpPr/>
            <p:nvPr/>
          </p:nvSpPr>
          <p:spPr>
            <a:xfrm flipH="false" flipV="false" rot="0">
              <a:off x="0" y="0"/>
              <a:ext cx="8412480" cy="1005840"/>
            </a:xfrm>
            <a:custGeom>
              <a:avLst/>
              <a:gdLst/>
              <a:ahLst/>
              <a:cxnLst/>
              <a:rect r="r" b="b" t="t" l="l"/>
              <a:pathLst>
                <a:path h="1005840" w="8412480">
                  <a:moveTo>
                    <a:pt x="0" y="0"/>
                  </a:moveTo>
                  <a:lnTo>
                    <a:pt x="8412480" y="0"/>
                  </a:lnTo>
                  <a:lnTo>
                    <a:pt x="8412480" y="1005840"/>
                  </a:lnTo>
                  <a:lnTo>
                    <a:pt x="0" y="1005840"/>
                  </a:lnTo>
                  <a:close/>
                </a:path>
              </a:pathLst>
            </a:custGeom>
            <a:blipFill>
              <a:blip r:embed="rId4">
                <a:alphaModFix amt="0"/>
              </a:blip>
              <a:stretch>
                <a:fillRect l="0" t="-112965" r="0" b="-112965"/>
              </a:stretch>
            </a:blipFill>
          </p:spPr>
        </p:sp>
        <p:sp>
          <p:nvSpPr>
            <p:cNvPr name="TextBox 21" id="21"/>
            <p:cNvSpPr txBox="true"/>
            <p:nvPr/>
          </p:nvSpPr>
          <p:spPr>
            <a:xfrm>
              <a:off x="0" y="-9525"/>
              <a:ext cx="8412480" cy="1015365"/>
            </a:xfrm>
            <a:prstGeom prst="rect">
              <a:avLst/>
            </a:prstGeom>
          </p:spPr>
          <p:txBody>
            <a:bodyPr anchor="ctr" rtlCol="false" tIns="0" lIns="0" bIns="0" rIns="0"/>
            <a:lstStyle/>
            <a:p>
              <a:pPr algn="l">
                <a:lnSpc>
                  <a:spcPts val="2879"/>
                </a:lnSpc>
              </a:pPr>
              <a:r>
                <a:rPr lang="en-US" sz="2400" b="true">
                  <a:solidFill>
                    <a:srgbClr val="051F20"/>
                  </a:solidFill>
                  <a:latin typeface="Cambria Bold"/>
                  <a:ea typeface="Cambria Bold"/>
                  <a:cs typeface="Cambria Bold"/>
                  <a:sym typeface="Cambria Bold"/>
                </a:rPr>
                <a:t>¿En qué consiste el proyecto?</a:t>
              </a:r>
            </a:p>
          </p:txBody>
        </p:sp>
      </p:grpSp>
      <p:grpSp>
        <p:nvGrpSpPr>
          <p:cNvPr name="Group 22" id="22"/>
          <p:cNvGrpSpPr/>
          <p:nvPr/>
        </p:nvGrpSpPr>
        <p:grpSpPr>
          <a:xfrm rot="0">
            <a:off x="1156335" y="3451665"/>
            <a:ext cx="7219950" cy="1576175"/>
            <a:chOff x="0" y="0"/>
            <a:chExt cx="9626600" cy="2101566"/>
          </a:xfrm>
        </p:grpSpPr>
        <p:sp>
          <p:nvSpPr>
            <p:cNvPr name="Freeform 23" id="23"/>
            <p:cNvSpPr/>
            <p:nvPr/>
          </p:nvSpPr>
          <p:spPr>
            <a:xfrm flipH="false" flipV="false" rot="0">
              <a:off x="0" y="0"/>
              <a:ext cx="9626600" cy="2101566"/>
            </a:xfrm>
            <a:custGeom>
              <a:avLst/>
              <a:gdLst/>
              <a:ahLst/>
              <a:cxnLst/>
              <a:rect r="r" b="b" t="t" l="l"/>
              <a:pathLst>
                <a:path h="2101566" w="9626600">
                  <a:moveTo>
                    <a:pt x="0" y="50954"/>
                  </a:moveTo>
                  <a:cubicBezTo>
                    <a:pt x="0" y="22812"/>
                    <a:pt x="65786" y="0"/>
                    <a:pt x="146939" y="0"/>
                  </a:cubicBezTo>
                  <a:lnTo>
                    <a:pt x="9479661" y="0"/>
                  </a:lnTo>
                  <a:cubicBezTo>
                    <a:pt x="9560814" y="0"/>
                    <a:pt x="9626600" y="22812"/>
                    <a:pt x="9626600" y="50954"/>
                  </a:cubicBezTo>
                  <a:lnTo>
                    <a:pt x="9626600" y="2050613"/>
                  </a:lnTo>
                  <a:cubicBezTo>
                    <a:pt x="9626600" y="2078754"/>
                    <a:pt x="9560814" y="2101566"/>
                    <a:pt x="9479661" y="2101566"/>
                  </a:cubicBezTo>
                  <a:lnTo>
                    <a:pt x="146939" y="2101566"/>
                  </a:lnTo>
                  <a:cubicBezTo>
                    <a:pt x="65786" y="2101566"/>
                    <a:pt x="0" y="2078754"/>
                    <a:pt x="0" y="2050613"/>
                  </a:cubicBezTo>
                  <a:close/>
                </a:path>
              </a:pathLst>
            </a:custGeom>
            <a:solidFill>
              <a:srgbClr val="FFFFFF"/>
            </a:solidFill>
            <a:ln w="19050" cap="sq">
              <a:solidFill>
                <a:srgbClr val="8EB69B"/>
              </a:solidFill>
              <a:prstDash val="dash"/>
              <a:miter/>
            </a:ln>
          </p:spPr>
        </p:sp>
      </p:grpSp>
      <p:grpSp>
        <p:nvGrpSpPr>
          <p:cNvPr name="Group 24" id="24"/>
          <p:cNvGrpSpPr/>
          <p:nvPr/>
        </p:nvGrpSpPr>
        <p:grpSpPr>
          <a:xfrm rot="0">
            <a:off x="9121140" y="2125980"/>
            <a:ext cx="8435340" cy="3121667"/>
            <a:chOff x="0" y="0"/>
            <a:chExt cx="11247120" cy="4162223"/>
          </a:xfrm>
        </p:grpSpPr>
        <p:sp>
          <p:nvSpPr>
            <p:cNvPr name="Freeform 25" id="25"/>
            <p:cNvSpPr/>
            <p:nvPr/>
          </p:nvSpPr>
          <p:spPr>
            <a:xfrm flipH="false" flipV="false" rot="0">
              <a:off x="0" y="0"/>
              <a:ext cx="11247120" cy="4162223"/>
            </a:xfrm>
            <a:custGeom>
              <a:avLst/>
              <a:gdLst/>
              <a:ahLst/>
              <a:cxnLst/>
              <a:rect r="r" b="b" t="t" l="l"/>
              <a:pathLst>
                <a:path h="4162223" w="11247120">
                  <a:moveTo>
                    <a:pt x="0" y="163224"/>
                  </a:moveTo>
                  <a:cubicBezTo>
                    <a:pt x="0" y="73111"/>
                    <a:pt x="81915" y="0"/>
                    <a:pt x="182880" y="0"/>
                  </a:cubicBezTo>
                  <a:lnTo>
                    <a:pt x="11064240" y="0"/>
                  </a:lnTo>
                  <a:cubicBezTo>
                    <a:pt x="11165205" y="0"/>
                    <a:pt x="11247120" y="73111"/>
                    <a:pt x="11247120" y="163224"/>
                  </a:cubicBezTo>
                  <a:lnTo>
                    <a:pt x="11247120" y="3998999"/>
                  </a:lnTo>
                  <a:cubicBezTo>
                    <a:pt x="11247120" y="4089112"/>
                    <a:pt x="11165205" y="4162223"/>
                    <a:pt x="11064240" y="4162223"/>
                  </a:cubicBezTo>
                  <a:lnTo>
                    <a:pt x="182880" y="4162223"/>
                  </a:lnTo>
                  <a:cubicBezTo>
                    <a:pt x="81915" y="4162223"/>
                    <a:pt x="0" y="4089112"/>
                    <a:pt x="0" y="3998999"/>
                  </a:cubicBezTo>
                  <a:close/>
                </a:path>
              </a:pathLst>
            </a:custGeom>
            <a:solidFill>
              <a:srgbClr val="051F20"/>
            </a:solidFill>
          </p:spPr>
        </p:sp>
      </p:grpSp>
      <p:grpSp>
        <p:nvGrpSpPr>
          <p:cNvPr name="Group 26" id="26"/>
          <p:cNvGrpSpPr/>
          <p:nvPr/>
        </p:nvGrpSpPr>
        <p:grpSpPr>
          <a:xfrm rot="0">
            <a:off x="9532620" y="2537460"/>
            <a:ext cx="754380" cy="75438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28" id="28"/>
          <p:cNvGrpSpPr/>
          <p:nvPr/>
        </p:nvGrpSpPr>
        <p:grpSpPr>
          <a:xfrm rot="0">
            <a:off x="9713671" y="2718511"/>
            <a:ext cx="392278" cy="392278"/>
            <a:chOff x="0" y="0"/>
            <a:chExt cx="523037" cy="523037"/>
          </a:xfrm>
        </p:grpSpPr>
        <p:sp>
          <p:nvSpPr>
            <p:cNvPr name="Freeform 29" id="29" descr="/home/claude/sms-security/icons/target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0" id="30"/>
          <p:cNvGrpSpPr/>
          <p:nvPr/>
        </p:nvGrpSpPr>
        <p:grpSpPr>
          <a:xfrm rot="0">
            <a:off x="10492740" y="2537460"/>
            <a:ext cx="6720840" cy="754380"/>
            <a:chOff x="0" y="0"/>
            <a:chExt cx="8961120" cy="1005840"/>
          </a:xfrm>
        </p:grpSpPr>
        <p:sp>
          <p:nvSpPr>
            <p:cNvPr name="Freeform 31" id="31"/>
            <p:cNvSpPr/>
            <p:nvPr/>
          </p:nvSpPr>
          <p:spPr>
            <a:xfrm flipH="false" flipV="false" rot="0">
              <a:off x="0" y="0"/>
              <a:ext cx="8961120" cy="1005840"/>
            </a:xfrm>
            <a:custGeom>
              <a:avLst/>
              <a:gdLst/>
              <a:ahLst/>
              <a:cxnLst/>
              <a:rect r="r" b="b" t="t" l="l"/>
              <a:pathLst>
                <a:path h="1005840" w="8961120">
                  <a:moveTo>
                    <a:pt x="0" y="0"/>
                  </a:moveTo>
                  <a:lnTo>
                    <a:pt x="8961120" y="0"/>
                  </a:lnTo>
                  <a:lnTo>
                    <a:pt x="8961120" y="1005840"/>
                  </a:lnTo>
                  <a:lnTo>
                    <a:pt x="0" y="1005840"/>
                  </a:lnTo>
                  <a:close/>
                </a:path>
              </a:pathLst>
            </a:custGeom>
            <a:blipFill>
              <a:blip r:embed="rId4">
                <a:alphaModFix amt="0"/>
              </a:blip>
              <a:stretch>
                <a:fillRect l="0" t="-123593" r="0" b="-123593"/>
              </a:stretch>
            </a:blipFill>
          </p:spPr>
        </p:sp>
        <p:sp>
          <p:nvSpPr>
            <p:cNvPr name="TextBox 32" id="32"/>
            <p:cNvSpPr txBox="true"/>
            <p:nvPr/>
          </p:nvSpPr>
          <p:spPr>
            <a:xfrm>
              <a:off x="0" y="-9525"/>
              <a:ext cx="8961120" cy="1015365"/>
            </a:xfrm>
            <a:prstGeom prst="rect">
              <a:avLst/>
            </a:prstGeom>
          </p:spPr>
          <p:txBody>
            <a:bodyPr anchor="ctr" rtlCol="false" tIns="0" lIns="0" bIns="0" rIns="0"/>
            <a:lstStyle/>
            <a:p>
              <a:pPr algn="l">
                <a:lnSpc>
                  <a:spcPts val="2879"/>
                </a:lnSpc>
              </a:pPr>
              <a:r>
                <a:rPr lang="en-US" sz="2400" b="true">
                  <a:solidFill>
                    <a:srgbClr val="DAF1DE"/>
                  </a:solidFill>
                  <a:latin typeface="Cambria Bold"/>
                  <a:ea typeface="Cambria Bold"/>
                  <a:cs typeface="Cambria Bold"/>
                  <a:sym typeface="Cambria Bold"/>
                </a:rPr>
                <a:t>Relevancia e impacto</a:t>
              </a:r>
            </a:p>
          </p:txBody>
        </p:sp>
      </p:grpSp>
      <p:grpSp>
        <p:nvGrpSpPr>
          <p:cNvPr name="Group 33" id="33"/>
          <p:cNvGrpSpPr/>
          <p:nvPr/>
        </p:nvGrpSpPr>
        <p:grpSpPr>
          <a:xfrm rot="0">
            <a:off x="9523095" y="3556635"/>
            <a:ext cx="7700010" cy="1346111"/>
            <a:chOff x="0" y="0"/>
            <a:chExt cx="10266680" cy="1794814"/>
          </a:xfrm>
        </p:grpSpPr>
        <p:sp>
          <p:nvSpPr>
            <p:cNvPr name="Freeform 34" id="34"/>
            <p:cNvSpPr/>
            <p:nvPr/>
          </p:nvSpPr>
          <p:spPr>
            <a:xfrm flipH="false" flipV="false" rot="0">
              <a:off x="0" y="0"/>
              <a:ext cx="10266680" cy="1794814"/>
            </a:xfrm>
            <a:custGeom>
              <a:avLst/>
              <a:gdLst/>
              <a:ahLst/>
              <a:cxnLst/>
              <a:rect r="r" b="b" t="t" l="l"/>
              <a:pathLst>
                <a:path h="1794814" w="10266680">
                  <a:moveTo>
                    <a:pt x="0" y="106373"/>
                  </a:moveTo>
                  <a:cubicBezTo>
                    <a:pt x="0" y="47612"/>
                    <a:pt x="66167" y="0"/>
                    <a:pt x="147828" y="0"/>
                  </a:cubicBezTo>
                  <a:lnTo>
                    <a:pt x="10118852" y="0"/>
                  </a:lnTo>
                  <a:cubicBezTo>
                    <a:pt x="10200513" y="0"/>
                    <a:pt x="10266680" y="47612"/>
                    <a:pt x="10266680" y="106373"/>
                  </a:cubicBezTo>
                  <a:lnTo>
                    <a:pt x="10266680" y="1688441"/>
                  </a:lnTo>
                  <a:cubicBezTo>
                    <a:pt x="10266680" y="1747202"/>
                    <a:pt x="10200513" y="1794814"/>
                    <a:pt x="10118852" y="1794814"/>
                  </a:cubicBezTo>
                  <a:lnTo>
                    <a:pt x="147828" y="1794814"/>
                  </a:lnTo>
                  <a:cubicBezTo>
                    <a:pt x="66167" y="1794814"/>
                    <a:pt x="0" y="1747202"/>
                    <a:pt x="0" y="1688441"/>
                  </a:cubicBezTo>
                  <a:close/>
                </a:path>
              </a:pathLst>
            </a:custGeom>
            <a:solidFill>
              <a:srgbClr val="FFFFFF"/>
            </a:solidFill>
            <a:ln w="19050" cap="sq">
              <a:solidFill>
                <a:srgbClr val="8EB69B"/>
              </a:solidFill>
              <a:prstDash val="dash"/>
              <a:miter/>
            </a:ln>
          </p:spPr>
        </p:sp>
      </p:grpSp>
      <p:grpSp>
        <p:nvGrpSpPr>
          <p:cNvPr name="Group 35" id="35"/>
          <p:cNvGrpSpPr/>
          <p:nvPr/>
        </p:nvGrpSpPr>
        <p:grpSpPr>
          <a:xfrm rot="0">
            <a:off x="2356485" y="6673107"/>
            <a:ext cx="2693670" cy="2419350"/>
            <a:chOff x="0" y="0"/>
            <a:chExt cx="3591560" cy="3225800"/>
          </a:xfrm>
        </p:grpSpPr>
        <p:sp>
          <p:nvSpPr>
            <p:cNvPr name="Freeform 36" id="36"/>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37" id="37"/>
          <p:cNvGrpSpPr/>
          <p:nvPr/>
        </p:nvGrpSpPr>
        <p:grpSpPr>
          <a:xfrm rot="0">
            <a:off x="3326130" y="6956952"/>
            <a:ext cx="754380" cy="754380"/>
            <a:chOff x="0" y="0"/>
            <a:chExt cx="1005840" cy="1005840"/>
          </a:xfrm>
        </p:grpSpPr>
        <p:sp>
          <p:nvSpPr>
            <p:cNvPr name="Freeform 38" id="3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39" id="39"/>
          <p:cNvGrpSpPr/>
          <p:nvPr/>
        </p:nvGrpSpPr>
        <p:grpSpPr>
          <a:xfrm rot="0">
            <a:off x="3507181" y="7138003"/>
            <a:ext cx="392278" cy="392278"/>
            <a:chOff x="0" y="0"/>
            <a:chExt cx="523037" cy="523037"/>
          </a:xfrm>
        </p:grpSpPr>
        <p:sp>
          <p:nvSpPr>
            <p:cNvPr name="Freeform 40" id="40" descr="/home/claude/sms-security/icons/warning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41" id="41"/>
          <p:cNvGrpSpPr/>
          <p:nvPr/>
        </p:nvGrpSpPr>
        <p:grpSpPr>
          <a:xfrm rot="0">
            <a:off x="2535555" y="6781584"/>
            <a:ext cx="2400300" cy="2202396"/>
            <a:chOff x="0" y="0"/>
            <a:chExt cx="3200400" cy="2936528"/>
          </a:xfrm>
        </p:grpSpPr>
        <p:sp>
          <p:nvSpPr>
            <p:cNvPr name="Freeform 42" id="42"/>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43" id="43"/>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25%</a:t>
              </a:r>
            </a:p>
          </p:txBody>
        </p:sp>
      </p:grpSp>
      <p:grpSp>
        <p:nvGrpSpPr>
          <p:cNvPr name="Group 44" id="44"/>
          <p:cNvGrpSpPr/>
          <p:nvPr/>
        </p:nvGrpSpPr>
        <p:grpSpPr>
          <a:xfrm rot="0">
            <a:off x="2503170" y="8465712"/>
            <a:ext cx="2400300" cy="666629"/>
            <a:chOff x="0" y="0"/>
            <a:chExt cx="3200400" cy="888839"/>
          </a:xfrm>
        </p:grpSpPr>
        <p:sp>
          <p:nvSpPr>
            <p:cNvPr name="Freeform 45" id="45"/>
            <p:cNvSpPr/>
            <p:nvPr/>
          </p:nvSpPr>
          <p:spPr>
            <a:xfrm flipH="false" flipV="false" rot="0">
              <a:off x="0" y="0"/>
              <a:ext cx="3200400" cy="888839"/>
            </a:xfrm>
            <a:custGeom>
              <a:avLst/>
              <a:gdLst/>
              <a:ahLst/>
              <a:cxnLst/>
              <a:rect r="r" b="b" t="t" l="l"/>
              <a:pathLst>
                <a:path h="888839" w="3200400">
                  <a:moveTo>
                    <a:pt x="0" y="0"/>
                  </a:moveTo>
                  <a:lnTo>
                    <a:pt x="3200400" y="0"/>
                  </a:lnTo>
                  <a:lnTo>
                    <a:pt x="3200400" y="888839"/>
                  </a:lnTo>
                  <a:lnTo>
                    <a:pt x="0" y="888839"/>
                  </a:lnTo>
                  <a:close/>
                </a:path>
              </a:pathLst>
            </a:custGeom>
            <a:blipFill>
              <a:blip r:embed="rId4">
                <a:alphaModFix amt="0"/>
              </a:blip>
              <a:stretch>
                <a:fillRect l="0" t="-29008" r="0" b="-11309"/>
              </a:stretch>
            </a:blipFill>
          </p:spPr>
        </p:sp>
        <p:sp>
          <p:nvSpPr>
            <p:cNvPr name="TextBox 46" id="46"/>
            <p:cNvSpPr txBox="true"/>
            <p:nvPr/>
          </p:nvSpPr>
          <p:spPr>
            <a:xfrm>
              <a:off x="0" y="-28575"/>
              <a:ext cx="3200400" cy="9174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1 de 4 chilenos caen en fraude de smishing, eso son cerca de 5.037.737 personas en chile</a:t>
              </a:r>
            </a:p>
          </p:txBody>
        </p:sp>
      </p:grpSp>
      <p:grpSp>
        <p:nvGrpSpPr>
          <p:cNvPr name="Group 47" id="47"/>
          <p:cNvGrpSpPr/>
          <p:nvPr/>
        </p:nvGrpSpPr>
        <p:grpSpPr>
          <a:xfrm rot="0">
            <a:off x="7431405" y="6673107"/>
            <a:ext cx="2693670" cy="2419350"/>
            <a:chOff x="0" y="0"/>
            <a:chExt cx="3591560" cy="3225800"/>
          </a:xfrm>
        </p:grpSpPr>
        <p:sp>
          <p:nvSpPr>
            <p:cNvPr name="Freeform 48" id="48"/>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49" id="49"/>
          <p:cNvGrpSpPr/>
          <p:nvPr/>
        </p:nvGrpSpPr>
        <p:grpSpPr>
          <a:xfrm rot="0">
            <a:off x="8401050" y="6956952"/>
            <a:ext cx="754380" cy="754380"/>
            <a:chOff x="0" y="0"/>
            <a:chExt cx="1005840" cy="1005840"/>
          </a:xfrm>
        </p:grpSpPr>
        <p:sp>
          <p:nvSpPr>
            <p:cNvPr name="Freeform 50" id="5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1" id="51"/>
          <p:cNvGrpSpPr/>
          <p:nvPr/>
        </p:nvGrpSpPr>
        <p:grpSpPr>
          <a:xfrm rot="0">
            <a:off x="8582101" y="7138003"/>
            <a:ext cx="392278" cy="392278"/>
            <a:chOff x="0" y="0"/>
            <a:chExt cx="523037" cy="523037"/>
          </a:xfrm>
        </p:grpSpPr>
        <p:sp>
          <p:nvSpPr>
            <p:cNvPr name="Freeform 52" id="52" descr="/home/claude/sms-security/icons/chart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8"/>
              <a:stretch>
                <a:fillRect l="0" t="0" r="-9" b="-9"/>
              </a:stretch>
            </a:blipFill>
          </p:spPr>
        </p:sp>
      </p:grpSp>
      <p:grpSp>
        <p:nvGrpSpPr>
          <p:cNvPr name="Group 53" id="53"/>
          <p:cNvGrpSpPr/>
          <p:nvPr/>
        </p:nvGrpSpPr>
        <p:grpSpPr>
          <a:xfrm rot="0">
            <a:off x="7578090" y="6890061"/>
            <a:ext cx="2400300" cy="2202396"/>
            <a:chOff x="0" y="0"/>
            <a:chExt cx="3200400" cy="2936528"/>
          </a:xfrm>
        </p:grpSpPr>
        <p:sp>
          <p:nvSpPr>
            <p:cNvPr name="Freeform 54" id="54"/>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55" id="55"/>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+50%</a:t>
              </a:r>
            </a:p>
          </p:txBody>
        </p:sp>
      </p:grpSp>
      <p:grpSp>
        <p:nvGrpSpPr>
          <p:cNvPr name="Group 56" id="56"/>
          <p:cNvGrpSpPr/>
          <p:nvPr/>
        </p:nvGrpSpPr>
        <p:grpSpPr>
          <a:xfrm rot="0">
            <a:off x="7605522" y="8168532"/>
            <a:ext cx="2400300" cy="866654"/>
            <a:chOff x="0" y="0"/>
            <a:chExt cx="3200400" cy="1155539"/>
          </a:xfrm>
        </p:grpSpPr>
        <p:sp>
          <p:nvSpPr>
            <p:cNvPr name="Freeform 57" id="57"/>
            <p:cNvSpPr/>
            <p:nvPr/>
          </p:nvSpPr>
          <p:spPr>
            <a:xfrm flipH="false" flipV="false" rot="0">
              <a:off x="0" y="0"/>
              <a:ext cx="3200400" cy="1155539"/>
            </a:xfrm>
            <a:custGeom>
              <a:avLst/>
              <a:gdLst/>
              <a:ahLst/>
              <a:cxnLst/>
              <a:rect r="r" b="b" t="t" l="l"/>
              <a:pathLst>
                <a:path h="1155539" w="3200400">
                  <a:moveTo>
                    <a:pt x="0" y="0"/>
                  </a:moveTo>
                  <a:lnTo>
                    <a:pt x="3200400" y="0"/>
                  </a:lnTo>
                  <a:lnTo>
                    <a:pt x="3200400" y="1155539"/>
                  </a:lnTo>
                  <a:lnTo>
                    <a:pt x="0" y="1155539"/>
                  </a:lnTo>
                  <a:close/>
                </a:path>
              </a:pathLst>
            </a:custGeom>
            <a:blipFill>
              <a:blip r:embed="rId4">
                <a:alphaModFix amt="0"/>
              </a:blip>
              <a:stretch>
                <a:fillRect l="0" t="-22313" r="0" b="14381"/>
              </a:stretch>
            </a:blipFill>
          </p:spPr>
        </p:sp>
        <p:sp>
          <p:nvSpPr>
            <p:cNvPr name="TextBox 58" id="58"/>
            <p:cNvSpPr txBox="true"/>
            <p:nvPr/>
          </p:nvSpPr>
          <p:spPr>
            <a:xfrm>
              <a:off x="0" y="-28575"/>
              <a:ext cx="3200400" cy="11841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En 2026 los intentos diarios de smishing superan los 103.000, se espera que más del 50% de estos intentos sean denunciados</a:t>
              </a:r>
            </a:p>
          </p:txBody>
        </p:sp>
      </p:grpSp>
      <p:grpSp>
        <p:nvGrpSpPr>
          <p:cNvPr name="Group 59" id="59"/>
          <p:cNvGrpSpPr/>
          <p:nvPr/>
        </p:nvGrpSpPr>
        <p:grpSpPr>
          <a:xfrm rot="0">
            <a:off x="12506325" y="6673107"/>
            <a:ext cx="2693670" cy="2419350"/>
            <a:chOff x="0" y="0"/>
            <a:chExt cx="3591560" cy="3225800"/>
          </a:xfrm>
        </p:grpSpPr>
        <p:sp>
          <p:nvSpPr>
            <p:cNvPr name="Freeform 60" id="60"/>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61" id="61"/>
          <p:cNvGrpSpPr/>
          <p:nvPr/>
        </p:nvGrpSpPr>
        <p:grpSpPr>
          <a:xfrm rot="0">
            <a:off x="13475970" y="6956952"/>
            <a:ext cx="754380" cy="754380"/>
            <a:chOff x="0" y="0"/>
            <a:chExt cx="1005840" cy="1005840"/>
          </a:xfrm>
        </p:grpSpPr>
        <p:sp>
          <p:nvSpPr>
            <p:cNvPr name="Freeform 62" id="6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63" id="63"/>
          <p:cNvGrpSpPr/>
          <p:nvPr/>
        </p:nvGrpSpPr>
        <p:grpSpPr>
          <a:xfrm rot="0">
            <a:off x="13657021" y="7138003"/>
            <a:ext cx="392278" cy="392278"/>
            <a:chOff x="0" y="0"/>
            <a:chExt cx="523037" cy="523037"/>
          </a:xfrm>
        </p:grpSpPr>
        <p:sp>
          <p:nvSpPr>
            <p:cNvPr name="Freeform 64" id="64" descr="/home/claude/sms-security/icons/users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9"/>
              <a:stretch>
                <a:fillRect l="0" t="0" r="-9" b="-9"/>
              </a:stretch>
            </a:blipFill>
          </p:spPr>
        </p:sp>
      </p:grpSp>
      <p:grpSp>
        <p:nvGrpSpPr>
          <p:cNvPr name="Group 65" id="65"/>
          <p:cNvGrpSpPr/>
          <p:nvPr/>
        </p:nvGrpSpPr>
        <p:grpSpPr>
          <a:xfrm rot="0">
            <a:off x="12623292" y="6890061"/>
            <a:ext cx="2400300" cy="2202396"/>
            <a:chOff x="0" y="0"/>
            <a:chExt cx="3200400" cy="2936528"/>
          </a:xfrm>
        </p:grpSpPr>
        <p:sp>
          <p:nvSpPr>
            <p:cNvPr name="Freeform 66" id="66"/>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67" id="67"/>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3.8%</a:t>
              </a:r>
            </a:p>
          </p:txBody>
        </p:sp>
      </p:grpSp>
      <p:grpSp>
        <p:nvGrpSpPr>
          <p:cNvPr name="Group 68" id="68"/>
          <p:cNvGrpSpPr/>
          <p:nvPr/>
        </p:nvGrpSpPr>
        <p:grpSpPr>
          <a:xfrm rot="0">
            <a:off x="12653010" y="8157102"/>
            <a:ext cx="2400300" cy="866654"/>
            <a:chOff x="0" y="0"/>
            <a:chExt cx="3200400" cy="1155539"/>
          </a:xfrm>
        </p:grpSpPr>
        <p:sp>
          <p:nvSpPr>
            <p:cNvPr name="Freeform 69" id="69"/>
            <p:cNvSpPr/>
            <p:nvPr/>
          </p:nvSpPr>
          <p:spPr>
            <a:xfrm flipH="false" flipV="false" rot="0">
              <a:off x="0" y="0"/>
              <a:ext cx="3200400" cy="1155539"/>
            </a:xfrm>
            <a:custGeom>
              <a:avLst/>
              <a:gdLst/>
              <a:ahLst/>
              <a:cxnLst/>
              <a:rect r="r" b="b" t="t" l="l"/>
              <a:pathLst>
                <a:path h="1155539" w="3200400">
                  <a:moveTo>
                    <a:pt x="0" y="0"/>
                  </a:moveTo>
                  <a:lnTo>
                    <a:pt x="3200400" y="0"/>
                  </a:lnTo>
                  <a:lnTo>
                    <a:pt x="3200400" y="1155539"/>
                  </a:lnTo>
                  <a:lnTo>
                    <a:pt x="0" y="1155539"/>
                  </a:lnTo>
                  <a:close/>
                </a:path>
              </a:pathLst>
            </a:custGeom>
            <a:blipFill>
              <a:blip r:embed="rId4">
                <a:alphaModFix amt="0"/>
              </a:blip>
              <a:stretch>
                <a:fillRect l="0" t="-22313" r="0" b="14381"/>
              </a:stretch>
            </a:blipFill>
          </p:spPr>
        </p:sp>
        <p:sp>
          <p:nvSpPr>
            <p:cNvPr name="TextBox 70" id="70"/>
            <p:cNvSpPr txBox="true"/>
            <p:nvPr/>
          </p:nvSpPr>
          <p:spPr>
            <a:xfrm>
              <a:off x="0" y="-28575"/>
              <a:ext cx="3200400" cy="11841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Si actualmente un 25% de la sociedad chilena cae en Smishing, con la aplicacion se  reduciria a un 3.8%</a:t>
              </a:r>
            </a:p>
          </p:txBody>
        </p:sp>
      </p:grpSp>
      <p:grpSp>
        <p:nvGrpSpPr>
          <p:cNvPr name="Group 71" id="71"/>
          <p:cNvGrpSpPr/>
          <p:nvPr/>
        </p:nvGrpSpPr>
        <p:grpSpPr>
          <a:xfrm rot="0">
            <a:off x="17053103" y="9601200"/>
            <a:ext cx="822960" cy="480060"/>
            <a:chOff x="0" y="0"/>
            <a:chExt cx="1097280" cy="640080"/>
          </a:xfrm>
        </p:grpSpPr>
        <p:sp>
          <p:nvSpPr>
            <p:cNvPr name="Freeform 72" id="72"/>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3" id="73"/>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02</a:t>
              </a:r>
            </a:p>
          </p:txBody>
        </p:sp>
      </p:grpSp>
      <p:sp>
        <p:nvSpPr>
          <p:cNvPr name="TextBox 74" id="74"/>
          <p:cNvSpPr txBox="true"/>
          <p:nvPr/>
        </p:nvSpPr>
        <p:spPr>
          <a:xfrm rot="0">
            <a:off x="1463040" y="3581990"/>
            <a:ext cx="660654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El objetivo principal es disminuir la cantidad de adultos mayores afectados por estafas de tipo smishing, para lograrlo, se implementara una solucion basada en un sistema de inteligencia artificial que, mediante el analisis textual y de URLs, facilitara la deteccion de fraudes y entregara informacion preventiva relevante a los usuarios</a:t>
            </a:r>
          </a:p>
        </p:txBody>
      </p:sp>
      <p:sp>
        <p:nvSpPr>
          <p:cNvPr name="TextBox 75" id="75"/>
          <p:cNvSpPr txBox="true"/>
          <p:nvPr/>
        </p:nvSpPr>
        <p:spPr>
          <a:xfrm rot="0">
            <a:off x="9829800" y="3720465"/>
            <a:ext cx="708660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a:t>
            </a:r>
            <a:r>
              <a:rPr lang="en-US" sz="1650" i="true">
                <a:solidFill>
                  <a:srgbClr val="7A9E8E"/>
                </a:solidFill>
                <a:latin typeface="Calibri (MS) Italics"/>
                <a:ea typeface="Calibri (MS) Italics"/>
                <a:cs typeface="Calibri (MS) Italics"/>
                <a:sym typeface="Calibri (MS) Italics"/>
              </a:rPr>
              <a:t>ste proyecto extenderá la cultura de la ciberseguridad. Buscando generar un impacto en todo el país (Chile) con foco en la tercera edad, ya que son uno de los grupos principales de víctimas de smishing. Este proyecto aportará facilitando el cuidado ante la ciberseguridad.</a:t>
            </a:r>
          </a:p>
          <a:p>
            <a:pPr algn="l">
              <a:lnSpc>
                <a:spcPts val="198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grad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Perfil de Egreso e Intereses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Competencias aplicadas y conexión con intereses profesionales</a:t>
              </a:r>
            </a:p>
          </p:txBody>
        </p:sp>
      </p:grpSp>
      <p:grpSp>
        <p:nvGrpSpPr>
          <p:cNvPr name="Group 13" id="13"/>
          <p:cNvGrpSpPr/>
          <p:nvPr/>
        </p:nvGrpSpPr>
        <p:grpSpPr>
          <a:xfrm rot="0">
            <a:off x="754380" y="1894645"/>
            <a:ext cx="3771900" cy="3523175"/>
            <a:chOff x="0" y="0"/>
            <a:chExt cx="5029200" cy="4697566"/>
          </a:xfrm>
        </p:grpSpPr>
        <p:sp>
          <p:nvSpPr>
            <p:cNvPr name="Freeform 14" id="14"/>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15" id="15"/>
          <p:cNvGrpSpPr/>
          <p:nvPr/>
        </p:nvGrpSpPr>
        <p:grpSpPr>
          <a:xfrm rot="0">
            <a:off x="2170039" y="2017787"/>
            <a:ext cx="891540" cy="891540"/>
            <a:chOff x="0" y="0"/>
            <a:chExt cx="1188720" cy="1188720"/>
          </a:xfrm>
        </p:grpSpPr>
        <p:sp>
          <p:nvSpPr>
            <p:cNvPr name="Freeform 16" id="16"/>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17" id="17"/>
          <p:cNvGrpSpPr/>
          <p:nvPr/>
        </p:nvGrpSpPr>
        <p:grpSpPr>
          <a:xfrm rot="0">
            <a:off x="2384009" y="2231757"/>
            <a:ext cx="463601" cy="463601"/>
            <a:chOff x="0" y="0"/>
            <a:chExt cx="618134" cy="618134"/>
          </a:xfrm>
        </p:grpSpPr>
        <p:sp>
          <p:nvSpPr>
            <p:cNvPr name="Freeform 18" id="18" descr="/home/claude/sms-security/icons/code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5"/>
              <a:stretch>
                <a:fillRect l="0" t="0" r="-4" b="-4"/>
              </a:stretch>
            </a:blipFill>
          </p:spPr>
        </p:sp>
      </p:grpSp>
      <p:grpSp>
        <p:nvGrpSpPr>
          <p:cNvPr name="Group 19" id="19"/>
          <p:cNvGrpSpPr/>
          <p:nvPr/>
        </p:nvGrpSpPr>
        <p:grpSpPr>
          <a:xfrm rot="0">
            <a:off x="953262" y="3024031"/>
            <a:ext cx="3360420" cy="548640"/>
            <a:chOff x="0" y="0"/>
            <a:chExt cx="4480560" cy="731520"/>
          </a:xfrm>
        </p:grpSpPr>
        <p:sp>
          <p:nvSpPr>
            <p:cNvPr name="Freeform 20" id="20"/>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4">
                <a:alphaModFix amt="0"/>
              </a:blip>
              <a:stretch>
                <a:fillRect l="0" t="-69345" r="0" b="-69345"/>
              </a:stretch>
            </a:blipFill>
          </p:spPr>
        </p:sp>
        <p:sp>
          <p:nvSpPr>
            <p:cNvPr name="TextBox 21" id="21"/>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Diseñar y adaptar los procesos </a:t>
              </a:r>
            </a:p>
          </p:txBody>
        </p:sp>
      </p:grpSp>
      <p:grpSp>
        <p:nvGrpSpPr>
          <p:cNvPr name="Group 22" id="22"/>
          <p:cNvGrpSpPr/>
          <p:nvPr/>
        </p:nvGrpSpPr>
        <p:grpSpPr>
          <a:xfrm rot="0">
            <a:off x="950595" y="3571974"/>
            <a:ext cx="3379470" cy="1718211"/>
            <a:chOff x="0" y="0"/>
            <a:chExt cx="4505960" cy="2290948"/>
          </a:xfrm>
        </p:grpSpPr>
        <p:sp>
          <p:nvSpPr>
            <p:cNvPr name="Freeform 23" id="23"/>
            <p:cNvSpPr/>
            <p:nvPr/>
          </p:nvSpPr>
          <p:spPr>
            <a:xfrm flipH="false" flipV="false" rot="0">
              <a:off x="0" y="0"/>
              <a:ext cx="4505960" cy="2290948"/>
            </a:xfrm>
            <a:custGeom>
              <a:avLst/>
              <a:gdLst/>
              <a:ahLst/>
              <a:cxnLst/>
              <a:rect r="r" b="b" t="t" l="l"/>
              <a:pathLst>
                <a:path h="2290948" w="4505960">
                  <a:moveTo>
                    <a:pt x="0" y="282055"/>
                  </a:moveTo>
                  <a:cubicBezTo>
                    <a:pt x="0" y="126290"/>
                    <a:pt x="66929" y="0"/>
                    <a:pt x="149479" y="0"/>
                  </a:cubicBezTo>
                  <a:lnTo>
                    <a:pt x="4356481" y="0"/>
                  </a:lnTo>
                  <a:cubicBezTo>
                    <a:pt x="4439031" y="0"/>
                    <a:pt x="4505960" y="126290"/>
                    <a:pt x="4505960" y="282055"/>
                  </a:cubicBezTo>
                  <a:lnTo>
                    <a:pt x="4505960" y="2008893"/>
                  </a:lnTo>
                  <a:cubicBezTo>
                    <a:pt x="4505960" y="2164658"/>
                    <a:pt x="4439031" y="2290948"/>
                    <a:pt x="4356481" y="2290948"/>
                  </a:cubicBezTo>
                  <a:lnTo>
                    <a:pt x="149479" y="2290948"/>
                  </a:lnTo>
                  <a:cubicBezTo>
                    <a:pt x="66929" y="2290948"/>
                    <a:pt x="0" y="2164658"/>
                    <a:pt x="0" y="200889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268730" y="3820369"/>
            <a:ext cx="276606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Levantamiento de requerimientos centrados en el adulto mayor para asegurar que la interfaz sea empática, comprensible y realmente útil.</a:t>
            </a:r>
          </a:p>
        </p:txBody>
      </p:sp>
      <p:grpSp>
        <p:nvGrpSpPr>
          <p:cNvPr name="Group 25" id="25"/>
          <p:cNvGrpSpPr/>
          <p:nvPr/>
        </p:nvGrpSpPr>
        <p:grpSpPr>
          <a:xfrm rot="0">
            <a:off x="4828032" y="1894645"/>
            <a:ext cx="3771900" cy="3523175"/>
            <a:chOff x="0" y="0"/>
            <a:chExt cx="5029200" cy="4697566"/>
          </a:xfrm>
        </p:grpSpPr>
        <p:sp>
          <p:nvSpPr>
            <p:cNvPr name="Freeform 26" id="26"/>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27" id="27"/>
          <p:cNvGrpSpPr/>
          <p:nvPr/>
        </p:nvGrpSpPr>
        <p:grpSpPr>
          <a:xfrm rot="0">
            <a:off x="6267069" y="2002553"/>
            <a:ext cx="891540" cy="891540"/>
            <a:chOff x="0" y="0"/>
            <a:chExt cx="1188720" cy="1188720"/>
          </a:xfrm>
        </p:grpSpPr>
        <p:sp>
          <p:nvSpPr>
            <p:cNvPr name="Freeform 28" id="28"/>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29" id="29"/>
          <p:cNvGrpSpPr/>
          <p:nvPr/>
        </p:nvGrpSpPr>
        <p:grpSpPr>
          <a:xfrm rot="0">
            <a:off x="6482182" y="2216523"/>
            <a:ext cx="463601" cy="463601"/>
            <a:chOff x="0" y="0"/>
            <a:chExt cx="618134" cy="618134"/>
          </a:xfrm>
        </p:grpSpPr>
        <p:sp>
          <p:nvSpPr>
            <p:cNvPr name="Freeform 30" id="30" descr="/home/claude/sms-security/icons/database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6"/>
              <a:stretch>
                <a:fillRect l="0" t="0" r="-4" b="-4"/>
              </a:stretch>
            </a:blipFill>
          </p:spPr>
        </p:sp>
      </p:grpSp>
      <p:grpSp>
        <p:nvGrpSpPr>
          <p:cNvPr name="Group 31" id="31"/>
          <p:cNvGrpSpPr/>
          <p:nvPr/>
        </p:nvGrpSpPr>
        <p:grpSpPr>
          <a:xfrm rot="0">
            <a:off x="5024247" y="3024031"/>
            <a:ext cx="3360420" cy="622139"/>
            <a:chOff x="0" y="0"/>
            <a:chExt cx="4480560" cy="829518"/>
          </a:xfrm>
        </p:grpSpPr>
        <p:sp>
          <p:nvSpPr>
            <p:cNvPr name="Freeform 32" id="32"/>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33" id="33"/>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Desarrollo de proyectos innovadores</a:t>
              </a:r>
            </a:p>
          </p:txBody>
        </p:sp>
      </p:grpSp>
      <p:grpSp>
        <p:nvGrpSpPr>
          <p:cNvPr name="Group 34" id="34"/>
          <p:cNvGrpSpPr/>
          <p:nvPr/>
        </p:nvGrpSpPr>
        <p:grpSpPr>
          <a:xfrm rot="0">
            <a:off x="5024247" y="3646170"/>
            <a:ext cx="3379470" cy="1644015"/>
            <a:chOff x="0" y="0"/>
            <a:chExt cx="4505960" cy="2192020"/>
          </a:xfrm>
        </p:grpSpPr>
        <p:sp>
          <p:nvSpPr>
            <p:cNvPr name="Freeform 35" id="35"/>
            <p:cNvSpPr/>
            <p:nvPr/>
          </p:nvSpPr>
          <p:spPr>
            <a:xfrm flipH="false" flipV="false" rot="0">
              <a:off x="0" y="0"/>
              <a:ext cx="4505960" cy="2192020"/>
            </a:xfrm>
            <a:custGeom>
              <a:avLst/>
              <a:gdLst/>
              <a:ahLst/>
              <a:cxnLst/>
              <a:rect r="r" b="b" t="t" l="l"/>
              <a:pathLst>
                <a:path h="2192020" w="4505960">
                  <a:moveTo>
                    <a:pt x="0" y="269875"/>
                  </a:moveTo>
                  <a:cubicBezTo>
                    <a:pt x="0" y="120836"/>
                    <a:pt x="66929" y="0"/>
                    <a:pt x="149479" y="0"/>
                  </a:cubicBezTo>
                  <a:lnTo>
                    <a:pt x="4356481" y="0"/>
                  </a:lnTo>
                  <a:cubicBezTo>
                    <a:pt x="4439031" y="0"/>
                    <a:pt x="4505960" y="120836"/>
                    <a:pt x="4505960" y="269875"/>
                  </a:cubicBezTo>
                  <a:lnTo>
                    <a:pt x="4505960" y="1922145"/>
                  </a:lnTo>
                  <a:cubicBezTo>
                    <a:pt x="4505960" y="2071184"/>
                    <a:pt x="4439031" y="2192020"/>
                    <a:pt x="4356481" y="2192020"/>
                  </a:cubicBezTo>
                  <a:lnTo>
                    <a:pt x="149479" y="2192020"/>
                  </a:lnTo>
                  <a:cubicBezTo>
                    <a:pt x="66929" y="2192020"/>
                    <a:pt x="0" y="2071184"/>
                    <a:pt x="0" y="1922145"/>
                  </a:cubicBezTo>
                  <a:close/>
                </a:path>
              </a:pathLst>
            </a:custGeom>
            <a:solidFill>
              <a:srgbClr val="FFFFFF"/>
            </a:solidFill>
            <a:ln w="19050" cap="sq">
              <a:solidFill>
                <a:srgbClr val="8EB69B"/>
              </a:solidFill>
              <a:prstDash val="dash"/>
              <a:miter/>
            </a:ln>
          </p:spPr>
        </p:sp>
      </p:grpSp>
      <p:sp>
        <p:nvSpPr>
          <p:cNvPr name="TextBox 36" id="36"/>
          <p:cNvSpPr txBox="true"/>
          <p:nvPr/>
        </p:nvSpPr>
        <p:spPr>
          <a:xfrm rot="0">
            <a:off x="5321427" y="3725782"/>
            <a:ext cx="276606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Creación</a:t>
            </a:r>
            <a:r>
              <a:rPr lang="en-US" sz="1650" i="true">
                <a:solidFill>
                  <a:srgbClr val="7A9E8E"/>
                </a:solidFill>
                <a:latin typeface="Calibri (MS) Italics"/>
                <a:ea typeface="Calibri (MS) Italics"/>
                <a:cs typeface="Calibri (MS) Italics"/>
                <a:sym typeface="Calibri (MS) Italics"/>
              </a:rPr>
              <a:t> de la plataforma en el entorno móvil (donde ocurre el ataque por SMS), sistematizando el desarrollo para frenar la amenaza en el propio dispositivo.</a:t>
            </a:r>
          </a:p>
        </p:txBody>
      </p:sp>
      <p:grpSp>
        <p:nvGrpSpPr>
          <p:cNvPr name="Group 37" id="37"/>
          <p:cNvGrpSpPr/>
          <p:nvPr/>
        </p:nvGrpSpPr>
        <p:grpSpPr>
          <a:xfrm rot="0">
            <a:off x="8901684" y="1894645"/>
            <a:ext cx="3771900" cy="3523175"/>
            <a:chOff x="0" y="0"/>
            <a:chExt cx="5029200" cy="4697566"/>
          </a:xfrm>
        </p:grpSpPr>
        <p:sp>
          <p:nvSpPr>
            <p:cNvPr name="Freeform 38" id="38"/>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39" id="39"/>
          <p:cNvGrpSpPr/>
          <p:nvPr/>
        </p:nvGrpSpPr>
        <p:grpSpPr>
          <a:xfrm rot="0">
            <a:off x="10326868" y="2017787"/>
            <a:ext cx="891540" cy="891540"/>
            <a:chOff x="0" y="0"/>
            <a:chExt cx="1188720" cy="1188720"/>
          </a:xfrm>
        </p:grpSpPr>
        <p:sp>
          <p:nvSpPr>
            <p:cNvPr name="Freeform 40" id="40"/>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41" id="41"/>
          <p:cNvGrpSpPr/>
          <p:nvPr/>
        </p:nvGrpSpPr>
        <p:grpSpPr>
          <a:xfrm rot="0">
            <a:off x="10555834" y="2216523"/>
            <a:ext cx="463601" cy="463601"/>
            <a:chOff x="0" y="0"/>
            <a:chExt cx="618134" cy="618134"/>
          </a:xfrm>
        </p:grpSpPr>
        <p:sp>
          <p:nvSpPr>
            <p:cNvPr name="Freeform 42" id="42" descr="/home/claude/sms-security/icons/layers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7"/>
              <a:stretch>
                <a:fillRect l="0" t="0" r="-4" b="-4"/>
              </a:stretch>
            </a:blipFill>
          </p:spPr>
        </p:sp>
      </p:grpSp>
      <p:grpSp>
        <p:nvGrpSpPr>
          <p:cNvPr name="Group 43" id="43"/>
          <p:cNvGrpSpPr/>
          <p:nvPr/>
        </p:nvGrpSpPr>
        <p:grpSpPr>
          <a:xfrm rot="0">
            <a:off x="9155430" y="2909327"/>
            <a:ext cx="3360420" cy="622139"/>
            <a:chOff x="0" y="0"/>
            <a:chExt cx="4480560" cy="829518"/>
          </a:xfrm>
        </p:grpSpPr>
        <p:sp>
          <p:nvSpPr>
            <p:cNvPr name="Freeform 44" id="44"/>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45" id="45"/>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Desarrollo e integración de modelos de clasificación con IA</a:t>
              </a:r>
            </a:p>
          </p:txBody>
        </p:sp>
      </p:grpSp>
      <p:grpSp>
        <p:nvGrpSpPr>
          <p:cNvPr name="Group 46" id="46"/>
          <p:cNvGrpSpPr/>
          <p:nvPr/>
        </p:nvGrpSpPr>
        <p:grpSpPr>
          <a:xfrm rot="0">
            <a:off x="9097899" y="3656233"/>
            <a:ext cx="3379470" cy="1633952"/>
            <a:chOff x="0" y="0"/>
            <a:chExt cx="4505960" cy="2178603"/>
          </a:xfrm>
        </p:grpSpPr>
        <p:sp>
          <p:nvSpPr>
            <p:cNvPr name="Freeform 47" id="47"/>
            <p:cNvSpPr/>
            <p:nvPr/>
          </p:nvSpPr>
          <p:spPr>
            <a:xfrm flipH="false" flipV="false" rot="0">
              <a:off x="0" y="0"/>
              <a:ext cx="4505960" cy="2178603"/>
            </a:xfrm>
            <a:custGeom>
              <a:avLst/>
              <a:gdLst/>
              <a:ahLst/>
              <a:cxnLst/>
              <a:rect r="r" b="b" t="t" l="l"/>
              <a:pathLst>
                <a:path h="2178603" w="4505960">
                  <a:moveTo>
                    <a:pt x="0" y="268223"/>
                  </a:moveTo>
                  <a:cubicBezTo>
                    <a:pt x="0" y="120097"/>
                    <a:pt x="66929" y="0"/>
                    <a:pt x="149479" y="0"/>
                  </a:cubicBezTo>
                  <a:lnTo>
                    <a:pt x="4356481" y="0"/>
                  </a:lnTo>
                  <a:cubicBezTo>
                    <a:pt x="4439031" y="0"/>
                    <a:pt x="4505960" y="120097"/>
                    <a:pt x="4505960" y="268223"/>
                  </a:cubicBezTo>
                  <a:lnTo>
                    <a:pt x="4505960" y="1910380"/>
                  </a:lnTo>
                  <a:cubicBezTo>
                    <a:pt x="4505960" y="2058507"/>
                    <a:pt x="4439031" y="2178603"/>
                    <a:pt x="4356481" y="2178603"/>
                  </a:cubicBezTo>
                  <a:lnTo>
                    <a:pt x="149479" y="2178603"/>
                  </a:lnTo>
                  <a:cubicBezTo>
                    <a:pt x="66929" y="2178603"/>
                    <a:pt x="0" y="2058507"/>
                    <a:pt x="0" y="1910380"/>
                  </a:cubicBezTo>
                  <a:close/>
                </a:path>
              </a:pathLst>
            </a:custGeom>
            <a:solidFill>
              <a:srgbClr val="FFFFFF"/>
            </a:solidFill>
            <a:ln w="19050" cap="sq">
              <a:solidFill>
                <a:srgbClr val="8EB69B"/>
              </a:solidFill>
              <a:prstDash val="dash"/>
              <a:miter/>
            </a:ln>
          </p:spPr>
        </p:sp>
      </p:grpSp>
      <p:sp>
        <p:nvSpPr>
          <p:cNvPr name="TextBox 48" id="48"/>
          <p:cNvSpPr txBox="true"/>
          <p:nvPr/>
        </p:nvSpPr>
        <p:spPr>
          <a:xfrm rot="0">
            <a:off x="9306496" y="3725782"/>
            <a:ext cx="276606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Programación del motor</a:t>
            </a:r>
            <a:r>
              <a:rPr lang="en-US" sz="1650" i="true">
                <a:solidFill>
                  <a:srgbClr val="7A9E8E"/>
                </a:solidFill>
                <a:latin typeface="Calibri (MS) Italics"/>
                <a:ea typeface="Calibri (MS) Italics"/>
                <a:cs typeface="Calibri (MS) Italics"/>
                <a:sym typeface="Calibri (MS) Italics"/>
              </a:rPr>
              <a:t> de la aplicación, incluyendo el preprocesamiento de datos y el modelo de clasificación que evalúa y filtra los mensajes fraudulentos en tiempo real.</a:t>
            </a:r>
          </a:p>
        </p:txBody>
      </p:sp>
      <p:grpSp>
        <p:nvGrpSpPr>
          <p:cNvPr name="Group 49" id="49"/>
          <p:cNvGrpSpPr/>
          <p:nvPr/>
        </p:nvGrpSpPr>
        <p:grpSpPr>
          <a:xfrm rot="0">
            <a:off x="12975336" y="1894645"/>
            <a:ext cx="3771900" cy="3523175"/>
            <a:chOff x="0" y="0"/>
            <a:chExt cx="5029200" cy="4697566"/>
          </a:xfrm>
        </p:grpSpPr>
        <p:sp>
          <p:nvSpPr>
            <p:cNvPr name="Freeform 50" id="50"/>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51" id="51"/>
          <p:cNvGrpSpPr/>
          <p:nvPr/>
        </p:nvGrpSpPr>
        <p:grpSpPr>
          <a:xfrm rot="0">
            <a:off x="14397609" y="2017787"/>
            <a:ext cx="891540" cy="891540"/>
            <a:chOff x="0" y="0"/>
            <a:chExt cx="1188720" cy="1188720"/>
          </a:xfrm>
        </p:grpSpPr>
        <p:sp>
          <p:nvSpPr>
            <p:cNvPr name="Freeform 52" id="52"/>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53" id="53"/>
          <p:cNvGrpSpPr/>
          <p:nvPr/>
        </p:nvGrpSpPr>
        <p:grpSpPr>
          <a:xfrm rot="0">
            <a:off x="14611579" y="2216523"/>
            <a:ext cx="463601" cy="463601"/>
            <a:chOff x="0" y="0"/>
            <a:chExt cx="618134" cy="618134"/>
          </a:xfrm>
        </p:grpSpPr>
        <p:sp>
          <p:nvSpPr>
            <p:cNvPr name="Freeform 54" id="54" descr="/home/claude/sms-security/icons/clipboard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8"/>
              <a:stretch>
                <a:fillRect l="0" t="0" r="-4" b="-4"/>
              </a:stretch>
            </a:blipFill>
          </p:spPr>
        </p:sp>
      </p:grpSp>
      <p:grpSp>
        <p:nvGrpSpPr>
          <p:cNvPr name="Group 55" id="55"/>
          <p:cNvGrpSpPr/>
          <p:nvPr/>
        </p:nvGrpSpPr>
        <p:grpSpPr>
          <a:xfrm rot="0">
            <a:off x="13171551" y="2894093"/>
            <a:ext cx="3360420" cy="622139"/>
            <a:chOff x="0" y="0"/>
            <a:chExt cx="4480560" cy="829518"/>
          </a:xfrm>
        </p:grpSpPr>
        <p:sp>
          <p:nvSpPr>
            <p:cNvPr name="Freeform 56" id="56"/>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57" id="57"/>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 Implementación de ciberseguridad y privacidad de datos</a:t>
              </a:r>
            </a:p>
          </p:txBody>
        </p:sp>
      </p:grpSp>
      <p:grpSp>
        <p:nvGrpSpPr>
          <p:cNvPr name="Group 58" id="58"/>
          <p:cNvGrpSpPr/>
          <p:nvPr/>
        </p:nvGrpSpPr>
        <p:grpSpPr>
          <a:xfrm rot="0">
            <a:off x="13171551" y="3646170"/>
            <a:ext cx="3379470" cy="1644015"/>
            <a:chOff x="0" y="0"/>
            <a:chExt cx="4505960" cy="2192020"/>
          </a:xfrm>
        </p:grpSpPr>
        <p:sp>
          <p:nvSpPr>
            <p:cNvPr name="Freeform 59" id="59"/>
            <p:cNvSpPr/>
            <p:nvPr/>
          </p:nvSpPr>
          <p:spPr>
            <a:xfrm flipH="false" flipV="false" rot="0">
              <a:off x="0" y="0"/>
              <a:ext cx="4505960" cy="2192020"/>
            </a:xfrm>
            <a:custGeom>
              <a:avLst/>
              <a:gdLst/>
              <a:ahLst/>
              <a:cxnLst/>
              <a:rect r="r" b="b" t="t" l="l"/>
              <a:pathLst>
                <a:path h="2192020" w="4505960">
                  <a:moveTo>
                    <a:pt x="0" y="269875"/>
                  </a:moveTo>
                  <a:cubicBezTo>
                    <a:pt x="0" y="120836"/>
                    <a:pt x="66929" y="0"/>
                    <a:pt x="149479" y="0"/>
                  </a:cubicBezTo>
                  <a:lnTo>
                    <a:pt x="4356481" y="0"/>
                  </a:lnTo>
                  <a:cubicBezTo>
                    <a:pt x="4439031" y="0"/>
                    <a:pt x="4505960" y="120836"/>
                    <a:pt x="4505960" y="269875"/>
                  </a:cubicBezTo>
                  <a:lnTo>
                    <a:pt x="4505960" y="1922145"/>
                  </a:lnTo>
                  <a:cubicBezTo>
                    <a:pt x="4505960" y="2071184"/>
                    <a:pt x="4439031" y="2192020"/>
                    <a:pt x="4356481" y="2192020"/>
                  </a:cubicBezTo>
                  <a:lnTo>
                    <a:pt x="149479" y="2192020"/>
                  </a:lnTo>
                  <a:cubicBezTo>
                    <a:pt x="66929" y="2192020"/>
                    <a:pt x="0" y="2071184"/>
                    <a:pt x="0" y="1922145"/>
                  </a:cubicBezTo>
                  <a:close/>
                </a:path>
              </a:pathLst>
            </a:custGeom>
            <a:solidFill>
              <a:srgbClr val="FFFFFF"/>
            </a:solidFill>
            <a:ln w="19050" cap="sq">
              <a:solidFill>
                <a:srgbClr val="8EB69B"/>
              </a:solidFill>
              <a:prstDash val="dash"/>
              <a:miter/>
            </a:ln>
          </p:spPr>
        </p:sp>
      </p:grpSp>
      <p:sp>
        <p:nvSpPr>
          <p:cNvPr name="TextBox 60" id="60"/>
          <p:cNvSpPr txBox="true"/>
          <p:nvPr/>
        </p:nvSpPr>
        <p:spPr>
          <a:xfrm rot="0">
            <a:off x="13578459" y="3783380"/>
            <a:ext cx="276606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Implementación de barreras de ciberseguridad</a:t>
            </a:r>
            <a:r>
              <a:rPr lang="en-US" sz="1650" i="true">
                <a:solidFill>
                  <a:srgbClr val="7A9E8E"/>
                </a:solidFill>
                <a:latin typeface="Calibri (MS) Italics"/>
                <a:ea typeface="Calibri (MS) Italics"/>
                <a:cs typeface="Calibri (MS) Italics"/>
                <a:sym typeface="Calibri (MS) Italics"/>
              </a:rPr>
              <a:t> para garantizar la protección absoluta de la información personal y los mensajes de texto del usuario.</a:t>
            </a:r>
          </a:p>
        </p:txBody>
      </p:sp>
      <p:grpSp>
        <p:nvGrpSpPr>
          <p:cNvPr name="Group 61" id="61"/>
          <p:cNvGrpSpPr/>
          <p:nvPr/>
        </p:nvGrpSpPr>
        <p:grpSpPr>
          <a:xfrm rot="0">
            <a:off x="754380" y="5829300"/>
            <a:ext cx="16802100" cy="2537460"/>
            <a:chOff x="0" y="0"/>
            <a:chExt cx="22402800" cy="3383280"/>
          </a:xfrm>
        </p:grpSpPr>
        <p:sp>
          <p:nvSpPr>
            <p:cNvPr name="Freeform 62" id="62"/>
            <p:cNvSpPr/>
            <p:nvPr/>
          </p:nvSpPr>
          <p:spPr>
            <a:xfrm flipH="false" flipV="false" rot="0">
              <a:off x="0" y="0"/>
              <a:ext cx="22402800" cy="3383280"/>
            </a:xfrm>
            <a:custGeom>
              <a:avLst/>
              <a:gdLst/>
              <a:ahLst/>
              <a:cxnLst/>
              <a:rect r="r" b="b" t="t" l="l"/>
              <a:pathLst>
                <a:path h="3383280" w="22402800">
                  <a:moveTo>
                    <a:pt x="0" y="182880"/>
                  </a:moveTo>
                  <a:cubicBezTo>
                    <a:pt x="0" y="81915"/>
                    <a:pt x="81915" y="0"/>
                    <a:pt x="182880" y="0"/>
                  </a:cubicBezTo>
                  <a:lnTo>
                    <a:pt x="22219920" y="0"/>
                  </a:lnTo>
                  <a:cubicBezTo>
                    <a:pt x="22320884" y="0"/>
                    <a:pt x="22402800" y="81915"/>
                    <a:pt x="22402800" y="182880"/>
                  </a:cubicBezTo>
                  <a:lnTo>
                    <a:pt x="22402800" y="3200400"/>
                  </a:lnTo>
                  <a:cubicBezTo>
                    <a:pt x="22402800" y="3301365"/>
                    <a:pt x="22320884" y="3383280"/>
                    <a:pt x="22219920" y="3383280"/>
                  </a:cubicBezTo>
                  <a:lnTo>
                    <a:pt x="182880" y="3383280"/>
                  </a:lnTo>
                  <a:cubicBezTo>
                    <a:pt x="81915" y="3383280"/>
                    <a:pt x="0" y="3301365"/>
                    <a:pt x="0" y="3200400"/>
                  </a:cubicBezTo>
                  <a:close/>
                </a:path>
              </a:pathLst>
            </a:custGeom>
            <a:solidFill>
              <a:srgbClr val="051F20"/>
            </a:solidFill>
          </p:spPr>
        </p:sp>
      </p:grpSp>
      <p:grpSp>
        <p:nvGrpSpPr>
          <p:cNvPr name="Group 63" id="63"/>
          <p:cNvGrpSpPr/>
          <p:nvPr/>
        </p:nvGrpSpPr>
        <p:grpSpPr>
          <a:xfrm rot="0">
            <a:off x="1165860" y="6026810"/>
            <a:ext cx="822960" cy="822960"/>
            <a:chOff x="0" y="0"/>
            <a:chExt cx="1097280" cy="1097280"/>
          </a:xfrm>
        </p:grpSpPr>
        <p:sp>
          <p:nvSpPr>
            <p:cNvPr name="Freeform 64" id="6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65" id="65"/>
          <p:cNvGrpSpPr/>
          <p:nvPr/>
        </p:nvGrpSpPr>
        <p:grpSpPr>
          <a:xfrm rot="0">
            <a:off x="1363370" y="6240780"/>
            <a:ext cx="427939" cy="427939"/>
            <a:chOff x="0" y="0"/>
            <a:chExt cx="570586" cy="570586"/>
          </a:xfrm>
        </p:grpSpPr>
        <p:sp>
          <p:nvSpPr>
            <p:cNvPr name="Freeform 66" id="66" descr="/home/claude/sms-security/icons/comment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9"/>
              <a:stretch>
                <a:fillRect l="0" t="0" r="4" b="4"/>
              </a:stretch>
            </a:blipFill>
          </p:spPr>
        </p:sp>
      </p:grpSp>
      <p:grpSp>
        <p:nvGrpSpPr>
          <p:cNvPr name="Group 67" id="67"/>
          <p:cNvGrpSpPr/>
          <p:nvPr/>
        </p:nvGrpSpPr>
        <p:grpSpPr>
          <a:xfrm rot="0">
            <a:off x="2194560" y="6026810"/>
            <a:ext cx="8229600" cy="685800"/>
            <a:chOff x="0" y="0"/>
            <a:chExt cx="10972800" cy="914400"/>
          </a:xfrm>
        </p:grpSpPr>
        <p:sp>
          <p:nvSpPr>
            <p:cNvPr name="Freeform 68" id="68"/>
            <p:cNvSpPr/>
            <p:nvPr/>
          </p:nvSpPr>
          <p:spPr>
            <a:xfrm flipH="false" flipV="false" rot="0">
              <a:off x="0" y="0"/>
              <a:ext cx="10972800" cy="914400"/>
            </a:xfrm>
            <a:custGeom>
              <a:avLst/>
              <a:gdLst/>
              <a:ahLst/>
              <a:cxnLst/>
              <a:rect r="r" b="b" t="t" l="l"/>
              <a:pathLst>
                <a:path h="914400" w="10972800">
                  <a:moveTo>
                    <a:pt x="0" y="0"/>
                  </a:moveTo>
                  <a:lnTo>
                    <a:pt x="10972800" y="0"/>
                  </a:lnTo>
                  <a:lnTo>
                    <a:pt x="10972800" y="914400"/>
                  </a:lnTo>
                  <a:lnTo>
                    <a:pt x="0" y="914400"/>
                  </a:lnTo>
                  <a:close/>
                </a:path>
              </a:pathLst>
            </a:custGeom>
            <a:blipFill>
              <a:blip r:embed="rId4">
                <a:alphaModFix amt="0"/>
              </a:blip>
              <a:stretch>
                <a:fillRect l="0" t="-183820" r="0" b="-183820"/>
              </a:stretch>
            </a:blipFill>
          </p:spPr>
        </p:sp>
        <p:sp>
          <p:nvSpPr>
            <p:cNvPr name="TextBox 69" id="69"/>
            <p:cNvSpPr txBox="true"/>
            <p:nvPr/>
          </p:nvSpPr>
          <p:spPr>
            <a:xfrm>
              <a:off x="0" y="-19050"/>
              <a:ext cx="10972800" cy="933450"/>
            </a:xfrm>
            <a:prstGeom prst="rect">
              <a:avLst/>
            </a:prstGeom>
          </p:spPr>
          <p:txBody>
            <a:bodyPr anchor="ctr" rtlCol="false" tIns="0" lIns="0" bIns="0" rIns="0"/>
            <a:lstStyle/>
            <a:p>
              <a:pPr algn="l">
                <a:lnSpc>
                  <a:spcPts val="2700"/>
                </a:lnSpc>
              </a:pPr>
              <a:r>
                <a:rPr lang="en-US" sz="2250" b="true">
                  <a:solidFill>
                    <a:srgbClr val="DAF1DE"/>
                  </a:solidFill>
                  <a:latin typeface="Cambria Bold"/>
                  <a:ea typeface="Cambria Bold"/>
                  <a:cs typeface="Cambria Bold"/>
                  <a:sym typeface="Cambria Bold"/>
                </a:rPr>
                <a:t>Relación con los intereses profesionales</a:t>
              </a:r>
            </a:p>
          </p:txBody>
        </p:sp>
      </p:grpSp>
      <p:grpSp>
        <p:nvGrpSpPr>
          <p:cNvPr name="Group 70" id="70"/>
          <p:cNvGrpSpPr/>
          <p:nvPr/>
        </p:nvGrpSpPr>
        <p:grpSpPr>
          <a:xfrm rot="0">
            <a:off x="1156335" y="7054215"/>
            <a:ext cx="15998190" cy="1116330"/>
            <a:chOff x="0" y="0"/>
            <a:chExt cx="21330920" cy="1488440"/>
          </a:xfrm>
        </p:grpSpPr>
        <p:sp>
          <p:nvSpPr>
            <p:cNvPr name="Freeform 71" id="71"/>
            <p:cNvSpPr/>
            <p:nvPr/>
          </p:nvSpPr>
          <p:spPr>
            <a:xfrm flipH="false" flipV="false" rot="0">
              <a:off x="0" y="0"/>
              <a:ext cx="21330920" cy="1488440"/>
            </a:xfrm>
            <a:custGeom>
              <a:avLst/>
              <a:gdLst/>
              <a:ahLst/>
              <a:cxnLst/>
              <a:rect r="r" b="b" t="t" l="l"/>
              <a:pathLst>
                <a:path h="1488440" w="21330920">
                  <a:moveTo>
                    <a:pt x="0" y="148844"/>
                  </a:moveTo>
                  <a:cubicBezTo>
                    <a:pt x="0" y="66675"/>
                    <a:pt x="66675" y="0"/>
                    <a:pt x="148844" y="0"/>
                  </a:cubicBezTo>
                  <a:lnTo>
                    <a:pt x="21182076" y="0"/>
                  </a:lnTo>
                  <a:cubicBezTo>
                    <a:pt x="21264245" y="0"/>
                    <a:pt x="21330920" y="66675"/>
                    <a:pt x="21330920" y="148844"/>
                  </a:cubicBezTo>
                  <a:lnTo>
                    <a:pt x="21330920" y="1339596"/>
                  </a:lnTo>
                  <a:cubicBezTo>
                    <a:pt x="21330920" y="1421765"/>
                    <a:pt x="21264245" y="1488440"/>
                    <a:pt x="21182076" y="1488440"/>
                  </a:cubicBezTo>
                  <a:lnTo>
                    <a:pt x="148844" y="1488440"/>
                  </a:lnTo>
                  <a:cubicBezTo>
                    <a:pt x="66675" y="1488440"/>
                    <a:pt x="0" y="1421765"/>
                    <a:pt x="0" y="1339596"/>
                  </a:cubicBezTo>
                  <a:close/>
                </a:path>
              </a:pathLst>
            </a:custGeom>
            <a:solidFill>
              <a:srgbClr val="FFFFFF"/>
            </a:solidFill>
            <a:ln w="19050" cap="sq">
              <a:solidFill>
                <a:srgbClr val="8EB69B"/>
              </a:solidFill>
              <a:prstDash val="dash"/>
              <a:miter/>
            </a:ln>
          </p:spPr>
        </p:sp>
      </p:grpSp>
      <p:sp>
        <p:nvSpPr>
          <p:cNvPr name="TextBox 72" id="72"/>
          <p:cNvSpPr txBox="true"/>
          <p:nvPr/>
        </p:nvSpPr>
        <p:spPr>
          <a:xfrm rot="0">
            <a:off x="1463040" y="7218045"/>
            <a:ext cx="1538478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En este proyecto hemos puesto nuestro interés por la ciberseguridad como enfoque principal, el desarrollo de aplicaciones móviles como el formato del producto y la integración de la Inteligencia Artificial como mejora para la accesibilidad y resolución de consultas del usuario. Este proyecto nos beneficiara como promotores de la ciberseguridad, manejo de la inteligencia artificial y como desarrolladores de soluciones tecnológicas</a:t>
            </a:r>
          </a:p>
        </p:txBody>
      </p:sp>
      <p:grpSp>
        <p:nvGrpSpPr>
          <p:cNvPr name="Group 73" id="73"/>
          <p:cNvGrpSpPr/>
          <p:nvPr/>
        </p:nvGrpSpPr>
        <p:grpSpPr>
          <a:xfrm rot="0">
            <a:off x="17053103" y="9601200"/>
            <a:ext cx="822960" cy="480060"/>
            <a:chOff x="0" y="0"/>
            <a:chExt cx="1097280" cy="640080"/>
          </a:xfrm>
        </p:grpSpPr>
        <p:sp>
          <p:nvSpPr>
            <p:cNvPr name="Freeform 74" id="74"/>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5" id="75"/>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lock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Factibilidad y Riesgos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Viabilidad en el semestre y estrategias de mitigación</a:t>
              </a:r>
            </a:p>
          </p:txBody>
        </p:sp>
      </p:grpSp>
      <p:grpSp>
        <p:nvGrpSpPr>
          <p:cNvPr name="Group 13" id="13"/>
          <p:cNvGrpSpPr/>
          <p:nvPr/>
        </p:nvGrpSpPr>
        <p:grpSpPr>
          <a:xfrm rot="0">
            <a:off x="754380" y="2125980"/>
            <a:ext cx="8023860" cy="6309360"/>
            <a:chOff x="0" y="0"/>
            <a:chExt cx="10698480" cy="8412480"/>
          </a:xfrm>
        </p:grpSpPr>
        <p:sp>
          <p:nvSpPr>
            <p:cNvPr name="Freeform 14" id="14"/>
            <p:cNvSpPr/>
            <p:nvPr/>
          </p:nvSpPr>
          <p:spPr>
            <a:xfrm flipH="false" flipV="false" rot="0">
              <a:off x="0" y="0"/>
              <a:ext cx="10698480" cy="8412480"/>
            </a:xfrm>
            <a:custGeom>
              <a:avLst/>
              <a:gdLst/>
              <a:ahLst/>
              <a:cxnLst/>
              <a:rect r="r" b="b" t="t" l="l"/>
              <a:pathLst>
                <a:path h="8412480" w="10698480">
                  <a:moveTo>
                    <a:pt x="0" y="182880"/>
                  </a:moveTo>
                  <a:cubicBezTo>
                    <a:pt x="0" y="81915"/>
                    <a:pt x="81915" y="0"/>
                    <a:pt x="182880" y="0"/>
                  </a:cubicBezTo>
                  <a:lnTo>
                    <a:pt x="10515600" y="0"/>
                  </a:lnTo>
                  <a:cubicBezTo>
                    <a:pt x="10616565" y="0"/>
                    <a:pt x="10698480" y="81915"/>
                    <a:pt x="10698480" y="182880"/>
                  </a:cubicBezTo>
                  <a:lnTo>
                    <a:pt x="10698480" y="8229600"/>
                  </a:lnTo>
                  <a:cubicBezTo>
                    <a:pt x="10698480" y="8330565"/>
                    <a:pt x="10616565" y="8412480"/>
                    <a:pt x="10515600" y="8412480"/>
                  </a:cubicBezTo>
                  <a:lnTo>
                    <a:pt x="182880" y="8412480"/>
                  </a:lnTo>
                  <a:cubicBezTo>
                    <a:pt x="81915" y="8412480"/>
                    <a:pt x="0" y="8330565"/>
                    <a:pt x="0" y="8229600"/>
                  </a:cubicBezTo>
                  <a:close/>
                </a:path>
              </a:pathLst>
            </a:custGeom>
            <a:solidFill>
              <a:srgbClr val="FFFFFF"/>
            </a:solidFill>
          </p:spPr>
        </p:sp>
      </p:grpSp>
      <p:grpSp>
        <p:nvGrpSpPr>
          <p:cNvPr name="Group 15" id="15"/>
          <p:cNvGrpSpPr/>
          <p:nvPr/>
        </p:nvGrpSpPr>
        <p:grpSpPr>
          <a:xfrm rot="0">
            <a:off x="1165860" y="2537460"/>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17" id="17"/>
          <p:cNvGrpSpPr/>
          <p:nvPr/>
        </p:nvGrpSpPr>
        <p:grpSpPr>
          <a:xfrm rot="0">
            <a:off x="1346911" y="2718511"/>
            <a:ext cx="392278" cy="392278"/>
            <a:chOff x="0" y="0"/>
            <a:chExt cx="523037" cy="523037"/>
          </a:xfrm>
        </p:grpSpPr>
        <p:sp>
          <p:nvSpPr>
            <p:cNvPr name="Freeform 18" id="18"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125980" y="2537460"/>
            <a:ext cx="5486400" cy="754380"/>
            <a:chOff x="0" y="0"/>
            <a:chExt cx="7315200" cy="1005840"/>
          </a:xfrm>
        </p:grpSpPr>
        <p:sp>
          <p:nvSpPr>
            <p:cNvPr name="Freeform 20" id="20"/>
            <p:cNvSpPr/>
            <p:nvPr/>
          </p:nvSpPr>
          <p:spPr>
            <a:xfrm flipH="false" flipV="false" rot="0">
              <a:off x="0" y="0"/>
              <a:ext cx="7315200" cy="1005840"/>
            </a:xfrm>
            <a:custGeom>
              <a:avLst/>
              <a:gdLst/>
              <a:ahLst/>
              <a:cxnLst/>
              <a:rect r="r" b="b" t="t" l="l"/>
              <a:pathLst>
                <a:path h="1005840" w="7315200">
                  <a:moveTo>
                    <a:pt x="0" y="0"/>
                  </a:moveTo>
                  <a:lnTo>
                    <a:pt x="7315200" y="0"/>
                  </a:lnTo>
                  <a:lnTo>
                    <a:pt x="7315200" y="1005840"/>
                  </a:lnTo>
                  <a:lnTo>
                    <a:pt x="0" y="1005840"/>
                  </a:lnTo>
                  <a:close/>
                </a:path>
              </a:pathLst>
            </a:custGeom>
            <a:blipFill>
              <a:blip r:embed="rId4">
                <a:alphaModFix amt="0"/>
              </a:blip>
              <a:stretch>
                <a:fillRect l="0" t="-91709" r="0" b="-91709"/>
              </a:stretch>
            </a:blipFill>
          </p:spPr>
        </p:sp>
        <p:sp>
          <p:nvSpPr>
            <p:cNvPr name="TextBox 21" id="21"/>
            <p:cNvSpPr txBox="true"/>
            <p:nvPr/>
          </p:nvSpPr>
          <p:spPr>
            <a:xfrm>
              <a:off x="0" y="-9525"/>
              <a:ext cx="7315200" cy="1015365"/>
            </a:xfrm>
            <a:prstGeom prst="rect">
              <a:avLst/>
            </a:prstGeom>
          </p:spPr>
          <p:txBody>
            <a:bodyPr anchor="ctr" rtlCol="false" tIns="0" lIns="0" bIns="0" rIns="0"/>
            <a:lstStyle/>
            <a:p>
              <a:pPr algn="l">
                <a:lnSpc>
                  <a:spcPts val="2879"/>
                </a:lnSpc>
              </a:pPr>
              <a:r>
                <a:rPr lang="en-US" sz="2400" b="true">
                  <a:solidFill>
                    <a:srgbClr val="051F20"/>
                  </a:solidFill>
                  <a:latin typeface="Cambria Bold"/>
                  <a:ea typeface="Cambria Bold"/>
                  <a:cs typeface="Cambria Bold"/>
                  <a:sym typeface="Cambria Bold"/>
                </a:rPr>
                <a:t>Factibilidad</a:t>
              </a:r>
            </a:p>
          </p:txBody>
        </p:sp>
      </p:grpSp>
      <p:grpSp>
        <p:nvGrpSpPr>
          <p:cNvPr name="Group 22" id="22"/>
          <p:cNvGrpSpPr/>
          <p:nvPr/>
        </p:nvGrpSpPr>
        <p:grpSpPr>
          <a:xfrm rot="0">
            <a:off x="1156335" y="3488055"/>
            <a:ext cx="7219950" cy="2088902"/>
            <a:chOff x="0" y="0"/>
            <a:chExt cx="9626600" cy="2785203"/>
          </a:xfrm>
        </p:grpSpPr>
        <p:sp>
          <p:nvSpPr>
            <p:cNvPr name="Freeform 23" id="23"/>
            <p:cNvSpPr/>
            <p:nvPr/>
          </p:nvSpPr>
          <p:spPr>
            <a:xfrm flipH="false" flipV="false" rot="0">
              <a:off x="0" y="0"/>
              <a:ext cx="9626600" cy="2785203"/>
            </a:xfrm>
            <a:custGeom>
              <a:avLst/>
              <a:gdLst/>
              <a:ahLst/>
              <a:cxnLst/>
              <a:rect r="r" b="b" t="t" l="l"/>
              <a:pathLst>
                <a:path h="2785203" w="9626600">
                  <a:moveTo>
                    <a:pt x="0" y="165070"/>
                  </a:moveTo>
                  <a:cubicBezTo>
                    <a:pt x="0" y="73884"/>
                    <a:pt x="66167" y="0"/>
                    <a:pt x="147828" y="0"/>
                  </a:cubicBezTo>
                  <a:lnTo>
                    <a:pt x="9478772" y="0"/>
                  </a:lnTo>
                  <a:cubicBezTo>
                    <a:pt x="9560433" y="0"/>
                    <a:pt x="9626600" y="73884"/>
                    <a:pt x="9626600" y="165070"/>
                  </a:cubicBezTo>
                  <a:lnTo>
                    <a:pt x="9626600" y="2620133"/>
                  </a:lnTo>
                  <a:cubicBezTo>
                    <a:pt x="9626600" y="2711318"/>
                    <a:pt x="9560433" y="2785203"/>
                    <a:pt x="9478772" y="2785203"/>
                  </a:cubicBezTo>
                  <a:lnTo>
                    <a:pt x="147828" y="2785203"/>
                  </a:lnTo>
                  <a:cubicBezTo>
                    <a:pt x="66167" y="2785203"/>
                    <a:pt x="0" y="2711318"/>
                    <a:pt x="0" y="262013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463040" y="3743325"/>
            <a:ext cx="6606540" cy="1514556"/>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Factibilidad</a:t>
            </a:r>
            <a:r>
              <a:rPr lang="en-US" sz="1650" i="true">
                <a:solidFill>
                  <a:srgbClr val="7A9E8E"/>
                </a:solidFill>
                <a:latin typeface="Calibri (MS) Italics"/>
                <a:ea typeface="Calibri (MS) Italics"/>
                <a:cs typeface="Calibri (MS) Italics"/>
                <a:sym typeface="Calibri (MS) Italics"/>
              </a:rPr>
              <a:t> Técnica y de Recursos: El desarrollo es altamente viable, ya que se sustenta íntegramente en herramientas digitales y frameworks de uso libre (Visual Studio Code, React Native, Node.js, y las APIs de VirusTotal y WHOIS RDAP). Además, el equipo ya cuenta con experiencia previa en React y Node.js, lo que elimina la curva de aprendizaje inicial y permite enfocar el esfuerzo técnico directamente en la implementación de la solución.</a:t>
            </a:r>
          </a:p>
        </p:txBody>
      </p:sp>
      <p:grpSp>
        <p:nvGrpSpPr>
          <p:cNvPr name="Group 25" id="25"/>
          <p:cNvGrpSpPr/>
          <p:nvPr/>
        </p:nvGrpSpPr>
        <p:grpSpPr>
          <a:xfrm rot="0">
            <a:off x="1156335" y="5786507"/>
            <a:ext cx="7219950" cy="2315458"/>
            <a:chOff x="0" y="0"/>
            <a:chExt cx="9626600" cy="3087277"/>
          </a:xfrm>
        </p:grpSpPr>
        <p:sp>
          <p:nvSpPr>
            <p:cNvPr name="Freeform 26" id="26"/>
            <p:cNvSpPr/>
            <p:nvPr/>
          </p:nvSpPr>
          <p:spPr>
            <a:xfrm flipH="false" flipV="false" rot="0">
              <a:off x="0" y="0"/>
              <a:ext cx="9626600" cy="3087277"/>
            </a:xfrm>
            <a:custGeom>
              <a:avLst/>
              <a:gdLst/>
              <a:ahLst/>
              <a:cxnLst/>
              <a:rect r="r" b="b" t="t" l="l"/>
              <a:pathLst>
                <a:path h="3087277" w="9626600">
                  <a:moveTo>
                    <a:pt x="0" y="130055"/>
                  </a:moveTo>
                  <a:cubicBezTo>
                    <a:pt x="0" y="58251"/>
                    <a:pt x="66040" y="0"/>
                    <a:pt x="147447" y="0"/>
                  </a:cubicBezTo>
                  <a:lnTo>
                    <a:pt x="9479153" y="0"/>
                  </a:lnTo>
                  <a:cubicBezTo>
                    <a:pt x="9560560" y="0"/>
                    <a:pt x="9626600" y="58251"/>
                    <a:pt x="9626600" y="130055"/>
                  </a:cubicBezTo>
                  <a:lnTo>
                    <a:pt x="9626600" y="2957222"/>
                  </a:lnTo>
                  <a:cubicBezTo>
                    <a:pt x="9626600" y="3029027"/>
                    <a:pt x="9560560" y="3087277"/>
                    <a:pt x="9479153" y="3087277"/>
                  </a:cubicBezTo>
                  <a:lnTo>
                    <a:pt x="147447" y="3087277"/>
                  </a:lnTo>
                  <a:cubicBezTo>
                    <a:pt x="66040" y="3087277"/>
                    <a:pt x="0" y="3029027"/>
                    <a:pt x="0" y="2957222"/>
                  </a:cubicBezTo>
                  <a:close/>
                </a:path>
              </a:pathLst>
            </a:custGeom>
            <a:solidFill>
              <a:srgbClr val="FFFFFF"/>
            </a:solidFill>
            <a:ln w="19050" cap="sq">
              <a:solidFill>
                <a:srgbClr val="8EB69B"/>
              </a:solidFill>
              <a:prstDash val="dash"/>
              <a:miter/>
            </a:ln>
          </p:spPr>
        </p:sp>
      </p:grpSp>
      <p:sp>
        <p:nvSpPr>
          <p:cNvPr name="TextBox 27" id="27"/>
          <p:cNvSpPr txBox="true"/>
          <p:nvPr/>
        </p:nvSpPr>
        <p:spPr>
          <a:xfrm rot="0">
            <a:off x="1463040" y="6017895"/>
            <a:ext cx="660654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Factibilidad Operativa y de</a:t>
            </a:r>
            <a:r>
              <a:rPr lang="en-US" sz="1650" i="true">
                <a:solidFill>
                  <a:srgbClr val="7A9E8E"/>
                </a:solidFill>
                <a:latin typeface="Calibri (MS) Italics"/>
                <a:ea typeface="Calibri (MS) Italics"/>
                <a:cs typeface="Calibri (MS) Italics"/>
                <a:sym typeface="Calibri (MS) Italics"/>
              </a:rPr>
              <a:t> Tiempo: A pesar de la carga de la Práctica Profesional de lunes a viernes en la mañana, el plazo de 5 meses es adecuado. El avance se concentrará estratégicamente en el bloque de 3 horas y 40 minutos de la asignatura Capstone los días viernes, complementado con una gestión flexible de horas extra que respeta los tiempos de descanso, apoyándose en la agilidad que otorga el dominio previo de las herramientas.</a:t>
            </a:r>
          </a:p>
        </p:txBody>
      </p:sp>
      <p:grpSp>
        <p:nvGrpSpPr>
          <p:cNvPr name="Group 28" id="28"/>
          <p:cNvGrpSpPr/>
          <p:nvPr/>
        </p:nvGrpSpPr>
        <p:grpSpPr>
          <a:xfrm rot="0">
            <a:off x="9121140" y="2125980"/>
            <a:ext cx="8435340" cy="7715250"/>
            <a:chOff x="0" y="0"/>
            <a:chExt cx="11247120" cy="10287000"/>
          </a:xfrm>
        </p:grpSpPr>
        <p:sp>
          <p:nvSpPr>
            <p:cNvPr name="Freeform 29" id="29"/>
            <p:cNvSpPr/>
            <p:nvPr/>
          </p:nvSpPr>
          <p:spPr>
            <a:xfrm flipH="false" flipV="false" rot="0">
              <a:off x="0" y="0"/>
              <a:ext cx="11247120" cy="10287000"/>
            </a:xfrm>
            <a:custGeom>
              <a:avLst/>
              <a:gdLst/>
              <a:ahLst/>
              <a:cxnLst/>
              <a:rect r="r" b="b" t="t" l="l"/>
              <a:pathLst>
                <a:path h="10287000" w="11247120">
                  <a:moveTo>
                    <a:pt x="0" y="223630"/>
                  </a:moveTo>
                  <a:cubicBezTo>
                    <a:pt x="0" y="100168"/>
                    <a:pt x="81915" y="0"/>
                    <a:pt x="182880" y="0"/>
                  </a:cubicBezTo>
                  <a:lnTo>
                    <a:pt x="11064240" y="0"/>
                  </a:lnTo>
                  <a:cubicBezTo>
                    <a:pt x="11165205" y="0"/>
                    <a:pt x="11247120" y="100168"/>
                    <a:pt x="11247120" y="223630"/>
                  </a:cubicBezTo>
                  <a:lnTo>
                    <a:pt x="11247120" y="10063369"/>
                  </a:lnTo>
                  <a:cubicBezTo>
                    <a:pt x="11247120" y="10186832"/>
                    <a:pt x="11165205" y="10287000"/>
                    <a:pt x="11064240" y="10287000"/>
                  </a:cubicBezTo>
                  <a:lnTo>
                    <a:pt x="182880" y="10287000"/>
                  </a:lnTo>
                  <a:cubicBezTo>
                    <a:pt x="81915" y="10287000"/>
                    <a:pt x="0" y="10186832"/>
                    <a:pt x="0" y="10063369"/>
                  </a:cubicBezTo>
                  <a:close/>
                </a:path>
              </a:pathLst>
            </a:custGeom>
            <a:solidFill>
              <a:srgbClr val="051F20"/>
            </a:solidFill>
          </p:spPr>
        </p:sp>
      </p:grpSp>
      <p:grpSp>
        <p:nvGrpSpPr>
          <p:cNvPr name="Group 30" id="30"/>
          <p:cNvGrpSpPr/>
          <p:nvPr/>
        </p:nvGrpSpPr>
        <p:grpSpPr>
          <a:xfrm rot="0">
            <a:off x="9532620" y="2413196"/>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32" id="32"/>
          <p:cNvGrpSpPr/>
          <p:nvPr/>
        </p:nvGrpSpPr>
        <p:grpSpPr>
          <a:xfrm rot="0">
            <a:off x="9713671" y="2582454"/>
            <a:ext cx="392278" cy="392278"/>
            <a:chOff x="0" y="0"/>
            <a:chExt cx="523037" cy="523037"/>
          </a:xfrm>
        </p:grpSpPr>
        <p:sp>
          <p:nvSpPr>
            <p:cNvPr name="Freeform 33" id="33" descr="/home/claude/sms-security/icons/warnin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4" id="34"/>
          <p:cNvGrpSpPr/>
          <p:nvPr/>
        </p:nvGrpSpPr>
        <p:grpSpPr>
          <a:xfrm rot="0">
            <a:off x="10496550" y="2401402"/>
            <a:ext cx="6172200" cy="754380"/>
            <a:chOff x="0" y="0"/>
            <a:chExt cx="8229600" cy="1005840"/>
          </a:xfrm>
        </p:grpSpPr>
        <p:sp>
          <p:nvSpPr>
            <p:cNvPr name="Freeform 35" id="35"/>
            <p:cNvSpPr/>
            <p:nvPr/>
          </p:nvSpPr>
          <p:spPr>
            <a:xfrm flipH="false" flipV="false" rot="0">
              <a:off x="0" y="0"/>
              <a:ext cx="8229600" cy="1005840"/>
            </a:xfrm>
            <a:custGeom>
              <a:avLst/>
              <a:gdLst/>
              <a:ahLst/>
              <a:cxnLst/>
              <a:rect r="r" b="b" t="t" l="l"/>
              <a:pathLst>
                <a:path h="1005840" w="8229600">
                  <a:moveTo>
                    <a:pt x="0" y="0"/>
                  </a:moveTo>
                  <a:lnTo>
                    <a:pt x="8229600" y="0"/>
                  </a:lnTo>
                  <a:lnTo>
                    <a:pt x="8229600" y="1005840"/>
                  </a:lnTo>
                  <a:lnTo>
                    <a:pt x="0" y="1005840"/>
                  </a:lnTo>
                  <a:close/>
                </a:path>
              </a:pathLst>
            </a:custGeom>
            <a:blipFill>
              <a:blip r:embed="rId4">
                <a:alphaModFix amt="0"/>
              </a:blip>
              <a:stretch>
                <a:fillRect l="0" t="-109423" r="0" b="-109423"/>
              </a:stretch>
            </a:blipFill>
          </p:spPr>
        </p:sp>
        <p:sp>
          <p:nvSpPr>
            <p:cNvPr name="TextBox 36" id="36"/>
            <p:cNvSpPr txBox="true"/>
            <p:nvPr/>
          </p:nvSpPr>
          <p:spPr>
            <a:xfrm>
              <a:off x="0" y="-9525"/>
              <a:ext cx="8229600" cy="1015365"/>
            </a:xfrm>
            <a:prstGeom prst="rect">
              <a:avLst/>
            </a:prstGeom>
          </p:spPr>
          <p:txBody>
            <a:bodyPr anchor="ctr" rtlCol="false" tIns="0" lIns="0" bIns="0" rIns="0"/>
            <a:lstStyle/>
            <a:p>
              <a:pPr algn="l">
                <a:lnSpc>
                  <a:spcPts val="2879"/>
                </a:lnSpc>
              </a:pPr>
              <a:r>
                <a:rPr lang="en-US" sz="2400" b="true">
                  <a:solidFill>
                    <a:srgbClr val="DAF1DE"/>
                  </a:solidFill>
                  <a:latin typeface="Cambria Bold"/>
                  <a:ea typeface="Cambria Bold"/>
                  <a:cs typeface="Cambria Bold"/>
                  <a:sym typeface="Cambria Bold"/>
                </a:rPr>
                <a:t>Riesgos y mitigación</a:t>
              </a:r>
            </a:p>
          </p:txBody>
        </p:sp>
      </p:grpSp>
      <p:grpSp>
        <p:nvGrpSpPr>
          <p:cNvPr name="Group 37" id="37"/>
          <p:cNvGrpSpPr/>
          <p:nvPr/>
        </p:nvGrpSpPr>
        <p:grpSpPr>
          <a:xfrm rot="0">
            <a:off x="9532620" y="3317631"/>
            <a:ext cx="3566160" cy="480060"/>
            <a:chOff x="0" y="0"/>
            <a:chExt cx="4754880" cy="640080"/>
          </a:xfrm>
        </p:grpSpPr>
        <p:sp>
          <p:nvSpPr>
            <p:cNvPr name="Freeform 38" id="38"/>
            <p:cNvSpPr/>
            <p:nvPr/>
          </p:nvSpPr>
          <p:spPr>
            <a:xfrm flipH="false" flipV="false" rot="0">
              <a:off x="0" y="0"/>
              <a:ext cx="4754880" cy="640080"/>
            </a:xfrm>
            <a:custGeom>
              <a:avLst/>
              <a:gdLst/>
              <a:ahLst/>
              <a:cxnLst/>
              <a:rect r="r" b="b" t="t" l="l"/>
              <a:pathLst>
                <a:path h="640080" w="4754880">
                  <a:moveTo>
                    <a:pt x="0" y="0"/>
                  </a:moveTo>
                  <a:lnTo>
                    <a:pt x="4754880" y="0"/>
                  </a:lnTo>
                  <a:lnTo>
                    <a:pt x="4754880" y="640080"/>
                  </a:lnTo>
                  <a:lnTo>
                    <a:pt x="0" y="640080"/>
                  </a:lnTo>
                  <a:close/>
                </a:path>
              </a:pathLst>
            </a:custGeom>
            <a:blipFill>
              <a:blip r:embed="rId4">
                <a:alphaModFix amt="0"/>
              </a:blip>
              <a:stretch>
                <a:fillRect l="0" t="-94745" r="0" b="-94745"/>
              </a:stretch>
            </a:blipFill>
          </p:spPr>
        </p:sp>
        <p:sp>
          <p:nvSpPr>
            <p:cNvPr name="TextBox 39" id="39"/>
            <p:cNvSpPr txBox="true"/>
            <p:nvPr/>
          </p:nvSpPr>
          <p:spPr>
            <a:xfrm>
              <a:off x="0" y="-28575"/>
              <a:ext cx="4754880" cy="66865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Riesgo</a:t>
              </a:r>
            </a:p>
          </p:txBody>
        </p:sp>
      </p:grpSp>
      <p:grpSp>
        <p:nvGrpSpPr>
          <p:cNvPr name="Group 40" id="40"/>
          <p:cNvGrpSpPr/>
          <p:nvPr/>
        </p:nvGrpSpPr>
        <p:grpSpPr>
          <a:xfrm rot="0">
            <a:off x="13235940" y="3291840"/>
            <a:ext cx="3977640" cy="480060"/>
            <a:chOff x="0" y="0"/>
            <a:chExt cx="5303520" cy="640080"/>
          </a:xfrm>
        </p:grpSpPr>
        <p:sp>
          <p:nvSpPr>
            <p:cNvPr name="Freeform 41" id="41"/>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4">
                <a:alphaModFix amt="0"/>
              </a:blip>
              <a:stretch>
                <a:fillRect l="0" t="-111447" r="0" b="-111447"/>
              </a:stretch>
            </a:blipFill>
          </p:spPr>
        </p:sp>
        <p:sp>
          <p:nvSpPr>
            <p:cNvPr name="TextBox 42" id="42"/>
            <p:cNvSpPr txBox="true"/>
            <p:nvPr/>
          </p:nvSpPr>
          <p:spPr>
            <a:xfrm>
              <a:off x="0" y="-28575"/>
              <a:ext cx="5303520" cy="66865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Mitigación</a:t>
              </a:r>
            </a:p>
          </p:txBody>
        </p:sp>
      </p:grpSp>
      <p:grpSp>
        <p:nvGrpSpPr>
          <p:cNvPr name="Group 43" id="43"/>
          <p:cNvGrpSpPr/>
          <p:nvPr/>
        </p:nvGrpSpPr>
        <p:grpSpPr>
          <a:xfrm rot="0">
            <a:off x="9532620" y="3797691"/>
            <a:ext cx="3429000" cy="1779266"/>
            <a:chOff x="0" y="0"/>
            <a:chExt cx="4572000" cy="2372355"/>
          </a:xfrm>
        </p:grpSpPr>
        <p:sp>
          <p:nvSpPr>
            <p:cNvPr name="Freeform 44" id="44"/>
            <p:cNvSpPr/>
            <p:nvPr/>
          </p:nvSpPr>
          <p:spPr>
            <a:xfrm flipH="false" flipV="false" rot="0">
              <a:off x="0" y="0"/>
              <a:ext cx="4572000" cy="2372355"/>
            </a:xfrm>
            <a:custGeom>
              <a:avLst/>
              <a:gdLst/>
              <a:ahLst/>
              <a:cxnLst/>
              <a:rect r="r" b="b" t="t" l="l"/>
              <a:pathLst>
                <a:path h="2372355" w="4572000">
                  <a:moveTo>
                    <a:pt x="0" y="158157"/>
                  </a:moveTo>
                  <a:cubicBezTo>
                    <a:pt x="0" y="70841"/>
                    <a:pt x="49149" y="0"/>
                    <a:pt x="109728" y="0"/>
                  </a:cubicBezTo>
                  <a:lnTo>
                    <a:pt x="4462272" y="0"/>
                  </a:lnTo>
                  <a:cubicBezTo>
                    <a:pt x="4522851" y="0"/>
                    <a:pt x="4572000" y="70841"/>
                    <a:pt x="4572000" y="158157"/>
                  </a:cubicBezTo>
                  <a:lnTo>
                    <a:pt x="4572000" y="2214198"/>
                  </a:lnTo>
                  <a:cubicBezTo>
                    <a:pt x="4572000" y="2301514"/>
                    <a:pt x="4522851" y="2372355"/>
                    <a:pt x="4462272" y="2372355"/>
                  </a:cubicBezTo>
                  <a:lnTo>
                    <a:pt x="109728" y="2372355"/>
                  </a:lnTo>
                  <a:cubicBezTo>
                    <a:pt x="49149" y="2372355"/>
                    <a:pt x="0" y="2301514"/>
                    <a:pt x="0" y="2214198"/>
                  </a:cubicBezTo>
                  <a:close/>
                </a:path>
              </a:pathLst>
            </a:custGeom>
            <a:solidFill>
              <a:srgbClr val="0B2B26"/>
            </a:solidFill>
          </p:spPr>
        </p:sp>
      </p:grpSp>
      <p:grpSp>
        <p:nvGrpSpPr>
          <p:cNvPr name="Group 45" id="45"/>
          <p:cNvGrpSpPr/>
          <p:nvPr/>
        </p:nvGrpSpPr>
        <p:grpSpPr>
          <a:xfrm rot="0">
            <a:off x="9738360" y="3826266"/>
            <a:ext cx="3017520" cy="1674149"/>
            <a:chOff x="0" y="0"/>
            <a:chExt cx="4023360" cy="2232199"/>
          </a:xfrm>
        </p:grpSpPr>
        <p:sp>
          <p:nvSpPr>
            <p:cNvPr name="Freeform 46" id="4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47" id="4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Bloqueo técnico por políticas de privacidad en iOS. El sistema operativo de Apple restringe que aplicaciones externas lean o analicen los mensajes SMS, imposibilita el funcionamiento central de la aplicación en esta plataforma.</a:t>
              </a:r>
            </a:p>
          </p:txBody>
        </p:sp>
      </p:grpSp>
      <p:grpSp>
        <p:nvGrpSpPr>
          <p:cNvPr name="Group 48" id="48"/>
          <p:cNvGrpSpPr/>
          <p:nvPr/>
        </p:nvGrpSpPr>
        <p:grpSpPr>
          <a:xfrm rot="0">
            <a:off x="13235940" y="3851275"/>
            <a:ext cx="3977640" cy="1725682"/>
            <a:chOff x="0" y="0"/>
            <a:chExt cx="5303520" cy="2300909"/>
          </a:xfrm>
        </p:grpSpPr>
        <p:sp>
          <p:nvSpPr>
            <p:cNvPr name="Freeform 49" id="49"/>
            <p:cNvSpPr/>
            <p:nvPr/>
          </p:nvSpPr>
          <p:spPr>
            <a:xfrm flipH="false" flipV="false" rot="0">
              <a:off x="0" y="0"/>
              <a:ext cx="5303520" cy="2300909"/>
            </a:xfrm>
            <a:custGeom>
              <a:avLst/>
              <a:gdLst/>
              <a:ahLst/>
              <a:cxnLst/>
              <a:rect r="r" b="b" t="t" l="l"/>
              <a:pathLst>
                <a:path h="2300909" w="5303520">
                  <a:moveTo>
                    <a:pt x="0" y="153394"/>
                  </a:moveTo>
                  <a:cubicBezTo>
                    <a:pt x="0" y="68708"/>
                    <a:pt x="49149" y="0"/>
                    <a:pt x="109728" y="0"/>
                  </a:cubicBezTo>
                  <a:lnTo>
                    <a:pt x="5193792" y="0"/>
                  </a:lnTo>
                  <a:cubicBezTo>
                    <a:pt x="5254371" y="0"/>
                    <a:pt x="5303520" y="68708"/>
                    <a:pt x="5303520" y="153394"/>
                  </a:cubicBezTo>
                  <a:lnTo>
                    <a:pt x="5303520" y="2147515"/>
                  </a:lnTo>
                  <a:cubicBezTo>
                    <a:pt x="5303520" y="2232201"/>
                    <a:pt x="5254371" y="2300909"/>
                    <a:pt x="5193792" y="2300909"/>
                  </a:cubicBezTo>
                  <a:lnTo>
                    <a:pt x="109728" y="2300909"/>
                  </a:lnTo>
                  <a:cubicBezTo>
                    <a:pt x="49149" y="2300909"/>
                    <a:pt x="0" y="2232201"/>
                    <a:pt x="0" y="2147515"/>
                  </a:cubicBezTo>
                  <a:close/>
                </a:path>
              </a:pathLst>
            </a:custGeom>
            <a:solidFill>
              <a:srgbClr val="0B2B26"/>
            </a:solidFill>
          </p:spPr>
        </p:sp>
      </p:grpSp>
      <p:grpSp>
        <p:nvGrpSpPr>
          <p:cNvPr name="Group 50" id="50"/>
          <p:cNvGrpSpPr/>
          <p:nvPr/>
        </p:nvGrpSpPr>
        <p:grpSpPr>
          <a:xfrm rot="0">
            <a:off x="13441680" y="4161542"/>
            <a:ext cx="3566160" cy="1234440"/>
            <a:chOff x="0" y="0"/>
            <a:chExt cx="4754880" cy="1645920"/>
          </a:xfrm>
        </p:grpSpPr>
        <p:sp>
          <p:nvSpPr>
            <p:cNvPr name="Freeform 51" id="51"/>
            <p:cNvSpPr/>
            <p:nvPr/>
          </p:nvSpPr>
          <p:spPr>
            <a:xfrm flipH="false" flipV="false" rot="0">
              <a:off x="0" y="0"/>
              <a:ext cx="4754880" cy="1645920"/>
            </a:xfrm>
            <a:custGeom>
              <a:avLst/>
              <a:gdLst/>
              <a:ahLst/>
              <a:cxnLst/>
              <a:rect r="r" b="b" t="t" l="l"/>
              <a:pathLst>
                <a:path h="1645920" w="4754880">
                  <a:moveTo>
                    <a:pt x="0" y="0"/>
                  </a:moveTo>
                  <a:lnTo>
                    <a:pt x="4754880" y="0"/>
                  </a:lnTo>
                  <a:lnTo>
                    <a:pt x="4754880" y="1645920"/>
                  </a:lnTo>
                  <a:lnTo>
                    <a:pt x="0" y="1645920"/>
                  </a:lnTo>
                  <a:close/>
                </a:path>
              </a:pathLst>
            </a:custGeom>
            <a:blipFill>
              <a:blip r:embed="rId4">
                <a:alphaModFix amt="0"/>
              </a:blip>
              <a:stretch>
                <a:fillRect l="0" t="-6290" r="0" b="-6290"/>
              </a:stretch>
            </a:blipFill>
          </p:spPr>
        </p:sp>
        <p:sp>
          <p:nvSpPr>
            <p:cNvPr name="TextBox 52" id="52"/>
            <p:cNvSpPr txBox="true"/>
            <p:nvPr/>
          </p:nvSpPr>
          <p:spPr>
            <a:xfrm>
              <a:off x="0" y="-38100"/>
              <a:ext cx="4754880" cy="1684020"/>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Delimitar el alcance del proyecto enfocando el desarrollo y despliegue exclusivamente para el sistema operativo Android. La integración con iOS quedará documentada y planificada formalmente como trabajo futuro.</a:t>
              </a:r>
            </a:p>
          </p:txBody>
        </p:sp>
      </p:grpSp>
      <p:grpSp>
        <p:nvGrpSpPr>
          <p:cNvPr name="Group 53" id="53"/>
          <p:cNvGrpSpPr/>
          <p:nvPr/>
        </p:nvGrpSpPr>
        <p:grpSpPr>
          <a:xfrm rot="0">
            <a:off x="9532620" y="5786507"/>
            <a:ext cx="3429000" cy="1704629"/>
            <a:chOff x="0" y="0"/>
            <a:chExt cx="4572000" cy="2272839"/>
          </a:xfrm>
        </p:grpSpPr>
        <p:sp>
          <p:nvSpPr>
            <p:cNvPr name="Freeform 54" id="54"/>
            <p:cNvSpPr/>
            <p:nvPr/>
          </p:nvSpPr>
          <p:spPr>
            <a:xfrm flipH="false" flipV="false" rot="0">
              <a:off x="0" y="0"/>
              <a:ext cx="4572000" cy="2272839"/>
            </a:xfrm>
            <a:custGeom>
              <a:avLst/>
              <a:gdLst/>
              <a:ahLst/>
              <a:cxnLst/>
              <a:rect r="r" b="b" t="t" l="l"/>
              <a:pathLst>
                <a:path h="2272839" w="4572000">
                  <a:moveTo>
                    <a:pt x="0" y="151523"/>
                  </a:moveTo>
                  <a:cubicBezTo>
                    <a:pt x="0" y="67869"/>
                    <a:pt x="49149" y="0"/>
                    <a:pt x="109728" y="0"/>
                  </a:cubicBezTo>
                  <a:lnTo>
                    <a:pt x="4462272" y="0"/>
                  </a:lnTo>
                  <a:cubicBezTo>
                    <a:pt x="4522851" y="0"/>
                    <a:pt x="4572000" y="67869"/>
                    <a:pt x="4572000" y="151523"/>
                  </a:cubicBezTo>
                  <a:lnTo>
                    <a:pt x="4572000" y="2121316"/>
                  </a:lnTo>
                  <a:cubicBezTo>
                    <a:pt x="4572000" y="2204969"/>
                    <a:pt x="4522851" y="2272839"/>
                    <a:pt x="4462272" y="2272839"/>
                  </a:cubicBezTo>
                  <a:lnTo>
                    <a:pt x="109728" y="2272839"/>
                  </a:lnTo>
                  <a:cubicBezTo>
                    <a:pt x="49149" y="2272839"/>
                    <a:pt x="0" y="2204969"/>
                    <a:pt x="0" y="2121316"/>
                  </a:cubicBezTo>
                  <a:close/>
                </a:path>
              </a:pathLst>
            </a:custGeom>
            <a:solidFill>
              <a:srgbClr val="0B2B26"/>
            </a:solidFill>
          </p:spPr>
        </p:sp>
      </p:grpSp>
      <p:grpSp>
        <p:nvGrpSpPr>
          <p:cNvPr name="Group 55" id="55"/>
          <p:cNvGrpSpPr/>
          <p:nvPr/>
        </p:nvGrpSpPr>
        <p:grpSpPr>
          <a:xfrm rot="0">
            <a:off x="9713671" y="5786507"/>
            <a:ext cx="3017520" cy="1674149"/>
            <a:chOff x="0" y="0"/>
            <a:chExt cx="4023360" cy="2232199"/>
          </a:xfrm>
        </p:grpSpPr>
        <p:sp>
          <p:nvSpPr>
            <p:cNvPr name="Freeform 56" id="5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57" id="5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Agotamiento de cuota en servicios de terceros (APIs). La versión gratuita de la API de VirusTotal tiene un límite estricto de uso (4 solicitudes por minuto y 500 al día), lo que podría paralizar el análisis de enlaces si hay un alto flujo de mensajes.</a:t>
              </a:r>
            </a:p>
          </p:txBody>
        </p:sp>
      </p:grpSp>
      <p:grpSp>
        <p:nvGrpSpPr>
          <p:cNvPr name="Group 58" id="58"/>
          <p:cNvGrpSpPr/>
          <p:nvPr/>
        </p:nvGrpSpPr>
        <p:grpSpPr>
          <a:xfrm rot="0">
            <a:off x="13145966" y="5786507"/>
            <a:ext cx="3977640" cy="1674149"/>
            <a:chOff x="0" y="0"/>
            <a:chExt cx="5303520" cy="2232199"/>
          </a:xfrm>
        </p:grpSpPr>
        <p:sp>
          <p:nvSpPr>
            <p:cNvPr name="Freeform 59" id="59"/>
            <p:cNvSpPr/>
            <p:nvPr/>
          </p:nvSpPr>
          <p:spPr>
            <a:xfrm flipH="false" flipV="false" rot="0">
              <a:off x="0" y="0"/>
              <a:ext cx="5303520" cy="2232199"/>
            </a:xfrm>
            <a:custGeom>
              <a:avLst/>
              <a:gdLst/>
              <a:ahLst/>
              <a:cxnLst/>
              <a:rect r="r" b="b" t="t" l="l"/>
              <a:pathLst>
                <a:path h="2232199" w="5303520">
                  <a:moveTo>
                    <a:pt x="0" y="148813"/>
                  </a:moveTo>
                  <a:cubicBezTo>
                    <a:pt x="0" y="66656"/>
                    <a:pt x="49149" y="0"/>
                    <a:pt x="109728" y="0"/>
                  </a:cubicBezTo>
                  <a:lnTo>
                    <a:pt x="5193792" y="0"/>
                  </a:lnTo>
                  <a:cubicBezTo>
                    <a:pt x="5254371" y="0"/>
                    <a:pt x="5303520" y="66656"/>
                    <a:pt x="5303520" y="148813"/>
                  </a:cubicBezTo>
                  <a:lnTo>
                    <a:pt x="5303520" y="2083385"/>
                  </a:lnTo>
                  <a:cubicBezTo>
                    <a:pt x="5303520" y="2165543"/>
                    <a:pt x="5254371" y="2232199"/>
                    <a:pt x="5193792" y="2232199"/>
                  </a:cubicBezTo>
                  <a:lnTo>
                    <a:pt x="109728" y="2232199"/>
                  </a:lnTo>
                  <a:cubicBezTo>
                    <a:pt x="49149" y="2232199"/>
                    <a:pt x="0" y="2165543"/>
                    <a:pt x="0" y="2083385"/>
                  </a:cubicBezTo>
                  <a:close/>
                </a:path>
              </a:pathLst>
            </a:custGeom>
            <a:solidFill>
              <a:srgbClr val="0B2B26"/>
            </a:solidFill>
          </p:spPr>
        </p:sp>
      </p:grpSp>
      <p:grpSp>
        <p:nvGrpSpPr>
          <p:cNvPr name="Group 60" id="60"/>
          <p:cNvGrpSpPr/>
          <p:nvPr/>
        </p:nvGrpSpPr>
        <p:grpSpPr>
          <a:xfrm rot="0">
            <a:off x="13338810" y="5916047"/>
            <a:ext cx="3566160" cy="1445549"/>
            <a:chOff x="0" y="0"/>
            <a:chExt cx="4754880" cy="1927399"/>
          </a:xfrm>
        </p:grpSpPr>
        <p:sp>
          <p:nvSpPr>
            <p:cNvPr name="Freeform 61" id="61"/>
            <p:cNvSpPr/>
            <p:nvPr/>
          </p:nvSpPr>
          <p:spPr>
            <a:xfrm flipH="false" flipV="false" rot="0">
              <a:off x="0" y="0"/>
              <a:ext cx="4754880" cy="1927399"/>
            </a:xfrm>
            <a:custGeom>
              <a:avLst/>
              <a:gdLst/>
              <a:ahLst/>
              <a:cxnLst/>
              <a:rect r="r" b="b" t="t" l="l"/>
              <a:pathLst>
                <a:path h="1927399" w="4754880">
                  <a:moveTo>
                    <a:pt x="0" y="0"/>
                  </a:moveTo>
                  <a:lnTo>
                    <a:pt x="4754880" y="0"/>
                  </a:lnTo>
                  <a:lnTo>
                    <a:pt x="4754880" y="1927399"/>
                  </a:lnTo>
                  <a:lnTo>
                    <a:pt x="0" y="1927399"/>
                  </a:lnTo>
                  <a:close/>
                </a:path>
              </a:pathLst>
            </a:custGeom>
            <a:blipFill>
              <a:blip r:embed="rId4">
                <a:alphaModFix amt="0"/>
              </a:blip>
              <a:stretch>
                <a:fillRect l="0" t="-5371" r="0" b="9232"/>
              </a:stretch>
            </a:blipFill>
          </p:spPr>
        </p:sp>
        <p:sp>
          <p:nvSpPr>
            <p:cNvPr name="TextBox 62" id="62"/>
            <p:cNvSpPr txBox="true"/>
            <p:nvPr/>
          </p:nvSpPr>
          <p:spPr>
            <a:xfrm>
              <a:off x="0" y="-38100"/>
              <a:ext cx="4754880" cy="19654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Implementar un sistema de caché en el backend. Al almacenar los resultados de dominios y enlaces previamente analizados, se evitan peticiones repetidas a la API de VirusTotal, optimizando la cuota gratuita y mejorando el tiempo de respuesta.</a:t>
              </a:r>
            </a:p>
          </p:txBody>
        </p:sp>
      </p:grpSp>
      <p:grpSp>
        <p:nvGrpSpPr>
          <p:cNvPr name="Group 63" id="63"/>
          <p:cNvGrpSpPr/>
          <p:nvPr/>
        </p:nvGrpSpPr>
        <p:grpSpPr>
          <a:xfrm rot="0">
            <a:off x="9532620" y="7700686"/>
            <a:ext cx="3429000" cy="1772387"/>
            <a:chOff x="0" y="0"/>
            <a:chExt cx="4572000" cy="2363182"/>
          </a:xfrm>
        </p:grpSpPr>
        <p:sp>
          <p:nvSpPr>
            <p:cNvPr name="Freeform 64" id="64"/>
            <p:cNvSpPr/>
            <p:nvPr/>
          </p:nvSpPr>
          <p:spPr>
            <a:xfrm flipH="false" flipV="false" rot="0">
              <a:off x="0" y="0"/>
              <a:ext cx="4572000" cy="2363182"/>
            </a:xfrm>
            <a:custGeom>
              <a:avLst/>
              <a:gdLst/>
              <a:ahLst/>
              <a:cxnLst/>
              <a:rect r="r" b="b" t="t" l="l"/>
              <a:pathLst>
                <a:path h="2363182" w="4572000">
                  <a:moveTo>
                    <a:pt x="0" y="157546"/>
                  </a:moveTo>
                  <a:cubicBezTo>
                    <a:pt x="0" y="70567"/>
                    <a:pt x="49149" y="0"/>
                    <a:pt x="109728" y="0"/>
                  </a:cubicBezTo>
                  <a:lnTo>
                    <a:pt x="4462272" y="0"/>
                  </a:lnTo>
                  <a:cubicBezTo>
                    <a:pt x="4522851" y="0"/>
                    <a:pt x="4572000" y="70567"/>
                    <a:pt x="4572000" y="157546"/>
                  </a:cubicBezTo>
                  <a:lnTo>
                    <a:pt x="4572000" y="2205637"/>
                  </a:lnTo>
                  <a:cubicBezTo>
                    <a:pt x="4572000" y="2292615"/>
                    <a:pt x="4522851" y="2363182"/>
                    <a:pt x="4462272" y="2363182"/>
                  </a:cubicBezTo>
                  <a:lnTo>
                    <a:pt x="109728" y="2363182"/>
                  </a:lnTo>
                  <a:cubicBezTo>
                    <a:pt x="49149" y="2363182"/>
                    <a:pt x="0" y="2292615"/>
                    <a:pt x="0" y="2205637"/>
                  </a:cubicBezTo>
                  <a:close/>
                </a:path>
              </a:pathLst>
            </a:custGeom>
            <a:solidFill>
              <a:srgbClr val="0B2B26"/>
            </a:solidFill>
          </p:spPr>
        </p:sp>
      </p:grpSp>
      <p:grpSp>
        <p:nvGrpSpPr>
          <p:cNvPr name="Group 65" id="65"/>
          <p:cNvGrpSpPr/>
          <p:nvPr/>
        </p:nvGrpSpPr>
        <p:grpSpPr>
          <a:xfrm rot="0">
            <a:off x="9738360" y="7798924"/>
            <a:ext cx="3017520" cy="1674149"/>
            <a:chOff x="0" y="0"/>
            <a:chExt cx="4023360" cy="2232199"/>
          </a:xfrm>
        </p:grpSpPr>
        <p:sp>
          <p:nvSpPr>
            <p:cNvPr name="Freeform 66" id="6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67" id="6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Disponibilidad de tiempo limitada ante imprevistos. Dado que el equipo se encuentra en Práctica Profesional gran parte de la semana, cualquier retraso técnico podría consumir rápidamente las horas designadas para el proyecto Capstone.</a:t>
              </a:r>
            </a:p>
          </p:txBody>
        </p:sp>
      </p:grpSp>
      <p:grpSp>
        <p:nvGrpSpPr>
          <p:cNvPr name="Group 68" id="68"/>
          <p:cNvGrpSpPr/>
          <p:nvPr/>
        </p:nvGrpSpPr>
        <p:grpSpPr>
          <a:xfrm rot="0">
            <a:off x="13235940" y="7749805"/>
            <a:ext cx="3977640" cy="1772387"/>
            <a:chOff x="0" y="0"/>
            <a:chExt cx="5303520" cy="2363182"/>
          </a:xfrm>
        </p:grpSpPr>
        <p:sp>
          <p:nvSpPr>
            <p:cNvPr name="Freeform 69" id="69"/>
            <p:cNvSpPr/>
            <p:nvPr/>
          </p:nvSpPr>
          <p:spPr>
            <a:xfrm flipH="false" flipV="false" rot="0">
              <a:off x="0" y="0"/>
              <a:ext cx="5303520" cy="2363182"/>
            </a:xfrm>
            <a:custGeom>
              <a:avLst/>
              <a:gdLst/>
              <a:ahLst/>
              <a:cxnLst/>
              <a:rect r="r" b="b" t="t" l="l"/>
              <a:pathLst>
                <a:path h="2363182" w="5303520">
                  <a:moveTo>
                    <a:pt x="0" y="157546"/>
                  </a:moveTo>
                  <a:cubicBezTo>
                    <a:pt x="0" y="70567"/>
                    <a:pt x="49149" y="0"/>
                    <a:pt x="109728" y="0"/>
                  </a:cubicBezTo>
                  <a:lnTo>
                    <a:pt x="5193792" y="0"/>
                  </a:lnTo>
                  <a:cubicBezTo>
                    <a:pt x="5254371" y="0"/>
                    <a:pt x="5303520" y="70567"/>
                    <a:pt x="5303520" y="157546"/>
                  </a:cubicBezTo>
                  <a:lnTo>
                    <a:pt x="5303520" y="2205637"/>
                  </a:lnTo>
                  <a:cubicBezTo>
                    <a:pt x="5303520" y="2292615"/>
                    <a:pt x="5254371" y="2363182"/>
                    <a:pt x="5193792" y="2363182"/>
                  </a:cubicBezTo>
                  <a:lnTo>
                    <a:pt x="109728" y="2363182"/>
                  </a:lnTo>
                  <a:cubicBezTo>
                    <a:pt x="49149" y="2363182"/>
                    <a:pt x="0" y="2292615"/>
                    <a:pt x="0" y="2205637"/>
                  </a:cubicBezTo>
                  <a:close/>
                </a:path>
              </a:pathLst>
            </a:custGeom>
            <a:solidFill>
              <a:srgbClr val="0B2B26"/>
            </a:solidFill>
          </p:spPr>
        </p:sp>
      </p:grpSp>
      <p:grpSp>
        <p:nvGrpSpPr>
          <p:cNvPr name="Group 70" id="70"/>
          <p:cNvGrpSpPr/>
          <p:nvPr/>
        </p:nvGrpSpPr>
        <p:grpSpPr>
          <a:xfrm rot="0">
            <a:off x="13351706" y="7759403"/>
            <a:ext cx="3566160" cy="1674054"/>
            <a:chOff x="0" y="0"/>
            <a:chExt cx="4754880" cy="2232072"/>
          </a:xfrm>
        </p:grpSpPr>
        <p:sp>
          <p:nvSpPr>
            <p:cNvPr name="Freeform 71" id="71"/>
            <p:cNvSpPr/>
            <p:nvPr/>
          </p:nvSpPr>
          <p:spPr>
            <a:xfrm flipH="false" flipV="false" rot="0">
              <a:off x="0" y="0"/>
              <a:ext cx="4754880" cy="2232072"/>
            </a:xfrm>
            <a:custGeom>
              <a:avLst/>
              <a:gdLst/>
              <a:ahLst/>
              <a:cxnLst/>
              <a:rect r="r" b="b" t="t" l="l"/>
              <a:pathLst>
                <a:path h="2232072" w="4754880">
                  <a:moveTo>
                    <a:pt x="0" y="0"/>
                  </a:moveTo>
                  <a:lnTo>
                    <a:pt x="4754880" y="0"/>
                  </a:lnTo>
                  <a:lnTo>
                    <a:pt x="4754880" y="2232072"/>
                  </a:lnTo>
                  <a:lnTo>
                    <a:pt x="0" y="2232072"/>
                  </a:lnTo>
                  <a:close/>
                </a:path>
              </a:pathLst>
            </a:custGeom>
            <a:blipFill>
              <a:blip r:embed="rId4">
                <a:alphaModFix amt="0"/>
              </a:blip>
              <a:stretch>
                <a:fillRect l="0" t="-4638" r="0" b="21622"/>
              </a:stretch>
            </a:blipFill>
          </p:spPr>
        </p:sp>
        <p:sp>
          <p:nvSpPr>
            <p:cNvPr name="TextBox 72" id="72"/>
            <p:cNvSpPr txBox="true"/>
            <p:nvPr/>
          </p:nvSpPr>
          <p:spPr>
            <a:xfrm>
              <a:off x="0" y="-38100"/>
              <a:ext cx="4754880" cy="2270172"/>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Aprovechar al máximo la curva de aprendizaje nula en React y Node.js para acelerar el desarrollo durante las horas de clase, y establecer un sistema de trabajo flexible y asíncrono para las horas adicionales que permita avanzar en el código sin comprometer el descanso del equipo.</a:t>
              </a:r>
            </a:p>
          </p:txBody>
        </p:sp>
      </p:grpSp>
      <p:grpSp>
        <p:nvGrpSpPr>
          <p:cNvPr name="Group 73" id="73"/>
          <p:cNvGrpSpPr/>
          <p:nvPr/>
        </p:nvGrpSpPr>
        <p:grpSpPr>
          <a:xfrm rot="0">
            <a:off x="17053103" y="9601200"/>
            <a:ext cx="822960" cy="480060"/>
            <a:chOff x="0" y="0"/>
            <a:chExt cx="1097280" cy="640080"/>
          </a:xfrm>
        </p:grpSpPr>
        <p:sp>
          <p:nvSpPr>
            <p:cNvPr name="Freeform 74" id="74"/>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5" id="75"/>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target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Objetivos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Objetivo general y objetivos específicos del proyecto</a:t>
              </a:r>
            </a:p>
          </p:txBody>
        </p:sp>
      </p:grpSp>
      <p:grpSp>
        <p:nvGrpSpPr>
          <p:cNvPr name="Group 13" id="13"/>
          <p:cNvGrpSpPr/>
          <p:nvPr/>
        </p:nvGrpSpPr>
        <p:grpSpPr>
          <a:xfrm rot="0">
            <a:off x="754380" y="2125980"/>
            <a:ext cx="16802100" cy="1577340"/>
            <a:chOff x="0" y="0"/>
            <a:chExt cx="22402800" cy="2103120"/>
          </a:xfrm>
        </p:grpSpPr>
        <p:sp>
          <p:nvSpPr>
            <p:cNvPr name="Freeform 14" id="14"/>
            <p:cNvSpPr/>
            <p:nvPr/>
          </p:nvSpPr>
          <p:spPr>
            <a:xfrm flipH="false" flipV="false" rot="0">
              <a:off x="0" y="0"/>
              <a:ext cx="22402800" cy="2103120"/>
            </a:xfrm>
            <a:custGeom>
              <a:avLst/>
              <a:gdLst/>
              <a:ahLst/>
              <a:cxnLst/>
              <a:rect r="r" b="b" t="t" l="l"/>
              <a:pathLst>
                <a:path h="2103120" w="22402800">
                  <a:moveTo>
                    <a:pt x="0" y="182880"/>
                  </a:moveTo>
                  <a:cubicBezTo>
                    <a:pt x="0" y="81915"/>
                    <a:pt x="81915" y="0"/>
                    <a:pt x="182880" y="0"/>
                  </a:cubicBezTo>
                  <a:lnTo>
                    <a:pt x="22219920" y="0"/>
                  </a:lnTo>
                  <a:cubicBezTo>
                    <a:pt x="22320884" y="0"/>
                    <a:pt x="22402800" y="81915"/>
                    <a:pt x="22402800" y="182880"/>
                  </a:cubicBezTo>
                  <a:lnTo>
                    <a:pt x="22402800" y="1920240"/>
                  </a:lnTo>
                  <a:cubicBezTo>
                    <a:pt x="22402800" y="2021205"/>
                    <a:pt x="22320884" y="2103120"/>
                    <a:pt x="22219920" y="2103120"/>
                  </a:cubicBezTo>
                  <a:lnTo>
                    <a:pt x="182880" y="2103120"/>
                  </a:lnTo>
                  <a:cubicBezTo>
                    <a:pt x="81915" y="2103120"/>
                    <a:pt x="0" y="2021205"/>
                    <a:pt x="0" y="1920240"/>
                  </a:cubicBezTo>
                  <a:close/>
                </a:path>
              </a:pathLst>
            </a:custGeom>
            <a:solidFill>
              <a:srgbClr val="051F20"/>
            </a:solidFill>
          </p:spPr>
        </p:sp>
      </p:grpSp>
      <p:grpSp>
        <p:nvGrpSpPr>
          <p:cNvPr name="Group 15" id="15"/>
          <p:cNvGrpSpPr/>
          <p:nvPr/>
        </p:nvGrpSpPr>
        <p:grpSpPr>
          <a:xfrm rot="0">
            <a:off x="1097280" y="2400300"/>
            <a:ext cx="960120" cy="960120"/>
            <a:chOff x="0" y="0"/>
            <a:chExt cx="1280160" cy="1280160"/>
          </a:xfrm>
        </p:grpSpPr>
        <p:sp>
          <p:nvSpPr>
            <p:cNvPr name="Freeform 16" id="16"/>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8EB69B"/>
            </a:solidFill>
          </p:spPr>
        </p:sp>
      </p:grpSp>
      <p:grpSp>
        <p:nvGrpSpPr>
          <p:cNvPr name="Group 17" id="17"/>
          <p:cNvGrpSpPr/>
          <p:nvPr/>
        </p:nvGrpSpPr>
        <p:grpSpPr>
          <a:xfrm rot="0">
            <a:off x="1327709" y="2630729"/>
            <a:ext cx="499262" cy="499262"/>
            <a:chOff x="0" y="0"/>
            <a:chExt cx="665683" cy="665683"/>
          </a:xfrm>
        </p:grpSpPr>
        <p:sp>
          <p:nvSpPr>
            <p:cNvPr name="Freeform 18" id="18" descr="/home/claude/sms-security/icons/flag_dark1.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5"/>
              <a:stretch>
                <a:fillRect l="0" t="0" r="7" b="7"/>
              </a:stretch>
            </a:blipFill>
          </p:spPr>
        </p:sp>
      </p:grpSp>
      <p:grpSp>
        <p:nvGrpSpPr>
          <p:cNvPr name="Group 19" id="19"/>
          <p:cNvGrpSpPr/>
          <p:nvPr/>
        </p:nvGrpSpPr>
        <p:grpSpPr>
          <a:xfrm rot="0">
            <a:off x="2263140" y="2304288"/>
            <a:ext cx="5486400" cy="480060"/>
            <a:chOff x="0" y="0"/>
            <a:chExt cx="7315200" cy="640080"/>
          </a:xfrm>
        </p:grpSpPr>
        <p:sp>
          <p:nvSpPr>
            <p:cNvPr name="Freeform 20" id="20"/>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4">
                <a:alphaModFix amt="0"/>
              </a:blip>
              <a:stretch>
                <a:fillRect l="0" t="-172686" r="0" b="-172686"/>
              </a:stretch>
            </a:blipFill>
          </p:spPr>
        </p:sp>
        <p:sp>
          <p:nvSpPr>
            <p:cNvPr name="TextBox 21" id="21"/>
            <p:cNvSpPr txBox="true"/>
            <p:nvPr/>
          </p:nvSpPr>
          <p:spPr>
            <a:xfrm>
              <a:off x="0" y="-28575"/>
              <a:ext cx="7315200" cy="668655"/>
            </a:xfrm>
            <a:prstGeom prst="rect">
              <a:avLst/>
            </a:prstGeom>
          </p:spPr>
          <p:txBody>
            <a:bodyPr anchor="ctr" rtlCol="false" tIns="0" lIns="0" bIns="0" rIns="0"/>
            <a:lstStyle/>
            <a:p>
              <a:pPr algn="l">
                <a:lnSpc>
                  <a:spcPts val="1980"/>
                </a:lnSpc>
              </a:pPr>
              <a:r>
                <a:rPr lang="en-US" b="true" sz="1650" spc="150">
                  <a:solidFill>
                    <a:srgbClr val="8EB69B"/>
                  </a:solidFill>
                  <a:latin typeface="Calibri (MS) Bold"/>
                  <a:ea typeface="Calibri (MS) Bold"/>
                  <a:cs typeface="Calibri (MS) Bold"/>
                  <a:sym typeface="Calibri (MS) Bold"/>
                </a:rPr>
                <a:t>OBJETIVO GENERAL</a:t>
              </a:r>
            </a:p>
          </p:txBody>
        </p:sp>
      </p:grpSp>
      <p:grpSp>
        <p:nvGrpSpPr>
          <p:cNvPr name="Group 22" id="22"/>
          <p:cNvGrpSpPr/>
          <p:nvPr/>
        </p:nvGrpSpPr>
        <p:grpSpPr>
          <a:xfrm rot="0">
            <a:off x="2253615" y="2761107"/>
            <a:ext cx="14969490" cy="773430"/>
            <a:chOff x="0" y="0"/>
            <a:chExt cx="19959320" cy="1031240"/>
          </a:xfrm>
        </p:grpSpPr>
        <p:sp>
          <p:nvSpPr>
            <p:cNvPr name="Freeform 23" id="23"/>
            <p:cNvSpPr/>
            <p:nvPr/>
          </p:nvSpPr>
          <p:spPr>
            <a:xfrm flipH="false" flipV="false" rot="0">
              <a:off x="0" y="0"/>
              <a:ext cx="19959321" cy="1031240"/>
            </a:xfrm>
            <a:custGeom>
              <a:avLst/>
              <a:gdLst/>
              <a:ahLst/>
              <a:cxnLst/>
              <a:rect r="r" b="b" t="t" l="l"/>
              <a:pathLst>
                <a:path h="1031240" w="19959321">
                  <a:moveTo>
                    <a:pt x="0" y="149987"/>
                  </a:moveTo>
                  <a:cubicBezTo>
                    <a:pt x="0" y="67183"/>
                    <a:pt x="67183" y="0"/>
                    <a:pt x="149987" y="0"/>
                  </a:cubicBezTo>
                  <a:lnTo>
                    <a:pt x="19809333" y="0"/>
                  </a:lnTo>
                  <a:cubicBezTo>
                    <a:pt x="19892138" y="0"/>
                    <a:pt x="19959321" y="67183"/>
                    <a:pt x="19959321" y="149987"/>
                  </a:cubicBezTo>
                  <a:lnTo>
                    <a:pt x="19959321" y="881253"/>
                  </a:lnTo>
                  <a:cubicBezTo>
                    <a:pt x="19959321" y="964057"/>
                    <a:pt x="19892138" y="1031240"/>
                    <a:pt x="19809333" y="1031240"/>
                  </a:cubicBezTo>
                  <a:lnTo>
                    <a:pt x="149987" y="1031240"/>
                  </a:lnTo>
                  <a:cubicBezTo>
                    <a:pt x="67183" y="1031240"/>
                    <a:pt x="0" y="964057"/>
                    <a:pt x="0" y="88125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2560320" y="2924937"/>
            <a:ext cx="14356080" cy="5238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una solución móvil basada en análisis de URLs y evaluación de riesgo textual para mitigar la tasa de éxito de ataques de ingeniería social (smishing) dirigidos a población vulnerable</a:t>
            </a:r>
          </a:p>
        </p:txBody>
      </p:sp>
      <p:grpSp>
        <p:nvGrpSpPr>
          <p:cNvPr name="Group 25" id="25"/>
          <p:cNvGrpSpPr/>
          <p:nvPr/>
        </p:nvGrpSpPr>
        <p:grpSpPr>
          <a:xfrm rot="0">
            <a:off x="754380" y="4046220"/>
            <a:ext cx="6858000" cy="411480"/>
            <a:chOff x="0" y="0"/>
            <a:chExt cx="9144000" cy="548640"/>
          </a:xfrm>
        </p:grpSpPr>
        <p:sp>
          <p:nvSpPr>
            <p:cNvPr name="Freeform 26" id="26"/>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4">
                <a:alphaModFix amt="0"/>
              </a:blip>
              <a:stretch>
                <a:fillRect l="0" t="-274750" r="0" b="-274750"/>
              </a:stretch>
            </a:blipFill>
          </p:spPr>
        </p:sp>
        <p:sp>
          <p:nvSpPr>
            <p:cNvPr name="TextBox 27" id="27"/>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150">
                  <a:solidFill>
                    <a:srgbClr val="235347"/>
                  </a:solidFill>
                  <a:latin typeface="Calibri (MS) Bold"/>
                  <a:ea typeface="Calibri (MS) Bold"/>
                  <a:cs typeface="Calibri (MS) Bold"/>
                  <a:sym typeface="Calibri (MS) Bold"/>
                </a:rPr>
                <a:t>OBJETIVOS ESPECÍFICOS</a:t>
              </a:r>
            </a:p>
          </p:txBody>
        </p:sp>
      </p:grpSp>
      <p:grpSp>
        <p:nvGrpSpPr>
          <p:cNvPr name="Group 28" id="28"/>
          <p:cNvGrpSpPr/>
          <p:nvPr/>
        </p:nvGrpSpPr>
        <p:grpSpPr>
          <a:xfrm rot="0">
            <a:off x="744855" y="4585335"/>
            <a:ext cx="8180070" cy="1459230"/>
            <a:chOff x="0" y="0"/>
            <a:chExt cx="10906760" cy="1945640"/>
          </a:xfrm>
        </p:grpSpPr>
        <p:sp>
          <p:nvSpPr>
            <p:cNvPr name="Freeform 29" id="29"/>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30" id="30"/>
          <p:cNvGrpSpPr/>
          <p:nvPr/>
        </p:nvGrpSpPr>
        <p:grpSpPr>
          <a:xfrm rot="0">
            <a:off x="960120" y="4937760"/>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32" id="32"/>
          <p:cNvGrpSpPr/>
          <p:nvPr/>
        </p:nvGrpSpPr>
        <p:grpSpPr>
          <a:xfrm rot="0">
            <a:off x="1141171" y="5118811"/>
            <a:ext cx="392278" cy="392278"/>
            <a:chOff x="0" y="0"/>
            <a:chExt cx="523037" cy="523037"/>
          </a:xfrm>
        </p:grpSpPr>
        <p:sp>
          <p:nvSpPr>
            <p:cNvPr name="Freeform 33" id="33"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4" id="34"/>
          <p:cNvGrpSpPr/>
          <p:nvPr/>
        </p:nvGrpSpPr>
        <p:grpSpPr>
          <a:xfrm rot="0">
            <a:off x="1920240" y="4732020"/>
            <a:ext cx="6789420" cy="1165860"/>
            <a:chOff x="0" y="0"/>
            <a:chExt cx="9052560" cy="1554480"/>
          </a:xfrm>
        </p:grpSpPr>
        <p:sp>
          <p:nvSpPr>
            <p:cNvPr name="Freeform 35" id="35"/>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36" id="36"/>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Analizar el texto de mensaje SMS mediante un sistema de reglas y un dataset de patrones de smishing chilenos (creado y recolectado por el equipo), con el fin de identificar coincidencias con estafas conocidas.</a:t>
              </a:r>
            </a:p>
          </p:txBody>
        </p:sp>
      </p:grpSp>
      <p:grpSp>
        <p:nvGrpSpPr>
          <p:cNvPr name="Group 37" id="37"/>
          <p:cNvGrpSpPr/>
          <p:nvPr/>
        </p:nvGrpSpPr>
        <p:grpSpPr>
          <a:xfrm rot="0">
            <a:off x="9385935" y="4585335"/>
            <a:ext cx="8180070" cy="1459230"/>
            <a:chOff x="0" y="0"/>
            <a:chExt cx="10906760" cy="1945640"/>
          </a:xfrm>
        </p:grpSpPr>
        <p:sp>
          <p:nvSpPr>
            <p:cNvPr name="Freeform 38" id="38"/>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39" id="39"/>
          <p:cNvGrpSpPr/>
          <p:nvPr/>
        </p:nvGrpSpPr>
        <p:grpSpPr>
          <a:xfrm rot="0">
            <a:off x="9601200" y="4937760"/>
            <a:ext cx="754380" cy="754380"/>
            <a:chOff x="0" y="0"/>
            <a:chExt cx="1005840" cy="1005840"/>
          </a:xfrm>
        </p:grpSpPr>
        <p:sp>
          <p:nvSpPr>
            <p:cNvPr name="Freeform 40" id="4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41" id="41"/>
          <p:cNvGrpSpPr/>
          <p:nvPr/>
        </p:nvGrpSpPr>
        <p:grpSpPr>
          <a:xfrm rot="0">
            <a:off x="9782251" y="5118811"/>
            <a:ext cx="392278" cy="392278"/>
            <a:chOff x="0" y="0"/>
            <a:chExt cx="523037" cy="523037"/>
          </a:xfrm>
        </p:grpSpPr>
        <p:sp>
          <p:nvSpPr>
            <p:cNvPr name="Freeform 42" id="42"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43" id="43"/>
          <p:cNvGrpSpPr/>
          <p:nvPr/>
        </p:nvGrpSpPr>
        <p:grpSpPr>
          <a:xfrm rot="0">
            <a:off x="10561320" y="4732020"/>
            <a:ext cx="6789420" cy="1165860"/>
            <a:chOff x="0" y="0"/>
            <a:chExt cx="9052560" cy="1554480"/>
          </a:xfrm>
        </p:grpSpPr>
        <p:sp>
          <p:nvSpPr>
            <p:cNvPr name="Freeform 44" id="44"/>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45" id="45"/>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Generar un puntaje de riesgo (score) a partir de distintas métricas, y así clasificar el nivel de peligrosidad del mensaje analizado.</a:t>
              </a:r>
            </a:p>
          </p:txBody>
        </p:sp>
      </p:grpSp>
      <p:grpSp>
        <p:nvGrpSpPr>
          <p:cNvPr name="Group 46" id="46"/>
          <p:cNvGrpSpPr/>
          <p:nvPr/>
        </p:nvGrpSpPr>
        <p:grpSpPr>
          <a:xfrm rot="0">
            <a:off x="744855" y="6368415"/>
            <a:ext cx="8180070" cy="1459230"/>
            <a:chOff x="0" y="0"/>
            <a:chExt cx="10906760" cy="1945640"/>
          </a:xfrm>
        </p:grpSpPr>
        <p:sp>
          <p:nvSpPr>
            <p:cNvPr name="Freeform 47" id="47"/>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48" id="48"/>
          <p:cNvGrpSpPr/>
          <p:nvPr/>
        </p:nvGrpSpPr>
        <p:grpSpPr>
          <a:xfrm rot="0">
            <a:off x="960120" y="6720840"/>
            <a:ext cx="754380" cy="754380"/>
            <a:chOff x="0" y="0"/>
            <a:chExt cx="1005840" cy="1005840"/>
          </a:xfrm>
        </p:grpSpPr>
        <p:sp>
          <p:nvSpPr>
            <p:cNvPr name="Freeform 49" id="4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0" id="50"/>
          <p:cNvGrpSpPr/>
          <p:nvPr/>
        </p:nvGrpSpPr>
        <p:grpSpPr>
          <a:xfrm rot="0">
            <a:off x="1141171" y="6901891"/>
            <a:ext cx="392278" cy="392278"/>
            <a:chOff x="0" y="0"/>
            <a:chExt cx="523037" cy="523037"/>
          </a:xfrm>
        </p:grpSpPr>
        <p:sp>
          <p:nvSpPr>
            <p:cNvPr name="Freeform 51" id="51"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52" id="52"/>
          <p:cNvGrpSpPr/>
          <p:nvPr/>
        </p:nvGrpSpPr>
        <p:grpSpPr>
          <a:xfrm rot="0">
            <a:off x="1920240" y="6515100"/>
            <a:ext cx="6789420" cy="1165860"/>
            <a:chOff x="0" y="0"/>
            <a:chExt cx="9052560" cy="1554480"/>
          </a:xfrm>
        </p:grpSpPr>
        <p:sp>
          <p:nvSpPr>
            <p:cNvPr name="Freeform 53" id="53"/>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54" id="54"/>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Verificar la reputación y antigüedad de los enlaces presentes en los SMS mediante la API de VirusTotal y los protocolos RDAP y WHOIS, para detectar dominios maliciosos o de reciente creación, incluyendo dominios .cl.</a:t>
              </a:r>
            </a:p>
          </p:txBody>
        </p:sp>
      </p:grpSp>
      <p:grpSp>
        <p:nvGrpSpPr>
          <p:cNvPr name="Group 55" id="55"/>
          <p:cNvGrpSpPr/>
          <p:nvPr/>
        </p:nvGrpSpPr>
        <p:grpSpPr>
          <a:xfrm rot="0">
            <a:off x="9385935" y="6368415"/>
            <a:ext cx="8180070" cy="1459230"/>
            <a:chOff x="0" y="0"/>
            <a:chExt cx="10906760" cy="1945640"/>
          </a:xfrm>
        </p:grpSpPr>
        <p:sp>
          <p:nvSpPr>
            <p:cNvPr name="Freeform 56" id="56"/>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57" id="57"/>
          <p:cNvGrpSpPr/>
          <p:nvPr/>
        </p:nvGrpSpPr>
        <p:grpSpPr>
          <a:xfrm rot="0">
            <a:off x="9601200" y="6720840"/>
            <a:ext cx="754380" cy="754380"/>
            <a:chOff x="0" y="0"/>
            <a:chExt cx="1005840" cy="1005840"/>
          </a:xfrm>
        </p:grpSpPr>
        <p:sp>
          <p:nvSpPr>
            <p:cNvPr name="Freeform 58" id="5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9" id="59"/>
          <p:cNvGrpSpPr/>
          <p:nvPr/>
        </p:nvGrpSpPr>
        <p:grpSpPr>
          <a:xfrm rot="0">
            <a:off x="9782251" y="6901891"/>
            <a:ext cx="392278" cy="392278"/>
            <a:chOff x="0" y="0"/>
            <a:chExt cx="523037" cy="523037"/>
          </a:xfrm>
        </p:grpSpPr>
        <p:sp>
          <p:nvSpPr>
            <p:cNvPr name="Freeform 60" id="60"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61" id="61"/>
          <p:cNvGrpSpPr/>
          <p:nvPr/>
        </p:nvGrpSpPr>
        <p:grpSpPr>
          <a:xfrm rot="0">
            <a:off x="10561320" y="6515100"/>
            <a:ext cx="6789420" cy="1165860"/>
            <a:chOff x="0" y="0"/>
            <a:chExt cx="9052560" cy="1554480"/>
          </a:xfrm>
        </p:grpSpPr>
        <p:sp>
          <p:nvSpPr>
            <p:cNvPr name="Freeform 62" id="62"/>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63" id="63"/>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una aplicación móvil para Android, para todos los habitantes de Chile, especialmente a personas de la tercera edad, que permita analizar mensajes de forma simple e intuitiva.</a:t>
              </a:r>
            </a:p>
          </p:txBody>
        </p:sp>
      </p:grpSp>
      <p:grpSp>
        <p:nvGrpSpPr>
          <p:cNvPr name="Group 64" id="64"/>
          <p:cNvGrpSpPr/>
          <p:nvPr/>
        </p:nvGrpSpPr>
        <p:grpSpPr>
          <a:xfrm rot="0">
            <a:off x="17053103" y="9601200"/>
            <a:ext cx="822960" cy="480060"/>
            <a:chOff x="0" y="0"/>
            <a:chExt cx="1097280" cy="640080"/>
          </a:xfrm>
        </p:grpSpPr>
        <p:sp>
          <p:nvSpPr>
            <p:cNvPr name="Freeform 65" id="6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66" id="6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05</a:t>
              </a:r>
            </a:p>
          </p:txBody>
        </p:sp>
      </p:grpSp>
      <p:grpSp>
        <p:nvGrpSpPr>
          <p:cNvPr name="Group 67" id="67"/>
          <p:cNvGrpSpPr/>
          <p:nvPr/>
        </p:nvGrpSpPr>
        <p:grpSpPr>
          <a:xfrm rot="0">
            <a:off x="754380" y="8103870"/>
            <a:ext cx="8180070" cy="1459230"/>
            <a:chOff x="0" y="0"/>
            <a:chExt cx="10906760" cy="1945640"/>
          </a:xfrm>
        </p:grpSpPr>
        <p:sp>
          <p:nvSpPr>
            <p:cNvPr name="Freeform 68" id="68"/>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69" id="69"/>
          <p:cNvGrpSpPr/>
          <p:nvPr/>
        </p:nvGrpSpPr>
        <p:grpSpPr>
          <a:xfrm rot="0">
            <a:off x="969645" y="8456295"/>
            <a:ext cx="754380" cy="754380"/>
            <a:chOff x="0" y="0"/>
            <a:chExt cx="1005840" cy="1005840"/>
          </a:xfrm>
        </p:grpSpPr>
        <p:sp>
          <p:nvSpPr>
            <p:cNvPr name="Freeform 70" id="7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71" id="71"/>
          <p:cNvGrpSpPr/>
          <p:nvPr/>
        </p:nvGrpSpPr>
        <p:grpSpPr>
          <a:xfrm rot="0">
            <a:off x="1150696" y="8637346"/>
            <a:ext cx="392278" cy="392278"/>
            <a:chOff x="0" y="0"/>
            <a:chExt cx="523037" cy="523037"/>
          </a:xfrm>
        </p:grpSpPr>
        <p:sp>
          <p:nvSpPr>
            <p:cNvPr name="Freeform 72" id="72"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73" id="73"/>
          <p:cNvGrpSpPr/>
          <p:nvPr/>
        </p:nvGrpSpPr>
        <p:grpSpPr>
          <a:xfrm rot="0">
            <a:off x="1929765" y="8250555"/>
            <a:ext cx="6789420" cy="1165860"/>
            <a:chOff x="0" y="0"/>
            <a:chExt cx="9052560" cy="1554480"/>
          </a:xfrm>
        </p:grpSpPr>
        <p:sp>
          <p:nvSpPr>
            <p:cNvPr name="Freeform 74" id="74"/>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75" id="75"/>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Implementar un chatbot educativo que explique en palabras simples los resultados del análisis y brinde recomendaciones de seguridad al usuario, dependiendo del mensaje recibido.</a:t>
              </a:r>
            </a:p>
          </p:txBody>
        </p:sp>
      </p:grpSp>
      <p:grpSp>
        <p:nvGrpSpPr>
          <p:cNvPr name="Group 76" id="76"/>
          <p:cNvGrpSpPr/>
          <p:nvPr/>
        </p:nvGrpSpPr>
        <p:grpSpPr>
          <a:xfrm rot="0">
            <a:off x="9385935" y="8103870"/>
            <a:ext cx="8180070" cy="1459230"/>
            <a:chOff x="0" y="0"/>
            <a:chExt cx="10906760" cy="1945640"/>
          </a:xfrm>
        </p:grpSpPr>
        <p:sp>
          <p:nvSpPr>
            <p:cNvPr name="Freeform 77" id="77"/>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78" id="78"/>
          <p:cNvGrpSpPr/>
          <p:nvPr/>
        </p:nvGrpSpPr>
        <p:grpSpPr>
          <a:xfrm rot="0">
            <a:off x="9601200" y="8456295"/>
            <a:ext cx="754380" cy="754380"/>
            <a:chOff x="0" y="0"/>
            <a:chExt cx="1005840" cy="1005840"/>
          </a:xfrm>
        </p:grpSpPr>
        <p:sp>
          <p:nvSpPr>
            <p:cNvPr name="Freeform 79" id="7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80" id="80"/>
          <p:cNvGrpSpPr/>
          <p:nvPr/>
        </p:nvGrpSpPr>
        <p:grpSpPr>
          <a:xfrm rot="0">
            <a:off x="9782251" y="8637346"/>
            <a:ext cx="392278" cy="392278"/>
            <a:chOff x="0" y="0"/>
            <a:chExt cx="523037" cy="523037"/>
          </a:xfrm>
        </p:grpSpPr>
        <p:sp>
          <p:nvSpPr>
            <p:cNvPr name="Freeform 81" id="81"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82" id="82"/>
          <p:cNvGrpSpPr/>
          <p:nvPr/>
        </p:nvGrpSpPr>
        <p:grpSpPr>
          <a:xfrm rot="0">
            <a:off x="10561320" y="8250555"/>
            <a:ext cx="6789420" cy="1165860"/>
            <a:chOff x="0" y="0"/>
            <a:chExt cx="9052560" cy="1554480"/>
          </a:xfrm>
        </p:grpSpPr>
        <p:sp>
          <p:nvSpPr>
            <p:cNvPr name="Freeform 83" id="83"/>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84" id="84"/>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 panel de monitoreo interno para el equipo, que permita ver estadísticas de los mensajes anteriormente analizados, categorías de smishing más frecuentes y reportes pendientes de verificación, para futuros estudios.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754380" y="685800"/>
            <a:ext cx="1028700" cy="1028700"/>
            <a:chOff x="0" y="0"/>
            <a:chExt cx="1371600" cy="1371600"/>
          </a:xfrm>
        </p:grpSpPr>
        <p:sp>
          <p:nvSpPr>
            <p:cNvPr name="Freeform 3" id="3"/>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8EB69B"/>
            </a:solidFill>
          </p:spPr>
        </p:sp>
      </p:grpSp>
      <p:grpSp>
        <p:nvGrpSpPr>
          <p:cNvPr name="Group 4" id="4"/>
          <p:cNvGrpSpPr/>
          <p:nvPr/>
        </p:nvGrpSpPr>
        <p:grpSpPr>
          <a:xfrm rot="0">
            <a:off x="1001268" y="932688"/>
            <a:ext cx="534924" cy="534924"/>
            <a:chOff x="0" y="0"/>
            <a:chExt cx="713232" cy="713232"/>
          </a:xfrm>
        </p:grpSpPr>
        <p:sp>
          <p:nvSpPr>
            <p:cNvPr name="Freeform 5" id="5" descr="/home/claude/sms-security/icons/cogs_dark1.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2"/>
              <a:stretch>
                <a:fillRect l="0" t="0" r="0" b="0"/>
              </a:stretch>
            </a:blipFill>
          </p:spPr>
        </p:sp>
      </p:grpSp>
      <p:grpSp>
        <p:nvGrpSpPr>
          <p:cNvPr name="Group 6" id="6"/>
          <p:cNvGrpSpPr/>
          <p:nvPr/>
        </p:nvGrpSpPr>
        <p:grpSpPr>
          <a:xfrm rot="0">
            <a:off x="1988820" y="576072"/>
            <a:ext cx="14401800" cy="754380"/>
            <a:chOff x="0" y="0"/>
            <a:chExt cx="19202400" cy="1005840"/>
          </a:xfrm>
        </p:grpSpPr>
        <p:sp>
          <p:nvSpPr>
            <p:cNvPr name="Freeform 7" id="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8" id="8"/>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Metodología de Trabajo</a:t>
              </a:r>
            </a:p>
          </p:txBody>
        </p:sp>
      </p:grpSp>
      <p:grpSp>
        <p:nvGrpSpPr>
          <p:cNvPr name="Group 9" id="9"/>
          <p:cNvGrpSpPr/>
          <p:nvPr/>
        </p:nvGrpSpPr>
        <p:grpSpPr>
          <a:xfrm rot="0">
            <a:off x="1988820" y="1303020"/>
            <a:ext cx="14401800" cy="480060"/>
            <a:chOff x="0" y="0"/>
            <a:chExt cx="19202400" cy="640080"/>
          </a:xfrm>
        </p:grpSpPr>
        <p:sp>
          <p:nvSpPr>
            <p:cNvPr name="Freeform 10" id="10"/>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3">
                <a:alphaModFix amt="0"/>
              </a:blip>
              <a:stretch>
                <a:fillRect l="0" t="-534551" r="0" b="-534551"/>
              </a:stretch>
            </a:blipFill>
          </p:spPr>
        </p:sp>
        <p:sp>
          <p:nvSpPr>
            <p:cNvPr name="TextBox 11" id="11"/>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8EB69B"/>
                  </a:solidFill>
                  <a:latin typeface="Calibri (MS) Italics"/>
                  <a:ea typeface="Calibri (MS) Italics"/>
                  <a:cs typeface="Calibri (MS) Italics"/>
                  <a:sym typeface="Calibri (MS) Italics"/>
                </a:rPr>
                <a:t>Etapas del proceso y roles del equipo</a:t>
              </a:r>
            </a:p>
          </p:txBody>
        </p:sp>
      </p:grpSp>
      <p:grpSp>
        <p:nvGrpSpPr>
          <p:cNvPr name="Group 12" id="12"/>
          <p:cNvGrpSpPr/>
          <p:nvPr/>
        </p:nvGrpSpPr>
        <p:grpSpPr>
          <a:xfrm rot="0">
            <a:off x="754380" y="6377940"/>
            <a:ext cx="6858000" cy="411480"/>
            <a:chOff x="0" y="0"/>
            <a:chExt cx="9144000" cy="548640"/>
          </a:xfrm>
        </p:grpSpPr>
        <p:sp>
          <p:nvSpPr>
            <p:cNvPr name="Freeform 13" id="13"/>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14" id="14"/>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150">
                  <a:solidFill>
                    <a:srgbClr val="8EB69B"/>
                  </a:solidFill>
                  <a:latin typeface="Calibri (MS) Bold"/>
                  <a:ea typeface="Calibri (MS) Bold"/>
                  <a:cs typeface="Calibri (MS) Bold"/>
                  <a:sym typeface="Calibri (MS) Bold"/>
                </a:rPr>
                <a:t>ROLES DEL EQUIPO</a:t>
              </a:r>
            </a:p>
          </p:txBody>
        </p:sp>
      </p:grpSp>
      <p:grpSp>
        <p:nvGrpSpPr>
          <p:cNvPr name="Group 15" id="15"/>
          <p:cNvGrpSpPr/>
          <p:nvPr/>
        </p:nvGrpSpPr>
        <p:grpSpPr>
          <a:xfrm rot="0">
            <a:off x="754380" y="6858000"/>
            <a:ext cx="5417820" cy="2537460"/>
            <a:chOff x="0" y="0"/>
            <a:chExt cx="7223760" cy="3383280"/>
          </a:xfrm>
        </p:grpSpPr>
        <p:sp>
          <p:nvSpPr>
            <p:cNvPr name="Freeform 16" id="16"/>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17" id="17"/>
          <p:cNvGrpSpPr/>
          <p:nvPr/>
        </p:nvGrpSpPr>
        <p:grpSpPr>
          <a:xfrm rot="0">
            <a:off x="1097280" y="7200900"/>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19" id="19"/>
          <p:cNvGrpSpPr/>
          <p:nvPr/>
        </p:nvGrpSpPr>
        <p:grpSpPr>
          <a:xfrm rot="0">
            <a:off x="1294790" y="7398410"/>
            <a:ext cx="427939" cy="427939"/>
            <a:chOff x="0" y="0"/>
            <a:chExt cx="570586" cy="570586"/>
          </a:xfrm>
        </p:grpSpPr>
        <p:sp>
          <p:nvSpPr>
            <p:cNvPr name="Freeform 20" id="20"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21" id="21"/>
          <p:cNvGrpSpPr/>
          <p:nvPr/>
        </p:nvGrpSpPr>
        <p:grpSpPr>
          <a:xfrm rot="0">
            <a:off x="2198370" y="7292340"/>
            <a:ext cx="3771900" cy="548640"/>
            <a:chOff x="0" y="0"/>
            <a:chExt cx="5029200" cy="731520"/>
          </a:xfrm>
        </p:grpSpPr>
        <p:sp>
          <p:nvSpPr>
            <p:cNvPr name="Freeform 22" id="22"/>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23" id="23"/>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Manuel Rivas</a:t>
              </a:r>
            </a:p>
          </p:txBody>
        </p:sp>
      </p:grpSp>
      <p:grpSp>
        <p:nvGrpSpPr>
          <p:cNvPr name="Group 24" id="24"/>
          <p:cNvGrpSpPr/>
          <p:nvPr/>
        </p:nvGrpSpPr>
        <p:grpSpPr>
          <a:xfrm rot="0">
            <a:off x="1087755" y="8151495"/>
            <a:ext cx="4751070" cy="1047750"/>
            <a:chOff x="0" y="0"/>
            <a:chExt cx="6334760" cy="1397000"/>
          </a:xfrm>
        </p:grpSpPr>
        <p:sp>
          <p:nvSpPr>
            <p:cNvPr name="Freeform 25" id="25"/>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26" id="26"/>
          <p:cNvSpPr txBox="true"/>
          <p:nvPr/>
        </p:nvSpPr>
        <p:spPr>
          <a:xfrm rot="0">
            <a:off x="139446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Frontend (React Native), diseño de interfaz orientada al adulto mayor, experiencia de usuario.</a:t>
            </a:r>
          </a:p>
        </p:txBody>
      </p:sp>
      <p:grpSp>
        <p:nvGrpSpPr>
          <p:cNvPr name="Group 27" id="27"/>
          <p:cNvGrpSpPr/>
          <p:nvPr/>
        </p:nvGrpSpPr>
        <p:grpSpPr>
          <a:xfrm rot="0">
            <a:off x="6446520" y="6858000"/>
            <a:ext cx="5417820" cy="2537460"/>
            <a:chOff x="0" y="0"/>
            <a:chExt cx="7223760" cy="3383280"/>
          </a:xfrm>
        </p:grpSpPr>
        <p:sp>
          <p:nvSpPr>
            <p:cNvPr name="Freeform 28" id="28"/>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29" id="29"/>
          <p:cNvGrpSpPr/>
          <p:nvPr/>
        </p:nvGrpSpPr>
        <p:grpSpPr>
          <a:xfrm rot="0">
            <a:off x="6789420" y="720090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31" id="31"/>
          <p:cNvGrpSpPr/>
          <p:nvPr/>
        </p:nvGrpSpPr>
        <p:grpSpPr>
          <a:xfrm rot="0">
            <a:off x="6986930" y="7398410"/>
            <a:ext cx="427939" cy="427939"/>
            <a:chOff x="0" y="0"/>
            <a:chExt cx="570586" cy="570586"/>
          </a:xfrm>
        </p:grpSpPr>
        <p:sp>
          <p:nvSpPr>
            <p:cNvPr name="Freeform 32" id="32"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33" id="33"/>
          <p:cNvGrpSpPr/>
          <p:nvPr/>
        </p:nvGrpSpPr>
        <p:grpSpPr>
          <a:xfrm rot="0">
            <a:off x="7890815" y="7338060"/>
            <a:ext cx="3771900" cy="548640"/>
            <a:chOff x="0" y="0"/>
            <a:chExt cx="5029200" cy="731520"/>
          </a:xfrm>
        </p:grpSpPr>
        <p:sp>
          <p:nvSpPr>
            <p:cNvPr name="Freeform 34" id="34"/>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35" id="35"/>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Bryan Acuña</a:t>
              </a:r>
            </a:p>
          </p:txBody>
        </p:sp>
      </p:grpSp>
      <p:grpSp>
        <p:nvGrpSpPr>
          <p:cNvPr name="Group 36" id="36"/>
          <p:cNvGrpSpPr/>
          <p:nvPr/>
        </p:nvGrpSpPr>
        <p:grpSpPr>
          <a:xfrm rot="0">
            <a:off x="6779895" y="8151495"/>
            <a:ext cx="4751070" cy="1047750"/>
            <a:chOff x="0" y="0"/>
            <a:chExt cx="6334760" cy="1397000"/>
          </a:xfrm>
        </p:grpSpPr>
        <p:sp>
          <p:nvSpPr>
            <p:cNvPr name="Freeform 37" id="37"/>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38" id="38"/>
          <p:cNvSpPr txBox="true"/>
          <p:nvPr/>
        </p:nvSpPr>
        <p:spPr>
          <a:xfrm rot="0">
            <a:off x="708660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Backend (Node.js/Express), integración de APIs externas (VirusTotal, RDAP, WHOIS), lógica de scoring de riesgo.</a:t>
            </a:r>
          </a:p>
        </p:txBody>
      </p:sp>
      <p:grpSp>
        <p:nvGrpSpPr>
          <p:cNvPr name="Group 39" id="39"/>
          <p:cNvGrpSpPr/>
          <p:nvPr/>
        </p:nvGrpSpPr>
        <p:grpSpPr>
          <a:xfrm rot="0">
            <a:off x="12138660" y="6858000"/>
            <a:ext cx="5417820" cy="2537460"/>
            <a:chOff x="0" y="0"/>
            <a:chExt cx="7223760" cy="3383280"/>
          </a:xfrm>
        </p:grpSpPr>
        <p:sp>
          <p:nvSpPr>
            <p:cNvPr name="Freeform 40" id="40"/>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41" id="41"/>
          <p:cNvGrpSpPr/>
          <p:nvPr/>
        </p:nvGrpSpPr>
        <p:grpSpPr>
          <a:xfrm rot="0">
            <a:off x="12481560" y="7200900"/>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43" id="43"/>
          <p:cNvGrpSpPr/>
          <p:nvPr/>
        </p:nvGrpSpPr>
        <p:grpSpPr>
          <a:xfrm rot="0">
            <a:off x="12679070" y="7398410"/>
            <a:ext cx="427939" cy="427939"/>
            <a:chOff x="0" y="0"/>
            <a:chExt cx="570586" cy="570586"/>
          </a:xfrm>
        </p:grpSpPr>
        <p:sp>
          <p:nvSpPr>
            <p:cNvPr name="Freeform 44" id="44"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45" id="45"/>
          <p:cNvGrpSpPr/>
          <p:nvPr/>
        </p:nvGrpSpPr>
        <p:grpSpPr>
          <a:xfrm rot="0">
            <a:off x="13487400" y="7338060"/>
            <a:ext cx="3771900" cy="548640"/>
            <a:chOff x="0" y="0"/>
            <a:chExt cx="5029200" cy="731520"/>
          </a:xfrm>
        </p:grpSpPr>
        <p:sp>
          <p:nvSpPr>
            <p:cNvPr name="Freeform 46" id="46"/>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47" id="47"/>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Marcel Tusach</a:t>
              </a:r>
            </a:p>
          </p:txBody>
        </p:sp>
      </p:grpSp>
      <p:grpSp>
        <p:nvGrpSpPr>
          <p:cNvPr name="Group 48" id="48"/>
          <p:cNvGrpSpPr/>
          <p:nvPr/>
        </p:nvGrpSpPr>
        <p:grpSpPr>
          <a:xfrm rot="0">
            <a:off x="12472035" y="8151495"/>
            <a:ext cx="4751070" cy="1047750"/>
            <a:chOff x="0" y="0"/>
            <a:chExt cx="6334760" cy="1397000"/>
          </a:xfrm>
        </p:grpSpPr>
        <p:sp>
          <p:nvSpPr>
            <p:cNvPr name="Freeform 49" id="49"/>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50" id="50"/>
          <p:cNvSpPr txBox="true"/>
          <p:nvPr/>
        </p:nvSpPr>
        <p:spPr>
          <a:xfrm rot="0">
            <a:off x="1277874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Base de datos (MongoDB), chatbot educativo (integración con Gemini API), panel de monitoreo interno</a:t>
            </a:r>
          </a:p>
        </p:txBody>
      </p:sp>
      <p:grpSp>
        <p:nvGrpSpPr>
          <p:cNvPr name="Group 51" id="51"/>
          <p:cNvGrpSpPr/>
          <p:nvPr/>
        </p:nvGrpSpPr>
        <p:grpSpPr>
          <a:xfrm rot="0">
            <a:off x="17053103" y="9601200"/>
            <a:ext cx="822960" cy="480060"/>
            <a:chOff x="0" y="0"/>
            <a:chExt cx="1097280" cy="640080"/>
          </a:xfrm>
        </p:grpSpPr>
        <p:sp>
          <p:nvSpPr>
            <p:cNvPr name="Freeform 52" id="52"/>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53" id="53"/>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EB69B"/>
                  </a:solidFill>
                  <a:latin typeface="Calibri (MS)"/>
                  <a:ea typeface="Calibri (MS)"/>
                  <a:cs typeface="Calibri (MS)"/>
                  <a:sym typeface="Calibri (MS)"/>
                </a:rPr>
                <a:t>06</a:t>
              </a:r>
            </a:p>
          </p:txBody>
        </p:sp>
      </p:grpSp>
      <p:grpSp>
        <p:nvGrpSpPr>
          <p:cNvPr name="Group 54" id="54"/>
          <p:cNvGrpSpPr/>
          <p:nvPr/>
        </p:nvGrpSpPr>
        <p:grpSpPr>
          <a:xfrm rot="0">
            <a:off x="744855" y="4791075"/>
            <a:ext cx="16752570" cy="1322070"/>
            <a:chOff x="0" y="0"/>
            <a:chExt cx="22336760" cy="1762760"/>
          </a:xfrm>
        </p:grpSpPr>
        <p:sp>
          <p:nvSpPr>
            <p:cNvPr name="Freeform 55" id="55"/>
            <p:cNvSpPr/>
            <p:nvPr/>
          </p:nvSpPr>
          <p:spPr>
            <a:xfrm flipH="false" flipV="false" rot="0">
              <a:off x="0" y="0"/>
              <a:ext cx="22336761" cy="1762760"/>
            </a:xfrm>
            <a:custGeom>
              <a:avLst/>
              <a:gdLst/>
              <a:ahLst/>
              <a:cxnLst/>
              <a:rect r="r" b="b" t="t" l="l"/>
              <a:pathLst>
                <a:path h="1762760" w="22336761">
                  <a:moveTo>
                    <a:pt x="0" y="148463"/>
                  </a:moveTo>
                  <a:cubicBezTo>
                    <a:pt x="0" y="66421"/>
                    <a:pt x="66421" y="0"/>
                    <a:pt x="148463" y="0"/>
                  </a:cubicBezTo>
                  <a:lnTo>
                    <a:pt x="22188297" y="0"/>
                  </a:lnTo>
                  <a:cubicBezTo>
                    <a:pt x="22270338" y="0"/>
                    <a:pt x="22336761" y="66421"/>
                    <a:pt x="22336761" y="148463"/>
                  </a:cubicBezTo>
                  <a:lnTo>
                    <a:pt x="22336761" y="1614297"/>
                  </a:lnTo>
                  <a:cubicBezTo>
                    <a:pt x="22336761" y="1696339"/>
                    <a:pt x="22270338" y="1762760"/>
                    <a:pt x="22188297" y="1762760"/>
                  </a:cubicBezTo>
                  <a:lnTo>
                    <a:pt x="148463" y="1762760"/>
                  </a:lnTo>
                  <a:cubicBezTo>
                    <a:pt x="66421" y="1762760"/>
                    <a:pt x="0" y="1696339"/>
                    <a:pt x="0" y="1614297"/>
                  </a:cubicBezTo>
                  <a:close/>
                </a:path>
              </a:pathLst>
            </a:custGeom>
            <a:solidFill>
              <a:srgbClr val="FFFFFF"/>
            </a:solidFill>
            <a:ln w="19050" cap="sq">
              <a:solidFill>
                <a:srgbClr val="8EB69B"/>
              </a:solidFill>
              <a:prstDash val="dash"/>
              <a:miter/>
            </a:ln>
          </p:spPr>
        </p:sp>
      </p:grpSp>
      <p:sp>
        <p:nvSpPr>
          <p:cNvPr name="TextBox 56" id="56"/>
          <p:cNvSpPr txBox="true"/>
          <p:nvPr/>
        </p:nvSpPr>
        <p:spPr>
          <a:xfrm rot="0">
            <a:off x="1051560" y="4954905"/>
            <a:ext cx="16139160" cy="10191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Se utilizará la</a:t>
            </a:r>
            <a:r>
              <a:rPr lang="en-US" sz="1650" i="true">
                <a:solidFill>
                  <a:srgbClr val="7A9E8E"/>
                </a:solidFill>
                <a:latin typeface="Calibri (MS) Italics"/>
                <a:ea typeface="Calibri (MS) Italics"/>
                <a:cs typeface="Calibri (MS) Italics"/>
                <a:sym typeface="Calibri (MS) Italics"/>
              </a:rPr>
              <a:t> Metodología Tradicional (Cascada) debido a que el equipo tiene experiencia en completar actividades de manera secuencial, asegurando entregables claros y definidos en cada etapa. Además, se adopta este enfoque predictivo para optimizar la gestión del tiempo y los recursos disponibles, considerando las responsabilidades paralelas del equipo por el desarrollo de sus prácticas profesionales. Esta metodología encaja perfectamente ya que los requerimientos son fijos, están bien definidos desde el inicio y no se anticipan cambios estructurales durante la producción. </a:t>
            </a:r>
          </a:p>
        </p:txBody>
      </p:sp>
      <p:grpSp>
        <p:nvGrpSpPr>
          <p:cNvPr name="Group 57" id="57"/>
          <p:cNvGrpSpPr/>
          <p:nvPr/>
        </p:nvGrpSpPr>
        <p:grpSpPr>
          <a:xfrm rot="0">
            <a:off x="754380" y="2400300"/>
            <a:ext cx="3182112" cy="2057400"/>
            <a:chOff x="0" y="0"/>
            <a:chExt cx="4242816" cy="2743200"/>
          </a:xfrm>
        </p:grpSpPr>
        <p:sp>
          <p:nvSpPr>
            <p:cNvPr name="Freeform 58" id="58"/>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59" id="59"/>
          <p:cNvGrpSpPr/>
          <p:nvPr/>
        </p:nvGrpSpPr>
        <p:grpSpPr>
          <a:xfrm rot="0">
            <a:off x="1968246" y="2674620"/>
            <a:ext cx="754380" cy="754380"/>
            <a:chOff x="0" y="0"/>
            <a:chExt cx="1005840" cy="1005840"/>
          </a:xfrm>
        </p:grpSpPr>
        <p:sp>
          <p:nvSpPr>
            <p:cNvPr name="Freeform 60" id="6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61" id="61"/>
          <p:cNvGrpSpPr/>
          <p:nvPr/>
        </p:nvGrpSpPr>
        <p:grpSpPr>
          <a:xfrm rot="0">
            <a:off x="2149297" y="2855671"/>
            <a:ext cx="392278" cy="392278"/>
            <a:chOff x="0" y="0"/>
            <a:chExt cx="523037" cy="523037"/>
          </a:xfrm>
        </p:grpSpPr>
        <p:sp>
          <p:nvSpPr>
            <p:cNvPr name="Freeform 62" id="62" descr="/home/claude/sms-security/icons/search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63" id="63"/>
          <p:cNvGrpSpPr/>
          <p:nvPr/>
        </p:nvGrpSpPr>
        <p:grpSpPr>
          <a:xfrm rot="0">
            <a:off x="864108" y="2510028"/>
            <a:ext cx="548640" cy="411480"/>
            <a:chOff x="0" y="0"/>
            <a:chExt cx="731520" cy="548640"/>
          </a:xfrm>
        </p:grpSpPr>
        <p:sp>
          <p:nvSpPr>
            <p:cNvPr name="Freeform 64" id="64"/>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65" id="65"/>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1</a:t>
              </a:r>
            </a:p>
          </p:txBody>
        </p:sp>
      </p:grpSp>
      <p:sp>
        <p:nvSpPr>
          <p:cNvPr name="TextBox 66" id="66"/>
          <p:cNvSpPr txBox="true"/>
          <p:nvPr/>
        </p:nvSpPr>
        <p:spPr>
          <a:xfrm rot="0">
            <a:off x="955548"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Requerimientos</a:t>
            </a:r>
          </a:p>
        </p:txBody>
      </p:sp>
      <p:grpSp>
        <p:nvGrpSpPr>
          <p:cNvPr name="Group 67" id="67"/>
          <p:cNvGrpSpPr/>
          <p:nvPr/>
        </p:nvGrpSpPr>
        <p:grpSpPr>
          <a:xfrm rot="0">
            <a:off x="3950208" y="3264408"/>
            <a:ext cx="178308" cy="329184"/>
            <a:chOff x="0" y="0"/>
            <a:chExt cx="237744" cy="438912"/>
          </a:xfrm>
        </p:grpSpPr>
        <p:sp>
          <p:nvSpPr>
            <p:cNvPr name="Freeform 68" id="68"/>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69" id="69"/>
          <p:cNvGrpSpPr/>
          <p:nvPr/>
        </p:nvGrpSpPr>
        <p:grpSpPr>
          <a:xfrm rot="0">
            <a:off x="4142232" y="2400300"/>
            <a:ext cx="3182112" cy="2057400"/>
            <a:chOff x="0" y="0"/>
            <a:chExt cx="4242816" cy="2743200"/>
          </a:xfrm>
        </p:grpSpPr>
        <p:sp>
          <p:nvSpPr>
            <p:cNvPr name="Freeform 70" id="70"/>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71" id="71"/>
          <p:cNvGrpSpPr/>
          <p:nvPr/>
        </p:nvGrpSpPr>
        <p:grpSpPr>
          <a:xfrm rot="0">
            <a:off x="5356098" y="2674620"/>
            <a:ext cx="754380" cy="754380"/>
            <a:chOff x="0" y="0"/>
            <a:chExt cx="1005840" cy="1005840"/>
          </a:xfrm>
        </p:grpSpPr>
        <p:sp>
          <p:nvSpPr>
            <p:cNvPr name="Freeform 72" id="7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73" id="73"/>
          <p:cNvGrpSpPr/>
          <p:nvPr/>
        </p:nvGrpSpPr>
        <p:grpSpPr>
          <a:xfrm rot="0">
            <a:off x="5537149" y="2855671"/>
            <a:ext cx="392278" cy="392278"/>
            <a:chOff x="0" y="0"/>
            <a:chExt cx="523037" cy="523037"/>
          </a:xfrm>
        </p:grpSpPr>
        <p:sp>
          <p:nvSpPr>
            <p:cNvPr name="Freeform 74" id="74" descr="/home/claude/sms-security/icons/layers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75" id="75"/>
          <p:cNvGrpSpPr/>
          <p:nvPr/>
        </p:nvGrpSpPr>
        <p:grpSpPr>
          <a:xfrm rot="0">
            <a:off x="4251960" y="2510028"/>
            <a:ext cx="548640" cy="411480"/>
            <a:chOff x="0" y="0"/>
            <a:chExt cx="731520" cy="548640"/>
          </a:xfrm>
        </p:grpSpPr>
        <p:sp>
          <p:nvSpPr>
            <p:cNvPr name="Freeform 76" id="7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77" id="77"/>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2</a:t>
              </a:r>
            </a:p>
          </p:txBody>
        </p:sp>
      </p:grpSp>
      <p:sp>
        <p:nvSpPr>
          <p:cNvPr name="TextBox 78" id="78"/>
          <p:cNvSpPr txBox="true"/>
          <p:nvPr/>
        </p:nvSpPr>
        <p:spPr>
          <a:xfrm rot="0">
            <a:off x="4343400"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Diseño</a:t>
            </a:r>
          </a:p>
        </p:txBody>
      </p:sp>
      <p:grpSp>
        <p:nvGrpSpPr>
          <p:cNvPr name="Group 79" id="79"/>
          <p:cNvGrpSpPr/>
          <p:nvPr/>
        </p:nvGrpSpPr>
        <p:grpSpPr>
          <a:xfrm rot="0">
            <a:off x="7338060" y="3264408"/>
            <a:ext cx="178308" cy="329184"/>
            <a:chOff x="0" y="0"/>
            <a:chExt cx="237744" cy="438912"/>
          </a:xfrm>
        </p:grpSpPr>
        <p:sp>
          <p:nvSpPr>
            <p:cNvPr name="Freeform 80" id="80"/>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81" id="81"/>
          <p:cNvGrpSpPr/>
          <p:nvPr/>
        </p:nvGrpSpPr>
        <p:grpSpPr>
          <a:xfrm rot="0">
            <a:off x="7530084" y="2400300"/>
            <a:ext cx="3182112" cy="2057400"/>
            <a:chOff x="0" y="0"/>
            <a:chExt cx="4242816" cy="2743200"/>
          </a:xfrm>
        </p:grpSpPr>
        <p:sp>
          <p:nvSpPr>
            <p:cNvPr name="Freeform 82" id="82"/>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83" id="83"/>
          <p:cNvGrpSpPr/>
          <p:nvPr/>
        </p:nvGrpSpPr>
        <p:grpSpPr>
          <a:xfrm rot="0">
            <a:off x="8743950" y="2674620"/>
            <a:ext cx="754380" cy="754380"/>
            <a:chOff x="0" y="0"/>
            <a:chExt cx="1005840" cy="1005840"/>
          </a:xfrm>
        </p:grpSpPr>
        <p:sp>
          <p:nvSpPr>
            <p:cNvPr name="Freeform 84" id="84"/>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85" id="85"/>
          <p:cNvGrpSpPr/>
          <p:nvPr/>
        </p:nvGrpSpPr>
        <p:grpSpPr>
          <a:xfrm rot="0">
            <a:off x="8925001" y="2855671"/>
            <a:ext cx="392278" cy="392278"/>
            <a:chOff x="0" y="0"/>
            <a:chExt cx="523037" cy="523037"/>
          </a:xfrm>
        </p:grpSpPr>
        <p:sp>
          <p:nvSpPr>
            <p:cNvPr name="Freeform 86" id="86" descr="/home/claude/sms-security/icons/code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87" id="87"/>
          <p:cNvGrpSpPr/>
          <p:nvPr/>
        </p:nvGrpSpPr>
        <p:grpSpPr>
          <a:xfrm rot="0">
            <a:off x="7639812" y="2510028"/>
            <a:ext cx="548640" cy="411480"/>
            <a:chOff x="0" y="0"/>
            <a:chExt cx="731520" cy="548640"/>
          </a:xfrm>
        </p:grpSpPr>
        <p:sp>
          <p:nvSpPr>
            <p:cNvPr name="Freeform 88" id="88"/>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9" id="89"/>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3</a:t>
              </a:r>
            </a:p>
          </p:txBody>
        </p:sp>
      </p:grpSp>
      <p:sp>
        <p:nvSpPr>
          <p:cNvPr name="TextBox 90" id="90"/>
          <p:cNvSpPr txBox="true"/>
          <p:nvPr/>
        </p:nvSpPr>
        <p:spPr>
          <a:xfrm rot="0">
            <a:off x="7731252"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Desarrollo</a:t>
            </a:r>
          </a:p>
        </p:txBody>
      </p:sp>
      <p:grpSp>
        <p:nvGrpSpPr>
          <p:cNvPr name="Group 91" id="91"/>
          <p:cNvGrpSpPr/>
          <p:nvPr/>
        </p:nvGrpSpPr>
        <p:grpSpPr>
          <a:xfrm rot="0">
            <a:off x="10725912" y="3264408"/>
            <a:ext cx="178308" cy="329184"/>
            <a:chOff x="0" y="0"/>
            <a:chExt cx="237744" cy="438912"/>
          </a:xfrm>
        </p:grpSpPr>
        <p:sp>
          <p:nvSpPr>
            <p:cNvPr name="Freeform 92" id="92"/>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93" id="93"/>
          <p:cNvGrpSpPr/>
          <p:nvPr/>
        </p:nvGrpSpPr>
        <p:grpSpPr>
          <a:xfrm rot="0">
            <a:off x="10917936" y="2400300"/>
            <a:ext cx="3182112" cy="2057400"/>
            <a:chOff x="0" y="0"/>
            <a:chExt cx="4242816" cy="2743200"/>
          </a:xfrm>
        </p:grpSpPr>
        <p:sp>
          <p:nvSpPr>
            <p:cNvPr name="Freeform 94" id="94"/>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95" id="95"/>
          <p:cNvGrpSpPr/>
          <p:nvPr/>
        </p:nvGrpSpPr>
        <p:grpSpPr>
          <a:xfrm rot="0">
            <a:off x="12131802" y="2674620"/>
            <a:ext cx="754380" cy="754380"/>
            <a:chOff x="0" y="0"/>
            <a:chExt cx="1005840" cy="1005840"/>
          </a:xfrm>
        </p:grpSpPr>
        <p:sp>
          <p:nvSpPr>
            <p:cNvPr name="Freeform 96" id="9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97" id="97"/>
          <p:cNvGrpSpPr/>
          <p:nvPr/>
        </p:nvGrpSpPr>
        <p:grpSpPr>
          <a:xfrm rot="0">
            <a:off x="12312853" y="2855671"/>
            <a:ext cx="392278" cy="392278"/>
            <a:chOff x="0" y="0"/>
            <a:chExt cx="523037" cy="523037"/>
          </a:xfrm>
        </p:grpSpPr>
        <p:sp>
          <p:nvSpPr>
            <p:cNvPr name="Freeform 98" id="98" descr="/home/claude/sms-security/icons/check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8"/>
              <a:stretch>
                <a:fillRect l="0" t="0" r="-9" b="-9"/>
              </a:stretch>
            </a:blipFill>
          </p:spPr>
        </p:sp>
      </p:grpSp>
      <p:grpSp>
        <p:nvGrpSpPr>
          <p:cNvPr name="Group 99" id="99"/>
          <p:cNvGrpSpPr/>
          <p:nvPr/>
        </p:nvGrpSpPr>
        <p:grpSpPr>
          <a:xfrm rot="0">
            <a:off x="11027664" y="2510028"/>
            <a:ext cx="548640" cy="411480"/>
            <a:chOff x="0" y="0"/>
            <a:chExt cx="731520" cy="548640"/>
          </a:xfrm>
        </p:grpSpPr>
        <p:sp>
          <p:nvSpPr>
            <p:cNvPr name="Freeform 100" id="10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1" id="101"/>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4</a:t>
              </a:r>
            </a:p>
          </p:txBody>
        </p:sp>
      </p:grpSp>
      <p:sp>
        <p:nvSpPr>
          <p:cNvPr name="TextBox 102" id="102"/>
          <p:cNvSpPr txBox="true"/>
          <p:nvPr/>
        </p:nvSpPr>
        <p:spPr>
          <a:xfrm rot="0">
            <a:off x="11119104"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Pruebas</a:t>
            </a:r>
          </a:p>
        </p:txBody>
      </p:sp>
      <p:grpSp>
        <p:nvGrpSpPr>
          <p:cNvPr name="Group 103" id="103"/>
          <p:cNvGrpSpPr/>
          <p:nvPr/>
        </p:nvGrpSpPr>
        <p:grpSpPr>
          <a:xfrm rot="0">
            <a:off x="14113764" y="3264408"/>
            <a:ext cx="178308" cy="329184"/>
            <a:chOff x="0" y="0"/>
            <a:chExt cx="237744" cy="438912"/>
          </a:xfrm>
        </p:grpSpPr>
        <p:sp>
          <p:nvSpPr>
            <p:cNvPr name="Freeform 104" id="104"/>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105" id="105"/>
          <p:cNvGrpSpPr/>
          <p:nvPr/>
        </p:nvGrpSpPr>
        <p:grpSpPr>
          <a:xfrm rot="0">
            <a:off x="14305788" y="2400300"/>
            <a:ext cx="3182112" cy="2057400"/>
            <a:chOff x="0" y="0"/>
            <a:chExt cx="4242816" cy="2743200"/>
          </a:xfrm>
        </p:grpSpPr>
        <p:sp>
          <p:nvSpPr>
            <p:cNvPr name="Freeform 106" id="106"/>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107" id="107"/>
          <p:cNvGrpSpPr/>
          <p:nvPr/>
        </p:nvGrpSpPr>
        <p:grpSpPr>
          <a:xfrm rot="0">
            <a:off x="15519654" y="2674620"/>
            <a:ext cx="754380" cy="754380"/>
            <a:chOff x="0" y="0"/>
            <a:chExt cx="1005840" cy="1005840"/>
          </a:xfrm>
        </p:grpSpPr>
        <p:sp>
          <p:nvSpPr>
            <p:cNvPr name="Freeform 108" id="10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109" id="109"/>
          <p:cNvGrpSpPr/>
          <p:nvPr/>
        </p:nvGrpSpPr>
        <p:grpSpPr>
          <a:xfrm rot="0">
            <a:off x="14415516" y="2510028"/>
            <a:ext cx="548640" cy="411480"/>
            <a:chOff x="0" y="0"/>
            <a:chExt cx="731520" cy="548640"/>
          </a:xfrm>
        </p:grpSpPr>
        <p:sp>
          <p:nvSpPr>
            <p:cNvPr name="Freeform 110" id="11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11" id="111"/>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5</a:t>
              </a:r>
            </a:p>
          </p:txBody>
        </p:sp>
      </p:grpSp>
      <p:sp>
        <p:nvSpPr>
          <p:cNvPr name="TextBox 112" id="112"/>
          <p:cNvSpPr txBox="true"/>
          <p:nvPr/>
        </p:nvSpPr>
        <p:spPr>
          <a:xfrm rot="0">
            <a:off x="14506956"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Despliegue</a:t>
            </a:r>
          </a:p>
        </p:txBody>
      </p:sp>
      <p:grpSp>
        <p:nvGrpSpPr>
          <p:cNvPr name="Group 113" id="113"/>
          <p:cNvGrpSpPr/>
          <p:nvPr/>
        </p:nvGrpSpPr>
        <p:grpSpPr>
          <a:xfrm rot="0">
            <a:off x="15700705" y="2855671"/>
            <a:ext cx="392278" cy="392278"/>
            <a:chOff x="0" y="0"/>
            <a:chExt cx="523037" cy="523037"/>
          </a:xfrm>
        </p:grpSpPr>
        <p:sp>
          <p:nvSpPr>
            <p:cNvPr name="Freeform 114" id="114" descr="/home/claude/sms-security/icons/fla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9"/>
              <a:stretch>
                <a:fillRect l="0" t="0" r="-9" b="-9"/>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alendar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Plan de Trabajo e Hitos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Cronograma, recursos y evidencias de avance</a:t>
              </a:r>
            </a:p>
          </p:txBody>
        </p:sp>
      </p:grpSp>
      <p:grpSp>
        <p:nvGrpSpPr>
          <p:cNvPr name="Group 13" id="13"/>
          <p:cNvGrpSpPr/>
          <p:nvPr/>
        </p:nvGrpSpPr>
        <p:grpSpPr>
          <a:xfrm rot="0">
            <a:off x="829818" y="2851380"/>
            <a:ext cx="5390388" cy="5681520"/>
            <a:chOff x="0" y="0"/>
            <a:chExt cx="7187184" cy="7575360"/>
          </a:xfrm>
        </p:grpSpPr>
        <p:sp>
          <p:nvSpPr>
            <p:cNvPr name="Freeform 14" id="14"/>
            <p:cNvSpPr/>
            <p:nvPr/>
          </p:nvSpPr>
          <p:spPr>
            <a:xfrm flipH="false" flipV="false" rot="0">
              <a:off x="0" y="0"/>
              <a:ext cx="7187185" cy="7575360"/>
            </a:xfrm>
            <a:custGeom>
              <a:avLst/>
              <a:gdLst/>
              <a:ahLst/>
              <a:cxnLst/>
              <a:rect r="r" b="b" t="t" l="l"/>
              <a:pathLst>
                <a:path h="7575360" w="7187185">
                  <a:moveTo>
                    <a:pt x="0" y="352342"/>
                  </a:moveTo>
                  <a:cubicBezTo>
                    <a:pt x="0" y="157820"/>
                    <a:pt x="81915" y="0"/>
                    <a:pt x="182880" y="0"/>
                  </a:cubicBezTo>
                  <a:lnTo>
                    <a:pt x="7004304" y="0"/>
                  </a:lnTo>
                  <a:cubicBezTo>
                    <a:pt x="7105269" y="0"/>
                    <a:pt x="7187185" y="157820"/>
                    <a:pt x="7187185" y="352342"/>
                  </a:cubicBezTo>
                  <a:lnTo>
                    <a:pt x="7187185" y="7223018"/>
                  </a:lnTo>
                  <a:cubicBezTo>
                    <a:pt x="7187185" y="7417541"/>
                    <a:pt x="7105269" y="7575360"/>
                    <a:pt x="7004304" y="7575360"/>
                  </a:cubicBezTo>
                  <a:lnTo>
                    <a:pt x="182880" y="7575360"/>
                  </a:lnTo>
                  <a:cubicBezTo>
                    <a:pt x="81915" y="7575360"/>
                    <a:pt x="0" y="7417540"/>
                    <a:pt x="0" y="7223018"/>
                  </a:cubicBezTo>
                  <a:close/>
                </a:path>
              </a:pathLst>
            </a:custGeom>
            <a:solidFill>
              <a:srgbClr val="051F20"/>
            </a:solidFill>
          </p:spPr>
        </p:sp>
      </p:grpSp>
      <p:grpSp>
        <p:nvGrpSpPr>
          <p:cNvPr name="Group 15" id="15"/>
          <p:cNvGrpSpPr/>
          <p:nvPr/>
        </p:nvGrpSpPr>
        <p:grpSpPr>
          <a:xfrm rot="0">
            <a:off x="1234440" y="3008691"/>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17" id="17"/>
          <p:cNvGrpSpPr/>
          <p:nvPr/>
        </p:nvGrpSpPr>
        <p:grpSpPr>
          <a:xfrm rot="0">
            <a:off x="1415491" y="3189743"/>
            <a:ext cx="392278" cy="392278"/>
            <a:chOff x="0" y="0"/>
            <a:chExt cx="523037" cy="523037"/>
          </a:xfrm>
        </p:grpSpPr>
        <p:sp>
          <p:nvSpPr>
            <p:cNvPr name="Freeform 18" id="18" descr="/home/claude/sms-security/icons/clipboard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083498" y="3008691"/>
            <a:ext cx="3840480" cy="754380"/>
            <a:chOff x="0" y="0"/>
            <a:chExt cx="5120640" cy="1005840"/>
          </a:xfrm>
        </p:grpSpPr>
        <p:sp>
          <p:nvSpPr>
            <p:cNvPr name="Freeform 20" id="20"/>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21" id="21"/>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Recursos</a:t>
              </a:r>
            </a:p>
          </p:txBody>
        </p:sp>
      </p:grpSp>
      <p:grpSp>
        <p:nvGrpSpPr>
          <p:cNvPr name="Group 22" id="22"/>
          <p:cNvGrpSpPr/>
          <p:nvPr/>
        </p:nvGrpSpPr>
        <p:grpSpPr>
          <a:xfrm rot="0">
            <a:off x="936572" y="3834734"/>
            <a:ext cx="4987407" cy="4434784"/>
            <a:chOff x="0" y="0"/>
            <a:chExt cx="6649876" cy="5913045"/>
          </a:xfrm>
        </p:grpSpPr>
        <p:sp>
          <p:nvSpPr>
            <p:cNvPr name="Freeform 23" id="23"/>
            <p:cNvSpPr/>
            <p:nvPr/>
          </p:nvSpPr>
          <p:spPr>
            <a:xfrm flipH="false" flipV="false" rot="0">
              <a:off x="0" y="0"/>
              <a:ext cx="6649875" cy="5913045"/>
            </a:xfrm>
            <a:custGeom>
              <a:avLst/>
              <a:gdLst/>
              <a:ahLst/>
              <a:cxnLst/>
              <a:rect r="r" b="b" t="t" l="l"/>
              <a:pathLst>
                <a:path h="5913045" w="6649875">
                  <a:moveTo>
                    <a:pt x="0" y="473044"/>
                  </a:moveTo>
                  <a:cubicBezTo>
                    <a:pt x="0" y="211817"/>
                    <a:pt x="70130" y="0"/>
                    <a:pt x="156619" y="0"/>
                  </a:cubicBezTo>
                  <a:lnTo>
                    <a:pt x="6493256" y="0"/>
                  </a:lnTo>
                  <a:cubicBezTo>
                    <a:pt x="6579746" y="0"/>
                    <a:pt x="6649875" y="211817"/>
                    <a:pt x="6649875" y="473044"/>
                  </a:cubicBezTo>
                  <a:lnTo>
                    <a:pt x="6649875" y="5440002"/>
                  </a:lnTo>
                  <a:cubicBezTo>
                    <a:pt x="6649875" y="5701229"/>
                    <a:pt x="6579746" y="5913045"/>
                    <a:pt x="6493256" y="5913045"/>
                  </a:cubicBezTo>
                  <a:lnTo>
                    <a:pt x="156619" y="5913045"/>
                  </a:lnTo>
                  <a:cubicBezTo>
                    <a:pt x="70130" y="5913045"/>
                    <a:pt x="0" y="5701229"/>
                    <a:pt x="0" y="5440002"/>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126046" y="3909465"/>
            <a:ext cx="4797933" cy="44862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Herramientas de Desarrollo y Diseño</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Se requiere Visual Studio Code, Node.js y Expo para el entorno de programación.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La gestión del modelo de datos utiliza MongoDB Compass.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diseño de interfaces y arquitectura del sistema emplea Figma (o similar) y herramientas de diagramación.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La construcción del panel de monitoreo requiere una librería de visualización de datos. </a:t>
            </a:r>
          </a:p>
          <a:p>
            <a:pPr algn="l">
              <a:lnSpc>
                <a:spcPts val="1980"/>
              </a:lnSpc>
            </a:pPr>
            <a:r>
              <a:rPr lang="en-US" sz="1650" i="true">
                <a:solidFill>
                  <a:srgbClr val="7A9E8E"/>
                </a:solidFill>
                <a:latin typeface="Calibri (MS) Italics"/>
                <a:ea typeface="Calibri (MS) Italics"/>
                <a:cs typeface="Calibri (MS) Italics"/>
                <a:sym typeface="Calibri (MS) Italics"/>
              </a:rPr>
              <a:t>Datos y Servicios Externos</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análisis de riesgo y entrenamiento se basa en información recopilada mediante un dataset en formato CSV de smishing chileno.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desarrollo de la lógica y el chatbot exige contar con la documentación y las credenciales de las distintas APIs, incluyendo la API de Gemini.</a:t>
            </a:r>
          </a:p>
          <a:p>
            <a:pPr algn="l">
              <a:lnSpc>
                <a:spcPts val="1980"/>
              </a:lnSpc>
            </a:pPr>
          </a:p>
        </p:txBody>
      </p:sp>
      <p:grpSp>
        <p:nvGrpSpPr>
          <p:cNvPr name="Group 25" id="25"/>
          <p:cNvGrpSpPr/>
          <p:nvPr/>
        </p:nvGrpSpPr>
        <p:grpSpPr>
          <a:xfrm rot="0">
            <a:off x="6529768" y="2851380"/>
            <a:ext cx="5390388" cy="6559156"/>
            <a:chOff x="0" y="0"/>
            <a:chExt cx="7187184" cy="8745541"/>
          </a:xfrm>
        </p:grpSpPr>
        <p:sp>
          <p:nvSpPr>
            <p:cNvPr name="Freeform 26" id="26"/>
            <p:cNvSpPr/>
            <p:nvPr/>
          </p:nvSpPr>
          <p:spPr>
            <a:xfrm flipH="false" flipV="false" rot="0">
              <a:off x="0" y="0"/>
              <a:ext cx="7187185" cy="8745541"/>
            </a:xfrm>
            <a:custGeom>
              <a:avLst/>
              <a:gdLst/>
              <a:ahLst/>
              <a:cxnLst/>
              <a:rect r="r" b="b" t="t" l="l"/>
              <a:pathLst>
                <a:path h="8745541" w="7187185">
                  <a:moveTo>
                    <a:pt x="0" y="406769"/>
                  </a:moveTo>
                  <a:cubicBezTo>
                    <a:pt x="0" y="182199"/>
                    <a:pt x="81915" y="0"/>
                    <a:pt x="182880" y="0"/>
                  </a:cubicBezTo>
                  <a:lnTo>
                    <a:pt x="7004304" y="0"/>
                  </a:lnTo>
                  <a:cubicBezTo>
                    <a:pt x="7105269" y="0"/>
                    <a:pt x="7187185" y="182199"/>
                    <a:pt x="7187185" y="406769"/>
                  </a:cubicBezTo>
                  <a:lnTo>
                    <a:pt x="7187185" y="8338772"/>
                  </a:lnTo>
                  <a:cubicBezTo>
                    <a:pt x="7187185" y="8563343"/>
                    <a:pt x="7105269" y="8745541"/>
                    <a:pt x="7004304" y="8745541"/>
                  </a:cubicBezTo>
                  <a:lnTo>
                    <a:pt x="182880" y="8745541"/>
                  </a:lnTo>
                  <a:cubicBezTo>
                    <a:pt x="81915" y="8745541"/>
                    <a:pt x="0" y="8563342"/>
                    <a:pt x="0" y="8338772"/>
                  </a:cubicBezTo>
                  <a:close/>
                </a:path>
              </a:pathLst>
            </a:custGeom>
            <a:solidFill>
              <a:srgbClr val="051F20"/>
            </a:solidFill>
          </p:spPr>
        </p:sp>
      </p:grpSp>
      <p:grpSp>
        <p:nvGrpSpPr>
          <p:cNvPr name="Group 27" id="27"/>
          <p:cNvGrpSpPr/>
          <p:nvPr/>
        </p:nvGrpSpPr>
        <p:grpSpPr>
          <a:xfrm rot="0">
            <a:off x="6872668" y="3066886"/>
            <a:ext cx="754380" cy="754380"/>
            <a:chOff x="0" y="0"/>
            <a:chExt cx="1005840" cy="1005840"/>
          </a:xfrm>
        </p:grpSpPr>
        <p:sp>
          <p:nvSpPr>
            <p:cNvPr name="Freeform 28" id="2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29" id="29"/>
          <p:cNvGrpSpPr/>
          <p:nvPr/>
        </p:nvGrpSpPr>
        <p:grpSpPr>
          <a:xfrm rot="0">
            <a:off x="7053720" y="3247937"/>
            <a:ext cx="392278" cy="392278"/>
            <a:chOff x="0" y="0"/>
            <a:chExt cx="523037" cy="523037"/>
          </a:xfrm>
        </p:grpSpPr>
        <p:sp>
          <p:nvSpPr>
            <p:cNvPr name="Freeform 30" id="30" descr="/home/claude/sms-security/icons/clock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1" id="31"/>
          <p:cNvGrpSpPr/>
          <p:nvPr/>
        </p:nvGrpSpPr>
        <p:grpSpPr>
          <a:xfrm rot="0">
            <a:off x="7832788" y="3066886"/>
            <a:ext cx="3840480" cy="754380"/>
            <a:chOff x="0" y="0"/>
            <a:chExt cx="5120640" cy="1005840"/>
          </a:xfrm>
        </p:grpSpPr>
        <p:sp>
          <p:nvSpPr>
            <p:cNvPr name="Freeform 32" id="32"/>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33" id="33"/>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Tiempos</a:t>
              </a:r>
            </a:p>
          </p:txBody>
        </p:sp>
      </p:grpSp>
      <p:grpSp>
        <p:nvGrpSpPr>
          <p:cNvPr name="Group 34" id="34"/>
          <p:cNvGrpSpPr/>
          <p:nvPr/>
        </p:nvGrpSpPr>
        <p:grpSpPr>
          <a:xfrm rot="0">
            <a:off x="6863143" y="4017481"/>
            <a:ext cx="4723638" cy="5221605"/>
            <a:chOff x="0" y="0"/>
            <a:chExt cx="6298184" cy="6962140"/>
          </a:xfrm>
        </p:grpSpPr>
        <p:sp>
          <p:nvSpPr>
            <p:cNvPr name="Freeform 35" id="35"/>
            <p:cNvSpPr/>
            <p:nvPr/>
          </p:nvSpPr>
          <p:spPr>
            <a:xfrm flipH="false" flipV="false" rot="0">
              <a:off x="0" y="0"/>
              <a:ext cx="6298184" cy="6962140"/>
            </a:xfrm>
            <a:custGeom>
              <a:avLst/>
              <a:gdLst/>
              <a:ahLst/>
              <a:cxnLst/>
              <a:rect r="r" b="b" t="t" l="l"/>
              <a:pathLst>
                <a:path h="6962140" w="6298184">
                  <a:moveTo>
                    <a:pt x="0" y="556971"/>
                  </a:moveTo>
                  <a:cubicBezTo>
                    <a:pt x="0" y="249397"/>
                    <a:pt x="66421" y="0"/>
                    <a:pt x="148336" y="0"/>
                  </a:cubicBezTo>
                  <a:lnTo>
                    <a:pt x="6149848" y="0"/>
                  </a:lnTo>
                  <a:cubicBezTo>
                    <a:pt x="6231763" y="0"/>
                    <a:pt x="6298184" y="249397"/>
                    <a:pt x="6298184" y="556971"/>
                  </a:cubicBezTo>
                  <a:lnTo>
                    <a:pt x="6298184" y="6405169"/>
                  </a:lnTo>
                  <a:cubicBezTo>
                    <a:pt x="6298184" y="6712743"/>
                    <a:pt x="6231763" y="6962140"/>
                    <a:pt x="6149848" y="6962140"/>
                  </a:cubicBezTo>
                  <a:lnTo>
                    <a:pt x="148336" y="6962140"/>
                  </a:lnTo>
                  <a:cubicBezTo>
                    <a:pt x="66421" y="6962140"/>
                    <a:pt x="0" y="6712743"/>
                    <a:pt x="0" y="6405169"/>
                  </a:cubicBezTo>
                  <a:close/>
                </a:path>
              </a:pathLst>
            </a:custGeom>
            <a:solidFill>
              <a:srgbClr val="FFFFFF"/>
            </a:solidFill>
            <a:ln w="19050" cap="sq">
              <a:solidFill>
                <a:srgbClr val="8EB69B"/>
              </a:solidFill>
              <a:prstDash val="dash"/>
              <a:miter/>
            </a:ln>
          </p:spPr>
        </p:sp>
      </p:grpSp>
      <p:sp>
        <p:nvSpPr>
          <p:cNvPr name="TextBox 36" id="36"/>
          <p:cNvSpPr txBox="true"/>
          <p:nvPr/>
        </p:nvSpPr>
        <p:spPr>
          <a:xfrm rot="0">
            <a:off x="7053720" y="4181311"/>
            <a:ext cx="4401523" cy="52292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Desglose de Tiempos (18 Semanas Totales)</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Análisis y Diseño:</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Definición del problema, alcance y modelo de datos: 1 semana por tarea.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Definición de requerimientos y diseño de arquitectura: 2 semanas por tarea.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Diseño de interfaz intuitiva: 1 semana.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Desarrollo:</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Desarrollo del Frontend (React Native): 6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Desarrollo del Backend (Node.js/Express): 4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Integración de APIs, Chatbot, Lógica de scoring y Panel de monitoreo: 3 semanas cada tarea.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Pruebas y Cierre:</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Pruebas funcionales de la aplicación: 3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Documentación final y presentación: 3 semanas. </a:t>
            </a:r>
          </a:p>
          <a:p>
            <a:pPr algn="l">
              <a:lnSpc>
                <a:spcPts val="1980"/>
              </a:lnSpc>
            </a:pPr>
          </a:p>
        </p:txBody>
      </p:sp>
      <p:grpSp>
        <p:nvGrpSpPr>
          <p:cNvPr name="Group 37" id="37"/>
          <p:cNvGrpSpPr/>
          <p:nvPr/>
        </p:nvGrpSpPr>
        <p:grpSpPr>
          <a:xfrm rot="0">
            <a:off x="12229719" y="2870594"/>
            <a:ext cx="5390388" cy="2948940"/>
            <a:chOff x="0" y="0"/>
            <a:chExt cx="7187184" cy="3931920"/>
          </a:xfrm>
        </p:grpSpPr>
        <p:sp>
          <p:nvSpPr>
            <p:cNvPr name="Freeform 38" id="38"/>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51F20"/>
            </a:solidFill>
          </p:spPr>
        </p:sp>
      </p:grpSp>
      <p:grpSp>
        <p:nvGrpSpPr>
          <p:cNvPr name="Group 39" id="39"/>
          <p:cNvGrpSpPr/>
          <p:nvPr/>
        </p:nvGrpSpPr>
        <p:grpSpPr>
          <a:xfrm rot="0">
            <a:off x="12572619" y="3213494"/>
            <a:ext cx="754380" cy="754380"/>
            <a:chOff x="0" y="0"/>
            <a:chExt cx="1005840" cy="1005840"/>
          </a:xfrm>
        </p:grpSpPr>
        <p:sp>
          <p:nvSpPr>
            <p:cNvPr name="Freeform 40" id="4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41" id="41"/>
          <p:cNvGrpSpPr/>
          <p:nvPr/>
        </p:nvGrpSpPr>
        <p:grpSpPr>
          <a:xfrm rot="0">
            <a:off x="12753670" y="3394545"/>
            <a:ext cx="392278" cy="392278"/>
            <a:chOff x="0" y="0"/>
            <a:chExt cx="523037" cy="523037"/>
          </a:xfrm>
        </p:grpSpPr>
        <p:sp>
          <p:nvSpPr>
            <p:cNvPr name="Freeform 42" id="42" descr="/home/claude/sms-security/icons/fla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43" id="43"/>
          <p:cNvGrpSpPr/>
          <p:nvPr/>
        </p:nvGrpSpPr>
        <p:grpSpPr>
          <a:xfrm rot="0">
            <a:off x="13532739" y="3213494"/>
            <a:ext cx="3840480" cy="754380"/>
            <a:chOff x="0" y="0"/>
            <a:chExt cx="5120640" cy="1005840"/>
          </a:xfrm>
        </p:grpSpPr>
        <p:sp>
          <p:nvSpPr>
            <p:cNvPr name="Freeform 44" id="44"/>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45" id="45"/>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Hitos clave</a:t>
              </a:r>
            </a:p>
          </p:txBody>
        </p:sp>
      </p:grpSp>
      <p:grpSp>
        <p:nvGrpSpPr>
          <p:cNvPr name="Group 46" id="46"/>
          <p:cNvGrpSpPr/>
          <p:nvPr/>
        </p:nvGrpSpPr>
        <p:grpSpPr>
          <a:xfrm rot="0">
            <a:off x="12563094" y="4074115"/>
            <a:ext cx="4723638" cy="1480624"/>
            <a:chOff x="0" y="0"/>
            <a:chExt cx="6298184" cy="1974166"/>
          </a:xfrm>
        </p:grpSpPr>
        <p:sp>
          <p:nvSpPr>
            <p:cNvPr name="Freeform 47" id="47"/>
            <p:cNvSpPr/>
            <p:nvPr/>
          </p:nvSpPr>
          <p:spPr>
            <a:xfrm flipH="false" flipV="false" rot="0">
              <a:off x="0" y="0"/>
              <a:ext cx="6298184" cy="1974166"/>
            </a:xfrm>
            <a:custGeom>
              <a:avLst/>
              <a:gdLst/>
              <a:ahLst/>
              <a:cxnLst/>
              <a:rect r="r" b="b" t="t" l="l"/>
              <a:pathLst>
                <a:path h="1974166" w="6298184">
                  <a:moveTo>
                    <a:pt x="0" y="157933"/>
                  </a:moveTo>
                  <a:cubicBezTo>
                    <a:pt x="0" y="70718"/>
                    <a:pt x="66421" y="0"/>
                    <a:pt x="148336" y="0"/>
                  </a:cubicBezTo>
                  <a:lnTo>
                    <a:pt x="6149848" y="0"/>
                  </a:lnTo>
                  <a:cubicBezTo>
                    <a:pt x="6231763" y="0"/>
                    <a:pt x="6298184" y="70718"/>
                    <a:pt x="6298184" y="157933"/>
                  </a:cubicBezTo>
                  <a:lnTo>
                    <a:pt x="6298184" y="1816233"/>
                  </a:lnTo>
                  <a:cubicBezTo>
                    <a:pt x="6298184" y="1903448"/>
                    <a:pt x="6231763" y="1974166"/>
                    <a:pt x="6149848" y="1974166"/>
                  </a:cubicBezTo>
                  <a:lnTo>
                    <a:pt x="148336" y="1974166"/>
                  </a:lnTo>
                  <a:cubicBezTo>
                    <a:pt x="66421" y="1974166"/>
                    <a:pt x="0" y="1903448"/>
                    <a:pt x="0" y="1816233"/>
                  </a:cubicBezTo>
                  <a:close/>
                </a:path>
              </a:pathLst>
            </a:custGeom>
            <a:solidFill>
              <a:srgbClr val="FFFFFF"/>
            </a:solidFill>
            <a:ln w="19050" cap="sq">
              <a:solidFill>
                <a:srgbClr val="8EB69B"/>
              </a:solidFill>
              <a:prstDash val="dash"/>
              <a:miter/>
            </a:ln>
          </p:spPr>
        </p:sp>
      </p:grpSp>
      <p:sp>
        <p:nvSpPr>
          <p:cNvPr name="TextBox 48" id="48"/>
          <p:cNvSpPr txBox="true"/>
          <p:nvPr/>
        </p:nvSpPr>
        <p:spPr>
          <a:xfrm rot="0">
            <a:off x="12563094" y="4201724"/>
            <a:ext cx="4723638" cy="1266825"/>
          </a:xfrm>
          <a:prstGeom prst="rect">
            <a:avLst/>
          </a:prstGeom>
        </p:spPr>
        <p:txBody>
          <a:bodyPr anchor="t" rtlCol="false" tIns="0" lIns="0" bIns="0" rIns="0">
            <a:spAutoFit/>
          </a:bodyPr>
          <a:lstStyle/>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1: Analisis y Planificacion de requerimientos informaticos y arquitectura de Software</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2: Desarrollo aplicacion</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3: Pruebas funcionales del sistema, documentacion final y presentacion</a:t>
            </a:r>
          </a:p>
        </p:txBody>
      </p:sp>
      <p:grpSp>
        <p:nvGrpSpPr>
          <p:cNvPr name="Group 49" id="49"/>
          <p:cNvGrpSpPr/>
          <p:nvPr/>
        </p:nvGrpSpPr>
        <p:grpSpPr>
          <a:xfrm rot="0">
            <a:off x="17053103" y="9601200"/>
            <a:ext cx="822960" cy="480060"/>
            <a:chOff x="0" y="0"/>
            <a:chExt cx="1097280" cy="640080"/>
          </a:xfrm>
        </p:grpSpPr>
        <p:sp>
          <p:nvSpPr>
            <p:cNvPr name="Freeform 50" id="50"/>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51" id="51"/>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1028700" y="-246123"/>
            <a:ext cx="14401800" cy="3081449"/>
            <a:chOff x="0" y="0"/>
            <a:chExt cx="19202400" cy="4108599"/>
          </a:xfrm>
        </p:grpSpPr>
        <p:sp>
          <p:nvSpPr>
            <p:cNvPr name="Freeform 3" id="3"/>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2">
                <a:alphaModFix amt="0"/>
              </a:blip>
              <a:stretch>
                <a:fillRect l="0" t="-78826" r="0" b="-3308"/>
              </a:stretch>
            </a:blipFill>
          </p:spPr>
        </p:sp>
        <p:sp>
          <p:nvSpPr>
            <p:cNvPr name="TextBox 4" id="4"/>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Carta Gantt</a:t>
              </a:r>
            </a:p>
          </p:txBody>
        </p:sp>
      </p:grpSp>
      <p:sp>
        <p:nvSpPr>
          <p:cNvPr name="Freeform 5" id="5"/>
          <p:cNvSpPr/>
          <p:nvPr/>
        </p:nvSpPr>
        <p:spPr>
          <a:xfrm flipH="false" flipV="false" rot="0">
            <a:off x="1028700" y="2115479"/>
            <a:ext cx="16230600" cy="6056043"/>
          </a:xfrm>
          <a:custGeom>
            <a:avLst/>
            <a:gdLst/>
            <a:ahLst/>
            <a:cxnLst/>
            <a:rect r="r" b="b" t="t" l="l"/>
            <a:pathLst>
              <a:path h="6056043" w="16230600">
                <a:moveTo>
                  <a:pt x="0" y="0"/>
                </a:moveTo>
                <a:lnTo>
                  <a:pt x="16230600" y="0"/>
                </a:lnTo>
                <a:lnTo>
                  <a:pt x="16230600" y="6056042"/>
                </a:lnTo>
                <a:lnTo>
                  <a:pt x="0" y="6056042"/>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754380" y="685800"/>
            <a:ext cx="1028700" cy="1028700"/>
            <a:chOff x="0" y="0"/>
            <a:chExt cx="1371600" cy="1371600"/>
          </a:xfrm>
        </p:grpSpPr>
        <p:sp>
          <p:nvSpPr>
            <p:cNvPr name="Freeform 3" id="3"/>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8EB69B"/>
            </a:solidFill>
          </p:spPr>
        </p:sp>
      </p:grpSp>
      <p:grpSp>
        <p:nvGrpSpPr>
          <p:cNvPr name="Group 4" id="4"/>
          <p:cNvGrpSpPr/>
          <p:nvPr/>
        </p:nvGrpSpPr>
        <p:grpSpPr>
          <a:xfrm rot="0">
            <a:off x="1001268" y="932688"/>
            <a:ext cx="534924" cy="534924"/>
            <a:chOff x="0" y="0"/>
            <a:chExt cx="713232" cy="713232"/>
          </a:xfrm>
        </p:grpSpPr>
        <p:sp>
          <p:nvSpPr>
            <p:cNvPr name="Freeform 5" id="5" descr="/home/claude/sms-security/icons/file_dark1.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2"/>
              <a:stretch>
                <a:fillRect l="0" t="0" r="0" b="0"/>
              </a:stretch>
            </a:blipFill>
          </p:spPr>
        </p:sp>
      </p:grpSp>
      <p:grpSp>
        <p:nvGrpSpPr>
          <p:cNvPr name="Group 6" id="6"/>
          <p:cNvGrpSpPr/>
          <p:nvPr/>
        </p:nvGrpSpPr>
        <p:grpSpPr>
          <a:xfrm rot="0">
            <a:off x="1988820" y="576072"/>
            <a:ext cx="14401800" cy="754380"/>
            <a:chOff x="0" y="0"/>
            <a:chExt cx="19202400" cy="1005840"/>
          </a:xfrm>
        </p:grpSpPr>
        <p:sp>
          <p:nvSpPr>
            <p:cNvPr name="Freeform 7" id="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8" id="8"/>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Evidencias del Proyecto</a:t>
              </a:r>
            </a:p>
          </p:txBody>
        </p:sp>
      </p:grpSp>
      <p:grpSp>
        <p:nvGrpSpPr>
          <p:cNvPr name="Group 9" id="9"/>
          <p:cNvGrpSpPr/>
          <p:nvPr/>
        </p:nvGrpSpPr>
        <p:grpSpPr>
          <a:xfrm rot="0">
            <a:off x="1988820" y="1303020"/>
            <a:ext cx="14401800" cy="480060"/>
            <a:chOff x="0" y="0"/>
            <a:chExt cx="19202400" cy="640080"/>
          </a:xfrm>
        </p:grpSpPr>
        <p:sp>
          <p:nvSpPr>
            <p:cNvPr name="Freeform 10" id="10"/>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3">
                <a:alphaModFix amt="0"/>
              </a:blip>
              <a:stretch>
                <a:fillRect l="0" t="-534551" r="0" b="-534551"/>
              </a:stretch>
            </a:blipFill>
          </p:spPr>
        </p:sp>
        <p:sp>
          <p:nvSpPr>
            <p:cNvPr name="TextBox 11" id="11"/>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8EB69B"/>
                  </a:solidFill>
                  <a:latin typeface="Calibri (MS) Italics"/>
                  <a:ea typeface="Calibri (MS) Italics"/>
                  <a:cs typeface="Calibri (MS) Italics"/>
                  <a:sym typeface="Calibri (MS) Italics"/>
                </a:rPr>
                <a:t>Entregables técnicos que visibilizan el cumplimiento de metas</a:t>
              </a:r>
            </a:p>
          </p:txBody>
        </p:sp>
      </p:grpSp>
      <p:grpSp>
        <p:nvGrpSpPr>
          <p:cNvPr name="Group 12" id="12"/>
          <p:cNvGrpSpPr/>
          <p:nvPr/>
        </p:nvGrpSpPr>
        <p:grpSpPr>
          <a:xfrm rot="0">
            <a:off x="754380" y="2400300"/>
            <a:ext cx="5390388" cy="2948940"/>
            <a:chOff x="0" y="0"/>
            <a:chExt cx="7187184" cy="3931920"/>
          </a:xfrm>
        </p:grpSpPr>
        <p:sp>
          <p:nvSpPr>
            <p:cNvPr name="Freeform 13" id="13"/>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14" id="14"/>
          <p:cNvGrpSpPr/>
          <p:nvPr/>
        </p:nvGrpSpPr>
        <p:grpSpPr>
          <a:xfrm rot="0">
            <a:off x="3003804" y="2743200"/>
            <a:ext cx="891540" cy="891540"/>
            <a:chOff x="0" y="0"/>
            <a:chExt cx="1188720" cy="1188720"/>
          </a:xfrm>
        </p:grpSpPr>
        <p:sp>
          <p:nvSpPr>
            <p:cNvPr name="Freeform 15" id="15"/>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16" id="16"/>
          <p:cNvGrpSpPr/>
          <p:nvPr/>
        </p:nvGrpSpPr>
        <p:grpSpPr>
          <a:xfrm rot="0">
            <a:off x="3217774" y="2957170"/>
            <a:ext cx="463601" cy="463601"/>
            <a:chOff x="0" y="0"/>
            <a:chExt cx="618134" cy="618134"/>
          </a:xfrm>
        </p:grpSpPr>
        <p:sp>
          <p:nvSpPr>
            <p:cNvPr name="Freeform 17" id="17" descr="/home/claude/sms-security/icons/clipboard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4"/>
              <a:stretch>
                <a:fillRect l="0" t="0" r="-4" b="-4"/>
              </a:stretch>
            </a:blipFill>
          </p:spPr>
        </p:sp>
      </p:grpSp>
      <p:grpSp>
        <p:nvGrpSpPr>
          <p:cNvPr name="Group 18" id="18"/>
          <p:cNvGrpSpPr/>
          <p:nvPr/>
        </p:nvGrpSpPr>
        <p:grpSpPr>
          <a:xfrm rot="0">
            <a:off x="1028700" y="3840480"/>
            <a:ext cx="4841748" cy="617220"/>
            <a:chOff x="0" y="0"/>
            <a:chExt cx="6455664" cy="822960"/>
          </a:xfrm>
        </p:grpSpPr>
        <p:sp>
          <p:nvSpPr>
            <p:cNvPr name="Freeform 19" id="19"/>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20" id="20"/>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Documento de requerimientos ]</a:t>
              </a:r>
            </a:p>
          </p:txBody>
        </p:sp>
      </p:grpSp>
      <p:grpSp>
        <p:nvGrpSpPr>
          <p:cNvPr name="Group 21" id="21"/>
          <p:cNvGrpSpPr/>
          <p:nvPr/>
        </p:nvGrpSpPr>
        <p:grpSpPr>
          <a:xfrm rot="0">
            <a:off x="6419088" y="2400300"/>
            <a:ext cx="5390388" cy="2948940"/>
            <a:chOff x="0" y="0"/>
            <a:chExt cx="7187184" cy="3931920"/>
          </a:xfrm>
        </p:grpSpPr>
        <p:sp>
          <p:nvSpPr>
            <p:cNvPr name="Freeform 22" id="22"/>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23" id="23"/>
          <p:cNvGrpSpPr/>
          <p:nvPr/>
        </p:nvGrpSpPr>
        <p:grpSpPr>
          <a:xfrm rot="0">
            <a:off x="8668512" y="2743200"/>
            <a:ext cx="891540" cy="891540"/>
            <a:chOff x="0" y="0"/>
            <a:chExt cx="1188720" cy="1188720"/>
          </a:xfrm>
        </p:grpSpPr>
        <p:sp>
          <p:nvSpPr>
            <p:cNvPr name="Freeform 24" id="24"/>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25" id="25"/>
          <p:cNvGrpSpPr/>
          <p:nvPr/>
        </p:nvGrpSpPr>
        <p:grpSpPr>
          <a:xfrm rot="0">
            <a:off x="8882482" y="2957170"/>
            <a:ext cx="463601" cy="463601"/>
            <a:chOff x="0" y="0"/>
            <a:chExt cx="618134" cy="618134"/>
          </a:xfrm>
        </p:grpSpPr>
        <p:sp>
          <p:nvSpPr>
            <p:cNvPr name="Freeform 26" id="26" descr="/home/claude/sms-security/icons/cod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5"/>
              <a:stretch>
                <a:fillRect l="0" t="0" r="-4" b="-4"/>
              </a:stretch>
            </a:blipFill>
          </p:spPr>
        </p:sp>
      </p:grpSp>
      <p:grpSp>
        <p:nvGrpSpPr>
          <p:cNvPr name="Group 27" id="27"/>
          <p:cNvGrpSpPr/>
          <p:nvPr/>
        </p:nvGrpSpPr>
        <p:grpSpPr>
          <a:xfrm rot="0">
            <a:off x="6693408" y="3840480"/>
            <a:ext cx="4841748" cy="617220"/>
            <a:chOff x="0" y="0"/>
            <a:chExt cx="6455664" cy="822960"/>
          </a:xfrm>
        </p:grpSpPr>
        <p:sp>
          <p:nvSpPr>
            <p:cNvPr name="Freeform 28" id="28"/>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29" id="29"/>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Mockups de interfaz ]</a:t>
              </a:r>
            </a:p>
          </p:txBody>
        </p:sp>
      </p:grpSp>
      <p:grpSp>
        <p:nvGrpSpPr>
          <p:cNvPr name="Group 30" id="30"/>
          <p:cNvGrpSpPr/>
          <p:nvPr/>
        </p:nvGrpSpPr>
        <p:grpSpPr>
          <a:xfrm rot="0">
            <a:off x="12083796" y="2400300"/>
            <a:ext cx="5390388" cy="2948940"/>
            <a:chOff x="0" y="0"/>
            <a:chExt cx="7187184" cy="3931920"/>
          </a:xfrm>
        </p:grpSpPr>
        <p:sp>
          <p:nvSpPr>
            <p:cNvPr name="Freeform 31" id="31"/>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32" id="32"/>
          <p:cNvGrpSpPr/>
          <p:nvPr/>
        </p:nvGrpSpPr>
        <p:grpSpPr>
          <a:xfrm rot="0">
            <a:off x="14333220" y="2743200"/>
            <a:ext cx="891540" cy="891540"/>
            <a:chOff x="0" y="0"/>
            <a:chExt cx="1188720" cy="1188720"/>
          </a:xfrm>
        </p:grpSpPr>
        <p:sp>
          <p:nvSpPr>
            <p:cNvPr name="Freeform 33" id="33"/>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34" id="34"/>
          <p:cNvGrpSpPr/>
          <p:nvPr/>
        </p:nvGrpSpPr>
        <p:grpSpPr>
          <a:xfrm rot="0">
            <a:off x="14547190" y="2957170"/>
            <a:ext cx="463601" cy="463601"/>
            <a:chOff x="0" y="0"/>
            <a:chExt cx="618134" cy="618134"/>
          </a:xfrm>
        </p:grpSpPr>
        <p:sp>
          <p:nvSpPr>
            <p:cNvPr name="Freeform 35" id="35" descr="/home/claude/sms-security/icons/databas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6"/>
              <a:stretch>
                <a:fillRect l="0" t="0" r="-4" b="-4"/>
              </a:stretch>
            </a:blipFill>
          </p:spPr>
        </p:sp>
      </p:grpSp>
      <p:grpSp>
        <p:nvGrpSpPr>
          <p:cNvPr name="Group 36" id="36"/>
          <p:cNvGrpSpPr/>
          <p:nvPr/>
        </p:nvGrpSpPr>
        <p:grpSpPr>
          <a:xfrm rot="0">
            <a:off x="12358116" y="3840480"/>
            <a:ext cx="4841748" cy="617220"/>
            <a:chOff x="0" y="0"/>
            <a:chExt cx="6455664" cy="822960"/>
          </a:xfrm>
        </p:grpSpPr>
        <p:sp>
          <p:nvSpPr>
            <p:cNvPr name="Freeform 37" id="37"/>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38" id="38"/>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Modelo de datos y  Arquitectura del sistema ]</a:t>
              </a:r>
            </a:p>
          </p:txBody>
        </p:sp>
      </p:grpSp>
      <p:grpSp>
        <p:nvGrpSpPr>
          <p:cNvPr name="Group 39" id="39"/>
          <p:cNvGrpSpPr/>
          <p:nvPr/>
        </p:nvGrpSpPr>
        <p:grpSpPr>
          <a:xfrm rot="0">
            <a:off x="754380" y="5692140"/>
            <a:ext cx="5390388" cy="2948940"/>
            <a:chOff x="0" y="0"/>
            <a:chExt cx="7187184" cy="3931920"/>
          </a:xfrm>
        </p:grpSpPr>
        <p:sp>
          <p:nvSpPr>
            <p:cNvPr name="Freeform 40" id="40"/>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41" id="41"/>
          <p:cNvGrpSpPr/>
          <p:nvPr/>
        </p:nvGrpSpPr>
        <p:grpSpPr>
          <a:xfrm rot="0">
            <a:off x="3003804" y="6035040"/>
            <a:ext cx="891540" cy="891540"/>
            <a:chOff x="0" y="0"/>
            <a:chExt cx="1188720" cy="1188720"/>
          </a:xfrm>
        </p:grpSpPr>
        <p:sp>
          <p:nvSpPr>
            <p:cNvPr name="Freeform 42" id="42"/>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43" id="43"/>
          <p:cNvGrpSpPr/>
          <p:nvPr/>
        </p:nvGrpSpPr>
        <p:grpSpPr>
          <a:xfrm rot="0">
            <a:off x="1028700" y="7132320"/>
            <a:ext cx="4841748" cy="617220"/>
            <a:chOff x="0" y="0"/>
            <a:chExt cx="6455664" cy="822960"/>
          </a:xfrm>
        </p:grpSpPr>
        <p:sp>
          <p:nvSpPr>
            <p:cNvPr name="Freeform 44" id="44"/>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45" id="45"/>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Backend / Scoring ]</a:t>
              </a:r>
            </a:p>
          </p:txBody>
        </p:sp>
      </p:grpSp>
      <p:grpSp>
        <p:nvGrpSpPr>
          <p:cNvPr name="Group 46" id="46"/>
          <p:cNvGrpSpPr/>
          <p:nvPr/>
        </p:nvGrpSpPr>
        <p:grpSpPr>
          <a:xfrm rot="0">
            <a:off x="6419088" y="5692140"/>
            <a:ext cx="5390388" cy="2948940"/>
            <a:chOff x="0" y="0"/>
            <a:chExt cx="7187184" cy="3931920"/>
          </a:xfrm>
        </p:grpSpPr>
        <p:sp>
          <p:nvSpPr>
            <p:cNvPr name="Freeform 47" id="47"/>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48" id="48"/>
          <p:cNvGrpSpPr/>
          <p:nvPr/>
        </p:nvGrpSpPr>
        <p:grpSpPr>
          <a:xfrm rot="0">
            <a:off x="8668512" y="6035040"/>
            <a:ext cx="891540" cy="891540"/>
            <a:chOff x="0" y="0"/>
            <a:chExt cx="1188720" cy="1188720"/>
          </a:xfrm>
        </p:grpSpPr>
        <p:sp>
          <p:nvSpPr>
            <p:cNvPr name="Freeform 49" id="49"/>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50" id="50"/>
          <p:cNvGrpSpPr/>
          <p:nvPr/>
        </p:nvGrpSpPr>
        <p:grpSpPr>
          <a:xfrm rot="0">
            <a:off x="8882482" y="6249010"/>
            <a:ext cx="463601" cy="463601"/>
            <a:chOff x="0" y="0"/>
            <a:chExt cx="618134" cy="618134"/>
          </a:xfrm>
        </p:grpSpPr>
        <p:sp>
          <p:nvSpPr>
            <p:cNvPr name="Freeform 51" id="51" descr="/home/claude/sms-security/icons/mobil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7"/>
              <a:stretch>
                <a:fillRect l="0" t="0" r="-4" b="-4"/>
              </a:stretch>
            </a:blipFill>
          </p:spPr>
        </p:sp>
      </p:grpSp>
      <p:grpSp>
        <p:nvGrpSpPr>
          <p:cNvPr name="Group 52" id="52"/>
          <p:cNvGrpSpPr/>
          <p:nvPr/>
        </p:nvGrpSpPr>
        <p:grpSpPr>
          <a:xfrm rot="0">
            <a:off x="6693408" y="7132320"/>
            <a:ext cx="4841748" cy="617220"/>
            <a:chOff x="0" y="0"/>
            <a:chExt cx="6455664" cy="822960"/>
          </a:xfrm>
        </p:grpSpPr>
        <p:sp>
          <p:nvSpPr>
            <p:cNvPr name="Freeform 53" id="53"/>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54" id="54"/>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Frontend y Chatbot ]</a:t>
              </a:r>
            </a:p>
          </p:txBody>
        </p:sp>
      </p:grpSp>
      <p:grpSp>
        <p:nvGrpSpPr>
          <p:cNvPr name="Group 55" id="55"/>
          <p:cNvGrpSpPr/>
          <p:nvPr/>
        </p:nvGrpSpPr>
        <p:grpSpPr>
          <a:xfrm rot="0">
            <a:off x="12083796" y="5692140"/>
            <a:ext cx="5390388" cy="2948940"/>
            <a:chOff x="0" y="0"/>
            <a:chExt cx="7187184" cy="3931920"/>
          </a:xfrm>
        </p:grpSpPr>
        <p:sp>
          <p:nvSpPr>
            <p:cNvPr name="Freeform 56" id="56"/>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57" id="57"/>
          <p:cNvGrpSpPr/>
          <p:nvPr/>
        </p:nvGrpSpPr>
        <p:grpSpPr>
          <a:xfrm rot="0">
            <a:off x="14333220" y="6035040"/>
            <a:ext cx="891540" cy="891540"/>
            <a:chOff x="0" y="0"/>
            <a:chExt cx="1188720" cy="1188720"/>
          </a:xfrm>
        </p:grpSpPr>
        <p:sp>
          <p:nvSpPr>
            <p:cNvPr name="Freeform 58" id="58"/>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59" id="59"/>
          <p:cNvGrpSpPr/>
          <p:nvPr/>
        </p:nvGrpSpPr>
        <p:grpSpPr>
          <a:xfrm rot="0">
            <a:off x="14547190" y="6249010"/>
            <a:ext cx="463601" cy="463601"/>
            <a:chOff x="0" y="0"/>
            <a:chExt cx="618134" cy="618134"/>
          </a:xfrm>
        </p:grpSpPr>
        <p:sp>
          <p:nvSpPr>
            <p:cNvPr name="Freeform 60" id="60" descr="/home/claude/sms-security/icons/chart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8"/>
              <a:stretch>
                <a:fillRect l="0" t="0" r="-4" b="-4"/>
              </a:stretch>
            </a:blipFill>
          </p:spPr>
        </p:sp>
      </p:grpSp>
      <p:grpSp>
        <p:nvGrpSpPr>
          <p:cNvPr name="Group 61" id="61"/>
          <p:cNvGrpSpPr/>
          <p:nvPr/>
        </p:nvGrpSpPr>
        <p:grpSpPr>
          <a:xfrm rot="0">
            <a:off x="12358116" y="7132320"/>
            <a:ext cx="4841748" cy="617220"/>
            <a:chOff x="0" y="0"/>
            <a:chExt cx="6455664" cy="822960"/>
          </a:xfrm>
        </p:grpSpPr>
        <p:sp>
          <p:nvSpPr>
            <p:cNvPr name="Freeform 62" id="62"/>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63" id="63"/>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App integrada, pruebas y memoria ]</a:t>
              </a:r>
            </a:p>
          </p:txBody>
        </p:sp>
      </p:grpSp>
      <p:grpSp>
        <p:nvGrpSpPr>
          <p:cNvPr name="Group 64" id="64"/>
          <p:cNvGrpSpPr/>
          <p:nvPr/>
        </p:nvGrpSpPr>
        <p:grpSpPr>
          <a:xfrm rot="0">
            <a:off x="17053103" y="9601200"/>
            <a:ext cx="822960" cy="480060"/>
            <a:chOff x="0" y="0"/>
            <a:chExt cx="1097280" cy="640080"/>
          </a:xfrm>
        </p:grpSpPr>
        <p:sp>
          <p:nvSpPr>
            <p:cNvPr name="Freeform 65" id="6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66" id="6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EB69B"/>
                  </a:solidFill>
                  <a:latin typeface="Calibri (MS)"/>
                  <a:ea typeface="Calibri (MS)"/>
                  <a:cs typeface="Calibri (MS)"/>
                  <a:sym typeface="Calibri (MS)"/>
                </a:rPr>
                <a:t>08</a:t>
              </a:r>
            </a:p>
          </p:txBody>
        </p:sp>
      </p:grpSp>
      <p:sp>
        <p:nvSpPr>
          <p:cNvPr name="Freeform 67" id="67"/>
          <p:cNvSpPr/>
          <p:nvPr/>
        </p:nvSpPr>
        <p:spPr>
          <a:xfrm flipH="false" flipV="false" rot="0">
            <a:off x="3217774" y="6194232"/>
            <a:ext cx="484316" cy="573156"/>
          </a:xfrm>
          <a:custGeom>
            <a:avLst/>
            <a:gdLst/>
            <a:ahLst/>
            <a:cxnLst/>
            <a:rect r="r" b="b" t="t" l="l"/>
            <a:pathLst>
              <a:path h="573156" w="484316">
                <a:moveTo>
                  <a:pt x="0" y="0"/>
                </a:moveTo>
                <a:lnTo>
                  <a:pt x="484316" y="0"/>
                </a:lnTo>
                <a:lnTo>
                  <a:pt x="484316" y="573156"/>
                </a:lnTo>
                <a:lnTo>
                  <a:pt x="0" y="5731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8" id="68"/>
          <p:cNvSpPr/>
          <p:nvPr/>
        </p:nvSpPr>
        <p:spPr>
          <a:xfrm flipH="false" flipV="false" rot="0">
            <a:off x="8983831" y="6311265"/>
            <a:ext cx="260902" cy="240030"/>
          </a:xfrm>
          <a:custGeom>
            <a:avLst/>
            <a:gdLst/>
            <a:ahLst/>
            <a:cxnLst/>
            <a:rect r="r" b="b" t="t" l="l"/>
            <a:pathLst>
              <a:path h="240030" w="260902">
                <a:moveTo>
                  <a:pt x="0" y="0"/>
                </a:moveTo>
                <a:lnTo>
                  <a:pt x="260902" y="0"/>
                </a:lnTo>
                <a:lnTo>
                  <a:pt x="260902" y="240030"/>
                </a:lnTo>
                <a:lnTo>
                  <a:pt x="0" y="240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1988820" y="576072"/>
            <a:ext cx="14401800" cy="754380"/>
            <a:chOff x="0" y="0"/>
            <a:chExt cx="19202400" cy="1005840"/>
          </a:xfrm>
        </p:grpSpPr>
        <p:sp>
          <p:nvSpPr>
            <p:cNvPr name="Freeform 4" id="4"/>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5" id="5"/>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Bibliografia</a:t>
              </a:r>
            </a:p>
          </p:txBody>
        </p:sp>
      </p:grpSp>
      <p:grpSp>
        <p:nvGrpSpPr>
          <p:cNvPr name="Group 6" id="6"/>
          <p:cNvGrpSpPr/>
          <p:nvPr/>
        </p:nvGrpSpPr>
        <p:grpSpPr>
          <a:xfrm rot="0">
            <a:off x="1988820" y="1303020"/>
            <a:ext cx="14401800" cy="1277234"/>
            <a:chOff x="0" y="0"/>
            <a:chExt cx="19202400" cy="1702978"/>
          </a:xfrm>
        </p:grpSpPr>
        <p:sp>
          <p:nvSpPr>
            <p:cNvPr name="Freeform 7" id="7"/>
            <p:cNvSpPr/>
            <p:nvPr/>
          </p:nvSpPr>
          <p:spPr>
            <a:xfrm flipH="false" flipV="false" rot="0">
              <a:off x="0" y="0"/>
              <a:ext cx="19202400" cy="1702978"/>
            </a:xfrm>
            <a:custGeom>
              <a:avLst/>
              <a:gdLst/>
              <a:ahLst/>
              <a:cxnLst/>
              <a:rect r="r" b="b" t="t" l="l"/>
              <a:pathLst>
                <a:path h="1702978" w="19202400">
                  <a:moveTo>
                    <a:pt x="0" y="0"/>
                  </a:moveTo>
                  <a:lnTo>
                    <a:pt x="19202400" y="0"/>
                  </a:lnTo>
                  <a:lnTo>
                    <a:pt x="19202400" y="1702978"/>
                  </a:lnTo>
                  <a:lnTo>
                    <a:pt x="0" y="1702978"/>
                  </a:lnTo>
                  <a:close/>
                </a:path>
              </a:pathLst>
            </a:custGeom>
            <a:blipFill>
              <a:blip r:embed="rId3">
                <a:alphaModFix amt="0"/>
              </a:blip>
              <a:stretch>
                <a:fillRect l="0" t="-200915" r="0" b="-138501"/>
              </a:stretch>
            </a:blipFill>
          </p:spPr>
        </p:sp>
        <p:sp>
          <p:nvSpPr>
            <p:cNvPr name="TextBox 8" id="8"/>
            <p:cNvSpPr txBox="true"/>
            <p:nvPr/>
          </p:nvSpPr>
          <p:spPr>
            <a:xfrm>
              <a:off x="0" y="-47625"/>
              <a:ext cx="19202400" cy="1750603"/>
            </a:xfrm>
            <a:prstGeom prst="rect">
              <a:avLst/>
            </a:prstGeom>
          </p:spPr>
          <p:txBody>
            <a:bodyPr anchor="ctr" rtlCol="false" tIns="0" lIns="0" bIns="0" rIns="0"/>
            <a:lstStyle/>
            <a:p>
              <a:pPr algn="l" marL="421005" indent="-210502" lvl="1">
                <a:lnSpc>
                  <a:spcPts val="2340"/>
                </a:lnSpc>
                <a:buFont typeface="Arial"/>
                <a:buChar char="•"/>
              </a:pPr>
              <a:r>
                <a:rPr lang="en-US" sz="1950" i="true">
                  <a:solidFill>
                    <a:srgbClr val="235347"/>
                  </a:solidFill>
                  <a:latin typeface="Calibri (MS) Italics"/>
                  <a:ea typeface="Calibri (MS) Italics"/>
                  <a:cs typeface="Calibri (MS) Italics"/>
                  <a:sym typeface="Calibri (MS) Italics"/>
                </a:rPr>
                <a:t>Día, D. E. (2026, 21 agosto). Una de cada 4 personas en Chile cayó en estafa SMS por cobros. Diario el Día. https://www.diarioeldia.cl/noticias/2026/08/21/148405-una-de-cada-4-personas-en-chile-cayo-en-estafa-sms-por-cobros</a:t>
              </a:r>
            </a:p>
            <a:p>
              <a:pPr algn="l" marL="421005" indent="-210502" lvl="1">
                <a:lnSpc>
                  <a:spcPts val="2340"/>
                </a:lnSpc>
                <a:buFont typeface="Arial"/>
                <a:buChar char="•"/>
              </a:pPr>
              <a:r>
                <a:rPr lang="en-US" sz="1950" i="true">
                  <a:solidFill>
                    <a:srgbClr val="235347"/>
                  </a:solidFill>
                  <a:latin typeface="Calibri (MS) Italics"/>
                  <a:ea typeface="Calibri (MS) Italics"/>
                  <a:cs typeface="Calibri (MS) Italics"/>
                  <a:sym typeface="Calibri (MS) Italics"/>
                </a:rPr>
                <a:t>trendTIC. (2026, 27 de agosto). "Ley Neme": Expertos en ciberseguridad ofrecen una guía para evitar estafas por SMS. </a:t>
              </a:r>
              <a:r>
                <a:rPr lang="en-US" sz="1950" i="true" u="sng">
                  <a:solidFill>
                    <a:srgbClr val="235347"/>
                  </a:solidFill>
                  <a:latin typeface="Calibri (MS) Italics"/>
                  <a:ea typeface="Calibri (MS) Italics"/>
                  <a:cs typeface="Calibri (MS) Italics"/>
                  <a:sym typeface="Calibri (MS) Italics"/>
                  <a:hlinkClick r:id="rId4" tooltip="https://www.trendtic.cl/2026/08/ley-neme-expertos-en-ciberseguridad-ofrecen-una-guia-para-evitar-estafas-por-sms/"/>
                </a:rPr>
                <a:t>https://www.trendtic.cl/2026/08/ley-neme-expertos-en-ciberseguridad-ofrecen-una-guia-para-evitar-estafas-por-sms/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DAHT_41MwW0</dc:identifier>
  <dcterms:modified xsi:type="dcterms:W3CDTF">2011-08-01T06:04:30Z</dcterms:modified>
  <cp:revision>1</cp:revision>
  <dc:title>Presentación Proyecto</dc:title>
</cp:coreProperties>
</file>