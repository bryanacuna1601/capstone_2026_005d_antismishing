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Calibri (MS) Bold" charset="1" panose="020F0702030404030204"/>
      <p:regular r:id="rId16"/>
    </p:embeddedFont>
    <p:embeddedFont>
      <p:font typeface="Cambria Bold" charset="1" panose="02040803050406030204"/>
      <p:regular r:id="rId17"/>
    </p:embeddedFont>
    <p:embeddedFont>
      <p:font typeface="Calibri (MS)" charset="1" panose="020F0502020204030204"/>
      <p:regular r:id="rId18"/>
    </p:embeddedFont>
    <p:embeddedFont>
      <p:font typeface="Calibri (MS) Italics" charset="1" panose="020F05020202040A0204"/>
      <p:regular r:id="rId19"/>
    </p:embeddedFont>
    <p:embeddedFont>
      <p:font typeface="Calibri (MS) Bold Italics" charset="1" panose="020F07020304040A02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png" Type="http://schemas.openxmlformats.org/officeDocument/2006/relationships/image"/><Relationship Id="rId4" Target="../media/image3.jpe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media/image13.png" Type="http://schemas.openxmlformats.org/officeDocument/2006/relationships/image"/><Relationship Id="rId9" Target="../media/image1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15.png" Type="http://schemas.openxmlformats.org/officeDocument/2006/relationships/image"/><Relationship Id="rId4" Target="../media/image3.jpeg" Type="http://schemas.openxmlformats.org/officeDocument/2006/relationships/image"/><Relationship Id="rId5" Target="../media/image16.png" Type="http://schemas.openxmlformats.org/officeDocument/2006/relationships/image"/><Relationship Id="rId6" Target="../media/image17.png" Type="http://schemas.openxmlformats.org/officeDocument/2006/relationships/image"/><Relationship Id="rId7" Target="../media/image18.png" Type="http://schemas.openxmlformats.org/officeDocument/2006/relationships/image"/><Relationship Id="rId8" Target="../media/image19.png" Type="http://schemas.openxmlformats.org/officeDocument/2006/relationships/image"/><Relationship Id="rId9" Target="../media/image2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1.png" Type="http://schemas.openxmlformats.org/officeDocument/2006/relationships/image"/><Relationship Id="rId4" Target="../media/image3.jpeg" Type="http://schemas.openxmlformats.org/officeDocument/2006/relationships/image"/><Relationship Id="rId5" Target="../media/image22.png" Type="http://schemas.openxmlformats.org/officeDocument/2006/relationships/image"/><Relationship Id="rId6" Target="../media/image2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4.png" Type="http://schemas.openxmlformats.org/officeDocument/2006/relationships/image"/><Relationship Id="rId4" Target="../media/image3.jpeg" Type="http://schemas.openxmlformats.org/officeDocument/2006/relationships/image"/><Relationship Id="rId5" Target="../media/image25.png" Type="http://schemas.openxmlformats.org/officeDocument/2006/relationships/image"/><Relationship Id="rId6" Target="../media/image2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3.jpe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29.png" Type="http://schemas.openxmlformats.org/officeDocument/2006/relationships/image"/><Relationship Id="rId7" Target="../media/image30.png" Type="http://schemas.openxmlformats.org/officeDocument/2006/relationships/image"/><Relationship Id="rId8" Target="../media/image31.png" Type="http://schemas.openxmlformats.org/officeDocument/2006/relationships/image"/><Relationship Id="rId9" Target="../media/image2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32.png" Type="http://schemas.openxmlformats.org/officeDocument/2006/relationships/image"/><Relationship Id="rId4" Target="../media/image3.jpeg" Type="http://schemas.openxmlformats.org/officeDocument/2006/relationships/image"/><Relationship Id="rId5" Target="../media/image33.png" Type="http://schemas.openxmlformats.org/officeDocument/2006/relationships/image"/><Relationship Id="rId6" Target="../media/image34.png" Type="http://schemas.openxmlformats.org/officeDocument/2006/relationships/image"/><Relationship Id="rId7" Target="../media/image2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3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0.svg" Type="http://schemas.openxmlformats.org/officeDocument/2006/relationships/image"/><Relationship Id="rId11" Target="../media/image41.png" Type="http://schemas.openxmlformats.org/officeDocument/2006/relationships/image"/><Relationship Id="rId12" Target="../media/image42.svg" Type="http://schemas.openxmlformats.org/officeDocument/2006/relationships/image"/><Relationship Id="rId2" Target="../media/image36.png" Type="http://schemas.openxmlformats.org/officeDocument/2006/relationships/image"/><Relationship Id="rId3" Target="../media/image3.jpeg" Type="http://schemas.openxmlformats.org/officeDocument/2006/relationships/image"/><Relationship Id="rId4" Target="../media/image33.png" Type="http://schemas.openxmlformats.org/officeDocument/2006/relationships/image"/><Relationship Id="rId5" Target="../media/image30.png" Type="http://schemas.openxmlformats.org/officeDocument/2006/relationships/image"/><Relationship Id="rId6" Target="../media/image37.png" Type="http://schemas.openxmlformats.org/officeDocument/2006/relationships/image"/><Relationship Id="rId7" Target="../media/image4.png" Type="http://schemas.openxmlformats.org/officeDocument/2006/relationships/image"/><Relationship Id="rId8" Target="../media/image38.png" Type="http://schemas.openxmlformats.org/officeDocument/2006/relationships/image"/><Relationship Id="rId9" Target="../media/image3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3.jpeg" Type="http://schemas.openxmlformats.org/officeDocument/2006/relationships/image"/><Relationship Id="rId4" Target="https://www.trendtic.cl/2026/08/ley-neme-expertos-en-ciberseguridad-ofrecen-una-guia-para-evitar-estafas-por-sms/"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51F20"/>
        </a:solidFill>
      </p:bgPr>
    </p:bg>
    <p:spTree>
      <p:nvGrpSpPr>
        <p:cNvPr id="1" name=""/>
        <p:cNvGrpSpPr/>
        <p:nvPr/>
      </p:nvGrpSpPr>
      <p:grpSpPr>
        <a:xfrm>
          <a:off x="0" y="0"/>
          <a:ext cx="0" cy="0"/>
          <a:chOff x="0" y="0"/>
          <a:chExt cx="0" cy="0"/>
        </a:xfrm>
      </p:grpSpPr>
      <p:sp>
        <p:nvSpPr>
          <p:cNvPr name="Freeform 2" id="2"/>
          <p:cNvSpPr/>
          <p:nvPr/>
        </p:nvSpPr>
        <p:spPr>
          <a:xfrm flipH="false" flipV="false" rot="0">
            <a:off x="11480292" y="-24844"/>
            <a:ext cx="17854191" cy="10336688"/>
          </a:xfrm>
          <a:custGeom>
            <a:avLst/>
            <a:gdLst/>
            <a:ahLst/>
            <a:cxnLst/>
            <a:rect r="r" b="b" t="t" l="l"/>
            <a:pathLst>
              <a:path h="10336688" w="17854191">
                <a:moveTo>
                  <a:pt x="0" y="0"/>
                </a:moveTo>
                <a:lnTo>
                  <a:pt x="17854191" y="0"/>
                </a:lnTo>
                <a:lnTo>
                  <a:pt x="17854191" y="10336688"/>
                </a:lnTo>
                <a:lnTo>
                  <a:pt x="0" y="10336688"/>
                </a:lnTo>
                <a:lnTo>
                  <a:pt x="0" y="0"/>
                </a:lnTo>
                <a:close/>
              </a:path>
            </a:pathLst>
          </a:custGeom>
          <a:blipFill>
            <a:blip r:embed="rId2">
              <a:alphaModFix amt="59000"/>
            </a:blip>
            <a:stretch>
              <a:fillRect l="-4046" t="-320" r="0" b="-320"/>
            </a:stretch>
          </a:blipFill>
        </p:spPr>
      </p:sp>
      <p:grpSp>
        <p:nvGrpSpPr>
          <p:cNvPr name="Group 3" id="3"/>
          <p:cNvGrpSpPr/>
          <p:nvPr/>
        </p:nvGrpSpPr>
        <p:grpSpPr>
          <a:xfrm rot="0">
            <a:off x="13167360" y="822960"/>
            <a:ext cx="68580" cy="68580"/>
            <a:chOff x="0" y="0"/>
            <a:chExt cx="91440" cy="91440"/>
          </a:xfrm>
        </p:grpSpPr>
        <p:sp>
          <p:nvSpPr>
            <p:cNvPr name="Freeform 4" id="4"/>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5" id="5"/>
          <p:cNvGrpSpPr/>
          <p:nvPr/>
        </p:nvGrpSpPr>
        <p:grpSpPr>
          <a:xfrm rot="0">
            <a:off x="13167360" y="1261872"/>
            <a:ext cx="68580" cy="68580"/>
            <a:chOff x="0" y="0"/>
            <a:chExt cx="91440" cy="91440"/>
          </a:xfrm>
        </p:grpSpPr>
        <p:sp>
          <p:nvSpPr>
            <p:cNvPr name="Freeform 6" id="6"/>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7" id="7"/>
          <p:cNvGrpSpPr/>
          <p:nvPr/>
        </p:nvGrpSpPr>
        <p:grpSpPr>
          <a:xfrm rot="0">
            <a:off x="13167360" y="1700784"/>
            <a:ext cx="68580" cy="68580"/>
            <a:chOff x="0" y="0"/>
            <a:chExt cx="91440" cy="91440"/>
          </a:xfrm>
        </p:grpSpPr>
        <p:sp>
          <p:nvSpPr>
            <p:cNvPr name="Freeform 8" id="8"/>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9" id="9"/>
          <p:cNvGrpSpPr/>
          <p:nvPr/>
        </p:nvGrpSpPr>
        <p:grpSpPr>
          <a:xfrm rot="0">
            <a:off x="13167360" y="2139696"/>
            <a:ext cx="68580" cy="68580"/>
            <a:chOff x="0" y="0"/>
            <a:chExt cx="91440" cy="91440"/>
          </a:xfrm>
        </p:grpSpPr>
        <p:sp>
          <p:nvSpPr>
            <p:cNvPr name="Freeform 10" id="10"/>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11" id="11"/>
          <p:cNvGrpSpPr/>
          <p:nvPr/>
        </p:nvGrpSpPr>
        <p:grpSpPr>
          <a:xfrm rot="0">
            <a:off x="13606272" y="822960"/>
            <a:ext cx="68580" cy="68580"/>
            <a:chOff x="0" y="0"/>
            <a:chExt cx="91440" cy="91440"/>
          </a:xfrm>
        </p:grpSpPr>
        <p:sp>
          <p:nvSpPr>
            <p:cNvPr name="Freeform 12" id="12"/>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13" id="13"/>
          <p:cNvGrpSpPr/>
          <p:nvPr/>
        </p:nvGrpSpPr>
        <p:grpSpPr>
          <a:xfrm rot="0">
            <a:off x="13606272" y="1261872"/>
            <a:ext cx="68580" cy="68580"/>
            <a:chOff x="0" y="0"/>
            <a:chExt cx="91440" cy="91440"/>
          </a:xfrm>
        </p:grpSpPr>
        <p:sp>
          <p:nvSpPr>
            <p:cNvPr name="Freeform 14" id="14"/>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15" id="15"/>
          <p:cNvGrpSpPr/>
          <p:nvPr/>
        </p:nvGrpSpPr>
        <p:grpSpPr>
          <a:xfrm rot="0">
            <a:off x="13606272" y="1700784"/>
            <a:ext cx="68580" cy="68580"/>
            <a:chOff x="0" y="0"/>
            <a:chExt cx="91440" cy="91440"/>
          </a:xfrm>
        </p:grpSpPr>
        <p:sp>
          <p:nvSpPr>
            <p:cNvPr name="Freeform 16" id="16"/>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17" id="17"/>
          <p:cNvGrpSpPr/>
          <p:nvPr/>
        </p:nvGrpSpPr>
        <p:grpSpPr>
          <a:xfrm rot="0">
            <a:off x="13606272" y="2139696"/>
            <a:ext cx="68580" cy="68580"/>
            <a:chOff x="0" y="0"/>
            <a:chExt cx="91440" cy="91440"/>
          </a:xfrm>
        </p:grpSpPr>
        <p:sp>
          <p:nvSpPr>
            <p:cNvPr name="Freeform 18" id="18"/>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19" id="19"/>
          <p:cNvGrpSpPr/>
          <p:nvPr/>
        </p:nvGrpSpPr>
        <p:grpSpPr>
          <a:xfrm rot="0">
            <a:off x="14045184" y="822960"/>
            <a:ext cx="68580" cy="68580"/>
            <a:chOff x="0" y="0"/>
            <a:chExt cx="91440" cy="91440"/>
          </a:xfrm>
        </p:grpSpPr>
        <p:sp>
          <p:nvSpPr>
            <p:cNvPr name="Freeform 20" id="20"/>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21" id="21"/>
          <p:cNvGrpSpPr/>
          <p:nvPr/>
        </p:nvGrpSpPr>
        <p:grpSpPr>
          <a:xfrm rot="0">
            <a:off x="14045184" y="1261872"/>
            <a:ext cx="68580" cy="68580"/>
            <a:chOff x="0" y="0"/>
            <a:chExt cx="91440" cy="91440"/>
          </a:xfrm>
        </p:grpSpPr>
        <p:sp>
          <p:nvSpPr>
            <p:cNvPr name="Freeform 22" id="22"/>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23" id="23"/>
          <p:cNvGrpSpPr/>
          <p:nvPr/>
        </p:nvGrpSpPr>
        <p:grpSpPr>
          <a:xfrm rot="0">
            <a:off x="14045184" y="1700784"/>
            <a:ext cx="68580" cy="68580"/>
            <a:chOff x="0" y="0"/>
            <a:chExt cx="91440" cy="91440"/>
          </a:xfrm>
        </p:grpSpPr>
        <p:sp>
          <p:nvSpPr>
            <p:cNvPr name="Freeform 24" id="24"/>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25" id="25"/>
          <p:cNvGrpSpPr/>
          <p:nvPr/>
        </p:nvGrpSpPr>
        <p:grpSpPr>
          <a:xfrm rot="0">
            <a:off x="14045184" y="2139696"/>
            <a:ext cx="68580" cy="68580"/>
            <a:chOff x="0" y="0"/>
            <a:chExt cx="91440" cy="91440"/>
          </a:xfrm>
        </p:grpSpPr>
        <p:sp>
          <p:nvSpPr>
            <p:cNvPr name="Freeform 26" id="26"/>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27" id="27"/>
          <p:cNvGrpSpPr/>
          <p:nvPr/>
        </p:nvGrpSpPr>
        <p:grpSpPr>
          <a:xfrm rot="0">
            <a:off x="14484096" y="822960"/>
            <a:ext cx="68580" cy="68580"/>
            <a:chOff x="0" y="0"/>
            <a:chExt cx="91440" cy="91440"/>
          </a:xfrm>
        </p:grpSpPr>
        <p:sp>
          <p:nvSpPr>
            <p:cNvPr name="Freeform 28" id="28"/>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29" id="29"/>
          <p:cNvGrpSpPr/>
          <p:nvPr/>
        </p:nvGrpSpPr>
        <p:grpSpPr>
          <a:xfrm rot="0">
            <a:off x="14484096" y="1261872"/>
            <a:ext cx="68580" cy="68580"/>
            <a:chOff x="0" y="0"/>
            <a:chExt cx="91440" cy="91440"/>
          </a:xfrm>
        </p:grpSpPr>
        <p:sp>
          <p:nvSpPr>
            <p:cNvPr name="Freeform 30" id="30"/>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31" id="31"/>
          <p:cNvGrpSpPr/>
          <p:nvPr/>
        </p:nvGrpSpPr>
        <p:grpSpPr>
          <a:xfrm rot="0">
            <a:off x="14484096" y="1700784"/>
            <a:ext cx="68580" cy="68580"/>
            <a:chOff x="0" y="0"/>
            <a:chExt cx="91440" cy="91440"/>
          </a:xfrm>
        </p:grpSpPr>
        <p:sp>
          <p:nvSpPr>
            <p:cNvPr name="Freeform 32" id="32"/>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33" id="33"/>
          <p:cNvGrpSpPr/>
          <p:nvPr/>
        </p:nvGrpSpPr>
        <p:grpSpPr>
          <a:xfrm rot="0">
            <a:off x="14484096" y="2139696"/>
            <a:ext cx="68580" cy="68580"/>
            <a:chOff x="0" y="0"/>
            <a:chExt cx="91440" cy="91440"/>
          </a:xfrm>
        </p:grpSpPr>
        <p:sp>
          <p:nvSpPr>
            <p:cNvPr name="Freeform 34" id="34"/>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35" id="35"/>
          <p:cNvGrpSpPr/>
          <p:nvPr/>
        </p:nvGrpSpPr>
        <p:grpSpPr>
          <a:xfrm rot="0">
            <a:off x="14923008" y="822960"/>
            <a:ext cx="68580" cy="68580"/>
            <a:chOff x="0" y="0"/>
            <a:chExt cx="91440" cy="91440"/>
          </a:xfrm>
        </p:grpSpPr>
        <p:sp>
          <p:nvSpPr>
            <p:cNvPr name="Freeform 36" id="36"/>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37" id="37"/>
          <p:cNvGrpSpPr/>
          <p:nvPr/>
        </p:nvGrpSpPr>
        <p:grpSpPr>
          <a:xfrm rot="0">
            <a:off x="14923008" y="1261872"/>
            <a:ext cx="68580" cy="68580"/>
            <a:chOff x="0" y="0"/>
            <a:chExt cx="91440" cy="91440"/>
          </a:xfrm>
        </p:grpSpPr>
        <p:sp>
          <p:nvSpPr>
            <p:cNvPr name="Freeform 38" id="38"/>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39" id="39"/>
          <p:cNvGrpSpPr/>
          <p:nvPr/>
        </p:nvGrpSpPr>
        <p:grpSpPr>
          <a:xfrm rot="0">
            <a:off x="14923008" y="1700784"/>
            <a:ext cx="68580" cy="68580"/>
            <a:chOff x="0" y="0"/>
            <a:chExt cx="91440" cy="91440"/>
          </a:xfrm>
        </p:grpSpPr>
        <p:sp>
          <p:nvSpPr>
            <p:cNvPr name="Freeform 40" id="40"/>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41" id="41"/>
          <p:cNvGrpSpPr/>
          <p:nvPr/>
        </p:nvGrpSpPr>
        <p:grpSpPr>
          <a:xfrm rot="0">
            <a:off x="14923008" y="2139696"/>
            <a:ext cx="68580" cy="68580"/>
            <a:chOff x="0" y="0"/>
            <a:chExt cx="91440" cy="91440"/>
          </a:xfrm>
        </p:grpSpPr>
        <p:sp>
          <p:nvSpPr>
            <p:cNvPr name="Freeform 42" id="42"/>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43" id="43"/>
          <p:cNvGrpSpPr/>
          <p:nvPr/>
        </p:nvGrpSpPr>
        <p:grpSpPr>
          <a:xfrm rot="0">
            <a:off x="15361920" y="822960"/>
            <a:ext cx="68580" cy="68580"/>
            <a:chOff x="0" y="0"/>
            <a:chExt cx="91440" cy="91440"/>
          </a:xfrm>
        </p:grpSpPr>
        <p:sp>
          <p:nvSpPr>
            <p:cNvPr name="Freeform 44" id="44"/>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45" id="45"/>
          <p:cNvGrpSpPr/>
          <p:nvPr/>
        </p:nvGrpSpPr>
        <p:grpSpPr>
          <a:xfrm rot="0">
            <a:off x="15361920" y="1261872"/>
            <a:ext cx="68580" cy="68580"/>
            <a:chOff x="0" y="0"/>
            <a:chExt cx="91440" cy="91440"/>
          </a:xfrm>
        </p:grpSpPr>
        <p:sp>
          <p:nvSpPr>
            <p:cNvPr name="Freeform 46" id="46"/>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47" id="47"/>
          <p:cNvGrpSpPr/>
          <p:nvPr/>
        </p:nvGrpSpPr>
        <p:grpSpPr>
          <a:xfrm rot="0">
            <a:off x="15361920" y="1700784"/>
            <a:ext cx="68580" cy="68580"/>
            <a:chOff x="0" y="0"/>
            <a:chExt cx="91440" cy="91440"/>
          </a:xfrm>
        </p:grpSpPr>
        <p:sp>
          <p:nvSpPr>
            <p:cNvPr name="Freeform 48" id="48"/>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grpSp>
        <p:nvGrpSpPr>
          <p:cNvPr name="Group 49" id="49"/>
          <p:cNvGrpSpPr/>
          <p:nvPr/>
        </p:nvGrpSpPr>
        <p:grpSpPr>
          <a:xfrm rot="0">
            <a:off x="15361920" y="2139696"/>
            <a:ext cx="68580" cy="68580"/>
            <a:chOff x="0" y="0"/>
            <a:chExt cx="91440" cy="91440"/>
          </a:xfrm>
        </p:grpSpPr>
        <p:sp>
          <p:nvSpPr>
            <p:cNvPr name="Freeform 50" id="50"/>
            <p:cNvSpPr/>
            <p:nvPr/>
          </p:nvSpPr>
          <p:spPr>
            <a:xfrm flipH="false" flipV="false" rot="0">
              <a:off x="0" y="0"/>
              <a:ext cx="91440" cy="91440"/>
            </a:xfrm>
            <a:custGeom>
              <a:avLst/>
              <a:gdLst/>
              <a:ahLst/>
              <a:cxnLst/>
              <a:rect r="r" b="b" t="t" l="l"/>
              <a:pathLst>
                <a:path h="91440" w="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235347"/>
            </a:solidFill>
          </p:spPr>
        </p:sp>
      </p:grpSp>
      <p:sp>
        <p:nvSpPr>
          <p:cNvPr name="Freeform 51" id="51"/>
          <p:cNvSpPr/>
          <p:nvPr/>
        </p:nvSpPr>
        <p:spPr>
          <a:xfrm flipH="true" flipV="false" rot="0">
            <a:off x="-12560491" y="0"/>
            <a:ext cx="18458371" cy="10336688"/>
          </a:xfrm>
          <a:custGeom>
            <a:avLst/>
            <a:gdLst/>
            <a:ahLst/>
            <a:cxnLst/>
            <a:rect r="r" b="b" t="t" l="l"/>
            <a:pathLst>
              <a:path h="10336688" w="18458371">
                <a:moveTo>
                  <a:pt x="18458371" y="0"/>
                </a:moveTo>
                <a:lnTo>
                  <a:pt x="0" y="0"/>
                </a:lnTo>
                <a:lnTo>
                  <a:pt x="0" y="10336688"/>
                </a:lnTo>
                <a:lnTo>
                  <a:pt x="18458371" y="10336688"/>
                </a:lnTo>
                <a:lnTo>
                  <a:pt x="18458371" y="0"/>
                </a:lnTo>
                <a:close/>
              </a:path>
            </a:pathLst>
          </a:custGeom>
          <a:blipFill>
            <a:blip r:embed="rId2">
              <a:alphaModFix amt="40000"/>
            </a:blip>
            <a:stretch>
              <a:fillRect l="0" t="0" r="0" b="0"/>
            </a:stretch>
          </a:blipFill>
        </p:spPr>
      </p:sp>
      <p:grpSp>
        <p:nvGrpSpPr>
          <p:cNvPr name="Group 52" id="52"/>
          <p:cNvGrpSpPr/>
          <p:nvPr/>
        </p:nvGrpSpPr>
        <p:grpSpPr>
          <a:xfrm rot="0">
            <a:off x="1234440" y="1234440"/>
            <a:ext cx="1577340" cy="1577340"/>
            <a:chOff x="0" y="0"/>
            <a:chExt cx="2103120" cy="2103120"/>
          </a:xfrm>
        </p:grpSpPr>
        <p:sp>
          <p:nvSpPr>
            <p:cNvPr name="Freeform 53" id="53"/>
            <p:cNvSpPr/>
            <p:nvPr/>
          </p:nvSpPr>
          <p:spPr>
            <a:xfrm flipH="false" flipV="false" rot="0">
              <a:off x="0" y="0"/>
              <a:ext cx="2103120" cy="2103120"/>
            </a:xfrm>
            <a:custGeom>
              <a:avLst/>
              <a:gdLst/>
              <a:ahLst/>
              <a:cxnLst/>
              <a:rect r="r" b="b" t="t" l="l"/>
              <a:pathLst>
                <a:path h="2103120" w="2103120">
                  <a:moveTo>
                    <a:pt x="0" y="1051560"/>
                  </a:moveTo>
                  <a:cubicBezTo>
                    <a:pt x="0" y="470789"/>
                    <a:pt x="470789" y="0"/>
                    <a:pt x="1051560" y="0"/>
                  </a:cubicBezTo>
                  <a:cubicBezTo>
                    <a:pt x="1632331" y="0"/>
                    <a:pt x="2103120" y="470789"/>
                    <a:pt x="2103120" y="1051560"/>
                  </a:cubicBezTo>
                  <a:cubicBezTo>
                    <a:pt x="2103120" y="1632331"/>
                    <a:pt x="1632331" y="2103120"/>
                    <a:pt x="1051560" y="2103120"/>
                  </a:cubicBezTo>
                  <a:cubicBezTo>
                    <a:pt x="470789" y="2103120"/>
                    <a:pt x="0" y="1632331"/>
                    <a:pt x="0" y="1051560"/>
                  </a:cubicBezTo>
                  <a:close/>
                </a:path>
              </a:pathLst>
            </a:custGeom>
            <a:solidFill>
              <a:srgbClr val="8EB69B"/>
            </a:solidFill>
          </p:spPr>
        </p:sp>
      </p:grpSp>
      <p:grpSp>
        <p:nvGrpSpPr>
          <p:cNvPr name="Group 54" id="54"/>
          <p:cNvGrpSpPr/>
          <p:nvPr/>
        </p:nvGrpSpPr>
        <p:grpSpPr>
          <a:xfrm rot="0">
            <a:off x="1613002" y="1613002"/>
            <a:ext cx="820217" cy="820217"/>
            <a:chOff x="0" y="0"/>
            <a:chExt cx="1093622" cy="1093622"/>
          </a:xfrm>
        </p:grpSpPr>
        <p:sp>
          <p:nvSpPr>
            <p:cNvPr name="Freeform 55" id="55" descr="/home/claude/sms-security/icons/shield_dark1.png"/>
            <p:cNvSpPr/>
            <p:nvPr/>
          </p:nvSpPr>
          <p:spPr>
            <a:xfrm flipH="false" flipV="false" rot="0">
              <a:off x="0" y="0"/>
              <a:ext cx="1093597" cy="1093597"/>
            </a:xfrm>
            <a:custGeom>
              <a:avLst/>
              <a:gdLst/>
              <a:ahLst/>
              <a:cxnLst/>
              <a:rect r="r" b="b" t="t" l="l"/>
              <a:pathLst>
                <a:path h="1093597" w="1093597">
                  <a:moveTo>
                    <a:pt x="0" y="0"/>
                  </a:moveTo>
                  <a:lnTo>
                    <a:pt x="1093597" y="0"/>
                  </a:lnTo>
                  <a:lnTo>
                    <a:pt x="1093597" y="1093597"/>
                  </a:lnTo>
                  <a:lnTo>
                    <a:pt x="0" y="1093597"/>
                  </a:lnTo>
                  <a:lnTo>
                    <a:pt x="0" y="0"/>
                  </a:lnTo>
                  <a:close/>
                </a:path>
              </a:pathLst>
            </a:custGeom>
            <a:blipFill>
              <a:blip r:embed="rId3"/>
              <a:stretch>
                <a:fillRect l="0" t="0" r="-2" b="-2"/>
              </a:stretch>
            </a:blipFill>
          </p:spPr>
        </p:sp>
      </p:grpSp>
      <p:grpSp>
        <p:nvGrpSpPr>
          <p:cNvPr name="Group 56" id="56"/>
          <p:cNvGrpSpPr/>
          <p:nvPr/>
        </p:nvGrpSpPr>
        <p:grpSpPr>
          <a:xfrm rot="0">
            <a:off x="1234440" y="3223260"/>
            <a:ext cx="10972800" cy="548640"/>
            <a:chOff x="0" y="0"/>
            <a:chExt cx="14630400" cy="731520"/>
          </a:xfrm>
        </p:grpSpPr>
        <p:sp>
          <p:nvSpPr>
            <p:cNvPr name="Freeform 57" id="57"/>
            <p:cNvSpPr/>
            <p:nvPr/>
          </p:nvSpPr>
          <p:spPr>
            <a:xfrm flipH="false" flipV="false" rot="0">
              <a:off x="0" y="0"/>
              <a:ext cx="14630400" cy="731520"/>
            </a:xfrm>
            <a:custGeom>
              <a:avLst/>
              <a:gdLst/>
              <a:ahLst/>
              <a:cxnLst/>
              <a:rect r="r" b="b" t="t" l="l"/>
              <a:pathLst>
                <a:path h="731520" w="14630400">
                  <a:moveTo>
                    <a:pt x="0" y="0"/>
                  </a:moveTo>
                  <a:lnTo>
                    <a:pt x="14630400" y="0"/>
                  </a:lnTo>
                  <a:lnTo>
                    <a:pt x="14630400" y="731520"/>
                  </a:lnTo>
                  <a:lnTo>
                    <a:pt x="0" y="731520"/>
                  </a:lnTo>
                  <a:close/>
                </a:path>
              </a:pathLst>
            </a:custGeom>
            <a:blipFill>
              <a:blip r:embed="rId4">
                <a:alphaModFix amt="0"/>
              </a:blip>
              <a:stretch>
                <a:fillRect l="0" t="-339700" r="0" b="-339700"/>
              </a:stretch>
            </a:blipFill>
          </p:spPr>
        </p:sp>
        <p:sp>
          <p:nvSpPr>
            <p:cNvPr name="TextBox 58" id="58"/>
            <p:cNvSpPr txBox="true"/>
            <p:nvPr/>
          </p:nvSpPr>
          <p:spPr>
            <a:xfrm>
              <a:off x="0" y="-47625"/>
              <a:ext cx="14630400" cy="779145"/>
            </a:xfrm>
            <a:prstGeom prst="rect">
              <a:avLst/>
            </a:prstGeom>
          </p:spPr>
          <p:txBody>
            <a:bodyPr anchor="ctr" rtlCol="false" tIns="0" lIns="0" bIns="0" rIns="0"/>
            <a:lstStyle/>
            <a:p>
              <a:pPr algn="l">
                <a:lnSpc>
                  <a:spcPts val="2340"/>
                </a:lnSpc>
              </a:pPr>
              <a:r>
                <a:rPr lang="en-US" b="true" sz="1950" spc="449">
                  <a:solidFill>
                    <a:srgbClr val="8EB69B"/>
                  </a:solidFill>
                  <a:latin typeface="Calibri (MS) Bold"/>
                  <a:ea typeface="Calibri (MS) Bold"/>
                  <a:cs typeface="Calibri (MS) Bold"/>
                  <a:sym typeface="Calibri (MS) Bold"/>
                </a:rPr>
                <a:t>CAPSTONE · SECCIÓN 005D</a:t>
              </a:r>
            </a:p>
          </p:txBody>
        </p:sp>
      </p:grpSp>
      <p:grpSp>
        <p:nvGrpSpPr>
          <p:cNvPr name="Group 59" id="59"/>
          <p:cNvGrpSpPr/>
          <p:nvPr/>
        </p:nvGrpSpPr>
        <p:grpSpPr>
          <a:xfrm rot="0">
            <a:off x="1165860" y="3771900"/>
            <a:ext cx="14401800" cy="1783080"/>
            <a:chOff x="0" y="0"/>
            <a:chExt cx="19202400" cy="2377440"/>
          </a:xfrm>
        </p:grpSpPr>
        <p:sp>
          <p:nvSpPr>
            <p:cNvPr name="Freeform 60" id="60"/>
            <p:cNvSpPr/>
            <p:nvPr/>
          </p:nvSpPr>
          <p:spPr>
            <a:xfrm flipH="false" flipV="false" rot="0">
              <a:off x="0" y="0"/>
              <a:ext cx="19202400" cy="2377440"/>
            </a:xfrm>
            <a:custGeom>
              <a:avLst/>
              <a:gdLst/>
              <a:ahLst/>
              <a:cxnLst/>
              <a:rect r="r" b="b" t="t" l="l"/>
              <a:pathLst>
                <a:path h="2377440" w="19202400">
                  <a:moveTo>
                    <a:pt x="0" y="0"/>
                  </a:moveTo>
                  <a:lnTo>
                    <a:pt x="19202400" y="0"/>
                  </a:lnTo>
                  <a:lnTo>
                    <a:pt x="19202400" y="2377440"/>
                  </a:lnTo>
                  <a:lnTo>
                    <a:pt x="0" y="2377440"/>
                  </a:lnTo>
                  <a:close/>
                </a:path>
              </a:pathLst>
            </a:custGeom>
            <a:blipFill>
              <a:blip r:embed="rId4">
                <a:alphaModFix amt="0"/>
              </a:blip>
              <a:stretch>
                <a:fillRect l="0" t="-107379" r="0" b="-107379"/>
              </a:stretch>
            </a:blipFill>
          </p:spPr>
        </p:sp>
        <p:sp>
          <p:nvSpPr>
            <p:cNvPr name="TextBox 61" id="61"/>
            <p:cNvSpPr txBox="true"/>
            <p:nvPr/>
          </p:nvSpPr>
          <p:spPr>
            <a:xfrm>
              <a:off x="0" y="-19050"/>
              <a:ext cx="19202400" cy="2396490"/>
            </a:xfrm>
            <a:prstGeom prst="rect">
              <a:avLst/>
            </a:prstGeom>
          </p:spPr>
          <p:txBody>
            <a:bodyPr anchor="ctr" rtlCol="false" tIns="0" lIns="0" bIns="0" rIns="0"/>
            <a:lstStyle/>
            <a:p>
              <a:pPr algn="l">
                <a:lnSpc>
                  <a:spcPts val="10800"/>
                </a:lnSpc>
              </a:pPr>
              <a:r>
                <a:rPr lang="en-US" sz="9000" b="true">
                  <a:solidFill>
                    <a:srgbClr val="DAF1DE"/>
                  </a:solidFill>
                  <a:latin typeface="Cambria Bold"/>
                  <a:ea typeface="Cambria Bold"/>
                  <a:cs typeface="Cambria Bold"/>
                  <a:sym typeface="Cambria Bold"/>
                </a:rPr>
                <a:t>SMS Security</a:t>
              </a:r>
            </a:p>
          </p:txBody>
        </p:sp>
      </p:grpSp>
      <p:grpSp>
        <p:nvGrpSpPr>
          <p:cNvPr name="Group 62" id="62"/>
          <p:cNvGrpSpPr/>
          <p:nvPr/>
        </p:nvGrpSpPr>
        <p:grpSpPr>
          <a:xfrm rot="0">
            <a:off x="1234440" y="5486400"/>
            <a:ext cx="11486134" cy="1097280"/>
            <a:chOff x="0" y="0"/>
            <a:chExt cx="15314845" cy="1463040"/>
          </a:xfrm>
        </p:grpSpPr>
        <p:sp>
          <p:nvSpPr>
            <p:cNvPr name="Freeform 63" id="63"/>
            <p:cNvSpPr/>
            <p:nvPr/>
          </p:nvSpPr>
          <p:spPr>
            <a:xfrm flipH="false" flipV="false" rot="0">
              <a:off x="0" y="0"/>
              <a:ext cx="15314845" cy="1463040"/>
            </a:xfrm>
            <a:custGeom>
              <a:avLst/>
              <a:gdLst/>
              <a:ahLst/>
              <a:cxnLst/>
              <a:rect r="r" b="b" t="t" l="l"/>
              <a:pathLst>
                <a:path h="1463040" w="15314845">
                  <a:moveTo>
                    <a:pt x="0" y="0"/>
                  </a:moveTo>
                  <a:lnTo>
                    <a:pt x="15314845" y="0"/>
                  </a:lnTo>
                  <a:lnTo>
                    <a:pt x="15314845" y="1463040"/>
                  </a:lnTo>
                  <a:lnTo>
                    <a:pt x="0" y="1463040"/>
                  </a:lnTo>
                  <a:close/>
                </a:path>
              </a:pathLst>
            </a:custGeom>
            <a:blipFill>
              <a:blip r:embed="rId4">
                <a:alphaModFix amt="0"/>
              </a:blip>
              <a:stretch>
                <a:fillRect l="0" t="-159464" r="-2695" b="-159464"/>
              </a:stretch>
            </a:blipFill>
          </p:spPr>
        </p:sp>
        <p:sp>
          <p:nvSpPr>
            <p:cNvPr name="TextBox 64" id="64"/>
            <p:cNvSpPr txBox="true"/>
            <p:nvPr/>
          </p:nvSpPr>
          <p:spPr>
            <a:xfrm>
              <a:off x="0" y="-38100"/>
              <a:ext cx="15314845" cy="1501140"/>
            </a:xfrm>
            <a:prstGeom prst="rect">
              <a:avLst/>
            </a:prstGeom>
          </p:spPr>
          <p:txBody>
            <a:bodyPr anchor="ctr" rtlCol="false" tIns="0" lIns="0" bIns="0" rIns="0"/>
            <a:lstStyle/>
            <a:p>
              <a:pPr algn="l">
                <a:lnSpc>
                  <a:spcPts val="2879"/>
                </a:lnSpc>
              </a:pPr>
              <a:r>
                <a:rPr lang="en-US" sz="2400">
                  <a:solidFill>
                    <a:srgbClr val="8EB69B"/>
                  </a:solidFill>
                  <a:latin typeface="Calibri (MS)"/>
                  <a:ea typeface="Calibri (MS)"/>
                  <a:cs typeface="Calibri (MS)"/>
                  <a:sym typeface="Calibri (MS)"/>
                </a:rPr>
                <a:t>Detección inteligente de fraude por SMS (smishing) para proteger a la población, con foco en personas de la tercera edad</a:t>
              </a:r>
            </a:p>
          </p:txBody>
        </p:sp>
      </p:grpSp>
      <p:grpSp>
        <p:nvGrpSpPr>
          <p:cNvPr name="Group 65" id="65"/>
          <p:cNvGrpSpPr/>
          <p:nvPr/>
        </p:nvGrpSpPr>
        <p:grpSpPr>
          <a:xfrm rot="0">
            <a:off x="1234440" y="7063740"/>
            <a:ext cx="685800" cy="685800"/>
            <a:chOff x="0" y="0"/>
            <a:chExt cx="914400" cy="914400"/>
          </a:xfrm>
        </p:grpSpPr>
        <p:sp>
          <p:nvSpPr>
            <p:cNvPr name="Freeform 66" id="66"/>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DAF1DE"/>
            </a:solidFill>
          </p:spPr>
        </p:sp>
      </p:grpSp>
      <p:grpSp>
        <p:nvGrpSpPr>
          <p:cNvPr name="Group 67" id="67"/>
          <p:cNvGrpSpPr/>
          <p:nvPr/>
        </p:nvGrpSpPr>
        <p:grpSpPr>
          <a:xfrm rot="0">
            <a:off x="1399032" y="7228332"/>
            <a:ext cx="356616" cy="356616"/>
            <a:chOff x="0" y="0"/>
            <a:chExt cx="475488" cy="475488"/>
          </a:xfrm>
        </p:grpSpPr>
        <p:sp>
          <p:nvSpPr>
            <p:cNvPr name="Freeform 68" id="68" descr="/home/claude/sms-security/icons/mobile_dark1.png"/>
            <p:cNvSpPr/>
            <p:nvPr/>
          </p:nvSpPr>
          <p:spPr>
            <a:xfrm flipH="false" flipV="false" rot="0">
              <a:off x="0" y="0"/>
              <a:ext cx="475488" cy="475488"/>
            </a:xfrm>
            <a:custGeom>
              <a:avLst/>
              <a:gdLst/>
              <a:ahLst/>
              <a:cxnLst/>
              <a:rect r="r" b="b" t="t" l="l"/>
              <a:pathLst>
                <a:path h="475488" w="475488">
                  <a:moveTo>
                    <a:pt x="0" y="0"/>
                  </a:moveTo>
                  <a:lnTo>
                    <a:pt x="475488" y="0"/>
                  </a:lnTo>
                  <a:lnTo>
                    <a:pt x="475488" y="475488"/>
                  </a:lnTo>
                  <a:lnTo>
                    <a:pt x="0" y="475488"/>
                  </a:lnTo>
                  <a:lnTo>
                    <a:pt x="0" y="0"/>
                  </a:lnTo>
                  <a:close/>
                </a:path>
              </a:pathLst>
            </a:custGeom>
            <a:blipFill>
              <a:blip r:embed="rId5"/>
              <a:stretch>
                <a:fillRect l="0" t="0" r="0" b="0"/>
              </a:stretch>
            </a:blipFill>
          </p:spPr>
        </p:sp>
      </p:grpSp>
      <p:grpSp>
        <p:nvGrpSpPr>
          <p:cNvPr name="Group 69" id="69"/>
          <p:cNvGrpSpPr/>
          <p:nvPr/>
        </p:nvGrpSpPr>
        <p:grpSpPr>
          <a:xfrm rot="0">
            <a:off x="2084832" y="7063740"/>
            <a:ext cx="2880360" cy="685800"/>
            <a:chOff x="0" y="0"/>
            <a:chExt cx="3840480" cy="914400"/>
          </a:xfrm>
        </p:grpSpPr>
        <p:sp>
          <p:nvSpPr>
            <p:cNvPr name="Freeform 70" id="70"/>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837" r="0" b="-31837"/>
              </a:stretch>
            </a:blipFill>
          </p:spPr>
        </p:sp>
        <p:sp>
          <p:nvSpPr>
            <p:cNvPr name="TextBox 71" id="71"/>
            <p:cNvSpPr txBox="true"/>
            <p:nvPr/>
          </p:nvSpPr>
          <p:spPr>
            <a:xfrm>
              <a:off x="0" y="-38100"/>
              <a:ext cx="3840480" cy="952500"/>
            </a:xfrm>
            <a:prstGeom prst="rect">
              <a:avLst/>
            </a:prstGeom>
          </p:spPr>
          <p:txBody>
            <a:bodyPr anchor="ctr" rtlCol="false" tIns="0" lIns="0" bIns="0" rIns="0"/>
            <a:lstStyle/>
            <a:p>
              <a:pPr algn="l">
                <a:lnSpc>
                  <a:spcPts val="2160"/>
                </a:lnSpc>
              </a:pPr>
              <a:r>
                <a:rPr lang="en-US" sz="1800" b="true">
                  <a:solidFill>
                    <a:srgbClr val="DAF1DE"/>
                  </a:solidFill>
                  <a:latin typeface="Calibri (MS) Bold"/>
                  <a:ea typeface="Calibri (MS) Bold"/>
                  <a:cs typeface="Calibri (MS) Bold"/>
                  <a:sym typeface="Calibri (MS) Bold"/>
                </a:rPr>
                <a:t>App móvil Android</a:t>
              </a:r>
            </a:p>
          </p:txBody>
        </p:sp>
      </p:grpSp>
      <p:grpSp>
        <p:nvGrpSpPr>
          <p:cNvPr name="Group 72" id="72"/>
          <p:cNvGrpSpPr/>
          <p:nvPr/>
        </p:nvGrpSpPr>
        <p:grpSpPr>
          <a:xfrm rot="0">
            <a:off x="5212080" y="7063740"/>
            <a:ext cx="685800" cy="685800"/>
            <a:chOff x="0" y="0"/>
            <a:chExt cx="914400" cy="914400"/>
          </a:xfrm>
        </p:grpSpPr>
        <p:sp>
          <p:nvSpPr>
            <p:cNvPr name="Freeform 73" id="7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DAF1DE"/>
            </a:solidFill>
          </p:spPr>
        </p:sp>
      </p:grpSp>
      <p:grpSp>
        <p:nvGrpSpPr>
          <p:cNvPr name="Group 74" id="74"/>
          <p:cNvGrpSpPr/>
          <p:nvPr/>
        </p:nvGrpSpPr>
        <p:grpSpPr>
          <a:xfrm rot="0">
            <a:off x="5376672" y="7228332"/>
            <a:ext cx="356616" cy="356616"/>
            <a:chOff x="0" y="0"/>
            <a:chExt cx="475488" cy="475488"/>
          </a:xfrm>
        </p:grpSpPr>
        <p:sp>
          <p:nvSpPr>
            <p:cNvPr name="Freeform 75" id="75" descr="/home/claude/sms-security/icons/robot_dark1.png"/>
            <p:cNvSpPr/>
            <p:nvPr/>
          </p:nvSpPr>
          <p:spPr>
            <a:xfrm flipH="false" flipV="false" rot="0">
              <a:off x="0" y="0"/>
              <a:ext cx="475488" cy="475488"/>
            </a:xfrm>
            <a:custGeom>
              <a:avLst/>
              <a:gdLst/>
              <a:ahLst/>
              <a:cxnLst/>
              <a:rect r="r" b="b" t="t" l="l"/>
              <a:pathLst>
                <a:path h="475488" w="475488">
                  <a:moveTo>
                    <a:pt x="0" y="0"/>
                  </a:moveTo>
                  <a:lnTo>
                    <a:pt x="475488" y="0"/>
                  </a:lnTo>
                  <a:lnTo>
                    <a:pt x="475488" y="475488"/>
                  </a:lnTo>
                  <a:lnTo>
                    <a:pt x="0" y="475488"/>
                  </a:lnTo>
                  <a:lnTo>
                    <a:pt x="0" y="0"/>
                  </a:lnTo>
                  <a:close/>
                </a:path>
              </a:pathLst>
            </a:custGeom>
            <a:blipFill>
              <a:blip r:embed="rId6"/>
              <a:stretch>
                <a:fillRect l="0" t="0" r="0" b="0"/>
              </a:stretch>
            </a:blipFill>
          </p:spPr>
        </p:sp>
      </p:grpSp>
      <p:grpSp>
        <p:nvGrpSpPr>
          <p:cNvPr name="Group 76" id="76"/>
          <p:cNvGrpSpPr/>
          <p:nvPr/>
        </p:nvGrpSpPr>
        <p:grpSpPr>
          <a:xfrm rot="0">
            <a:off x="6062472" y="7063740"/>
            <a:ext cx="2880360" cy="685800"/>
            <a:chOff x="0" y="0"/>
            <a:chExt cx="3840480" cy="914400"/>
          </a:xfrm>
        </p:grpSpPr>
        <p:sp>
          <p:nvSpPr>
            <p:cNvPr name="Freeform 77" id="77"/>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837" r="0" b="-31837"/>
              </a:stretch>
            </a:blipFill>
          </p:spPr>
        </p:sp>
        <p:sp>
          <p:nvSpPr>
            <p:cNvPr name="TextBox 78" id="78"/>
            <p:cNvSpPr txBox="true"/>
            <p:nvPr/>
          </p:nvSpPr>
          <p:spPr>
            <a:xfrm>
              <a:off x="0" y="-38100"/>
              <a:ext cx="3840480" cy="952500"/>
            </a:xfrm>
            <a:prstGeom prst="rect">
              <a:avLst/>
            </a:prstGeom>
          </p:spPr>
          <p:txBody>
            <a:bodyPr anchor="ctr" rtlCol="false" tIns="0" lIns="0" bIns="0" rIns="0"/>
            <a:lstStyle/>
            <a:p>
              <a:pPr algn="l">
                <a:lnSpc>
                  <a:spcPts val="2160"/>
                </a:lnSpc>
              </a:pPr>
              <a:r>
                <a:rPr lang="en-US" sz="1800" b="true">
                  <a:solidFill>
                    <a:srgbClr val="DAF1DE"/>
                  </a:solidFill>
                  <a:latin typeface="Calibri (MS) Bold"/>
                  <a:ea typeface="Calibri (MS) Bold"/>
                  <a:cs typeface="Calibri (MS) Bold"/>
                  <a:sym typeface="Calibri (MS) Bold"/>
                </a:rPr>
                <a:t>IA aplicada</a:t>
              </a:r>
            </a:p>
          </p:txBody>
        </p:sp>
      </p:grpSp>
      <p:grpSp>
        <p:nvGrpSpPr>
          <p:cNvPr name="Group 79" id="79"/>
          <p:cNvGrpSpPr/>
          <p:nvPr/>
        </p:nvGrpSpPr>
        <p:grpSpPr>
          <a:xfrm rot="0">
            <a:off x="9189720" y="7063740"/>
            <a:ext cx="685800" cy="685800"/>
            <a:chOff x="0" y="0"/>
            <a:chExt cx="914400" cy="914400"/>
          </a:xfrm>
        </p:grpSpPr>
        <p:sp>
          <p:nvSpPr>
            <p:cNvPr name="Freeform 80" id="80"/>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DAF1DE"/>
            </a:solidFill>
          </p:spPr>
        </p:sp>
      </p:grpSp>
      <p:grpSp>
        <p:nvGrpSpPr>
          <p:cNvPr name="Group 81" id="81"/>
          <p:cNvGrpSpPr/>
          <p:nvPr/>
        </p:nvGrpSpPr>
        <p:grpSpPr>
          <a:xfrm rot="0">
            <a:off x="9354312" y="7228332"/>
            <a:ext cx="356616" cy="356616"/>
            <a:chOff x="0" y="0"/>
            <a:chExt cx="475488" cy="475488"/>
          </a:xfrm>
        </p:grpSpPr>
        <p:sp>
          <p:nvSpPr>
            <p:cNvPr name="Freeform 82" id="82" descr="/home/claude/sms-security/icons/lock_dark1.png"/>
            <p:cNvSpPr/>
            <p:nvPr/>
          </p:nvSpPr>
          <p:spPr>
            <a:xfrm flipH="false" flipV="false" rot="0">
              <a:off x="0" y="0"/>
              <a:ext cx="475488" cy="475488"/>
            </a:xfrm>
            <a:custGeom>
              <a:avLst/>
              <a:gdLst/>
              <a:ahLst/>
              <a:cxnLst/>
              <a:rect r="r" b="b" t="t" l="l"/>
              <a:pathLst>
                <a:path h="475488" w="475488">
                  <a:moveTo>
                    <a:pt x="0" y="0"/>
                  </a:moveTo>
                  <a:lnTo>
                    <a:pt x="475488" y="0"/>
                  </a:lnTo>
                  <a:lnTo>
                    <a:pt x="475488" y="475488"/>
                  </a:lnTo>
                  <a:lnTo>
                    <a:pt x="0" y="475488"/>
                  </a:lnTo>
                  <a:lnTo>
                    <a:pt x="0" y="0"/>
                  </a:lnTo>
                  <a:close/>
                </a:path>
              </a:pathLst>
            </a:custGeom>
            <a:blipFill>
              <a:blip r:embed="rId7"/>
              <a:stretch>
                <a:fillRect l="0" t="0" r="0" b="0"/>
              </a:stretch>
            </a:blipFill>
          </p:spPr>
        </p:sp>
      </p:grpSp>
      <p:grpSp>
        <p:nvGrpSpPr>
          <p:cNvPr name="Group 83" id="83"/>
          <p:cNvGrpSpPr/>
          <p:nvPr/>
        </p:nvGrpSpPr>
        <p:grpSpPr>
          <a:xfrm rot="0">
            <a:off x="10040112" y="7063740"/>
            <a:ext cx="2880360" cy="685800"/>
            <a:chOff x="0" y="0"/>
            <a:chExt cx="3840480" cy="914400"/>
          </a:xfrm>
        </p:grpSpPr>
        <p:sp>
          <p:nvSpPr>
            <p:cNvPr name="Freeform 84" id="84"/>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837" r="0" b="-31837"/>
              </a:stretch>
            </a:blipFill>
          </p:spPr>
        </p:sp>
        <p:sp>
          <p:nvSpPr>
            <p:cNvPr name="TextBox 85" id="85"/>
            <p:cNvSpPr txBox="true"/>
            <p:nvPr/>
          </p:nvSpPr>
          <p:spPr>
            <a:xfrm>
              <a:off x="0" y="-38100"/>
              <a:ext cx="3840480" cy="952500"/>
            </a:xfrm>
            <a:prstGeom prst="rect">
              <a:avLst/>
            </a:prstGeom>
          </p:spPr>
          <p:txBody>
            <a:bodyPr anchor="ctr" rtlCol="false" tIns="0" lIns="0" bIns="0" rIns="0"/>
            <a:lstStyle/>
            <a:p>
              <a:pPr algn="l">
                <a:lnSpc>
                  <a:spcPts val="2160"/>
                </a:lnSpc>
              </a:pPr>
              <a:r>
                <a:rPr lang="en-US" sz="1800" b="true">
                  <a:solidFill>
                    <a:srgbClr val="DAF1DE"/>
                  </a:solidFill>
                  <a:latin typeface="Calibri (MS) Bold"/>
                  <a:ea typeface="Calibri (MS) Bold"/>
                  <a:cs typeface="Calibri (MS) Bold"/>
                  <a:sym typeface="Calibri (MS) Bold"/>
                </a:rPr>
                <a:t>Ciberseguridad</a:t>
              </a:r>
            </a:p>
          </p:txBody>
        </p:sp>
      </p:grpSp>
      <p:grpSp>
        <p:nvGrpSpPr>
          <p:cNvPr name="Group 86" id="86"/>
          <p:cNvGrpSpPr/>
          <p:nvPr/>
        </p:nvGrpSpPr>
        <p:grpSpPr>
          <a:xfrm rot="0">
            <a:off x="1234440" y="8503920"/>
            <a:ext cx="15773400" cy="1165860"/>
            <a:chOff x="0" y="0"/>
            <a:chExt cx="21031200" cy="1554480"/>
          </a:xfrm>
        </p:grpSpPr>
        <p:sp>
          <p:nvSpPr>
            <p:cNvPr name="Freeform 87" id="87"/>
            <p:cNvSpPr/>
            <p:nvPr/>
          </p:nvSpPr>
          <p:spPr>
            <a:xfrm flipH="false" flipV="false" rot="0">
              <a:off x="0" y="0"/>
              <a:ext cx="21031200" cy="1554480"/>
            </a:xfrm>
            <a:custGeom>
              <a:avLst/>
              <a:gdLst/>
              <a:ahLst/>
              <a:cxnLst/>
              <a:rect r="r" b="b" t="t" l="l"/>
              <a:pathLst>
                <a:path h="1554480" w="21031200">
                  <a:moveTo>
                    <a:pt x="0" y="182880"/>
                  </a:moveTo>
                  <a:cubicBezTo>
                    <a:pt x="0" y="81915"/>
                    <a:pt x="81915" y="0"/>
                    <a:pt x="182880" y="0"/>
                  </a:cubicBezTo>
                  <a:lnTo>
                    <a:pt x="20848320" y="0"/>
                  </a:lnTo>
                  <a:cubicBezTo>
                    <a:pt x="20949284" y="0"/>
                    <a:pt x="21031200" y="81915"/>
                    <a:pt x="21031200" y="182880"/>
                  </a:cubicBezTo>
                  <a:lnTo>
                    <a:pt x="21031200" y="1371600"/>
                  </a:lnTo>
                  <a:cubicBezTo>
                    <a:pt x="21031200" y="1472565"/>
                    <a:pt x="20949284" y="1554480"/>
                    <a:pt x="20848320" y="1554480"/>
                  </a:cubicBezTo>
                  <a:lnTo>
                    <a:pt x="182880" y="1554480"/>
                  </a:lnTo>
                  <a:cubicBezTo>
                    <a:pt x="81915" y="1554480"/>
                    <a:pt x="0" y="1472565"/>
                    <a:pt x="0" y="1371600"/>
                  </a:cubicBezTo>
                  <a:close/>
                </a:path>
              </a:pathLst>
            </a:custGeom>
            <a:solidFill>
              <a:srgbClr val="0B2B26"/>
            </a:solidFill>
          </p:spPr>
        </p:sp>
      </p:grpSp>
      <p:grpSp>
        <p:nvGrpSpPr>
          <p:cNvPr name="Group 88" id="88"/>
          <p:cNvGrpSpPr/>
          <p:nvPr/>
        </p:nvGrpSpPr>
        <p:grpSpPr>
          <a:xfrm rot="0">
            <a:off x="1577340" y="8613648"/>
            <a:ext cx="855878" cy="960120"/>
            <a:chOff x="0" y="0"/>
            <a:chExt cx="1141171" cy="1280160"/>
          </a:xfrm>
        </p:grpSpPr>
        <p:sp>
          <p:nvSpPr>
            <p:cNvPr name="Freeform 89" id="89"/>
            <p:cNvSpPr/>
            <p:nvPr/>
          </p:nvSpPr>
          <p:spPr>
            <a:xfrm flipH="false" flipV="false" rot="0">
              <a:off x="0" y="0"/>
              <a:ext cx="1141171" cy="1280160"/>
            </a:xfrm>
            <a:custGeom>
              <a:avLst/>
              <a:gdLst/>
              <a:ahLst/>
              <a:cxnLst/>
              <a:rect r="r" b="b" t="t" l="l"/>
              <a:pathLst>
                <a:path h="1280160" w="1141171">
                  <a:moveTo>
                    <a:pt x="0" y="0"/>
                  </a:moveTo>
                  <a:lnTo>
                    <a:pt x="1141171" y="0"/>
                  </a:lnTo>
                  <a:lnTo>
                    <a:pt x="1141171" y="1280160"/>
                  </a:lnTo>
                  <a:lnTo>
                    <a:pt x="0" y="1280160"/>
                  </a:lnTo>
                  <a:close/>
                </a:path>
              </a:pathLst>
            </a:custGeom>
            <a:blipFill>
              <a:blip r:embed="rId4">
                <a:alphaModFix amt="0"/>
              </a:blip>
              <a:stretch>
                <a:fillRect l="-15725" t="0" r="-172135" b="0"/>
              </a:stretch>
            </a:blipFill>
          </p:spPr>
        </p:sp>
        <p:sp>
          <p:nvSpPr>
            <p:cNvPr name="TextBox 90" id="90"/>
            <p:cNvSpPr txBox="true"/>
            <p:nvPr/>
          </p:nvSpPr>
          <p:spPr>
            <a:xfrm>
              <a:off x="0" y="-28575"/>
              <a:ext cx="1141171" cy="1308735"/>
            </a:xfrm>
            <a:prstGeom prst="rect">
              <a:avLst/>
            </a:prstGeom>
          </p:spPr>
          <p:txBody>
            <a:bodyPr anchor="ctr" rtlCol="false" tIns="0" lIns="0" bIns="0" rIns="0"/>
            <a:lstStyle/>
            <a:p>
              <a:pPr algn="l">
                <a:lnSpc>
                  <a:spcPts val="1980"/>
                </a:lnSpc>
              </a:pPr>
              <a:r>
                <a:rPr lang="en-US" sz="1650" b="true">
                  <a:solidFill>
                    <a:srgbClr val="8EB69B"/>
                  </a:solidFill>
                  <a:latin typeface="Calibri (MS) Bold"/>
                  <a:ea typeface="Calibri (MS) Bold"/>
                  <a:cs typeface="Calibri (MS) Bold"/>
                  <a:sym typeface="Calibri (MS) Bold"/>
                </a:rPr>
                <a:t>Equipo</a:t>
              </a:r>
            </a:p>
          </p:txBody>
        </p:sp>
      </p:grpSp>
      <p:grpSp>
        <p:nvGrpSpPr>
          <p:cNvPr name="Group 91" id="91"/>
          <p:cNvGrpSpPr/>
          <p:nvPr/>
        </p:nvGrpSpPr>
        <p:grpSpPr>
          <a:xfrm rot="0">
            <a:off x="2564892" y="8613648"/>
            <a:ext cx="5109505" cy="960120"/>
            <a:chOff x="0" y="0"/>
            <a:chExt cx="6812674" cy="1280160"/>
          </a:xfrm>
        </p:grpSpPr>
        <p:sp>
          <p:nvSpPr>
            <p:cNvPr name="Freeform 92" id="92"/>
            <p:cNvSpPr/>
            <p:nvPr/>
          </p:nvSpPr>
          <p:spPr>
            <a:xfrm flipH="false" flipV="false" rot="0">
              <a:off x="0" y="0"/>
              <a:ext cx="6812674" cy="1280160"/>
            </a:xfrm>
            <a:custGeom>
              <a:avLst/>
              <a:gdLst/>
              <a:ahLst/>
              <a:cxnLst/>
              <a:rect r="r" b="b" t="t" l="l"/>
              <a:pathLst>
                <a:path h="1280160" w="6812674">
                  <a:moveTo>
                    <a:pt x="0" y="0"/>
                  </a:moveTo>
                  <a:lnTo>
                    <a:pt x="6812674" y="0"/>
                  </a:lnTo>
                  <a:lnTo>
                    <a:pt x="6812674" y="1280160"/>
                  </a:lnTo>
                  <a:lnTo>
                    <a:pt x="0" y="1280160"/>
                  </a:lnTo>
                  <a:close/>
                </a:path>
              </a:pathLst>
            </a:custGeom>
            <a:blipFill>
              <a:blip r:embed="rId4">
                <a:alphaModFix amt="0"/>
              </a:blip>
              <a:stretch>
                <a:fillRect l="0" t="-130932" r="-74486" b="-130932"/>
              </a:stretch>
            </a:blipFill>
          </p:spPr>
        </p:sp>
        <p:sp>
          <p:nvSpPr>
            <p:cNvPr name="TextBox 93" id="93"/>
            <p:cNvSpPr txBox="true"/>
            <p:nvPr/>
          </p:nvSpPr>
          <p:spPr>
            <a:xfrm>
              <a:off x="0" y="-47625"/>
              <a:ext cx="6812674" cy="1327785"/>
            </a:xfrm>
            <a:prstGeom prst="rect">
              <a:avLst/>
            </a:prstGeom>
          </p:spPr>
          <p:txBody>
            <a:bodyPr anchor="ctr" rtlCol="false" tIns="0" lIns="0" bIns="0" rIns="0"/>
            <a:lstStyle/>
            <a:p>
              <a:pPr algn="l">
                <a:lnSpc>
                  <a:spcPts val="2340"/>
                </a:lnSpc>
              </a:pPr>
              <a:r>
                <a:rPr lang="en-US" sz="1950">
                  <a:solidFill>
                    <a:srgbClr val="DAF1DE"/>
                  </a:solidFill>
                  <a:latin typeface="Calibri (MS)"/>
                  <a:ea typeface="Calibri (MS)"/>
                  <a:cs typeface="Calibri (MS)"/>
                  <a:sym typeface="Calibri (MS)"/>
                </a:rPr>
                <a:t>Bryan Acuña</a:t>
              </a:r>
              <a:r>
                <a:rPr lang="en-US" sz="1950">
                  <a:solidFill>
                    <a:srgbClr val="DAF1DE"/>
                  </a:solidFill>
                  <a:latin typeface="Calibri (MS)"/>
                  <a:ea typeface="Calibri (MS)"/>
                  <a:cs typeface="Calibri (MS)"/>
                  <a:sym typeface="Calibri (MS)"/>
                </a:rPr>
                <a:t>   ·   Manuel Rivas   ·   Marcel Tusach</a:t>
              </a:r>
            </a:p>
          </p:txBody>
        </p:sp>
      </p:grpSp>
      <p:grpSp>
        <p:nvGrpSpPr>
          <p:cNvPr name="Group 94" id="94"/>
          <p:cNvGrpSpPr/>
          <p:nvPr/>
        </p:nvGrpSpPr>
        <p:grpSpPr>
          <a:xfrm rot="0">
            <a:off x="12618720" y="8613648"/>
            <a:ext cx="4114800" cy="960120"/>
            <a:chOff x="0" y="0"/>
            <a:chExt cx="5486400" cy="1280160"/>
          </a:xfrm>
        </p:grpSpPr>
        <p:sp>
          <p:nvSpPr>
            <p:cNvPr name="Freeform 95" id="95"/>
            <p:cNvSpPr/>
            <p:nvPr/>
          </p:nvSpPr>
          <p:spPr>
            <a:xfrm flipH="false" flipV="false" rot="0">
              <a:off x="0" y="0"/>
              <a:ext cx="5486400" cy="1280160"/>
            </a:xfrm>
            <a:custGeom>
              <a:avLst/>
              <a:gdLst/>
              <a:ahLst/>
              <a:cxnLst/>
              <a:rect r="r" b="b" t="t" l="l"/>
              <a:pathLst>
                <a:path h="1280160" w="5486400">
                  <a:moveTo>
                    <a:pt x="0" y="0"/>
                  </a:moveTo>
                  <a:lnTo>
                    <a:pt x="5486400" y="0"/>
                  </a:lnTo>
                  <a:lnTo>
                    <a:pt x="5486400" y="1280160"/>
                  </a:lnTo>
                  <a:lnTo>
                    <a:pt x="0" y="1280160"/>
                  </a:lnTo>
                  <a:close/>
                </a:path>
              </a:pathLst>
            </a:custGeom>
            <a:blipFill>
              <a:blip r:embed="rId4">
                <a:alphaModFix amt="0"/>
              </a:blip>
              <a:stretch>
                <a:fillRect l="0" t="-33507" r="0" b="-33507"/>
              </a:stretch>
            </a:blipFill>
          </p:spPr>
        </p:sp>
        <p:sp>
          <p:nvSpPr>
            <p:cNvPr name="TextBox 96" id="96"/>
            <p:cNvSpPr txBox="true"/>
            <p:nvPr/>
          </p:nvSpPr>
          <p:spPr>
            <a:xfrm>
              <a:off x="0" y="-38100"/>
              <a:ext cx="5486400" cy="1318260"/>
            </a:xfrm>
            <a:prstGeom prst="rect">
              <a:avLst/>
            </a:prstGeom>
          </p:spPr>
          <p:txBody>
            <a:bodyPr anchor="ctr" rtlCol="false" tIns="0" lIns="0" bIns="0" rIns="0"/>
            <a:lstStyle/>
            <a:p>
              <a:pPr algn="r">
                <a:lnSpc>
                  <a:spcPts val="2160"/>
                </a:lnSpc>
              </a:pPr>
              <a:r>
                <a:rPr lang="en-US" sz="1800">
                  <a:solidFill>
                    <a:srgbClr val="8EB69B"/>
                  </a:solidFill>
                  <a:latin typeface="Calibri (MS)"/>
                  <a:ea typeface="Calibri (MS)"/>
                  <a:cs typeface="Calibri (MS)"/>
                  <a:sym typeface="Calibri (MS)"/>
                </a:rPr>
                <a:t>Ingeniería en Informática · San Joaquin</a:t>
              </a:r>
            </a:p>
          </p:txBody>
        </p:sp>
      </p:grpSp>
      <p:grpSp>
        <p:nvGrpSpPr>
          <p:cNvPr name="Group 97" id="97"/>
          <p:cNvGrpSpPr/>
          <p:nvPr/>
        </p:nvGrpSpPr>
        <p:grpSpPr>
          <a:xfrm rot="0">
            <a:off x="8086954" y="8606790"/>
            <a:ext cx="855878" cy="960120"/>
            <a:chOff x="0" y="0"/>
            <a:chExt cx="1141171" cy="1280160"/>
          </a:xfrm>
        </p:grpSpPr>
        <p:sp>
          <p:nvSpPr>
            <p:cNvPr name="Freeform 98" id="98"/>
            <p:cNvSpPr/>
            <p:nvPr/>
          </p:nvSpPr>
          <p:spPr>
            <a:xfrm flipH="false" flipV="false" rot="0">
              <a:off x="0" y="0"/>
              <a:ext cx="1141171" cy="1280160"/>
            </a:xfrm>
            <a:custGeom>
              <a:avLst/>
              <a:gdLst/>
              <a:ahLst/>
              <a:cxnLst/>
              <a:rect r="r" b="b" t="t" l="l"/>
              <a:pathLst>
                <a:path h="1280160" w="1141171">
                  <a:moveTo>
                    <a:pt x="0" y="0"/>
                  </a:moveTo>
                  <a:lnTo>
                    <a:pt x="1141171" y="0"/>
                  </a:lnTo>
                  <a:lnTo>
                    <a:pt x="1141171" y="1280160"/>
                  </a:lnTo>
                  <a:lnTo>
                    <a:pt x="0" y="1280160"/>
                  </a:lnTo>
                  <a:close/>
                </a:path>
              </a:pathLst>
            </a:custGeom>
            <a:blipFill>
              <a:blip r:embed="rId4">
                <a:alphaModFix amt="0"/>
              </a:blip>
              <a:stretch>
                <a:fillRect l="-15725" t="0" r="-172135" b="0"/>
              </a:stretch>
            </a:blipFill>
          </p:spPr>
        </p:sp>
        <p:sp>
          <p:nvSpPr>
            <p:cNvPr name="TextBox 99" id="99"/>
            <p:cNvSpPr txBox="true"/>
            <p:nvPr/>
          </p:nvSpPr>
          <p:spPr>
            <a:xfrm>
              <a:off x="0" y="-28575"/>
              <a:ext cx="1141171" cy="1308735"/>
            </a:xfrm>
            <a:prstGeom prst="rect">
              <a:avLst/>
            </a:prstGeom>
          </p:spPr>
          <p:txBody>
            <a:bodyPr anchor="ctr" rtlCol="false" tIns="0" lIns="0" bIns="0" rIns="0"/>
            <a:lstStyle/>
            <a:p>
              <a:pPr algn="l">
                <a:lnSpc>
                  <a:spcPts val="1980"/>
                </a:lnSpc>
              </a:pPr>
              <a:r>
                <a:rPr lang="en-US" sz="1650" b="true">
                  <a:solidFill>
                    <a:srgbClr val="8EB69B"/>
                  </a:solidFill>
                  <a:latin typeface="Calibri (MS) Bold"/>
                  <a:ea typeface="Calibri (MS) Bold"/>
                  <a:cs typeface="Calibri (MS) Bold"/>
                  <a:sym typeface="Calibri (MS) Bold"/>
                </a:rPr>
                <a:t>Docente</a:t>
              </a:r>
            </a:p>
          </p:txBody>
        </p:sp>
      </p:grpSp>
      <p:grpSp>
        <p:nvGrpSpPr>
          <p:cNvPr name="Group 100" id="100"/>
          <p:cNvGrpSpPr/>
          <p:nvPr/>
        </p:nvGrpSpPr>
        <p:grpSpPr>
          <a:xfrm rot="0">
            <a:off x="9076182" y="8613648"/>
            <a:ext cx="1772879" cy="960120"/>
            <a:chOff x="0" y="0"/>
            <a:chExt cx="2363838" cy="1280160"/>
          </a:xfrm>
        </p:grpSpPr>
        <p:sp>
          <p:nvSpPr>
            <p:cNvPr name="Freeform 101" id="101"/>
            <p:cNvSpPr/>
            <p:nvPr/>
          </p:nvSpPr>
          <p:spPr>
            <a:xfrm flipH="false" flipV="false" rot="0">
              <a:off x="0" y="0"/>
              <a:ext cx="2363838" cy="1280160"/>
            </a:xfrm>
            <a:custGeom>
              <a:avLst/>
              <a:gdLst/>
              <a:ahLst/>
              <a:cxnLst/>
              <a:rect r="r" b="b" t="t" l="l"/>
              <a:pathLst>
                <a:path h="1280160" w="2363838">
                  <a:moveTo>
                    <a:pt x="0" y="0"/>
                  </a:moveTo>
                  <a:lnTo>
                    <a:pt x="2363838" y="0"/>
                  </a:lnTo>
                  <a:lnTo>
                    <a:pt x="2363838" y="1280160"/>
                  </a:lnTo>
                  <a:lnTo>
                    <a:pt x="0" y="1280160"/>
                  </a:lnTo>
                  <a:close/>
                </a:path>
              </a:pathLst>
            </a:custGeom>
            <a:blipFill>
              <a:blip r:embed="rId4">
                <a:alphaModFix amt="0"/>
              </a:blip>
              <a:stretch>
                <a:fillRect l="0" t="-130932" r="-402877" b="-130932"/>
              </a:stretch>
            </a:blipFill>
          </p:spPr>
        </p:sp>
        <p:sp>
          <p:nvSpPr>
            <p:cNvPr name="TextBox 102" id="102"/>
            <p:cNvSpPr txBox="true"/>
            <p:nvPr/>
          </p:nvSpPr>
          <p:spPr>
            <a:xfrm>
              <a:off x="0" y="-47625"/>
              <a:ext cx="2363838" cy="1327785"/>
            </a:xfrm>
            <a:prstGeom prst="rect">
              <a:avLst/>
            </a:prstGeom>
          </p:spPr>
          <p:txBody>
            <a:bodyPr anchor="ctr" rtlCol="false" tIns="0" lIns="0" bIns="0" rIns="0"/>
            <a:lstStyle/>
            <a:p>
              <a:pPr algn="l">
                <a:lnSpc>
                  <a:spcPts val="2340"/>
                </a:lnSpc>
              </a:pPr>
              <a:r>
                <a:rPr lang="en-US" sz="1950">
                  <a:solidFill>
                    <a:srgbClr val="DAF1DE"/>
                  </a:solidFill>
                  <a:latin typeface="Calibri (MS)"/>
                  <a:ea typeface="Calibri (MS)"/>
                  <a:cs typeface="Calibri (MS)"/>
                  <a:sym typeface="Calibri (MS)"/>
                </a:rPr>
                <a:t>Karla Roco</a:t>
              </a:r>
              <a:r>
                <a:rPr lang="en-US" sz="1950">
                  <a:solidFill>
                    <a:srgbClr val="DAF1DE"/>
                  </a:solidFill>
                  <a:latin typeface="Calibri (MS)"/>
                  <a:ea typeface="Calibri (MS)"/>
                  <a:cs typeface="Calibri (MS)"/>
                  <a:sym typeface="Calibri (MS)"/>
                </a:rPr>
                <a:t>  Ramirez </a:t>
              </a:r>
            </a:p>
          </p:txBody>
        </p:sp>
      </p:grpSp>
      <p:sp>
        <p:nvSpPr>
          <p:cNvPr name="Freeform 103" id="103"/>
          <p:cNvSpPr/>
          <p:nvPr/>
        </p:nvSpPr>
        <p:spPr>
          <a:xfrm flipH="false" flipV="false" rot="0">
            <a:off x="13275416" y="539014"/>
            <a:ext cx="3983884" cy="979371"/>
          </a:xfrm>
          <a:custGeom>
            <a:avLst/>
            <a:gdLst/>
            <a:ahLst/>
            <a:cxnLst/>
            <a:rect r="r" b="b" t="t" l="l"/>
            <a:pathLst>
              <a:path h="979371" w="3983884">
                <a:moveTo>
                  <a:pt x="0" y="0"/>
                </a:moveTo>
                <a:lnTo>
                  <a:pt x="3983884" y="0"/>
                </a:lnTo>
                <a:lnTo>
                  <a:pt x="3983884" y="979372"/>
                </a:lnTo>
                <a:lnTo>
                  <a:pt x="0" y="979372"/>
                </a:lnTo>
                <a:lnTo>
                  <a:pt x="0" y="0"/>
                </a:lnTo>
                <a:close/>
              </a:path>
            </a:pathLst>
          </a:custGeom>
          <a:blipFill>
            <a:blip r:embed="rId8"/>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AF1DE"/>
        </a:solidFill>
      </p:bgPr>
    </p:bg>
    <p:spTree>
      <p:nvGrpSpPr>
        <p:cNvPr id="1" name=""/>
        <p:cNvGrpSpPr/>
        <p:nvPr/>
      </p:nvGrpSpPr>
      <p:grpSpPr>
        <a:xfrm>
          <a:off x="0" y="0"/>
          <a:ext cx="0" cy="0"/>
          <a:chOff x="0" y="0"/>
          <a:chExt cx="0" cy="0"/>
        </a:xfrm>
      </p:grpSpPr>
      <p:sp>
        <p:nvSpPr>
          <p:cNvPr name="Freeform 2" id="2"/>
          <p:cNvSpPr/>
          <p:nvPr/>
        </p:nvSpPr>
        <p:spPr>
          <a:xfrm flipH="false" flipV="false" rot="0">
            <a:off x="0" y="45720"/>
            <a:ext cx="18288000" cy="10241280"/>
          </a:xfrm>
          <a:custGeom>
            <a:avLst/>
            <a:gdLst/>
            <a:ahLst/>
            <a:cxnLst/>
            <a:rect r="r" b="b" t="t" l="l"/>
            <a:pathLst>
              <a:path h="10241280" w="18288000">
                <a:moveTo>
                  <a:pt x="0" y="0"/>
                </a:moveTo>
                <a:lnTo>
                  <a:pt x="18288000" y="0"/>
                </a:lnTo>
                <a:lnTo>
                  <a:pt x="18288000" y="10241280"/>
                </a:lnTo>
                <a:lnTo>
                  <a:pt x="0" y="10241280"/>
                </a:lnTo>
                <a:lnTo>
                  <a:pt x="0" y="0"/>
                </a:lnTo>
                <a:close/>
              </a:path>
            </a:pathLst>
          </a:custGeom>
          <a:blipFill>
            <a:blip r:embed="rId2">
              <a:alphaModFix amt="40000"/>
            </a:blip>
            <a:stretch>
              <a:fillRect l="0" t="0" r="0" b="0"/>
            </a:stretch>
          </a:blipFill>
        </p:spPr>
      </p:sp>
      <p:grpSp>
        <p:nvGrpSpPr>
          <p:cNvPr name="Group 3" id="3"/>
          <p:cNvGrpSpPr/>
          <p:nvPr/>
        </p:nvGrpSpPr>
        <p:grpSpPr>
          <a:xfrm rot="0">
            <a:off x="754380" y="685800"/>
            <a:ext cx="1028700" cy="1028700"/>
            <a:chOff x="0" y="0"/>
            <a:chExt cx="1371600" cy="1371600"/>
          </a:xfrm>
        </p:grpSpPr>
        <p:sp>
          <p:nvSpPr>
            <p:cNvPr name="Freeform 4" id="4"/>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0B2B26"/>
            </a:solidFill>
          </p:spPr>
        </p:sp>
      </p:grpSp>
      <p:grpSp>
        <p:nvGrpSpPr>
          <p:cNvPr name="Group 5" id="5"/>
          <p:cNvGrpSpPr/>
          <p:nvPr/>
        </p:nvGrpSpPr>
        <p:grpSpPr>
          <a:xfrm rot="0">
            <a:off x="1001268" y="932688"/>
            <a:ext cx="534924" cy="534924"/>
            <a:chOff x="0" y="0"/>
            <a:chExt cx="713232" cy="713232"/>
          </a:xfrm>
        </p:grpSpPr>
        <p:sp>
          <p:nvSpPr>
            <p:cNvPr name="Freeform 6" id="6" descr="/home/claude/sms-security/icons/shield_light.png"/>
            <p:cNvSpPr/>
            <p:nvPr/>
          </p:nvSpPr>
          <p:spPr>
            <a:xfrm flipH="false" flipV="false" rot="0">
              <a:off x="0" y="0"/>
              <a:ext cx="713232" cy="713232"/>
            </a:xfrm>
            <a:custGeom>
              <a:avLst/>
              <a:gdLst/>
              <a:ahLst/>
              <a:cxnLst/>
              <a:rect r="r" b="b" t="t" l="l"/>
              <a:pathLst>
                <a:path h="713232" w="713232">
                  <a:moveTo>
                    <a:pt x="0" y="0"/>
                  </a:moveTo>
                  <a:lnTo>
                    <a:pt x="713232" y="0"/>
                  </a:lnTo>
                  <a:lnTo>
                    <a:pt x="713232" y="713232"/>
                  </a:lnTo>
                  <a:lnTo>
                    <a:pt x="0" y="713232"/>
                  </a:lnTo>
                  <a:lnTo>
                    <a:pt x="0" y="0"/>
                  </a:lnTo>
                  <a:close/>
                </a:path>
              </a:pathLst>
            </a:custGeom>
            <a:blipFill>
              <a:blip r:embed="rId3"/>
              <a:stretch>
                <a:fillRect l="0" t="0" r="0" b="0"/>
              </a:stretch>
            </a:blipFill>
          </p:spPr>
        </p:sp>
      </p:grpSp>
      <p:grpSp>
        <p:nvGrpSpPr>
          <p:cNvPr name="Group 7" id="7"/>
          <p:cNvGrpSpPr/>
          <p:nvPr/>
        </p:nvGrpSpPr>
        <p:grpSpPr>
          <a:xfrm rot="0">
            <a:off x="1988820" y="576072"/>
            <a:ext cx="14401800" cy="754380"/>
            <a:chOff x="0" y="0"/>
            <a:chExt cx="19202400" cy="1005840"/>
          </a:xfrm>
        </p:grpSpPr>
        <p:sp>
          <p:nvSpPr>
            <p:cNvPr name="Freeform 8" id="8"/>
            <p:cNvSpPr/>
            <p:nvPr/>
          </p:nvSpPr>
          <p:spPr>
            <a:xfrm flipH="false" flipV="false" rot="0">
              <a:off x="0" y="0"/>
              <a:ext cx="19202400" cy="1005840"/>
            </a:xfrm>
            <a:custGeom>
              <a:avLst/>
              <a:gdLst/>
              <a:ahLst/>
              <a:cxnLst/>
              <a:rect r="r" b="b" t="t" l="l"/>
              <a:pathLst>
                <a:path h="1005840" w="19202400">
                  <a:moveTo>
                    <a:pt x="0" y="0"/>
                  </a:moveTo>
                  <a:lnTo>
                    <a:pt x="19202400" y="0"/>
                  </a:lnTo>
                  <a:lnTo>
                    <a:pt x="19202400" y="1005840"/>
                  </a:lnTo>
                  <a:lnTo>
                    <a:pt x="0" y="1005840"/>
                  </a:lnTo>
                  <a:close/>
                </a:path>
              </a:pathLst>
            </a:custGeom>
            <a:blipFill>
              <a:blip r:embed="rId4">
                <a:alphaModFix amt="0"/>
              </a:blip>
              <a:stretch>
                <a:fillRect l="0" t="-321987" r="0" b="-321987"/>
              </a:stretch>
            </a:blipFill>
          </p:spPr>
        </p:sp>
        <p:sp>
          <p:nvSpPr>
            <p:cNvPr name="TextBox 9" id="9"/>
            <p:cNvSpPr txBox="true"/>
            <p:nvPr/>
          </p:nvSpPr>
          <p:spPr>
            <a:xfrm>
              <a:off x="0" y="-9525"/>
              <a:ext cx="19202400" cy="1015365"/>
            </a:xfrm>
            <a:prstGeom prst="rect">
              <a:avLst/>
            </a:prstGeom>
          </p:spPr>
          <p:txBody>
            <a:bodyPr anchor="ctr" rtlCol="false" tIns="0" lIns="0" bIns="0" rIns="0"/>
            <a:lstStyle/>
            <a:p>
              <a:pPr algn="l">
                <a:lnSpc>
                  <a:spcPts val="5040"/>
                </a:lnSpc>
              </a:pPr>
              <a:r>
                <a:rPr lang="en-US" sz="4200" b="true">
                  <a:solidFill>
                    <a:srgbClr val="051F20"/>
                  </a:solidFill>
                  <a:latin typeface="Cambria Bold"/>
                  <a:ea typeface="Cambria Bold"/>
                  <a:cs typeface="Cambria Bold"/>
                  <a:sym typeface="Cambria Bold"/>
                </a:rPr>
                <a:t>Definición e Impacto</a:t>
              </a:r>
            </a:p>
          </p:txBody>
        </p:sp>
      </p:grpSp>
      <p:grpSp>
        <p:nvGrpSpPr>
          <p:cNvPr name="Group 10" id="10"/>
          <p:cNvGrpSpPr/>
          <p:nvPr/>
        </p:nvGrpSpPr>
        <p:grpSpPr>
          <a:xfrm rot="0">
            <a:off x="1988820" y="1303020"/>
            <a:ext cx="14401800" cy="480060"/>
            <a:chOff x="0" y="0"/>
            <a:chExt cx="19202400" cy="640080"/>
          </a:xfrm>
        </p:grpSpPr>
        <p:sp>
          <p:nvSpPr>
            <p:cNvPr name="Freeform 11" id="11"/>
            <p:cNvSpPr/>
            <p:nvPr/>
          </p:nvSpPr>
          <p:spPr>
            <a:xfrm flipH="false" flipV="false" rot="0">
              <a:off x="0" y="0"/>
              <a:ext cx="19202400" cy="640080"/>
            </a:xfrm>
            <a:custGeom>
              <a:avLst/>
              <a:gdLst/>
              <a:ahLst/>
              <a:cxnLst/>
              <a:rect r="r" b="b" t="t" l="l"/>
              <a:pathLst>
                <a:path h="640080" w="19202400">
                  <a:moveTo>
                    <a:pt x="0" y="0"/>
                  </a:moveTo>
                  <a:lnTo>
                    <a:pt x="19202400" y="0"/>
                  </a:lnTo>
                  <a:lnTo>
                    <a:pt x="19202400" y="640080"/>
                  </a:lnTo>
                  <a:lnTo>
                    <a:pt x="0" y="640080"/>
                  </a:lnTo>
                  <a:close/>
                </a:path>
              </a:pathLst>
            </a:custGeom>
            <a:blipFill>
              <a:blip r:embed="rId4">
                <a:alphaModFix amt="0"/>
              </a:blip>
              <a:stretch>
                <a:fillRect l="0" t="-534551" r="0" b="-534551"/>
              </a:stretch>
            </a:blipFill>
          </p:spPr>
        </p:sp>
        <p:sp>
          <p:nvSpPr>
            <p:cNvPr name="TextBox 12" id="12"/>
            <p:cNvSpPr txBox="true"/>
            <p:nvPr/>
          </p:nvSpPr>
          <p:spPr>
            <a:xfrm>
              <a:off x="0" y="-47625"/>
              <a:ext cx="19202400" cy="687705"/>
            </a:xfrm>
            <a:prstGeom prst="rect">
              <a:avLst/>
            </a:prstGeom>
          </p:spPr>
          <p:txBody>
            <a:bodyPr anchor="ctr" rtlCol="false" tIns="0" lIns="0" bIns="0" rIns="0"/>
            <a:lstStyle/>
            <a:p>
              <a:pPr algn="l">
                <a:lnSpc>
                  <a:spcPts val="2340"/>
                </a:lnSpc>
              </a:pPr>
              <a:r>
                <a:rPr lang="en-US" sz="1950" i="true">
                  <a:solidFill>
                    <a:srgbClr val="235347"/>
                  </a:solidFill>
                  <a:latin typeface="Calibri (MS) Italics"/>
                  <a:ea typeface="Calibri (MS) Italics"/>
                  <a:cs typeface="Calibri (MS) Italics"/>
                  <a:sym typeface="Calibri (MS) Italics"/>
                </a:rPr>
                <a:t>¿En qué consiste el proyecto y por qué es relevante?</a:t>
              </a:r>
            </a:p>
          </p:txBody>
        </p:sp>
      </p:grpSp>
      <p:grpSp>
        <p:nvGrpSpPr>
          <p:cNvPr name="Group 13" id="13"/>
          <p:cNvGrpSpPr/>
          <p:nvPr/>
        </p:nvGrpSpPr>
        <p:grpSpPr>
          <a:xfrm rot="0">
            <a:off x="754380" y="2125980"/>
            <a:ext cx="8023860" cy="3121667"/>
            <a:chOff x="0" y="0"/>
            <a:chExt cx="10698480" cy="4162223"/>
          </a:xfrm>
        </p:grpSpPr>
        <p:sp>
          <p:nvSpPr>
            <p:cNvPr name="Freeform 14" id="14"/>
            <p:cNvSpPr/>
            <p:nvPr/>
          </p:nvSpPr>
          <p:spPr>
            <a:xfrm flipH="false" flipV="false" rot="0">
              <a:off x="0" y="0"/>
              <a:ext cx="10698480" cy="4162223"/>
            </a:xfrm>
            <a:custGeom>
              <a:avLst/>
              <a:gdLst/>
              <a:ahLst/>
              <a:cxnLst/>
              <a:rect r="r" b="b" t="t" l="l"/>
              <a:pathLst>
                <a:path h="4162223" w="10698480">
                  <a:moveTo>
                    <a:pt x="0" y="91477"/>
                  </a:moveTo>
                  <a:cubicBezTo>
                    <a:pt x="0" y="40974"/>
                    <a:pt x="81915" y="0"/>
                    <a:pt x="182880" y="0"/>
                  </a:cubicBezTo>
                  <a:lnTo>
                    <a:pt x="10515600" y="0"/>
                  </a:lnTo>
                  <a:cubicBezTo>
                    <a:pt x="10616565" y="0"/>
                    <a:pt x="10698480" y="40974"/>
                    <a:pt x="10698480" y="91477"/>
                  </a:cubicBezTo>
                  <a:lnTo>
                    <a:pt x="10698480" y="4070746"/>
                  </a:lnTo>
                  <a:cubicBezTo>
                    <a:pt x="10698480" y="4121249"/>
                    <a:pt x="10616565" y="4162223"/>
                    <a:pt x="10515600" y="4162223"/>
                  </a:cubicBezTo>
                  <a:lnTo>
                    <a:pt x="182880" y="4162223"/>
                  </a:lnTo>
                  <a:cubicBezTo>
                    <a:pt x="81915" y="4162223"/>
                    <a:pt x="0" y="4121249"/>
                    <a:pt x="0" y="4070746"/>
                  </a:cubicBezTo>
                  <a:close/>
                </a:path>
              </a:pathLst>
            </a:custGeom>
            <a:solidFill>
              <a:srgbClr val="FFFFFF"/>
            </a:solidFill>
          </p:spPr>
        </p:sp>
      </p:grpSp>
      <p:grpSp>
        <p:nvGrpSpPr>
          <p:cNvPr name="Group 15" id="15"/>
          <p:cNvGrpSpPr/>
          <p:nvPr/>
        </p:nvGrpSpPr>
        <p:grpSpPr>
          <a:xfrm rot="0">
            <a:off x="1165860" y="2537460"/>
            <a:ext cx="754380" cy="754380"/>
            <a:chOff x="0" y="0"/>
            <a:chExt cx="1005840" cy="1005840"/>
          </a:xfrm>
        </p:grpSpPr>
        <p:sp>
          <p:nvSpPr>
            <p:cNvPr name="Freeform 16" id="16"/>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235347"/>
            </a:solidFill>
          </p:spPr>
        </p:sp>
      </p:grpSp>
      <p:grpSp>
        <p:nvGrpSpPr>
          <p:cNvPr name="Group 17" id="17"/>
          <p:cNvGrpSpPr/>
          <p:nvPr/>
        </p:nvGrpSpPr>
        <p:grpSpPr>
          <a:xfrm rot="0">
            <a:off x="1346911" y="2718511"/>
            <a:ext cx="392278" cy="392278"/>
            <a:chOff x="0" y="0"/>
            <a:chExt cx="523037" cy="523037"/>
          </a:xfrm>
        </p:grpSpPr>
        <p:sp>
          <p:nvSpPr>
            <p:cNvPr name="Freeform 18" id="18" descr="/home/claude/sms-security/icons/mobile_light.png"/>
            <p:cNvSpPr/>
            <p:nvPr/>
          </p:nvSpPr>
          <p:spPr>
            <a:xfrm flipH="false" flipV="false" rot="0">
              <a:off x="0" y="0"/>
              <a:ext cx="522986" cy="522986"/>
            </a:xfrm>
            <a:custGeom>
              <a:avLst/>
              <a:gdLst/>
              <a:ahLst/>
              <a:cxnLst/>
              <a:rect r="r" b="b" t="t" l="l"/>
              <a:pathLst>
                <a:path h="522986" w="522986">
                  <a:moveTo>
                    <a:pt x="0" y="0"/>
                  </a:moveTo>
                  <a:lnTo>
                    <a:pt x="522986" y="0"/>
                  </a:lnTo>
                  <a:lnTo>
                    <a:pt x="522986" y="522986"/>
                  </a:lnTo>
                  <a:lnTo>
                    <a:pt x="0" y="522986"/>
                  </a:lnTo>
                  <a:lnTo>
                    <a:pt x="0" y="0"/>
                  </a:lnTo>
                  <a:close/>
                </a:path>
              </a:pathLst>
            </a:custGeom>
            <a:blipFill>
              <a:blip r:embed="rId5"/>
              <a:stretch>
                <a:fillRect l="0" t="0" r="-9" b="-9"/>
              </a:stretch>
            </a:blipFill>
          </p:spPr>
        </p:sp>
      </p:grpSp>
      <p:grpSp>
        <p:nvGrpSpPr>
          <p:cNvPr name="Group 19" id="19"/>
          <p:cNvGrpSpPr/>
          <p:nvPr/>
        </p:nvGrpSpPr>
        <p:grpSpPr>
          <a:xfrm rot="0">
            <a:off x="2125980" y="2537460"/>
            <a:ext cx="6309360" cy="754380"/>
            <a:chOff x="0" y="0"/>
            <a:chExt cx="8412480" cy="1005840"/>
          </a:xfrm>
        </p:grpSpPr>
        <p:sp>
          <p:nvSpPr>
            <p:cNvPr name="Freeform 20" id="20"/>
            <p:cNvSpPr/>
            <p:nvPr/>
          </p:nvSpPr>
          <p:spPr>
            <a:xfrm flipH="false" flipV="false" rot="0">
              <a:off x="0" y="0"/>
              <a:ext cx="8412480" cy="1005840"/>
            </a:xfrm>
            <a:custGeom>
              <a:avLst/>
              <a:gdLst/>
              <a:ahLst/>
              <a:cxnLst/>
              <a:rect r="r" b="b" t="t" l="l"/>
              <a:pathLst>
                <a:path h="1005840" w="8412480">
                  <a:moveTo>
                    <a:pt x="0" y="0"/>
                  </a:moveTo>
                  <a:lnTo>
                    <a:pt x="8412480" y="0"/>
                  </a:lnTo>
                  <a:lnTo>
                    <a:pt x="8412480" y="1005840"/>
                  </a:lnTo>
                  <a:lnTo>
                    <a:pt x="0" y="1005840"/>
                  </a:lnTo>
                  <a:close/>
                </a:path>
              </a:pathLst>
            </a:custGeom>
            <a:blipFill>
              <a:blip r:embed="rId4">
                <a:alphaModFix amt="0"/>
              </a:blip>
              <a:stretch>
                <a:fillRect l="0" t="-112965" r="0" b="-112965"/>
              </a:stretch>
            </a:blipFill>
          </p:spPr>
        </p:sp>
        <p:sp>
          <p:nvSpPr>
            <p:cNvPr name="TextBox 21" id="21"/>
            <p:cNvSpPr txBox="true"/>
            <p:nvPr/>
          </p:nvSpPr>
          <p:spPr>
            <a:xfrm>
              <a:off x="0" y="-9525"/>
              <a:ext cx="8412480" cy="1015365"/>
            </a:xfrm>
            <a:prstGeom prst="rect">
              <a:avLst/>
            </a:prstGeom>
          </p:spPr>
          <p:txBody>
            <a:bodyPr anchor="ctr" rtlCol="false" tIns="0" lIns="0" bIns="0" rIns="0"/>
            <a:lstStyle/>
            <a:p>
              <a:pPr algn="l">
                <a:lnSpc>
                  <a:spcPts val="2879"/>
                </a:lnSpc>
              </a:pPr>
              <a:r>
                <a:rPr lang="en-US" sz="2400" b="true">
                  <a:solidFill>
                    <a:srgbClr val="051F20"/>
                  </a:solidFill>
                  <a:latin typeface="Cambria Bold"/>
                  <a:ea typeface="Cambria Bold"/>
                  <a:cs typeface="Cambria Bold"/>
                  <a:sym typeface="Cambria Bold"/>
                </a:rPr>
                <a:t>¿En qué consiste el proyecto?</a:t>
              </a:r>
            </a:p>
          </p:txBody>
        </p:sp>
      </p:grpSp>
      <p:grpSp>
        <p:nvGrpSpPr>
          <p:cNvPr name="Group 22" id="22"/>
          <p:cNvGrpSpPr/>
          <p:nvPr/>
        </p:nvGrpSpPr>
        <p:grpSpPr>
          <a:xfrm rot="0">
            <a:off x="1156335" y="3451665"/>
            <a:ext cx="7219950" cy="1576175"/>
            <a:chOff x="0" y="0"/>
            <a:chExt cx="9626600" cy="2101566"/>
          </a:xfrm>
        </p:grpSpPr>
        <p:sp>
          <p:nvSpPr>
            <p:cNvPr name="Freeform 23" id="23"/>
            <p:cNvSpPr/>
            <p:nvPr/>
          </p:nvSpPr>
          <p:spPr>
            <a:xfrm flipH="false" flipV="false" rot="0">
              <a:off x="0" y="0"/>
              <a:ext cx="9626600" cy="2101566"/>
            </a:xfrm>
            <a:custGeom>
              <a:avLst/>
              <a:gdLst/>
              <a:ahLst/>
              <a:cxnLst/>
              <a:rect r="r" b="b" t="t" l="l"/>
              <a:pathLst>
                <a:path h="2101566" w="9626600">
                  <a:moveTo>
                    <a:pt x="0" y="50954"/>
                  </a:moveTo>
                  <a:cubicBezTo>
                    <a:pt x="0" y="22812"/>
                    <a:pt x="65786" y="0"/>
                    <a:pt x="146939" y="0"/>
                  </a:cubicBezTo>
                  <a:lnTo>
                    <a:pt x="9479661" y="0"/>
                  </a:lnTo>
                  <a:cubicBezTo>
                    <a:pt x="9560814" y="0"/>
                    <a:pt x="9626600" y="22812"/>
                    <a:pt x="9626600" y="50954"/>
                  </a:cubicBezTo>
                  <a:lnTo>
                    <a:pt x="9626600" y="2050613"/>
                  </a:lnTo>
                  <a:cubicBezTo>
                    <a:pt x="9626600" y="2078754"/>
                    <a:pt x="9560814" y="2101566"/>
                    <a:pt x="9479661" y="2101566"/>
                  </a:cubicBezTo>
                  <a:lnTo>
                    <a:pt x="146939" y="2101566"/>
                  </a:lnTo>
                  <a:cubicBezTo>
                    <a:pt x="65786" y="2101566"/>
                    <a:pt x="0" y="2078754"/>
                    <a:pt x="0" y="2050613"/>
                  </a:cubicBezTo>
                  <a:close/>
                </a:path>
              </a:pathLst>
            </a:custGeom>
            <a:solidFill>
              <a:srgbClr val="FFFFFF"/>
            </a:solidFill>
            <a:ln w="19050" cap="sq">
              <a:solidFill>
                <a:srgbClr val="8EB69B"/>
              </a:solidFill>
              <a:prstDash val="dash"/>
              <a:miter/>
            </a:ln>
          </p:spPr>
        </p:sp>
      </p:grpSp>
      <p:grpSp>
        <p:nvGrpSpPr>
          <p:cNvPr name="Group 24" id="24"/>
          <p:cNvGrpSpPr/>
          <p:nvPr/>
        </p:nvGrpSpPr>
        <p:grpSpPr>
          <a:xfrm rot="0">
            <a:off x="9121140" y="2125980"/>
            <a:ext cx="8435340" cy="3121667"/>
            <a:chOff x="0" y="0"/>
            <a:chExt cx="11247120" cy="4162223"/>
          </a:xfrm>
        </p:grpSpPr>
        <p:sp>
          <p:nvSpPr>
            <p:cNvPr name="Freeform 25" id="25"/>
            <p:cNvSpPr/>
            <p:nvPr/>
          </p:nvSpPr>
          <p:spPr>
            <a:xfrm flipH="false" flipV="false" rot="0">
              <a:off x="0" y="0"/>
              <a:ext cx="11247120" cy="4162223"/>
            </a:xfrm>
            <a:custGeom>
              <a:avLst/>
              <a:gdLst/>
              <a:ahLst/>
              <a:cxnLst/>
              <a:rect r="r" b="b" t="t" l="l"/>
              <a:pathLst>
                <a:path h="4162223" w="11247120">
                  <a:moveTo>
                    <a:pt x="0" y="163224"/>
                  </a:moveTo>
                  <a:cubicBezTo>
                    <a:pt x="0" y="73111"/>
                    <a:pt x="81915" y="0"/>
                    <a:pt x="182880" y="0"/>
                  </a:cubicBezTo>
                  <a:lnTo>
                    <a:pt x="11064240" y="0"/>
                  </a:lnTo>
                  <a:cubicBezTo>
                    <a:pt x="11165205" y="0"/>
                    <a:pt x="11247120" y="73111"/>
                    <a:pt x="11247120" y="163224"/>
                  </a:cubicBezTo>
                  <a:lnTo>
                    <a:pt x="11247120" y="3998999"/>
                  </a:lnTo>
                  <a:cubicBezTo>
                    <a:pt x="11247120" y="4089112"/>
                    <a:pt x="11165205" y="4162223"/>
                    <a:pt x="11064240" y="4162223"/>
                  </a:cubicBezTo>
                  <a:lnTo>
                    <a:pt x="182880" y="4162223"/>
                  </a:lnTo>
                  <a:cubicBezTo>
                    <a:pt x="81915" y="4162223"/>
                    <a:pt x="0" y="4089112"/>
                    <a:pt x="0" y="3998999"/>
                  </a:cubicBezTo>
                  <a:close/>
                </a:path>
              </a:pathLst>
            </a:custGeom>
            <a:solidFill>
              <a:srgbClr val="051F20"/>
            </a:solidFill>
          </p:spPr>
        </p:sp>
      </p:grpSp>
      <p:grpSp>
        <p:nvGrpSpPr>
          <p:cNvPr name="Group 26" id="26"/>
          <p:cNvGrpSpPr/>
          <p:nvPr/>
        </p:nvGrpSpPr>
        <p:grpSpPr>
          <a:xfrm rot="0">
            <a:off x="9532620" y="2537460"/>
            <a:ext cx="754380" cy="754380"/>
            <a:chOff x="0" y="0"/>
            <a:chExt cx="1005840" cy="1005840"/>
          </a:xfrm>
        </p:grpSpPr>
        <p:sp>
          <p:nvSpPr>
            <p:cNvPr name="Freeform 27" id="27"/>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8EB69B"/>
            </a:solidFill>
          </p:spPr>
        </p:sp>
      </p:grpSp>
      <p:grpSp>
        <p:nvGrpSpPr>
          <p:cNvPr name="Group 28" id="28"/>
          <p:cNvGrpSpPr/>
          <p:nvPr/>
        </p:nvGrpSpPr>
        <p:grpSpPr>
          <a:xfrm rot="0">
            <a:off x="9713671" y="2718511"/>
            <a:ext cx="392278" cy="392278"/>
            <a:chOff x="0" y="0"/>
            <a:chExt cx="523037" cy="523037"/>
          </a:xfrm>
        </p:grpSpPr>
        <p:sp>
          <p:nvSpPr>
            <p:cNvPr name="Freeform 29" id="29" descr="/home/claude/sms-security/icons/target_dark1.png"/>
            <p:cNvSpPr/>
            <p:nvPr/>
          </p:nvSpPr>
          <p:spPr>
            <a:xfrm flipH="false" flipV="false" rot="0">
              <a:off x="0" y="0"/>
              <a:ext cx="522986" cy="522986"/>
            </a:xfrm>
            <a:custGeom>
              <a:avLst/>
              <a:gdLst/>
              <a:ahLst/>
              <a:cxnLst/>
              <a:rect r="r" b="b" t="t" l="l"/>
              <a:pathLst>
                <a:path h="522986" w="522986">
                  <a:moveTo>
                    <a:pt x="0" y="0"/>
                  </a:moveTo>
                  <a:lnTo>
                    <a:pt x="522986" y="0"/>
                  </a:lnTo>
                  <a:lnTo>
                    <a:pt x="522986" y="522986"/>
                  </a:lnTo>
                  <a:lnTo>
                    <a:pt x="0" y="522986"/>
                  </a:lnTo>
                  <a:lnTo>
                    <a:pt x="0" y="0"/>
                  </a:lnTo>
                  <a:close/>
                </a:path>
              </a:pathLst>
            </a:custGeom>
            <a:blipFill>
              <a:blip r:embed="rId6"/>
              <a:stretch>
                <a:fillRect l="0" t="0" r="-9" b="-9"/>
              </a:stretch>
            </a:blipFill>
          </p:spPr>
        </p:sp>
      </p:grpSp>
      <p:grpSp>
        <p:nvGrpSpPr>
          <p:cNvPr name="Group 30" id="30"/>
          <p:cNvGrpSpPr/>
          <p:nvPr/>
        </p:nvGrpSpPr>
        <p:grpSpPr>
          <a:xfrm rot="0">
            <a:off x="10492740" y="2537460"/>
            <a:ext cx="6720840" cy="754380"/>
            <a:chOff x="0" y="0"/>
            <a:chExt cx="8961120" cy="1005840"/>
          </a:xfrm>
        </p:grpSpPr>
        <p:sp>
          <p:nvSpPr>
            <p:cNvPr name="Freeform 31" id="31"/>
            <p:cNvSpPr/>
            <p:nvPr/>
          </p:nvSpPr>
          <p:spPr>
            <a:xfrm flipH="false" flipV="false" rot="0">
              <a:off x="0" y="0"/>
              <a:ext cx="8961120" cy="1005840"/>
            </a:xfrm>
            <a:custGeom>
              <a:avLst/>
              <a:gdLst/>
              <a:ahLst/>
              <a:cxnLst/>
              <a:rect r="r" b="b" t="t" l="l"/>
              <a:pathLst>
                <a:path h="1005840" w="8961120">
                  <a:moveTo>
                    <a:pt x="0" y="0"/>
                  </a:moveTo>
                  <a:lnTo>
                    <a:pt x="8961120" y="0"/>
                  </a:lnTo>
                  <a:lnTo>
                    <a:pt x="8961120" y="1005840"/>
                  </a:lnTo>
                  <a:lnTo>
                    <a:pt x="0" y="1005840"/>
                  </a:lnTo>
                  <a:close/>
                </a:path>
              </a:pathLst>
            </a:custGeom>
            <a:blipFill>
              <a:blip r:embed="rId4">
                <a:alphaModFix amt="0"/>
              </a:blip>
              <a:stretch>
                <a:fillRect l="0" t="-123593" r="0" b="-123593"/>
              </a:stretch>
            </a:blipFill>
          </p:spPr>
        </p:sp>
        <p:sp>
          <p:nvSpPr>
            <p:cNvPr name="TextBox 32" id="32"/>
            <p:cNvSpPr txBox="true"/>
            <p:nvPr/>
          </p:nvSpPr>
          <p:spPr>
            <a:xfrm>
              <a:off x="0" y="-9525"/>
              <a:ext cx="8961120" cy="1015365"/>
            </a:xfrm>
            <a:prstGeom prst="rect">
              <a:avLst/>
            </a:prstGeom>
          </p:spPr>
          <p:txBody>
            <a:bodyPr anchor="ctr" rtlCol="false" tIns="0" lIns="0" bIns="0" rIns="0"/>
            <a:lstStyle/>
            <a:p>
              <a:pPr algn="l">
                <a:lnSpc>
                  <a:spcPts val="2879"/>
                </a:lnSpc>
              </a:pPr>
              <a:r>
                <a:rPr lang="en-US" sz="2400" b="true">
                  <a:solidFill>
                    <a:srgbClr val="DAF1DE"/>
                  </a:solidFill>
                  <a:latin typeface="Cambria Bold"/>
                  <a:ea typeface="Cambria Bold"/>
                  <a:cs typeface="Cambria Bold"/>
                  <a:sym typeface="Cambria Bold"/>
                </a:rPr>
                <a:t>Relevancia e impacto</a:t>
              </a:r>
            </a:p>
          </p:txBody>
        </p:sp>
      </p:grpSp>
      <p:grpSp>
        <p:nvGrpSpPr>
          <p:cNvPr name="Group 33" id="33"/>
          <p:cNvGrpSpPr/>
          <p:nvPr/>
        </p:nvGrpSpPr>
        <p:grpSpPr>
          <a:xfrm rot="0">
            <a:off x="9523095" y="3556635"/>
            <a:ext cx="7700010" cy="1346111"/>
            <a:chOff x="0" y="0"/>
            <a:chExt cx="10266680" cy="1794814"/>
          </a:xfrm>
        </p:grpSpPr>
        <p:sp>
          <p:nvSpPr>
            <p:cNvPr name="Freeform 34" id="34"/>
            <p:cNvSpPr/>
            <p:nvPr/>
          </p:nvSpPr>
          <p:spPr>
            <a:xfrm flipH="false" flipV="false" rot="0">
              <a:off x="0" y="0"/>
              <a:ext cx="10266680" cy="1794814"/>
            </a:xfrm>
            <a:custGeom>
              <a:avLst/>
              <a:gdLst/>
              <a:ahLst/>
              <a:cxnLst/>
              <a:rect r="r" b="b" t="t" l="l"/>
              <a:pathLst>
                <a:path h="1794814" w="10266680">
                  <a:moveTo>
                    <a:pt x="0" y="106373"/>
                  </a:moveTo>
                  <a:cubicBezTo>
                    <a:pt x="0" y="47612"/>
                    <a:pt x="66167" y="0"/>
                    <a:pt x="147828" y="0"/>
                  </a:cubicBezTo>
                  <a:lnTo>
                    <a:pt x="10118852" y="0"/>
                  </a:lnTo>
                  <a:cubicBezTo>
                    <a:pt x="10200513" y="0"/>
                    <a:pt x="10266680" y="47612"/>
                    <a:pt x="10266680" y="106373"/>
                  </a:cubicBezTo>
                  <a:lnTo>
                    <a:pt x="10266680" y="1688441"/>
                  </a:lnTo>
                  <a:cubicBezTo>
                    <a:pt x="10266680" y="1747202"/>
                    <a:pt x="10200513" y="1794814"/>
                    <a:pt x="10118852" y="1794814"/>
                  </a:cubicBezTo>
                  <a:lnTo>
                    <a:pt x="147828" y="1794814"/>
                  </a:lnTo>
                  <a:cubicBezTo>
                    <a:pt x="66167" y="1794814"/>
                    <a:pt x="0" y="1747202"/>
                    <a:pt x="0" y="1688441"/>
                  </a:cubicBezTo>
                  <a:close/>
                </a:path>
              </a:pathLst>
            </a:custGeom>
            <a:solidFill>
              <a:srgbClr val="FFFFFF"/>
            </a:solidFill>
            <a:ln w="19050" cap="sq">
              <a:solidFill>
                <a:srgbClr val="8EB69B"/>
              </a:solidFill>
              <a:prstDash val="dash"/>
              <a:miter/>
            </a:ln>
          </p:spPr>
        </p:sp>
      </p:grpSp>
      <p:grpSp>
        <p:nvGrpSpPr>
          <p:cNvPr name="Group 35" id="35"/>
          <p:cNvGrpSpPr/>
          <p:nvPr/>
        </p:nvGrpSpPr>
        <p:grpSpPr>
          <a:xfrm rot="0">
            <a:off x="2356485" y="6673107"/>
            <a:ext cx="2693670" cy="2419350"/>
            <a:chOff x="0" y="0"/>
            <a:chExt cx="3591560" cy="3225800"/>
          </a:xfrm>
        </p:grpSpPr>
        <p:sp>
          <p:nvSpPr>
            <p:cNvPr name="Freeform 36" id="36"/>
            <p:cNvSpPr/>
            <p:nvPr/>
          </p:nvSpPr>
          <p:spPr>
            <a:xfrm flipH="false" flipV="false" rot="0">
              <a:off x="0" y="0"/>
              <a:ext cx="3591560" cy="3225800"/>
            </a:xfrm>
            <a:custGeom>
              <a:avLst/>
              <a:gdLst/>
              <a:ahLst/>
              <a:cxnLst/>
              <a:rect r="r" b="b" t="t" l="l"/>
              <a:pathLst>
                <a:path h="3225800" w="3591560">
                  <a:moveTo>
                    <a:pt x="0" y="184277"/>
                  </a:moveTo>
                  <a:cubicBezTo>
                    <a:pt x="0" y="82550"/>
                    <a:pt x="82550" y="0"/>
                    <a:pt x="184277" y="0"/>
                  </a:cubicBezTo>
                  <a:lnTo>
                    <a:pt x="3407283" y="0"/>
                  </a:lnTo>
                  <a:cubicBezTo>
                    <a:pt x="3509137" y="0"/>
                    <a:pt x="3591560" y="82550"/>
                    <a:pt x="3591560" y="184277"/>
                  </a:cubicBezTo>
                  <a:lnTo>
                    <a:pt x="3591560" y="3041523"/>
                  </a:lnTo>
                  <a:cubicBezTo>
                    <a:pt x="3591560" y="3143377"/>
                    <a:pt x="3509010" y="3225800"/>
                    <a:pt x="3407283" y="3225800"/>
                  </a:cubicBezTo>
                  <a:lnTo>
                    <a:pt x="184277" y="3225800"/>
                  </a:lnTo>
                  <a:cubicBezTo>
                    <a:pt x="82550" y="3225800"/>
                    <a:pt x="0" y="3143250"/>
                    <a:pt x="0" y="3041523"/>
                  </a:cubicBezTo>
                  <a:close/>
                </a:path>
              </a:pathLst>
            </a:custGeom>
            <a:solidFill>
              <a:srgbClr val="FFFFFF"/>
            </a:solidFill>
            <a:ln w="19050" cap="sq">
              <a:solidFill>
                <a:srgbClr val="8EB69B"/>
              </a:solidFill>
              <a:prstDash val="solid"/>
              <a:miter/>
            </a:ln>
          </p:spPr>
        </p:sp>
      </p:grpSp>
      <p:grpSp>
        <p:nvGrpSpPr>
          <p:cNvPr name="Group 37" id="37"/>
          <p:cNvGrpSpPr/>
          <p:nvPr/>
        </p:nvGrpSpPr>
        <p:grpSpPr>
          <a:xfrm rot="0">
            <a:off x="3326130" y="6956952"/>
            <a:ext cx="754380" cy="754380"/>
            <a:chOff x="0" y="0"/>
            <a:chExt cx="1005840" cy="1005840"/>
          </a:xfrm>
        </p:grpSpPr>
        <p:sp>
          <p:nvSpPr>
            <p:cNvPr name="Freeform 38" id="38"/>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235347"/>
            </a:solidFill>
          </p:spPr>
        </p:sp>
      </p:grpSp>
      <p:grpSp>
        <p:nvGrpSpPr>
          <p:cNvPr name="Group 39" id="39"/>
          <p:cNvGrpSpPr/>
          <p:nvPr/>
        </p:nvGrpSpPr>
        <p:grpSpPr>
          <a:xfrm rot="0">
            <a:off x="3507181" y="7138003"/>
            <a:ext cx="392278" cy="392278"/>
            <a:chOff x="0" y="0"/>
            <a:chExt cx="523037" cy="523037"/>
          </a:xfrm>
        </p:grpSpPr>
        <p:sp>
          <p:nvSpPr>
            <p:cNvPr name="Freeform 40" id="40" descr="/home/claude/sms-security/icons/warning_light.png"/>
            <p:cNvSpPr/>
            <p:nvPr/>
          </p:nvSpPr>
          <p:spPr>
            <a:xfrm flipH="false" flipV="false" rot="0">
              <a:off x="0" y="0"/>
              <a:ext cx="522986" cy="522986"/>
            </a:xfrm>
            <a:custGeom>
              <a:avLst/>
              <a:gdLst/>
              <a:ahLst/>
              <a:cxnLst/>
              <a:rect r="r" b="b" t="t" l="l"/>
              <a:pathLst>
                <a:path h="522986" w="522986">
                  <a:moveTo>
                    <a:pt x="0" y="0"/>
                  </a:moveTo>
                  <a:lnTo>
                    <a:pt x="522986" y="0"/>
                  </a:lnTo>
                  <a:lnTo>
                    <a:pt x="522986" y="522986"/>
                  </a:lnTo>
                  <a:lnTo>
                    <a:pt x="0" y="522986"/>
                  </a:lnTo>
                  <a:lnTo>
                    <a:pt x="0" y="0"/>
                  </a:lnTo>
                  <a:close/>
                </a:path>
              </a:pathLst>
            </a:custGeom>
            <a:blipFill>
              <a:blip r:embed="rId7"/>
              <a:stretch>
                <a:fillRect l="0" t="0" r="-9" b="-9"/>
              </a:stretch>
            </a:blipFill>
          </p:spPr>
        </p:sp>
      </p:grpSp>
      <p:grpSp>
        <p:nvGrpSpPr>
          <p:cNvPr name="Group 41" id="41"/>
          <p:cNvGrpSpPr/>
          <p:nvPr/>
        </p:nvGrpSpPr>
        <p:grpSpPr>
          <a:xfrm rot="0">
            <a:off x="2535555" y="6781584"/>
            <a:ext cx="2400300" cy="2202396"/>
            <a:chOff x="0" y="0"/>
            <a:chExt cx="3200400" cy="2936528"/>
          </a:xfrm>
        </p:grpSpPr>
        <p:sp>
          <p:nvSpPr>
            <p:cNvPr name="Freeform 42" id="42"/>
            <p:cNvSpPr/>
            <p:nvPr/>
          </p:nvSpPr>
          <p:spPr>
            <a:xfrm flipH="false" flipV="false" rot="0">
              <a:off x="0" y="0"/>
              <a:ext cx="3200400" cy="2936528"/>
            </a:xfrm>
            <a:custGeom>
              <a:avLst/>
              <a:gdLst/>
              <a:ahLst/>
              <a:cxnLst/>
              <a:rect r="r" b="b" t="t" l="l"/>
              <a:pathLst>
                <a:path h="2936528" w="3200400">
                  <a:moveTo>
                    <a:pt x="0" y="0"/>
                  </a:moveTo>
                  <a:lnTo>
                    <a:pt x="3200400" y="0"/>
                  </a:lnTo>
                  <a:lnTo>
                    <a:pt x="3200400" y="2936528"/>
                  </a:lnTo>
                  <a:lnTo>
                    <a:pt x="0" y="2936528"/>
                  </a:lnTo>
                  <a:close/>
                </a:path>
              </a:pathLst>
            </a:custGeom>
            <a:blipFill>
              <a:blip r:embed="rId4">
                <a:alphaModFix amt="0"/>
              </a:blip>
              <a:stretch>
                <a:fillRect l="0" t="-7223" r="0" b="64751"/>
              </a:stretch>
            </a:blipFill>
          </p:spPr>
        </p:sp>
        <p:sp>
          <p:nvSpPr>
            <p:cNvPr name="TextBox 43" id="43"/>
            <p:cNvSpPr txBox="true"/>
            <p:nvPr/>
          </p:nvSpPr>
          <p:spPr>
            <a:xfrm>
              <a:off x="0" y="-19050"/>
              <a:ext cx="3200400" cy="2955578"/>
            </a:xfrm>
            <a:prstGeom prst="rect">
              <a:avLst/>
            </a:prstGeom>
          </p:spPr>
          <p:txBody>
            <a:bodyPr anchor="ctr" rtlCol="false" tIns="0" lIns="0" bIns="0" rIns="0"/>
            <a:lstStyle/>
            <a:p>
              <a:pPr algn="ctr">
                <a:lnSpc>
                  <a:spcPts val="3600"/>
                </a:lnSpc>
              </a:pPr>
              <a:r>
                <a:rPr lang="en-US" sz="3000" b="true">
                  <a:solidFill>
                    <a:srgbClr val="051F20"/>
                  </a:solidFill>
                  <a:latin typeface="Cambria Bold"/>
                  <a:ea typeface="Cambria Bold"/>
                  <a:cs typeface="Cambria Bold"/>
                  <a:sym typeface="Cambria Bold"/>
                </a:rPr>
                <a:t>25%</a:t>
              </a:r>
            </a:p>
          </p:txBody>
        </p:sp>
      </p:grpSp>
      <p:grpSp>
        <p:nvGrpSpPr>
          <p:cNvPr name="Group 44" id="44"/>
          <p:cNvGrpSpPr/>
          <p:nvPr/>
        </p:nvGrpSpPr>
        <p:grpSpPr>
          <a:xfrm rot="0">
            <a:off x="2503170" y="8465712"/>
            <a:ext cx="2400300" cy="666629"/>
            <a:chOff x="0" y="0"/>
            <a:chExt cx="3200400" cy="888839"/>
          </a:xfrm>
        </p:grpSpPr>
        <p:sp>
          <p:nvSpPr>
            <p:cNvPr name="Freeform 45" id="45"/>
            <p:cNvSpPr/>
            <p:nvPr/>
          </p:nvSpPr>
          <p:spPr>
            <a:xfrm flipH="false" flipV="false" rot="0">
              <a:off x="0" y="0"/>
              <a:ext cx="3200400" cy="888839"/>
            </a:xfrm>
            <a:custGeom>
              <a:avLst/>
              <a:gdLst/>
              <a:ahLst/>
              <a:cxnLst/>
              <a:rect r="r" b="b" t="t" l="l"/>
              <a:pathLst>
                <a:path h="888839" w="3200400">
                  <a:moveTo>
                    <a:pt x="0" y="0"/>
                  </a:moveTo>
                  <a:lnTo>
                    <a:pt x="3200400" y="0"/>
                  </a:lnTo>
                  <a:lnTo>
                    <a:pt x="3200400" y="888839"/>
                  </a:lnTo>
                  <a:lnTo>
                    <a:pt x="0" y="888839"/>
                  </a:lnTo>
                  <a:close/>
                </a:path>
              </a:pathLst>
            </a:custGeom>
            <a:blipFill>
              <a:blip r:embed="rId4">
                <a:alphaModFix amt="0"/>
              </a:blip>
              <a:stretch>
                <a:fillRect l="0" t="-29008" r="0" b="-11309"/>
              </a:stretch>
            </a:blipFill>
          </p:spPr>
        </p:sp>
        <p:sp>
          <p:nvSpPr>
            <p:cNvPr name="TextBox 46" id="46"/>
            <p:cNvSpPr txBox="true"/>
            <p:nvPr/>
          </p:nvSpPr>
          <p:spPr>
            <a:xfrm>
              <a:off x="0" y="-28575"/>
              <a:ext cx="3200400" cy="917414"/>
            </a:xfrm>
            <a:prstGeom prst="rect">
              <a:avLst/>
            </a:prstGeom>
          </p:spPr>
          <p:txBody>
            <a:bodyPr anchor="ctr" rtlCol="false" tIns="0" lIns="0" bIns="0" rIns="0"/>
            <a:lstStyle/>
            <a:p>
              <a:pPr algn="ctr">
                <a:lnSpc>
                  <a:spcPts val="1620"/>
                </a:lnSpc>
              </a:pPr>
              <a:r>
                <a:rPr lang="en-US" sz="1350" i="true">
                  <a:solidFill>
                    <a:srgbClr val="7A9E8E"/>
                  </a:solidFill>
                  <a:latin typeface="Calibri (MS) Italics"/>
                  <a:ea typeface="Calibri (MS) Italics"/>
                  <a:cs typeface="Calibri (MS) Italics"/>
                  <a:sym typeface="Calibri (MS) Italics"/>
                </a:rPr>
                <a:t>1 de 4 chilenos caen en fraude de smishing, eso son cerca de 5.037.737 personas en chile</a:t>
              </a:r>
            </a:p>
          </p:txBody>
        </p:sp>
      </p:grpSp>
      <p:grpSp>
        <p:nvGrpSpPr>
          <p:cNvPr name="Group 47" id="47"/>
          <p:cNvGrpSpPr/>
          <p:nvPr/>
        </p:nvGrpSpPr>
        <p:grpSpPr>
          <a:xfrm rot="0">
            <a:off x="7431405" y="6673107"/>
            <a:ext cx="2693670" cy="2419350"/>
            <a:chOff x="0" y="0"/>
            <a:chExt cx="3591560" cy="3225800"/>
          </a:xfrm>
        </p:grpSpPr>
        <p:sp>
          <p:nvSpPr>
            <p:cNvPr name="Freeform 48" id="48"/>
            <p:cNvSpPr/>
            <p:nvPr/>
          </p:nvSpPr>
          <p:spPr>
            <a:xfrm flipH="false" flipV="false" rot="0">
              <a:off x="0" y="0"/>
              <a:ext cx="3591560" cy="3225800"/>
            </a:xfrm>
            <a:custGeom>
              <a:avLst/>
              <a:gdLst/>
              <a:ahLst/>
              <a:cxnLst/>
              <a:rect r="r" b="b" t="t" l="l"/>
              <a:pathLst>
                <a:path h="3225800" w="3591560">
                  <a:moveTo>
                    <a:pt x="0" y="184277"/>
                  </a:moveTo>
                  <a:cubicBezTo>
                    <a:pt x="0" y="82550"/>
                    <a:pt x="82550" y="0"/>
                    <a:pt x="184277" y="0"/>
                  </a:cubicBezTo>
                  <a:lnTo>
                    <a:pt x="3407283" y="0"/>
                  </a:lnTo>
                  <a:cubicBezTo>
                    <a:pt x="3509137" y="0"/>
                    <a:pt x="3591560" y="82550"/>
                    <a:pt x="3591560" y="184277"/>
                  </a:cubicBezTo>
                  <a:lnTo>
                    <a:pt x="3591560" y="3041523"/>
                  </a:lnTo>
                  <a:cubicBezTo>
                    <a:pt x="3591560" y="3143377"/>
                    <a:pt x="3509010" y="3225800"/>
                    <a:pt x="3407283" y="3225800"/>
                  </a:cubicBezTo>
                  <a:lnTo>
                    <a:pt x="184277" y="3225800"/>
                  </a:lnTo>
                  <a:cubicBezTo>
                    <a:pt x="82550" y="3225800"/>
                    <a:pt x="0" y="3143250"/>
                    <a:pt x="0" y="3041523"/>
                  </a:cubicBezTo>
                  <a:close/>
                </a:path>
              </a:pathLst>
            </a:custGeom>
            <a:solidFill>
              <a:srgbClr val="FFFFFF"/>
            </a:solidFill>
            <a:ln w="19050" cap="sq">
              <a:solidFill>
                <a:srgbClr val="8EB69B"/>
              </a:solidFill>
              <a:prstDash val="solid"/>
              <a:miter/>
            </a:ln>
          </p:spPr>
        </p:sp>
      </p:grpSp>
      <p:grpSp>
        <p:nvGrpSpPr>
          <p:cNvPr name="Group 49" id="49"/>
          <p:cNvGrpSpPr/>
          <p:nvPr/>
        </p:nvGrpSpPr>
        <p:grpSpPr>
          <a:xfrm rot="0">
            <a:off x="8401050" y="6956952"/>
            <a:ext cx="754380" cy="754380"/>
            <a:chOff x="0" y="0"/>
            <a:chExt cx="1005840" cy="1005840"/>
          </a:xfrm>
        </p:grpSpPr>
        <p:sp>
          <p:nvSpPr>
            <p:cNvPr name="Freeform 50" id="50"/>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235347"/>
            </a:solidFill>
          </p:spPr>
        </p:sp>
      </p:grpSp>
      <p:grpSp>
        <p:nvGrpSpPr>
          <p:cNvPr name="Group 51" id="51"/>
          <p:cNvGrpSpPr/>
          <p:nvPr/>
        </p:nvGrpSpPr>
        <p:grpSpPr>
          <a:xfrm rot="0">
            <a:off x="8582101" y="7138003"/>
            <a:ext cx="392278" cy="392278"/>
            <a:chOff x="0" y="0"/>
            <a:chExt cx="523037" cy="523037"/>
          </a:xfrm>
        </p:grpSpPr>
        <p:sp>
          <p:nvSpPr>
            <p:cNvPr name="Freeform 52" id="52" descr="/home/claude/sms-security/icons/chart_light.png"/>
            <p:cNvSpPr/>
            <p:nvPr/>
          </p:nvSpPr>
          <p:spPr>
            <a:xfrm flipH="false" flipV="false" rot="0">
              <a:off x="0" y="0"/>
              <a:ext cx="522986" cy="522986"/>
            </a:xfrm>
            <a:custGeom>
              <a:avLst/>
              <a:gdLst/>
              <a:ahLst/>
              <a:cxnLst/>
              <a:rect r="r" b="b" t="t" l="l"/>
              <a:pathLst>
                <a:path h="522986" w="522986">
                  <a:moveTo>
                    <a:pt x="0" y="0"/>
                  </a:moveTo>
                  <a:lnTo>
                    <a:pt x="522986" y="0"/>
                  </a:lnTo>
                  <a:lnTo>
                    <a:pt x="522986" y="522986"/>
                  </a:lnTo>
                  <a:lnTo>
                    <a:pt x="0" y="522986"/>
                  </a:lnTo>
                  <a:lnTo>
                    <a:pt x="0" y="0"/>
                  </a:lnTo>
                  <a:close/>
                </a:path>
              </a:pathLst>
            </a:custGeom>
            <a:blipFill>
              <a:blip r:embed="rId8"/>
              <a:stretch>
                <a:fillRect l="0" t="0" r="-9" b="-9"/>
              </a:stretch>
            </a:blipFill>
          </p:spPr>
        </p:sp>
      </p:grpSp>
      <p:grpSp>
        <p:nvGrpSpPr>
          <p:cNvPr name="Group 53" id="53"/>
          <p:cNvGrpSpPr/>
          <p:nvPr/>
        </p:nvGrpSpPr>
        <p:grpSpPr>
          <a:xfrm rot="0">
            <a:off x="7578090" y="6890061"/>
            <a:ext cx="2400300" cy="2202396"/>
            <a:chOff x="0" y="0"/>
            <a:chExt cx="3200400" cy="2936528"/>
          </a:xfrm>
        </p:grpSpPr>
        <p:sp>
          <p:nvSpPr>
            <p:cNvPr name="Freeform 54" id="54"/>
            <p:cNvSpPr/>
            <p:nvPr/>
          </p:nvSpPr>
          <p:spPr>
            <a:xfrm flipH="false" flipV="false" rot="0">
              <a:off x="0" y="0"/>
              <a:ext cx="3200400" cy="2936528"/>
            </a:xfrm>
            <a:custGeom>
              <a:avLst/>
              <a:gdLst/>
              <a:ahLst/>
              <a:cxnLst/>
              <a:rect r="r" b="b" t="t" l="l"/>
              <a:pathLst>
                <a:path h="2936528" w="3200400">
                  <a:moveTo>
                    <a:pt x="0" y="0"/>
                  </a:moveTo>
                  <a:lnTo>
                    <a:pt x="3200400" y="0"/>
                  </a:lnTo>
                  <a:lnTo>
                    <a:pt x="3200400" y="2936528"/>
                  </a:lnTo>
                  <a:lnTo>
                    <a:pt x="0" y="2936528"/>
                  </a:lnTo>
                  <a:close/>
                </a:path>
              </a:pathLst>
            </a:custGeom>
            <a:blipFill>
              <a:blip r:embed="rId4">
                <a:alphaModFix amt="0"/>
              </a:blip>
              <a:stretch>
                <a:fillRect l="0" t="-7223" r="0" b="64751"/>
              </a:stretch>
            </a:blipFill>
          </p:spPr>
        </p:sp>
        <p:sp>
          <p:nvSpPr>
            <p:cNvPr name="TextBox 55" id="55"/>
            <p:cNvSpPr txBox="true"/>
            <p:nvPr/>
          </p:nvSpPr>
          <p:spPr>
            <a:xfrm>
              <a:off x="0" y="-19050"/>
              <a:ext cx="3200400" cy="2955578"/>
            </a:xfrm>
            <a:prstGeom prst="rect">
              <a:avLst/>
            </a:prstGeom>
          </p:spPr>
          <p:txBody>
            <a:bodyPr anchor="ctr" rtlCol="false" tIns="0" lIns="0" bIns="0" rIns="0"/>
            <a:lstStyle/>
            <a:p>
              <a:pPr algn="ctr">
                <a:lnSpc>
                  <a:spcPts val="3600"/>
                </a:lnSpc>
              </a:pPr>
              <a:r>
                <a:rPr lang="en-US" sz="3000" b="true">
                  <a:solidFill>
                    <a:srgbClr val="051F20"/>
                  </a:solidFill>
                  <a:latin typeface="Cambria Bold"/>
                  <a:ea typeface="Cambria Bold"/>
                  <a:cs typeface="Cambria Bold"/>
                  <a:sym typeface="Cambria Bold"/>
                </a:rPr>
                <a:t>+50%</a:t>
              </a:r>
            </a:p>
          </p:txBody>
        </p:sp>
      </p:grpSp>
      <p:grpSp>
        <p:nvGrpSpPr>
          <p:cNvPr name="Group 56" id="56"/>
          <p:cNvGrpSpPr/>
          <p:nvPr/>
        </p:nvGrpSpPr>
        <p:grpSpPr>
          <a:xfrm rot="0">
            <a:off x="7605522" y="8168532"/>
            <a:ext cx="2400300" cy="866654"/>
            <a:chOff x="0" y="0"/>
            <a:chExt cx="3200400" cy="1155539"/>
          </a:xfrm>
        </p:grpSpPr>
        <p:sp>
          <p:nvSpPr>
            <p:cNvPr name="Freeform 57" id="57"/>
            <p:cNvSpPr/>
            <p:nvPr/>
          </p:nvSpPr>
          <p:spPr>
            <a:xfrm flipH="false" flipV="false" rot="0">
              <a:off x="0" y="0"/>
              <a:ext cx="3200400" cy="1155539"/>
            </a:xfrm>
            <a:custGeom>
              <a:avLst/>
              <a:gdLst/>
              <a:ahLst/>
              <a:cxnLst/>
              <a:rect r="r" b="b" t="t" l="l"/>
              <a:pathLst>
                <a:path h="1155539" w="3200400">
                  <a:moveTo>
                    <a:pt x="0" y="0"/>
                  </a:moveTo>
                  <a:lnTo>
                    <a:pt x="3200400" y="0"/>
                  </a:lnTo>
                  <a:lnTo>
                    <a:pt x="3200400" y="1155539"/>
                  </a:lnTo>
                  <a:lnTo>
                    <a:pt x="0" y="1155539"/>
                  </a:lnTo>
                  <a:close/>
                </a:path>
              </a:pathLst>
            </a:custGeom>
            <a:blipFill>
              <a:blip r:embed="rId4">
                <a:alphaModFix amt="0"/>
              </a:blip>
              <a:stretch>
                <a:fillRect l="0" t="-22313" r="0" b="14381"/>
              </a:stretch>
            </a:blipFill>
          </p:spPr>
        </p:sp>
        <p:sp>
          <p:nvSpPr>
            <p:cNvPr name="TextBox 58" id="58"/>
            <p:cNvSpPr txBox="true"/>
            <p:nvPr/>
          </p:nvSpPr>
          <p:spPr>
            <a:xfrm>
              <a:off x="0" y="-28575"/>
              <a:ext cx="3200400" cy="1184114"/>
            </a:xfrm>
            <a:prstGeom prst="rect">
              <a:avLst/>
            </a:prstGeom>
          </p:spPr>
          <p:txBody>
            <a:bodyPr anchor="ctr" rtlCol="false" tIns="0" lIns="0" bIns="0" rIns="0"/>
            <a:lstStyle/>
            <a:p>
              <a:pPr algn="ctr">
                <a:lnSpc>
                  <a:spcPts val="1620"/>
                </a:lnSpc>
              </a:pPr>
              <a:r>
                <a:rPr lang="en-US" sz="1350" i="true">
                  <a:solidFill>
                    <a:srgbClr val="7A9E8E"/>
                  </a:solidFill>
                  <a:latin typeface="Calibri (MS) Italics"/>
                  <a:ea typeface="Calibri (MS) Italics"/>
                  <a:cs typeface="Calibri (MS) Italics"/>
                  <a:sym typeface="Calibri (MS) Italics"/>
                </a:rPr>
                <a:t>En 2026 los intentos diarios de smishing superan los 103.000, se espera que más del 50% de estos intentos sean denunciados</a:t>
              </a:r>
            </a:p>
          </p:txBody>
        </p:sp>
      </p:grpSp>
      <p:grpSp>
        <p:nvGrpSpPr>
          <p:cNvPr name="Group 59" id="59"/>
          <p:cNvGrpSpPr/>
          <p:nvPr/>
        </p:nvGrpSpPr>
        <p:grpSpPr>
          <a:xfrm rot="0">
            <a:off x="12506325" y="6673107"/>
            <a:ext cx="2693670" cy="2419350"/>
            <a:chOff x="0" y="0"/>
            <a:chExt cx="3591560" cy="3225800"/>
          </a:xfrm>
        </p:grpSpPr>
        <p:sp>
          <p:nvSpPr>
            <p:cNvPr name="Freeform 60" id="60"/>
            <p:cNvSpPr/>
            <p:nvPr/>
          </p:nvSpPr>
          <p:spPr>
            <a:xfrm flipH="false" flipV="false" rot="0">
              <a:off x="0" y="0"/>
              <a:ext cx="3591560" cy="3225800"/>
            </a:xfrm>
            <a:custGeom>
              <a:avLst/>
              <a:gdLst/>
              <a:ahLst/>
              <a:cxnLst/>
              <a:rect r="r" b="b" t="t" l="l"/>
              <a:pathLst>
                <a:path h="3225800" w="3591560">
                  <a:moveTo>
                    <a:pt x="0" y="184277"/>
                  </a:moveTo>
                  <a:cubicBezTo>
                    <a:pt x="0" y="82550"/>
                    <a:pt x="82550" y="0"/>
                    <a:pt x="184277" y="0"/>
                  </a:cubicBezTo>
                  <a:lnTo>
                    <a:pt x="3407283" y="0"/>
                  </a:lnTo>
                  <a:cubicBezTo>
                    <a:pt x="3509137" y="0"/>
                    <a:pt x="3591560" y="82550"/>
                    <a:pt x="3591560" y="184277"/>
                  </a:cubicBezTo>
                  <a:lnTo>
                    <a:pt x="3591560" y="3041523"/>
                  </a:lnTo>
                  <a:cubicBezTo>
                    <a:pt x="3591560" y="3143377"/>
                    <a:pt x="3509010" y="3225800"/>
                    <a:pt x="3407283" y="3225800"/>
                  </a:cubicBezTo>
                  <a:lnTo>
                    <a:pt x="184277" y="3225800"/>
                  </a:lnTo>
                  <a:cubicBezTo>
                    <a:pt x="82550" y="3225800"/>
                    <a:pt x="0" y="3143250"/>
                    <a:pt x="0" y="3041523"/>
                  </a:cubicBezTo>
                  <a:close/>
                </a:path>
              </a:pathLst>
            </a:custGeom>
            <a:solidFill>
              <a:srgbClr val="FFFFFF"/>
            </a:solidFill>
            <a:ln w="19050" cap="sq">
              <a:solidFill>
                <a:srgbClr val="8EB69B"/>
              </a:solidFill>
              <a:prstDash val="solid"/>
              <a:miter/>
            </a:ln>
          </p:spPr>
        </p:sp>
      </p:grpSp>
      <p:grpSp>
        <p:nvGrpSpPr>
          <p:cNvPr name="Group 61" id="61"/>
          <p:cNvGrpSpPr/>
          <p:nvPr/>
        </p:nvGrpSpPr>
        <p:grpSpPr>
          <a:xfrm rot="0">
            <a:off x="13475970" y="6956952"/>
            <a:ext cx="754380" cy="754380"/>
            <a:chOff x="0" y="0"/>
            <a:chExt cx="1005840" cy="1005840"/>
          </a:xfrm>
        </p:grpSpPr>
        <p:sp>
          <p:nvSpPr>
            <p:cNvPr name="Freeform 62" id="62"/>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235347"/>
            </a:solidFill>
          </p:spPr>
        </p:sp>
      </p:grpSp>
      <p:grpSp>
        <p:nvGrpSpPr>
          <p:cNvPr name="Group 63" id="63"/>
          <p:cNvGrpSpPr/>
          <p:nvPr/>
        </p:nvGrpSpPr>
        <p:grpSpPr>
          <a:xfrm rot="0">
            <a:off x="13657021" y="7138003"/>
            <a:ext cx="392278" cy="392278"/>
            <a:chOff x="0" y="0"/>
            <a:chExt cx="523037" cy="523037"/>
          </a:xfrm>
        </p:grpSpPr>
        <p:sp>
          <p:nvSpPr>
            <p:cNvPr name="Freeform 64" id="64" descr="/home/claude/sms-security/icons/users_light.png"/>
            <p:cNvSpPr/>
            <p:nvPr/>
          </p:nvSpPr>
          <p:spPr>
            <a:xfrm flipH="false" flipV="false" rot="0">
              <a:off x="0" y="0"/>
              <a:ext cx="522986" cy="522986"/>
            </a:xfrm>
            <a:custGeom>
              <a:avLst/>
              <a:gdLst/>
              <a:ahLst/>
              <a:cxnLst/>
              <a:rect r="r" b="b" t="t" l="l"/>
              <a:pathLst>
                <a:path h="522986" w="522986">
                  <a:moveTo>
                    <a:pt x="0" y="0"/>
                  </a:moveTo>
                  <a:lnTo>
                    <a:pt x="522986" y="0"/>
                  </a:lnTo>
                  <a:lnTo>
                    <a:pt x="522986" y="522986"/>
                  </a:lnTo>
                  <a:lnTo>
                    <a:pt x="0" y="522986"/>
                  </a:lnTo>
                  <a:lnTo>
                    <a:pt x="0" y="0"/>
                  </a:lnTo>
                  <a:close/>
                </a:path>
              </a:pathLst>
            </a:custGeom>
            <a:blipFill>
              <a:blip r:embed="rId9"/>
              <a:stretch>
                <a:fillRect l="0" t="0" r="-9" b="-9"/>
              </a:stretch>
            </a:blipFill>
          </p:spPr>
        </p:sp>
      </p:grpSp>
      <p:grpSp>
        <p:nvGrpSpPr>
          <p:cNvPr name="Group 65" id="65"/>
          <p:cNvGrpSpPr/>
          <p:nvPr/>
        </p:nvGrpSpPr>
        <p:grpSpPr>
          <a:xfrm rot="0">
            <a:off x="12623292" y="6890061"/>
            <a:ext cx="2400300" cy="2202396"/>
            <a:chOff x="0" y="0"/>
            <a:chExt cx="3200400" cy="2936528"/>
          </a:xfrm>
        </p:grpSpPr>
        <p:sp>
          <p:nvSpPr>
            <p:cNvPr name="Freeform 66" id="66"/>
            <p:cNvSpPr/>
            <p:nvPr/>
          </p:nvSpPr>
          <p:spPr>
            <a:xfrm flipH="false" flipV="false" rot="0">
              <a:off x="0" y="0"/>
              <a:ext cx="3200400" cy="2936528"/>
            </a:xfrm>
            <a:custGeom>
              <a:avLst/>
              <a:gdLst/>
              <a:ahLst/>
              <a:cxnLst/>
              <a:rect r="r" b="b" t="t" l="l"/>
              <a:pathLst>
                <a:path h="2936528" w="3200400">
                  <a:moveTo>
                    <a:pt x="0" y="0"/>
                  </a:moveTo>
                  <a:lnTo>
                    <a:pt x="3200400" y="0"/>
                  </a:lnTo>
                  <a:lnTo>
                    <a:pt x="3200400" y="2936528"/>
                  </a:lnTo>
                  <a:lnTo>
                    <a:pt x="0" y="2936528"/>
                  </a:lnTo>
                  <a:close/>
                </a:path>
              </a:pathLst>
            </a:custGeom>
            <a:blipFill>
              <a:blip r:embed="rId4">
                <a:alphaModFix amt="0"/>
              </a:blip>
              <a:stretch>
                <a:fillRect l="0" t="-7223" r="0" b="64751"/>
              </a:stretch>
            </a:blipFill>
          </p:spPr>
        </p:sp>
        <p:sp>
          <p:nvSpPr>
            <p:cNvPr name="TextBox 67" id="67"/>
            <p:cNvSpPr txBox="true"/>
            <p:nvPr/>
          </p:nvSpPr>
          <p:spPr>
            <a:xfrm>
              <a:off x="0" y="-19050"/>
              <a:ext cx="3200400" cy="2955578"/>
            </a:xfrm>
            <a:prstGeom prst="rect">
              <a:avLst/>
            </a:prstGeom>
          </p:spPr>
          <p:txBody>
            <a:bodyPr anchor="ctr" rtlCol="false" tIns="0" lIns="0" bIns="0" rIns="0"/>
            <a:lstStyle/>
            <a:p>
              <a:pPr algn="ctr">
                <a:lnSpc>
                  <a:spcPts val="3600"/>
                </a:lnSpc>
              </a:pPr>
              <a:r>
                <a:rPr lang="en-US" sz="3000" b="true">
                  <a:solidFill>
                    <a:srgbClr val="051F20"/>
                  </a:solidFill>
                  <a:latin typeface="Cambria Bold"/>
                  <a:ea typeface="Cambria Bold"/>
                  <a:cs typeface="Cambria Bold"/>
                  <a:sym typeface="Cambria Bold"/>
                </a:rPr>
                <a:t>3.8%</a:t>
              </a:r>
            </a:p>
          </p:txBody>
        </p:sp>
      </p:grpSp>
      <p:grpSp>
        <p:nvGrpSpPr>
          <p:cNvPr name="Group 68" id="68"/>
          <p:cNvGrpSpPr/>
          <p:nvPr/>
        </p:nvGrpSpPr>
        <p:grpSpPr>
          <a:xfrm rot="0">
            <a:off x="12653010" y="8157102"/>
            <a:ext cx="2400300" cy="866654"/>
            <a:chOff x="0" y="0"/>
            <a:chExt cx="3200400" cy="1155539"/>
          </a:xfrm>
        </p:grpSpPr>
        <p:sp>
          <p:nvSpPr>
            <p:cNvPr name="Freeform 69" id="69"/>
            <p:cNvSpPr/>
            <p:nvPr/>
          </p:nvSpPr>
          <p:spPr>
            <a:xfrm flipH="false" flipV="false" rot="0">
              <a:off x="0" y="0"/>
              <a:ext cx="3200400" cy="1155539"/>
            </a:xfrm>
            <a:custGeom>
              <a:avLst/>
              <a:gdLst/>
              <a:ahLst/>
              <a:cxnLst/>
              <a:rect r="r" b="b" t="t" l="l"/>
              <a:pathLst>
                <a:path h="1155539" w="3200400">
                  <a:moveTo>
                    <a:pt x="0" y="0"/>
                  </a:moveTo>
                  <a:lnTo>
                    <a:pt x="3200400" y="0"/>
                  </a:lnTo>
                  <a:lnTo>
                    <a:pt x="3200400" y="1155539"/>
                  </a:lnTo>
                  <a:lnTo>
                    <a:pt x="0" y="1155539"/>
                  </a:lnTo>
                  <a:close/>
                </a:path>
              </a:pathLst>
            </a:custGeom>
            <a:blipFill>
              <a:blip r:embed="rId4">
                <a:alphaModFix amt="0"/>
              </a:blip>
              <a:stretch>
                <a:fillRect l="0" t="-22313" r="0" b="14381"/>
              </a:stretch>
            </a:blipFill>
          </p:spPr>
        </p:sp>
        <p:sp>
          <p:nvSpPr>
            <p:cNvPr name="TextBox 70" id="70"/>
            <p:cNvSpPr txBox="true"/>
            <p:nvPr/>
          </p:nvSpPr>
          <p:spPr>
            <a:xfrm>
              <a:off x="0" y="-28575"/>
              <a:ext cx="3200400" cy="1184114"/>
            </a:xfrm>
            <a:prstGeom prst="rect">
              <a:avLst/>
            </a:prstGeom>
          </p:spPr>
          <p:txBody>
            <a:bodyPr anchor="ctr" rtlCol="false" tIns="0" lIns="0" bIns="0" rIns="0"/>
            <a:lstStyle/>
            <a:p>
              <a:pPr algn="ctr">
                <a:lnSpc>
                  <a:spcPts val="1620"/>
                </a:lnSpc>
              </a:pPr>
              <a:r>
                <a:rPr lang="en-US" sz="1350" i="true">
                  <a:solidFill>
                    <a:srgbClr val="7A9E8E"/>
                  </a:solidFill>
                  <a:latin typeface="Calibri (MS) Italics"/>
                  <a:ea typeface="Calibri (MS) Italics"/>
                  <a:cs typeface="Calibri (MS) Italics"/>
                  <a:sym typeface="Calibri (MS) Italics"/>
                </a:rPr>
                <a:t>Si actualmente un 25% de la sociedad chilena cae en Smishing, con la aplicacion se  reduciria a un 3.8%</a:t>
              </a:r>
            </a:p>
          </p:txBody>
        </p:sp>
      </p:grpSp>
      <p:grpSp>
        <p:nvGrpSpPr>
          <p:cNvPr name="Group 71" id="71"/>
          <p:cNvGrpSpPr/>
          <p:nvPr/>
        </p:nvGrpSpPr>
        <p:grpSpPr>
          <a:xfrm rot="0">
            <a:off x="17053103" y="9601200"/>
            <a:ext cx="822960" cy="480060"/>
            <a:chOff x="0" y="0"/>
            <a:chExt cx="1097280" cy="640080"/>
          </a:xfrm>
        </p:grpSpPr>
        <p:sp>
          <p:nvSpPr>
            <p:cNvPr name="Freeform 72" id="72"/>
            <p:cNvSpPr/>
            <p:nvPr/>
          </p:nvSpPr>
          <p:spPr>
            <a:xfrm flipH="false" flipV="false" rot="0">
              <a:off x="0" y="0"/>
              <a:ext cx="1097280" cy="640080"/>
            </a:xfrm>
            <a:custGeom>
              <a:avLst/>
              <a:gdLst/>
              <a:ahLst/>
              <a:cxnLst/>
              <a:rect r="r" b="b" t="t" l="l"/>
              <a:pathLst>
                <a:path h="640080" w="1097280">
                  <a:moveTo>
                    <a:pt x="0" y="0"/>
                  </a:moveTo>
                  <a:lnTo>
                    <a:pt x="1097280" y="0"/>
                  </a:lnTo>
                  <a:lnTo>
                    <a:pt x="1097280" y="640080"/>
                  </a:lnTo>
                  <a:lnTo>
                    <a:pt x="0" y="640080"/>
                  </a:lnTo>
                  <a:close/>
                </a:path>
              </a:pathLst>
            </a:custGeom>
            <a:blipFill>
              <a:blip r:embed="rId4">
                <a:alphaModFix amt="0"/>
              </a:blip>
              <a:stretch>
                <a:fillRect l="-24843" t="0" r="-24843" b="0"/>
              </a:stretch>
            </a:blipFill>
          </p:spPr>
        </p:sp>
        <p:sp>
          <p:nvSpPr>
            <p:cNvPr name="TextBox 73" id="73"/>
            <p:cNvSpPr txBox="true"/>
            <p:nvPr/>
          </p:nvSpPr>
          <p:spPr>
            <a:xfrm>
              <a:off x="0" y="-38100"/>
              <a:ext cx="1097280" cy="678180"/>
            </a:xfrm>
            <a:prstGeom prst="rect">
              <a:avLst/>
            </a:prstGeom>
          </p:spPr>
          <p:txBody>
            <a:bodyPr anchor="ctr" rtlCol="false" tIns="0" lIns="0" bIns="0" rIns="0"/>
            <a:lstStyle/>
            <a:p>
              <a:pPr algn="r">
                <a:lnSpc>
                  <a:spcPts val="1800"/>
                </a:lnSpc>
              </a:pPr>
              <a:r>
                <a:rPr lang="en-US" sz="1500">
                  <a:solidFill>
                    <a:srgbClr val="235347"/>
                  </a:solidFill>
                  <a:latin typeface="Calibri (MS)"/>
                  <a:ea typeface="Calibri (MS)"/>
                  <a:cs typeface="Calibri (MS)"/>
                  <a:sym typeface="Calibri (MS)"/>
                </a:rPr>
                <a:t>02</a:t>
              </a:r>
            </a:p>
          </p:txBody>
        </p:sp>
      </p:grpSp>
      <p:sp>
        <p:nvSpPr>
          <p:cNvPr name="TextBox 74" id="74"/>
          <p:cNvSpPr txBox="true"/>
          <p:nvPr/>
        </p:nvSpPr>
        <p:spPr>
          <a:xfrm rot="0">
            <a:off x="1463040" y="3581990"/>
            <a:ext cx="6606540" cy="1266825"/>
          </a:xfrm>
          <a:prstGeom prst="rect">
            <a:avLst/>
          </a:prstGeom>
        </p:spPr>
        <p:txBody>
          <a:bodyPr anchor="t" rtlCol="false" tIns="0" lIns="0" bIns="0" rIns="0">
            <a:spAutoFit/>
          </a:bodyPr>
          <a:lstStyle/>
          <a:p>
            <a:pPr algn="l">
              <a:lnSpc>
                <a:spcPts val="1980"/>
              </a:lnSpc>
            </a:pPr>
            <a:r>
              <a:rPr lang="en-US" sz="1650" i="true">
                <a:solidFill>
                  <a:srgbClr val="7A9E8E"/>
                </a:solidFill>
                <a:latin typeface="Calibri (MS) Italics"/>
                <a:ea typeface="Calibri (MS) Italics"/>
                <a:cs typeface="Calibri (MS) Italics"/>
                <a:sym typeface="Calibri (MS) Italics"/>
              </a:rPr>
              <a:t>El objetivo principal es disminuir la cantidad de adultos mayores afectados por estafas de tipo smishing, para lograrlo, se implementara una solucion basada en un sistema de inteligencia artificial que, mediante el analisis textual y de URLs, facilitara la deteccion de fraudes y entregara informacion preventiva relevante a los usuarios</a:t>
            </a:r>
          </a:p>
        </p:txBody>
      </p:sp>
      <p:sp>
        <p:nvSpPr>
          <p:cNvPr name="TextBox 75" id="75"/>
          <p:cNvSpPr txBox="true"/>
          <p:nvPr/>
        </p:nvSpPr>
        <p:spPr>
          <a:xfrm rot="0">
            <a:off x="9829800" y="3720465"/>
            <a:ext cx="7086600" cy="1266825"/>
          </a:xfrm>
          <a:prstGeom prst="rect">
            <a:avLst/>
          </a:prstGeom>
        </p:spPr>
        <p:txBody>
          <a:bodyPr anchor="t" rtlCol="false" tIns="0" lIns="0" bIns="0" rIns="0">
            <a:spAutoFit/>
          </a:bodyPr>
          <a:lstStyle/>
          <a:p>
            <a:pPr algn="l">
              <a:lnSpc>
                <a:spcPts val="1980"/>
              </a:lnSpc>
            </a:pPr>
            <a:r>
              <a:rPr lang="en-US" sz="1650" i="true">
                <a:solidFill>
                  <a:srgbClr val="7A9E8E"/>
                </a:solidFill>
                <a:latin typeface="Calibri (MS) Italics"/>
                <a:ea typeface="Calibri (MS) Italics"/>
                <a:cs typeface="Calibri (MS) Italics"/>
                <a:sym typeface="Calibri (MS) Italics"/>
              </a:rPr>
              <a:t>E</a:t>
            </a:r>
            <a:r>
              <a:rPr lang="en-US" sz="1650" i="true">
                <a:solidFill>
                  <a:srgbClr val="7A9E8E"/>
                </a:solidFill>
                <a:latin typeface="Calibri (MS) Italics"/>
                <a:ea typeface="Calibri (MS) Italics"/>
                <a:cs typeface="Calibri (MS) Italics"/>
                <a:sym typeface="Calibri (MS) Italics"/>
              </a:rPr>
              <a:t>ste proyecto extenderá la cultura de la ciberseguridad. Buscando generar un impacto en todo el país (Chile) con foco en la tercera edad, ya que son uno de los grupos principales de víctimas de smishing. Este proyecto aportará facilitando el cuidado ante la ciberseguridad.</a:t>
            </a:r>
          </a:p>
          <a:p>
            <a:pPr algn="l">
              <a:lnSpc>
                <a:spcPts val="1980"/>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AF1DE"/>
        </a:solidFill>
      </p:bgPr>
    </p:bg>
    <p:spTree>
      <p:nvGrpSpPr>
        <p:cNvPr id="1" name=""/>
        <p:cNvGrpSpPr/>
        <p:nvPr/>
      </p:nvGrpSpPr>
      <p:grpSpPr>
        <a:xfrm>
          <a:off x="0" y="0"/>
          <a:ext cx="0" cy="0"/>
          <a:chOff x="0" y="0"/>
          <a:chExt cx="0" cy="0"/>
        </a:xfrm>
      </p:grpSpPr>
      <p:sp>
        <p:nvSpPr>
          <p:cNvPr name="Freeform 2" id="2"/>
          <p:cNvSpPr/>
          <p:nvPr/>
        </p:nvSpPr>
        <p:spPr>
          <a:xfrm flipH="false" flipV="false" rot="0">
            <a:off x="0" y="45720"/>
            <a:ext cx="18288000" cy="10241280"/>
          </a:xfrm>
          <a:custGeom>
            <a:avLst/>
            <a:gdLst/>
            <a:ahLst/>
            <a:cxnLst/>
            <a:rect r="r" b="b" t="t" l="l"/>
            <a:pathLst>
              <a:path h="10241280" w="18288000">
                <a:moveTo>
                  <a:pt x="0" y="0"/>
                </a:moveTo>
                <a:lnTo>
                  <a:pt x="18288000" y="0"/>
                </a:lnTo>
                <a:lnTo>
                  <a:pt x="18288000" y="10241280"/>
                </a:lnTo>
                <a:lnTo>
                  <a:pt x="0" y="10241280"/>
                </a:lnTo>
                <a:lnTo>
                  <a:pt x="0" y="0"/>
                </a:lnTo>
                <a:close/>
              </a:path>
            </a:pathLst>
          </a:custGeom>
          <a:blipFill>
            <a:blip r:embed="rId2">
              <a:alphaModFix amt="40000"/>
            </a:blip>
            <a:stretch>
              <a:fillRect l="0" t="0" r="0" b="0"/>
            </a:stretch>
          </a:blipFill>
        </p:spPr>
      </p:sp>
      <p:grpSp>
        <p:nvGrpSpPr>
          <p:cNvPr name="Group 3" id="3"/>
          <p:cNvGrpSpPr/>
          <p:nvPr/>
        </p:nvGrpSpPr>
        <p:grpSpPr>
          <a:xfrm rot="0">
            <a:off x="754380" y="685800"/>
            <a:ext cx="1028700" cy="1028700"/>
            <a:chOff x="0" y="0"/>
            <a:chExt cx="1371600" cy="1371600"/>
          </a:xfrm>
        </p:grpSpPr>
        <p:sp>
          <p:nvSpPr>
            <p:cNvPr name="Freeform 4" id="4"/>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0B2B26"/>
            </a:solidFill>
          </p:spPr>
        </p:sp>
      </p:grpSp>
      <p:grpSp>
        <p:nvGrpSpPr>
          <p:cNvPr name="Group 5" id="5"/>
          <p:cNvGrpSpPr/>
          <p:nvPr/>
        </p:nvGrpSpPr>
        <p:grpSpPr>
          <a:xfrm rot="0">
            <a:off x="1001268" y="932688"/>
            <a:ext cx="534924" cy="534924"/>
            <a:chOff x="0" y="0"/>
            <a:chExt cx="713232" cy="713232"/>
          </a:xfrm>
        </p:grpSpPr>
        <p:sp>
          <p:nvSpPr>
            <p:cNvPr name="Freeform 6" id="6" descr="/home/claude/sms-security/icons/grad_light.png"/>
            <p:cNvSpPr/>
            <p:nvPr/>
          </p:nvSpPr>
          <p:spPr>
            <a:xfrm flipH="false" flipV="false" rot="0">
              <a:off x="0" y="0"/>
              <a:ext cx="713232" cy="713232"/>
            </a:xfrm>
            <a:custGeom>
              <a:avLst/>
              <a:gdLst/>
              <a:ahLst/>
              <a:cxnLst/>
              <a:rect r="r" b="b" t="t" l="l"/>
              <a:pathLst>
                <a:path h="713232" w="713232">
                  <a:moveTo>
                    <a:pt x="0" y="0"/>
                  </a:moveTo>
                  <a:lnTo>
                    <a:pt x="713232" y="0"/>
                  </a:lnTo>
                  <a:lnTo>
                    <a:pt x="713232" y="713232"/>
                  </a:lnTo>
                  <a:lnTo>
                    <a:pt x="0" y="713232"/>
                  </a:lnTo>
                  <a:lnTo>
                    <a:pt x="0" y="0"/>
                  </a:lnTo>
                  <a:close/>
                </a:path>
              </a:pathLst>
            </a:custGeom>
            <a:blipFill>
              <a:blip r:embed="rId3"/>
              <a:stretch>
                <a:fillRect l="0" t="0" r="0" b="0"/>
              </a:stretch>
            </a:blipFill>
          </p:spPr>
        </p:sp>
      </p:grpSp>
      <p:grpSp>
        <p:nvGrpSpPr>
          <p:cNvPr name="Group 7" id="7"/>
          <p:cNvGrpSpPr/>
          <p:nvPr/>
        </p:nvGrpSpPr>
        <p:grpSpPr>
          <a:xfrm rot="0">
            <a:off x="1988820" y="576072"/>
            <a:ext cx="14401800" cy="754380"/>
            <a:chOff x="0" y="0"/>
            <a:chExt cx="19202400" cy="1005840"/>
          </a:xfrm>
        </p:grpSpPr>
        <p:sp>
          <p:nvSpPr>
            <p:cNvPr name="Freeform 8" id="8"/>
            <p:cNvSpPr/>
            <p:nvPr/>
          </p:nvSpPr>
          <p:spPr>
            <a:xfrm flipH="false" flipV="false" rot="0">
              <a:off x="0" y="0"/>
              <a:ext cx="19202400" cy="1005840"/>
            </a:xfrm>
            <a:custGeom>
              <a:avLst/>
              <a:gdLst/>
              <a:ahLst/>
              <a:cxnLst/>
              <a:rect r="r" b="b" t="t" l="l"/>
              <a:pathLst>
                <a:path h="1005840" w="19202400">
                  <a:moveTo>
                    <a:pt x="0" y="0"/>
                  </a:moveTo>
                  <a:lnTo>
                    <a:pt x="19202400" y="0"/>
                  </a:lnTo>
                  <a:lnTo>
                    <a:pt x="19202400" y="1005840"/>
                  </a:lnTo>
                  <a:lnTo>
                    <a:pt x="0" y="1005840"/>
                  </a:lnTo>
                  <a:close/>
                </a:path>
              </a:pathLst>
            </a:custGeom>
            <a:blipFill>
              <a:blip r:embed="rId4">
                <a:alphaModFix amt="0"/>
              </a:blip>
              <a:stretch>
                <a:fillRect l="0" t="-321987" r="0" b="-321987"/>
              </a:stretch>
            </a:blipFill>
          </p:spPr>
        </p:sp>
        <p:sp>
          <p:nvSpPr>
            <p:cNvPr name="TextBox 9" id="9"/>
            <p:cNvSpPr txBox="true"/>
            <p:nvPr/>
          </p:nvSpPr>
          <p:spPr>
            <a:xfrm>
              <a:off x="0" y="-9525"/>
              <a:ext cx="19202400" cy="1015365"/>
            </a:xfrm>
            <a:prstGeom prst="rect">
              <a:avLst/>
            </a:prstGeom>
          </p:spPr>
          <p:txBody>
            <a:bodyPr anchor="ctr" rtlCol="false" tIns="0" lIns="0" bIns="0" rIns="0"/>
            <a:lstStyle/>
            <a:p>
              <a:pPr algn="l">
                <a:lnSpc>
                  <a:spcPts val="5040"/>
                </a:lnSpc>
              </a:pPr>
              <a:r>
                <a:rPr lang="en-US" sz="4200" b="true">
                  <a:solidFill>
                    <a:srgbClr val="051F20"/>
                  </a:solidFill>
                  <a:latin typeface="Cambria Bold"/>
                  <a:ea typeface="Cambria Bold"/>
                  <a:cs typeface="Cambria Bold"/>
                  <a:sym typeface="Cambria Bold"/>
                </a:rPr>
                <a:t>Perfil de Egreso e Intereses</a:t>
              </a:r>
            </a:p>
          </p:txBody>
        </p:sp>
      </p:grpSp>
      <p:grpSp>
        <p:nvGrpSpPr>
          <p:cNvPr name="Group 10" id="10"/>
          <p:cNvGrpSpPr/>
          <p:nvPr/>
        </p:nvGrpSpPr>
        <p:grpSpPr>
          <a:xfrm rot="0">
            <a:off x="1988820" y="1303020"/>
            <a:ext cx="14401800" cy="480060"/>
            <a:chOff x="0" y="0"/>
            <a:chExt cx="19202400" cy="640080"/>
          </a:xfrm>
        </p:grpSpPr>
        <p:sp>
          <p:nvSpPr>
            <p:cNvPr name="Freeform 11" id="11"/>
            <p:cNvSpPr/>
            <p:nvPr/>
          </p:nvSpPr>
          <p:spPr>
            <a:xfrm flipH="false" flipV="false" rot="0">
              <a:off x="0" y="0"/>
              <a:ext cx="19202400" cy="640080"/>
            </a:xfrm>
            <a:custGeom>
              <a:avLst/>
              <a:gdLst/>
              <a:ahLst/>
              <a:cxnLst/>
              <a:rect r="r" b="b" t="t" l="l"/>
              <a:pathLst>
                <a:path h="640080" w="19202400">
                  <a:moveTo>
                    <a:pt x="0" y="0"/>
                  </a:moveTo>
                  <a:lnTo>
                    <a:pt x="19202400" y="0"/>
                  </a:lnTo>
                  <a:lnTo>
                    <a:pt x="19202400" y="640080"/>
                  </a:lnTo>
                  <a:lnTo>
                    <a:pt x="0" y="640080"/>
                  </a:lnTo>
                  <a:close/>
                </a:path>
              </a:pathLst>
            </a:custGeom>
            <a:blipFill>
              <a:blip r:embed="rId4">
                <a:alphaModFix amt="0"/>
              </a:blip>
              <a:stretch>
                <a:fillRect l="0" t="-534551" r="0" b="-534551"/>
              </a:stretch>
            </a:blipFill>
          </p:spPr>
        </p:sp>
        <p:sp>
          <p:nvSpPr>
            <p:cNvPr name="TextBox 12" id="12"/>
            <p:cNvSpPr txBox="true"/>
            <p:nvPr/>
          </p:nvSpPr>
          <p:spPr>
            <a:xfrm>
              <a:off x="0" y="-47625"/>
              <a:ext cx="19202400" cy="687705"/>
            </a:xfrm>
            <a:prstGeom prst="rect">
              <a:avLst/>
            </a:prstGeom>
          </p:spPr>
          <p:txBody>
            <a:bodyPr anchor="ctr" rtlCol="false" tIns="0" lIns="0" bIns="0" rIns="0"/>
            <a:lstStyle/>
            <a:p>
              <a:pPr algn="l">
                <a:lnSpc>
                  <a:spcPts val="2340"/>
                </a:lnSpc>
              </a:pPr>
              <a:r>
                <a:rPr lang="en-US" sz="1950" i="true">
                  <a:solidFill>
                    <a:srgbClr val="235347"/>
                  </a:solidFill>
                  <a:latin typeface="Calibri (MS) Italics"/>
                  <a:ea typeface="Calibri (MS) Italics"/>
                  <a:cs typeface="Calibri (MS) Italics"/>
                  <a:sym typeface="Calibri (MS) Italics"/>
                </a:rPr>
                <a:t>Competencias aplicadas y conexión con intereses profesionales</a:t>
              </a:r>
            </a:p>
          </p:txBody>
        </p:sp>
      </p:grpSp>
      <p:grpSp>
        <p:nvGrpSpPr>
          <p:cNvPr name="Group 13" id="13"/>
          <p:cNvGrpSpPr/>
          <p:nvPr/>
        </p:nvGrpSpPr>
        <p:grpSpPr>
          <a:xfrm rot="0">
            <a:off x="754380" y="1894645"/>
            <a:ext cx="3771900" cy="3523175"/>
            <a:chOff x="0" y="0"/>
            <a:chExt cx="5029200" cy="4697566"/>
          </a:xfrm>
        </p:grpSpPr>
        <p:sp>
          <p:nvSpPr>
            <p:cNvPr name="Freeform 14" id="14"/>
            <p:cNvSpPr/>
            <p:nvPr/>
          </p:nvSpPr>
          <p:spPr>
            <a:xfrm flipH="false" flipV="false" rot="0">
              <a:off x="0" y="0"/>
              <a:ext cx="5029200" cy="4697566"/>
            </a:xfrm>
            <a:custGeom>
              <a:avLst/>
              <a:gdLst/>
              <a:ahLst/>
              <a:cxnLst/>
              <a:rect r="r" b="b" t="t" l="l"/>
              <a:pathLst>
                <a:path h="4697566" w="5029200">
                  <a:moveTo>
                    <a:pt x="0" y="199896"/>
                  </a:moveTo>
                  <a:cubicBezTo>
                    <a:pt x="0" y="89537"/>
                    <a:pt x="81915" y="0"/>
                    <a:pt x="182880" y="0"/>
                  </a:cubicBezTo>
                  <a:lnTo>
                    <a:pt x="4846320" y="0"/>
                  </a:lnTo>
                  <a:cubicBezTo>
                    <a:pt x="4947285" y="0"/>
                    <a:pt x="5029200" y="89537"/>
                    <a:pt x="5029200" y="199896"/>
                  </a:cubicBezTo>
                  <a:lnTo>
                    <a:pt x="5029200" y="4497670"/>
                  </a:lnTo>
                  <a:cubicBezTo>
                    <a:pt x="5029200" y="4608030"/>
                    <a:pt x="4947285" y="4697566"/>
                    <a:pt x="4846320" y="4697566"/>
                  </a:cubicBezTo>
                  <a:lnTo>
                    <a:pt x="182880" y="4697566"/>
                  </a:lnTo>
                  <a:cubicBezTo>
                    <a:pt x="81915" y="4697566"/>
                    <a:pt x="0" y="4608030"/>
                    <a:pt x="0" y="4497670"/>
                  </a:cubicBezTo>
                  <a:close/>
                </a:path>
              </a:pathLst>
            </a:custGeom>
            <a:solidFill>
              <a:srgbClr val="FFFFFF"/>
            </a:solidFill>
          </p:spPr>
        </p:sp>
      </p:grpSp>
      <p:grpSp>
        <p:nvGrpSpPr>
          <p:cNvPr name="Group 15" id="15"/>
          <p:cNvGrpSpPr/>
          <p:nvPr/>
        </p:nvGrpSpPr>
        <p:grpSpPr>
          <a:xfrm rot="0">
            <a:off x="2170039" y="2017787"/>
            <a:ext cx="891540" cy="891540"/>
            <a:chOff x="0" y="0"/>
            <a:chExt cx="1188720" cy="1188720"/>
          </a:xfrm>
        </p:grpSpPr>
        <p:sp>
          <p:nvSpPr>
            <p:cNvPr name="Freeform 16" id="16"/>
            <p:cNvSpPr/>
            <p:nvPr/>
          </p:nvSpPr>
          <p:spPr>
            <a:xfrm flipH="false" flipV="false" rot="0">
              <a:off x="0" y="0"/>
              <a:ext cx="1188720" cy="1188720"/>
            </a:xfrm>
            <a:custGeom>
              <a:avLst/>
              <a:gdLst/>
              <a:ahLst/>
              <a:cxnLst/>
              <a:rect r="r" b="b" t="t" l="l"/>
              <a:pathLst>
                <a:path h="1188720" w="1188720">
                  <a:moveTo>
                    <a:pt x="0" y="594360"/>
                  </a:moveTo>
                  <a:cubicBezTo>
                    <a:pt x="0" y="266065"/>
                    <a:pt x="266065" y="0"/>
                    <a:pt x="594360" y="0"/>
                  </a:cubicBezTo>
                  <a:cubicBezTo>
                    <a:pt x="922655" y="0"/>
                    <a:pt x="1188720" y="266065"/>
                    <a:pt x="1188720" y="594360"/>
                  </a:cubicBezTo>
                  <a:cubicBezTo>
                    <a:pt x="1188720" y="922655"/>
                    <a:pt x="922655" y="1188720"/>
                    <a:pt x="594360" y="1188720"/>
                  </a:cubicBezTo>
                  <a:cubicBezTo>
                    <a:pt x="266065" y="1188720"/>
                    <a:pt x="0" y="922655"/>
                    <a:pt x="0" y="594360"/>
                  </a:cubicBezTo>
                  <a:close/>
                </a:path>
              </a:pathLst>
            </a:custGeom>
            <a:solidFill>
              <a:srgbClr val="235347"/>
            </a:solidFill>
          </p:spPr>
        </p:sp>
      </p:grpSp>
      <p:grpSp>
        <p:nvGrpSpPr>
          <p:cNvPr name="Group 17" id="17"/>
          <p:cNvGrpSpPr/>
          <p:nvPr/>
        </p:nvGrpSpPr>
        <p:grpSpPr>
          <a:xfrm rot="0">
            <a:off x="2384009" y="2231757"/>
            <a:ext cx="463601" cy="463601"/>
            <a:chOff x="0" y="0"/>
            <a:chExt cx="618134" cy="618134"/>
          </a:xfrm>
        </p:grpSpPr>
        <p:sp>
          <p:nvSpPr>
            <p:cNvPr name="Freeform 18" id="18" descr="/home/claude/sms-security/icons/code_light.png"/>
            <p:cNvSpPr/>
            <p:nvPr/>
          </p:nvSpPr>
          <p:spPr>
            <a:xfrm flipH="false" flipV="false" rot="0">
              <a:off x="0" y="0"/>
              <a:ext cx="618109" cy="618109"/>
            </a:xfrm>
            <a:custGeom>
              <a:avLst/>
              <a:gdLst/>
              <a:ahLst/>
              <a:cxnLst/>
              <a:rect r="r" b="b" t="t" l="l"/>
              <a:pathLst>
                <a:path h="618109" w="618109">
                  <a:moveTo>
                    <a:pt x="0" y="0"/>
                  </a:moveTo>
                  <a:lnTo>
                    <a:pt x="618109" y="0"/>
                  </a:lnTo>
                  <a:lnTo>
                    <a:pt x="618109" y="618109"/>
                  </a:lnTo>
                  <a:lnTo>
                    <a:pt x="0" y="618109"/>
                  </a:lnTo>
                  <a:lnTo>
                    <a:pt x="0" y="0"/>
                  </a:lnTo>
                  <a:close/>
                </a:path>
              </a:pathLst>
            </a:custGeom>
            <a:blipFill>
              <a:blip r:embed="rId5"/>
              <a:stretch>
                <a:fillRect l="0" t="0" r="-4" b="-4"/>
              </a:stretch>
            </a:blipFill>
          </p:spPr>
        </p:sp>
      </p:grpSp>
      <p:grpSp>
        <p:nvGrpSpPr>
          <p:cNvPr name="Group 19" id="19"/>
          <p:cNvGrpSpPr/>
          <p:nvPr/>
        </p:nvGrpSpPr>
        <p:grpSpPr>
          <a:xfrm rot="0">
            <a:off x="953262" y="3024031"/>
            <a:ext cx="3360420" cy="548640"/>
            <a:chOff x="0" y="0"/>
            <a:chExt cx="4480560" cy="731520"/>
          </a:xfrm>
        </p:grpSpPr>
        <p:sp>
          <p:nvSpPr>
            <p:cNvPr name="Freeform 20" id="20"/>
            <p:cNvSpPr/>
            <p:nvPr/>
          </p:nvSpPr>
          <p:spPr>
            <a:xfrm flipH="false" flipV="false" rot="0">
              <a:off x="0" y="0"/>
              <a:ext cx="4480560" cy="731520"/>
            </a:xfrm>
            <a:custGeom>
              <a:avLst/>
              <a:gdLst/>
              <a:ahLst/>
              <a:cxnLst/>
              <a:rect r="r" b="b" t="t" l="l"/>
              <a:pathLst>
                <a:path h="731520" w="4480560">
                  <a:moveTo>
                    <a:pt x="0" y="0"/>
                  </a:moveTo>
                  <a:lnTo>
                    <a:pt x="4480560" y="0"/>
                  </a:lnTo>
                  <a:lnTo>
                    <a:pt x="4480560" y="731520"/>
                  </a:lnTo>
                  <a:lnTo>
                    <a:pt x="0" y="731520"/>
                  </a:lnTo>
                  <a:close/>
                </a:path>
              </a:pathLst>
            </a:custGeom>
            <a:blipFill>
              <a:blip r:embed="rId4">
                <a:alphaModFix amt="0"/>
              </a:blip>
              <a:stretch>
                <a:fillRect l="0" t="-69345" r="0" b="-69345"/>
              </a:stretch>
            </a:blipFill>
          </p:spPr>
        </p:sp>
        <p:sp>
          <p:nvSpPr>
            <p:cNvPr name="TextBox 21" id="21"/>
            <p:cNvSpPr txBox="true"/>
            <p:nvPr/>
          </p:nvSpPr>
          <p:spPr>
            <a:xfrm>
              <a:off x="0" y="-38100"/>
              <a:ext cx="4480560" cy="769620"/>
            </a:xfrm>
            <a:prstGeom prst="rect">
              <a:avLst/>
            </a:prstGeom>
          </p:spPr>
          <p:txBody>
            <a:bodyPr anchor="ctr" rtlCol="false" tIns="0" lIns="0" bIns="0" rIns="0"/>
            <a:lstStyle/>
            <a:p>
              <a:pPr algn="ctr">
                <a:lnSpc>
                  <a:spcPts val="2160"/>
                </a:lnSpc>
              </a:pPr>
              <a:r>
                <a:rPr lang="en-US" sz="1800" b="true">
                  <a:solidFill>
                    <a:srgbClr val="051F20"/>
                  </a:solidFill>
                  <a:latin typeface="Calibri (MS) Bold"/>
                  <a:ea typeface="Calibri (MS) Bold"/>
                  <a:cs typeface="Calibri (MS) Bold"/>
                  <a:sym typeface="Calibri (MS) Bold"/>
                </a:rPr>
                <a:t>Diseñar y adaptar los procesos </a:t>
              </a:r>
            </a:p>
          </p:txBody>
        </p:sp>
      </p:grpSp>
      <p:grpSp>
        <p:nvGrpSpPr>
          <p:cNvPr name="Group 22" id="22"/>
          <p:cNvGrpSpPr/>
          <p:nvPr/>
        </p:nvGrpSpPr>
        <p:grpSpPr>
          <a:xfrm rot="0">
            <a:off x="950595" y="3571974"/>
            <a:ext cx="3379470" cy="1718211"/>
            <a:chOff x="0" y="0"/>
            <a:chExt cx="4505960" cy="2290948"/>
          </a:xfrm>
        </p:grpSpPr>
        <p:sp>
          <p:nvSpPr>
            <p:cNvPr name="Freeform 23" id="23"/>
            <p:cNvSpPr/>
            <p:nvPr/>
          </p:nvSpPr>
          <p:spPr>
            <a:xfrm flipH="false" flipV="false" rot="0">
              <a:off x="0" y="0"/>
              <a:ext cx="4505960" cy="2290948"/>
            </a:xfrm>
            <a:custGeom>
              <a:avLst/>
              <a:gdLst/>
              <a:ahLst/>
              <a:cxnLst/>
              <a:rect r="r" b="b" t="t" l="l"/>
              <a:pathLst>
                <a:path h="2290948" w="4505960">
                  <a:moveTo>
                    <a:pt x="0" y="282055"/>
                  </a:moveTo>
                  <a:cubicBezTo>
                    <a:pt x="0" y="126290"/>
                    <a:pt x="66929" y="0"/>
                    <a:pt x="149479" y="0"/>
                  </a:cubicBezTo>
                  <a:lnTo>
                    <a:pt x="4356481" y="0"/>
                  </a:lnTo>
                  <a:cubicBezTo>
                    <a:pt x="4439031" y="0"/>
                    <a:pt x="4505960" y="126290"/>
                    <a:pt x="4505960" y="282055"/>
                  </a:cubicBezTo>
                  <a:lnTo>
                    <a:pt x="4505960" y="2008893"/>
                  </a:lnTo>
                  <a:cubicBezTo>
                    <a:pt x="4505960" y="2164658"/>
                    <a:pt x="4439031" y="2290948"/>
                    <a:pt x="4356481" y="2290948"/>
                  </a:cubicBezTo>
                  <a:lnTo>
                    <a:pt x="149479" y="2290948"/>
                  </a:lnTo>
                  <a:cubicBezTo>
                    <a:pt x="66929" y="2290948"/>
                    <a:pt x="0" y="2164658"/>
                    <a:pt x="0" y="2008893"/>
                  </a:cubicBezTo>
                  <a:close/>
                </a:path>
              </a:pathLst>
            </a:custGeom>
            <a:solidFill>
              <a:srgbClr val="FFFFFF"/>
            </a:solidFill>
            <a:ln w="19050" cap="sq">
              <a:solidFill>
                <a:srgbClr val="8EB69B"/>
              </a:solidFill>
              <a:prstDash val="dash"/>
              <a:miter/>
            </a:ln>
          </p:spPr>
        </p:sp>
      </p:grpSp>
      <p:sp>
        <p:nvSpPr>
          <p:cNvPr name="TextBox 24" id="24"/>
          <p:cNvSpPr txBox="true"/>
          <p:nvPr/>
        </p:nvSpPr>
        <p:spPr>
          <a:xfrm rot="0">
            <a:off x="1268730" y="3820369"/>
            <a:ext cx="2766060" cy="1266825"/>
          </a:xfrm>
          <a:prstGeom prst="rect">
            <a:avLst/>
          </a:prstGeom>
        </p:spPr>
        <p:txBody>
          <a:bodyPr anchor="t" rtlCol="false" tIns="0" lIns="0" bIns="0" rIns="0">
            <a:spAutoFit/>
          </a:bodyPr>
          <a:lstStyle/>
          <a:p>
            <a:pPr algn="l">
              <a:lnSpc>
                <a:spcPts val="1980"/>
              </a:lnSpc>
            </a:pPr>
            <a:r>
              <a:rPr lang="en-US" sz="1650" i="true">
                <a:solidFill>
                  <a:srgbClr val="7A9E8E"/>
                </a:solidFill>
                <a:latin typeface="Calibri (MS) Italics"/>
                <a:ea typeface="Calibri (MS) Italics"/>
                <a:cs typeface="Calibri (MS) Italics"/>
                <a:sym typeface="Calibri (MS) Italics"/>
              </a:rPr>
              <a:t>Levantamiento de requerimientos centrados en el adulto mayor para asegurar que la interfaz sea empática, comprensible y realmente útil.</a:t>
            </a:r>
          </a:p>
        </p:txBody>
      </p:sp>
      <p:grpSp>
        <p:nvGrpSpPr>
          <p:cNvPr name="Group 25" id="25"/>
          <p:cNvGrpSpPr/>
          <p:nvPr/>
        </p:nvGrpSpPr>
        <p:grpSpPr>
          <a:xfrm rot="0">
            <a:off x="4828032" y="1894645"/>
            <a:ext cx="3771900" cy="3523175"/>
            <a:chOff x="0" y="0"/>
            <a:chExt cx="5029200" cy="4697566"/>
          </a:xfrm>
        </p:grpSpPr>
        <p:sp>
          <p:nvSpPr>
            <p:cNvPr name="Freeform 26" id="26"/>
            <p:cNvSpPr/>
            <p:nvPr/>
          </p:nvSpPr>
          <p:spPr>
            <a:xfrm flipH="false" flipV="false" rot="0">
              <a:off x="0" y="0"/>
              <a:ext cx="5029200" cy="4697566"/>
            </a:xfrm>
            <a:custGeom>
              <a:avLst/>
              <a:gdLst/>
              <a:ahLst/>
              <a:cxnLst/>
              <a:rect r="r" b="b" t="t" l="l"/>
              <a:pathLst>
                <a:path h="4697566" w="5029200">
                  <a:moveTo>
                    <a:pt x="0" y="199896"/>
                  </a:moveTo>
                  <a:cubicBezTo>
                    <a:pt x="0" y="89537"/>
                    <a:pt x="81915" y="0"/>
                    <a:pt x="182880" y="0"/>
                  </a:cubicBezTo>
                  <a:lnTo>
                    <a:pt x="4846320" y="0"/>
                  </a:lnTo>
                  <a:cubicBezTo>
                    <a:pt x="4947285" y="0"/>
                    <a:pt x="5029200" y="89537"/>
                    <a:pt x="5029200" y="199896"/>
                  </a:cubicBezTo>
                  <a:lnTo>
                    <a:pt x="5029200" y="4497670"/>
                  </a:lnTo>
                  <a:cubicBezTo>
                    <a:pt x="5029200" y="4608030"/>
                    <a:pt x="4947285" y="4697566"/>
                    <a:pt x="4846320" y="4697566"/>
                  </a:cubicBezTo>
                  <a:lnTo>
                    <a:pt x="182880" y="4697566"/>
                  </a:lnTo>
                  <a:cubicBezTo>
                    <a:pt x="81915" y="4697566"/>
                    <a:pt x="0" y="4608030"/>
                    <a:pt x="0" y="4497670"/>
                  </a:cubicBezTo>
                  <a:close/>
                </a:path>
              </a:pathLst>
            </a:custGeom>
            <a:solidFill>
              <a:srgbClr val="FFFFFF"/>
            </a:solidFill>
          </p:spPr>
        </p:sp>
      </p:grpSp>
      <p:grpSp>
        <p:nvGrpSpPr>
          <p:cNvPr name="Group 27" id="27"/>
          <p:cNvGrpSpPr/>
          <p:nvPr/>
        </p:nvGrpSpPr>
        <p:grpSpPr>
          <a:xfrm rot="0">
            <a:off x="6267069" y="2002553"/>
            <a:ext cx="891540" cy="891540"/>
            <a:chOff x="0" y="0"/>
            <a:chExt cx="1188720" cy="1188720"/>
          </a:xfrm>
        </p:grpSpPr>
        <p:sp>
          <p:nvSpPr>
            <p:cNvPr name="Freeform 28" id="28"/>
            <p:cNvSpPr/>
            <p:nvPr/>
          </p:nvSpPr>
          <p:spPr>
            <a:xfrm flipH="false" flipV="false" rot="0">
              <a:off x="0" y="0"/>
              <a:ext cx="1188720" cy="1188720"/>
            </a:xfrm>
            <a:custGeom>
              <a:avLst/>
              <a:gdLst/>
              <a:ahLst/>
              <a:cxnLst/>
              <a:rect r="r" b="b" t="t" l="l"/>
              <a:pathLst>
                <a:path h="1188720" w="1188720">
                  <a:moveTo>
                    <a:pt x="0" y="594360"/>
                  </a:moveTo>
                  <a:cubicBezTo>
                    <a:pt x="0" y="266065"/>
                    <a:pt x="266065" y="0"/>
                    <a:pt x="594360" y="0"/>
                  </a:cubicBezTo>
                  <a:cubicBezTo>
                    <a:pt x="922655" y="0"/>
                    <a:pt x="1188720" y="266065"/>
                    <a:pt x="1188720" y="594360"/>
                  </a:cubicBezTo>
                  <a:cubicBezTo>
                    <a:pt x="1188720" y="922655"/>
                    <a:pt x="922655" y="1188720"/>
                    <a:pt x="594360" y="1188720"/>
                  </a:cubicBezTo>
                  <a:cubicBezTo>
                    <a:pt x="266065" y="1188720"/>
                    <a:pt x="0" y="922655"/>
                    <a:pt x="0" y="594360"/>
                  </a:cubicBezTo>
                  <a:close/>
                </a:path>
              </a:pathLst>
            </a:custGeom>
            <a:solidFill>
              <a:srgbClr val="235347"/>
            </a:solidFill>
          </p:spPr>
        </p:sp>
      </p:grpSp>
      <p:grpSp>
        <p:nvGrpSpPr>
          <p:cNvPr name="Group 29" id="29"/>
          <p:cNvGrpSpPr/>
          <p:nvPr/>
        </p:nvGrpSpPr>
        <p:grpSpPr>
          <a:xfrm rot="0">
            <a:off x="6482182" y="2216523"/>
            <a:ext cx="463601" cy="463601"/>
            <a:chOff x="0" y="0"/>
            <a:chExt cx="618134" cy="618134"/>
          </a:xfrm>
        </p:grpSpPr>
        <p:sp>
          <p:nvSpPr>
            <p:cNvPr name="Freeform 30" id="30" descr="/home/claude/sms-security/icons/database_light.png"/>
            <p:cNvSpPr/>
            <p:nvPr/>
          </p:nvSpPr>
          <p:spPr>
            <a:xfrm flipH="false" flipV="false" rot="0">
              <a:off x="0" y="0"/>
              <a:ext cx="618109" cy="618109"/>
            </a:xfrm>
            <a:custGeom>
              <a:avLst/>
              <a:gdLst/>
              <a:ahLst/>
              <a:cxnLst/>
              <a:rect r="r" b="b" t="t" l="l"/>
              <a:pathLst>
                <a:path h="618109" w="618109">
                  <a:moveTo>
                    <a:pt x="0" y="0"/>
                  </a:moveTo>
                  <a:lnTo>
                    <a:pt x="618109" y="0"/>
                  </a:lnTo>
                  <a:lnTo>
                    <a:pt x="618109" y="618109"/>
                  </a:lnTo>
                  <a:lnTo>
                    <a:pt x="0" y="618109"/>
                  </a:lnTo>
                  <a:lnTo>
                    <a:pt x="0" y="0"/>
                  </a:lnTo>
                  <a:close/>
                </a:path>
              </a:pathLst>
            </a:custGeom>
            <a:blipFill>
              <a:blip r:embed="rId6"/>
              <a:stretch>
                <a:fillRect l="0" t="0" r="-4" b="-4"/>
              </a:stretch>
            </a:blipFill>
          </p:spPr>
        </p:sp>
      </p:grpSp>
      <p:grpSp>
        <p:nvGrpSpPr>
          <p:cNvPr name="Group 31" id="31"/>
          <p:cNvGrpSpPr/>
          <p:nvPr/>
        </p:nvGrpSpPr>
        <p:grpSpPr>
          <a:xfrm rot="0">
            <a:off x="5024247" y="3024031"/>
            <a:ext cx="3360420" cy="622139"/>
            <a:chOff x="0" y="0"/>
            <a:chExt cx="4480560" cy="829518"/>
          </a:xfrm>
        </p:grpSpPr>
        <p:sp>
          <p:nvSpPr>
            <p:cNvPr name="Freeform 32" id="32"/>
            <p:cNvSpPr/>
            <p:nvPr/>
          </p:nvSpPr>
          <p:spPr>
            <a:xfrm flipH="false" flipV="false" rot="0">
              <a:off x="0" y="0"/>
              <a:ext cx="4480560" cy="829518"/>
            </a:xfrm>
            <a:custGeom>
              <a:avLst/>
              <a:gdLst/>
              <a:ahLst/>
              <a:cxnLst/>
              <a:rect r="r" b="b" t="t" l="l"/>
              <a:pathLst>
                <a:path h="829518" w="4480560">
                  <a:moveTo>
                    <a:pt x="0" y="0"/>
                  </a:moveTo>
                  <a:lnTo>
                    <a:pt x="4480560" y="0"/>
                  </a:lnTo>
                  <a:lnTo>
                    <a:pt x="4480560" y="829518"/>
                  </a:lnTo>
                  <a:lnTo>
                    <a:pt x="0" y="829518"/>
                  </a:lnTo>
                  <a:close/>
                </a:path>
              </a:pathLst>
            </a:custGeom>
            <a:blipFill>
              <a:blip r:embed="rId4">
                <a:alphaModFix amt="0"/>
              </a:blip>
              <a:stretch>
                <a:fillRect l="0" t="-61153" r="0" b="-49339"/>
              </a:stretch>
            </a:blipFill>
          </p:spPr>
        </p:sp>
        <p:sp>
          <p:nvSpPr>
            <p:cNvPr name="TextBox 33" id="33"/>
            <p:cNvSpPr txBox="true"/>
            <p:nvPr/>
          </p:nvSpPr>
          <p:spPr>
            <a:xfrm>
              <a:off x="0" y="-38100"/>
              <a:ext cx="4480560" cy="867618"/>
            </a:xfrm>
            <a:prstGeom prst="rect">
              <a:avLst/>
            </a:prstGeom>
          </p:spPr>
          <p:txBody>
            <a:bodyPr anchor="ctr" rtlCol="false" tIns="0" lIns="0" bIns="0" rIns="0"/>
            <a:lstStyle/>
            <a:p>
              <a:pPr algn="ctr">
                <a:lnSpc>
                  <a:spcPts val="2160"/>
                </a:lnSpc>
              </a:pPr>
              <a:r>
                <a:rPr lang="en-US" sz="1800" b="true">
                  <a:solidFill>
                    <a:srgbClr val="051F20"/>
                  </a:solidFill>
                  <a:latin typeface="Calibri (MS) Bold"/>
                  <a:ea typeface="Calibri (MS) Bold"/>
                  <a:cs typeface="Calibri (MS) Bold"/>
                  <a:sym typeface="Calibri (MS) Bold"/>
                </a:rPr>
                <a:t>Desarrollo de proyectos innovadores</a:t>
              </a:r>
            </a:p>
          </p:txBody>
        </p:sp>
      </p:grpSp>
      <p:grpSp>
        <p:nvGrpSpPr>
          <p:cNvPr name="Group 34" id="34"/>
          <p:cNvGrpSpPr/>
          <p:nvPr/>
        </p:nvGrpSpPr>
        <p:grpSpPr>
          <a:xfrm rot="0">
            <a:off x="5024247" y="3646170"/>
            <a:ext cx="3379470" cy="1644015"/>
            <a:chOff x="0" y="0"/>
            <a:chExt cx="4505960" cy="2192020"/>
          </a:xfrm>
        </p:grpSpPr>
        <p:sp>
          <p:nvSpPr>
            <p:cNvPr name="Freeform 35" id="35"/>
            <p:cNvSpPr/>
            <p:nvPr/>
          </p:nvSpPr>
          <p:spPr>
            <a:xfrm flipH="false" flipV="false" rot="0">
              <a:off x="0" y="0"/>
              <a:ext cx="4505960" cy="2192020"/>
            </a:xfrm>
            <a:custGeom>
              <a:avLst/>
              <a:gdLst/>
              <a:ahLst/>
              <a:cxnLst/>
              <a:rect r="r" b="b" t="t" l="l"/>
              <a:pathLst>
                <a:path h="2192020" w="4505960">
                  <a:moveTo>
                    <a:pt x="0" y="269875"/>
                  </a:moveTo>
                  <a:cubicBezTo>
                    <a:pt x="0" y="120836"/>
                    <a:pt x="66929" y="0"/>
                    <a:pt x="149479" y="0"/>
                  </a:cubicBezTo>
                  <a:lnTo>
                    <a:pt x="4356481" y="0"/>
                  </a:lnTo>
                  <a:cubicBezTo>
                    <a:pt x="4439031" y="0"/>
                    <a:pt x="4505960" y="120836"/>
                    <a:pt x="4505960" y="269875"/>
                  </a:cubicBezTo>
                  <a:lnTo>
                    <a:pt x="4505960" y="1922145"/>
                  </a:lnTo>
                  <a:cubicBezTo>
                    <a:pt x="4505960" y="2071184"/>
                    <a:pt x="4439031" y="2192020"/>
                    <a:pt x="4356481" y="2192020"/>
                  </a:cubicBezTo>
                  <a:lnTo>
                    <a:pt x="149479" y="2192020"/>
                  </a:lnTo>
                  <a:cubicBezTo>
                    <a:pt x="66929" y="2192020"/>
                    <a:pt x="0" y="2071184"/>
                    <a:pt x="0" y="1922145"/>
                  </a:cubicBezTo>
                  <a:close/>
                </a:path>
              </a:pathLst>
            </a:custGeom>
            <a:solidFill>
              <a:srgbClr val="FFFFFF"/>
            </a:solidFill>
            <a:ln w="19050" cap="sq">
              <a:solidFill>
                <a:srgbClr val="8EB69B"/>
              </a:solidFill>
              <a:prstDash val="dash"/>
              <a:miter/>
            </a:ln>
          </p:spPr>
        </p:sp>
      </p:grpSp>
      <p:sp>
        <p:nvSpPr>
          <p:cNvPr name="TextBox 36" id="36"/>
          <p:cNvSpPr txBox="true"/>
          <p:nvPr/>
        </p:nvSpPr>
        <p:spPr>
          <a:xfrm rot="0">
            <a:off x="5321427" y="3725782"/>
            <a:ext cx="2766060" cy="1514475"/>
          </a:xfrm>
          <a:prstGeom prst="rect">
            <a:avLst/>
          </a:prstGeom>
        </p:spPr>
        <p:txBody>
          <a:bodyPr anchor="t" rtlCol="false" tIns="0" lIns="0" bIns="0" rIns="0">
            <a:spAutoFit/>
          </a:bodyPr>
          <a:lstStyle/>
          <a:p>
            <a:pPr algn="l">
              <a:lnSpc>
                <a:spcPts val="1980"/>
              </a:lnSpc>
            </a:pPr>
            <a:r>
              <a:rPr lang="en-US" sz="1650" i="true">
                <a:solidFill>
                  <a:srgbClr val="7A9E8E"/>
                </a:solidFill>
                <a:latin typeface="Calibri (MS) Italics"/>
                <a:ea typeface="Calibri (MS) Italics"/>
                <a:cs typeface="Calibri (MS) Italics"/>
                <a:sym typeface="Calibri (MS) Italics"/>
              </a:rPr>
              <a:t>Creación</a:t>
            </a:r>
            <a:r>
              <a:rPr lang="en-US" sz="1650" i="true">
                <a:solidFill>
                  <a:srgbClr val="7A9E8E"/>
                </a:solidFill>
                <a:latin typeface="Calibri (MS) Italics"/>
                <a:ea typeface="Calibri (MS) Italics"/>
                <a:cs typeface="Calibri (MS) Italics"/>
                <a:sym typeface="Calibri (MS) Italics"/>
              </a:rPr>
              <a:t> de la plataforma en el entorno móvil (donde ocurre el ataque por SMS), sistematizando el desarrollo para frenar la amenaza en el propio dispositivo.</a:t>
            </a:r>
          </a:p>
        </p:txBody>
      </p:sp>
      <p:grpSp>
        <p:nvGrpSpPr>
          <p:cNvPr name="Group 37" id="37"/>
          <p:cNvGrpSpPr/>
          <p:nvPr/>
        </p:nvGrpSpPr>
        <p:grpSpPr>
          <a:xfrm rot="0">
            <a:off x="8901684" y="1894645"/>
            <a:ext cx="3771900" cy="3523175"/>
            <a:chOff x="0" y="0"/>
            <a:chExt cx="5029200" cy="4697566"/>
          </a:xfrm>
        </p:grpSpPr>
        <p:sp>
          <p:nvSpPr>
            <p:cNvPr name="Freeform 38" id="38"/>
            <p:cNvSpPr/>
            <p:nvPr/>
          </p:nvSpPr>
          <p:spPr>
            <a:xfrm flipH="false" flipV="false" rot="0">
              <a:off x="0" y="0"/>
              <a:ext cx="5029200" cy="4697566"/>
            </a:xfrm>
            <a:custGeom>
              <a:avLst/>
              <a:gdLst/>
              <a:ahLst/>
              <a:cxnLst/>
              <a:rect r="r" b="b" t="t" l="l"/>
              <a:pathLst>
                <a:path h="4697566" w="5029200">
                  <a:moveTo>
                    <a:pt x="0" y="199896"/>
                  </a:moveTo>
                  <a:cubicBezTo>
                    <a:pt x="0" y="89537"/>
                    <a:pt x="81915" y="0"/>
                    <a:pt x="182880" y="0"/>
                  </a:cubicBezTo>
                  <a:lnTo>
                    <a:pt x="4846320" y="0"/>
                  </a:lnTo>
                  <a:cubicBezTo>
                    <a:pt x="4947285" y="0"/>
                    <a:pt x="5029200" y="89537"/>
                    <a:pt x="5029200" y="199896"/>
                  </a:cubicBezTo>
                  <a:lnTo>
                    <a:pt x="5029200" y="4497670"/>
                  </a:lnTo>
                  <a:cubicBezTo>
                    <a:pt x="5029200" y="4608030"/>
                    <a:pt x="4947285" y="4697566"/>
                    <a:pt x="4846320" y="4697566"/>
                  </a:cubicBezTo>
                  <a:lnTo>
                    <a:pt x="182880" y="4697566"/>
                  </a:lnTo>
                  <a:cubicBezTo>
                    <a:pt x="81915" y="4697566"/>
                    <a:pt x="0" y="4608030"/>
                    <a:pt x="0" y="4497670"/>
                  </a:cubicBezTo>
                  <a:close/>
                </a:path>
              </a:pathLst>
            </a:custGeom>
            <a:solidFill>
              <a:srgbClr val="FFFFFF"/>
            </a:solidFill>
          </p:spPr>
        </p:sp>
      </p:grpSp>
      <p:grpSp>
        <p:nvGrpSpPr>
          <p:cNvPr name="Group 39" id="39"/>
          <p:cNvGrpSpPr/>
          <p:nvPr/>
        </p:nvGrpSpPr>
        <p:grpSpPr>
          <a:xfrm rot="0">
            <a:off x="10326868" y="2017787"/>
            <a:ext cx="891540" cy="891540"/>
            <a:chOff x="0" y="0"/>
            <a:chExt cx="1188720" cy="1188720"/>
          </a:xfrm>
        </p:grpSpPr>
        <p:sp>
          <p:nvSpPr>
            <p:cNvPr name="Freeform 40" id="40"/>
            <p:cNvSpPr/>
            <p:nvPr/>
          </p:nvSpPr>
          <p:spPr>
            <a:xfrm flipH="false" flipV="false" rot="0">
              <a:off x="0" y="0"/>
              <a:ext cx="1188720" cy="1188720"/>
            </a:xfrm>
            <a:custGeom>
              <a:avLst/>
              <a:gdLst/>
              <a:ahLst/>
              <a:cxnLst/>
              <a:rect r="r" b="b" t="t" l="l"/>
              <a:pathLst>
                <a:path h="1188720" w="1188720">
                  <a:moveTo>
                    <a:pt x="0" y="594360"/>
                  </a:moveTo>
                  <a:cubicBezTo>
                    <a:pt x="0" y="266065"/>
                    <a:pt x="266065" y="0"/>
                    <a:pt x="594360" y="0"/>
                  </a:cubicBezTo>
                  <a:cubicBezTo>
                    <a:pt x="922655" y="0"/>
                    <a:pt x="1188720" y="266065"/>
                    <a:pt x="1188720" y="594360"/>
                  </a:cubicBezTo>
                  <a:cubicBezTo>
                    <a:pt x="1188720" y="922655"/>
                    <a:pt x="922655" y="1188720"/>
                    <a:pt x="594360" y="1188720"/>
                  </a:cubicBezTo>
                  <a:cubicBezTo>
                    <a:pt x="266065" y="1188720"/>
                    <a:pt x="0" y="922655"/>
                    <a:pt x="0" y="594360"/>
                  </a:cubicBezTo>
                  <a:close/>
                </a:path>
              </a:pathLst>
            </a:custGeom>
            <a:solidFill>
              <a:srgbClr val="235347"/>
            </a:solidFill>
          </p:spPr>
        </p:sp>
      </p:grpSp>
      <p:grpSp>
        <p:nvGrpSpPr>
          <p:cNvPr name="Group 41" id="41"/>
          <p:cNvGrpSpPr/>
          <p:nvPr/>
        </p:nvGrpSpPr>
        <p:grpSpPr>
          <a:xfrm rot="0">
            <a:off x="10555834" y="2216523"/>
            <a:ext cx="463601" cy="463601"/>
            <a:chOff x="0" y="0"/>
            <a:chExt cx="618134" cy="618134"/>
          </a:xfrm>
        </p:grpSpPr>
        <p:sp>
          <p:nvSpPr>
            <p:cNvPr name="Freeform 42" id="42" descr="/home/claude/sms-security/icons/layers_light.png"/>
            <p:cNvSpPr/>
            <p:nvPr/>
          </p:nvSpPr>
          <p:spPr>
            <a:xfrm flipH="false" flipV="false" rot="0">
              <a:off x="0" y="0"/>
              <a:ext cx="618109" cy="618109"/>
            </a:xfrm>
            <a:custGeom>
              <a:avLst/>
              <a:gdLst/>
              <a:ahLst/>
              <a:cxnLst/>
              <a:rect r="r" b="b" t="t" l="l"/>
              <a:pathLst>
                <a:path h="618109" w="618109">
                  <a:moveTo>
                    <a:pt x="0" y="0"/>
                  </a:moveTo>
                  <a:lnTo>
                    <a:pt x="618109" y="0"/>
                  </a:lnTo>
                  <a:lnTo>
                    <a:pt x="618109" y="618109"/>
                  </a:lnTo>
                  <a:lnTo>
                    <a:pt x="0" y="618109"/>
                  </a:lnTo>
                  <a:lnTo>
                    <a:pt x="0" y="0"/>
                  </a:lnTo>
                  <a:close/>
                </a:path>
              </a:pathLst>
            </a:custGeom>
            <a:blipFill>
              <a:blip r:embed="rId7"/>
              <a:stretch>
                <a:fillRect l="0" t="0" r="-4" b="-4"/>
              </a:stretch>
            </a:blipFill>
          </p:spPr>
        </p:sp>
      </p:grpSp>
      <p:grpSp>
        <p:nvGrpSpPr>
          <p:cNvPr name="Group 43" id="43"/>
          <p:cNvGrpSpPr/>
          <p:nvPr/>
        </p:nvGrpSpPr>
        <p:grpSpPr>
          <a:xfrm rot="0">
            <a:off x="9155430" y="2909327"/>
            <a:ext cx="3360420" cy="622139"/>
            <a:chOff x="0" y="0"/>
            <a:chExt cx="4480560" cy="829518"/>
          </a:xfrm>
        </p:grpSpPr>
        <p:sp>
          <p:nvSpPr>
            <p:cNvPr name="Freeform 44" id="44"/>
            <p:cNvSpPr/>
            <p:nvPr/>
          </p:nvSpPr>
          <p:spPr>
            <a:xfrm flipH="false" flipV="false" rot="0">
              <a:off x="0" y="0"/>
              <a:ext cx="4480560" cy="829518"/>
            </a:xfrm>
            <a:custGeom>
              <a:avLst/>
              <a:gdLst/>
              <a:ahLst/>
              <a:cxnLst/>
              <a:rect r="r" b="b" t="t" l="l"/>
              <a:pathLst>
                <a:path h="829518" w="4480560">
                  <a:moveTo>
                    <a:pt x="0" y="0"/>
                  </a:moveTo>
                  <a:lnTo>
                    <a:pt x="4480560" y="0"/>
                  </a:lnTo>
                  <a:lnTo>
                    <a:pt x="4480560" y="829518"/>
                  </a:lnTo>
                  <a:lnTo>
                    <a:pt x="0" y="829518"/>
                  </a:lnTo>
                  <a:close/>
                </a:path>
              </a:pathLst>
            </a:custGeom>
            <a:blipFill>
              <a:blip r:embed="rId4">
                <a:alphaModFix amt="0"/>
              </a:blip>
              <a:stretch>
                <a:fillRect l="0" t="-61153" r="0" b="-49339"/>
              </a:stretch>
            </a:blipFill>
          </p:spPr>
        </p:sp>
        <p:sp>
          <p:nvSpPr>
            <p:cNvPr name="TextBox 45" id="45"/>
            <p:cNvSpPr txBox="true"/>
            <p:nvPr/>
          </p:nvSpPr>
          <p:spPr>
            <a:xfrm>
              <a:off x="0" y="-38100"/>
              <a:ext cx="4480560" cy="867618"/>
            </a:xfrm>
            <a:prstGeom prst="rect">
              <a:avLst/>
            </a:prstGeom>
          </p:spPr>
          <p:txBody>
            <a:bodyPr anchor="ctr" rtlCol="false" tIns="0" lIns="0" bIns="0" rIns="0"/>
            <a:lstStyle/>
            <a:p>
              <a:pPr algn="ctr">
                <a:lnSpc>
                  <a:spcPts val="2160"/>
                </a:lnSpc>
              </a:pPr>
              <a:r>
                <a:rPr lang="en-US" sz="1800" b="true">
                  <a:solidFill>
                    <a:srgbClr val="051F20"/>
                  </a:solidFill>
                  <a:latin typeface="Calibri (MS) Bold"/>
                  <a:ea typeface="Calibri (MS) Bold"/>
                  <a:cs typeface="Calibri (MS) Bold"/>
                  <a:sym typeface="Calibri (MS) Bold"/>
                </a:rPr>
                <a:t>Desarrollo e integración de modelos de clasificación con IA</a:t>
              </a:r>
            </a:p>
          </p:txBody>
        </p:sp>
      </p:grpSp>
      <p:grpSp>
        <p:nvGrpSpPr>
          <p:cNvPr name="Group 46" id="46"/>
          <p:cNvGrpSpPr/>
          <p:nvPr/>
        </p:nvGrpSpPr>
        <p:grpSpPr>
          <a:xfrm rot="0">
            <a:off x="9097899" y="3656233"/>
            <a:ext cx="3379470" cy="1633952"/>
            <a:chOff x="0" y="0"/>
            <a:chExt cx="4505960" cy="2178603"/>
          </a:xfrm>
        </p:grpSpPr>
        <p:sp>
          <p:nvSpPr>
            <p:cNvPr name="Freeform 47" id="47"/>
            <p:cNvSpPr/>
            <p:nvPr/>
          </p:nvSpPr>
          <p:spPr>
            <a:xfrm flipH="false" flipV="false" rot="0">
              <a:off x="0" y="0"/>
              <a:ext cx="4505960" cy="2178603"/>
            </a:xfrm>
            <a:custGeom>
              <a:avLst/>
              <a:gdLst/>
              <a:ahLst/>
              <a:cxnLst/>
              <a:rect r="r" b="b" t="t" l="l"/>
              <a:pathLst>
                <a:path h="2178603" w="4505960">
                  <a:moveTo>
                    <a:pt x="0" y="268223"/>
                  </a:moveTo>
                  <a:cubicBezTo>
                    <a:pt x="0" y="120097"/>
                    <a:pt x="66929" y="0"/>
                    <a:pt x="149479" y="0"/>
                  </a:cubicBezTo>
                  <a:lnTo>
                    <a:pt x="4356481" y="0"/>
                  </a:lnTo>
                  <a:cubicBezTo>
                    <a:pt x="4439031" y="0"/>
                    <a:pt x="4505960" y="120097"/>
                    <a:pt x="4505960" y="268223"/>
                  </a:cubicBezTo>
                  <a:lnTo>
                    <a:pt x="4505960" y="1910380"/>
                  </a:lnTo>
                  <a:cubicBezTo>
                    <a:pt x="4505960" y="2058507"/>
                    <a:pt x="4439031" y="2178603"/>
                    <a:pt x="4356481" y="2178603"/>
                  </a:cubicBezTo>
                  <a:lnTo>
                    <a:pt x="149479" y="2178603"/>
                  </a:lnTo>
                  <a:cubicBezTo>
                    <a:pt x="66929" y="2178603"/>
                    <a:pt x="0" y="2058507"/>
                    <a:pt x="0" y="1910380"/>
                  </a:cubicBezTo>
                  <a:close/>
                </a:path>
              </a:pathLst>
            </a:custGeom>
            <a:solidFill>
              <a:srgbClr val="FFFFFF"/>
            </a:solidFill>
            <a:ln w="19050" cap="sq">
              <a:solidFill>
                <a:srgbClr val="8EB69B"/>
              </a:solidFill>
              <a:prstDash val="dash"/>
              <a:miter/>
            </a:ln>
          </p:spPr>
        </p:sp>
      </p:grpSp>
      <p:sp>
        <p:nvSpPr>
          <p:cNvPr name="TextBox 48" id="48"/>
          <p:cNvSpPr txBox="true"/>
          <p:nvPr/>
        </p:nvSpPr>
        <p:spPr>
          <a:xfrm rot="0">
            <a:off x="9306496" y="3725782"/>
            <a:ext cx="2766060" cy="1514475"/>
          </a:xfrm>
          <a:prstGeom prst="rect">
            <a:avLst/>
          </a:prstGeom>
        </p:spPr>
        <p:txBody>
          <a:bodyPr anchor="t" rtlCol="false" tIns="0" lIns="0" bIns="0" rIns="0">
            <a:spAutoFit/>
          </a:bodyPr>
          <a:lstStyle/>
          <a:p>
            <a:pPr algn="l">
              <a:lnSpc>
                <a:spcPts val="1980"/>
              </a:lnSpc>
            </a:pPr>
            <a:r>
              <a:rPr lang="en-US" sz="1650" i="true">
                <a:solidFill>
                  <a:srgbClr val="7A9E8E"/>
                </a:solidFill>
                <a:latin typeface="Calibri (MS) Italics"/>
                <a:ea typeface="Calibri (MS) Italics"/>
                <a:cs typeface="Calibri (MS) Italics"/>
                <a:sym typeface="Calibri (MS) Italics"/>
              </a:rPr>
              <a:t>Programación del motor</a:t>
            </a:r>
            <a:r>
              <a:rPr lang="en-US" sz="1650" i="true">
                <a:solidFill>
                  <a:srgbClr val="7A9E8E"/>
                </a:solidFill>
                <a:latin typeface="Calibri (MS) Italics"/>
                <a:ea typeface="Calibri (MS) Italics"/>
                <a:cs typeface="Calibri (MS) Italics"/>
                <a:sym typeface="Calibri (MS) Italics"/>
              </a:rPr>
              <a:t> de la aplicación, incluyendo el preprocesamiento de datos y el modelo de clasificación que evalúa y filtra los mensajes fraudulentos en tiempo real.</a:t>
            </a:r>
          </a:p>
        </p:txBody>
      </p:sp>
      <p:grpSp>
        <p:nvGrpSpPr>
          <p:cNvPr name="Group 49" id="49"/>
          <p:cNvGrpSpPr/>
          <p:nvPr/>
        </p:nvGrpSpPr>
        <p:grpSpPr>
          <a:xfrm rot="0">
            <a:off x="12975336" y="1894645"/>
            <a:ext cx="3771900" cy="3523175"/>
            <a:chOff x="0" y="0"/>
            <a:chExt cx="5029200" cy="4697566"/>
          </a:xfrm>
        </p:grpSpPr>
        <p:sp>
          <p:nvSpPr>
            <p:cNvPr name="Freeform 50" id="50"/>
            <p:cNvSpPr/>
            <p:nvPr/>
          </p:nvSpPr>
          <p:spPr>
            <a:xfrm flipH="false" flipV="false" rot="0">
              <a:off x="0" y="0"/>
              <a:ext cx="5029200" cy="4697566"/>
            </a:xfrm>
            <a:custGeom>
              <a:avLst/>
              <a:gdLst/>
              <a:ahLst/>
              <a:cxnLst/>
              <a:rect r="r" b="b" t="t" l="l"/>
              <a:pathLst>
                <a:path h="4697566" w="5029200">
                  <a:moveTo>
                    <a:pt x="0" y="199896"/>
                  </a:moveTo>
                  <a:cubicBezTo>
                    <a:pt x="0" y="89537"/>
                    <a:pt x="81915" y="0"/>
                    <a:pt x="182880" y="0"/>
                  </a:cubicBezTo>
                  <a:lnTo>
                    <a:pt x="4846320" y="0"/>
                  </a:lnTo>
                  <a:cubicBezTo>
                    <a:pt x="4947285" y="0"/>
                    <a:pt x="5029200" y="89537"/>
                    <a:pt x="5029200" y="199896"/>
                  </a:cubicBezTo>
                  <a:lnTo>
                    <a:pt x="5029200" y="4497670"/>
                  </a:lnTo>
                  <a:cubicBezTo>
                    <a:pt x="5029200" y="4608030"/>
                    <a:pt x="4947285" y="4697566"/>
                    <a:pt x="4846320" y="4697566"/>
                  </a:cubicBezTo>
                  <a:lnTo>
                    <a:pt x="182880" y="4697566"/>
                  </a:lnTo>
                  <a:cubicBezTo>
                    <a:pt x="81915" y="4697566"/>
                    <a:pt x="0" y="4608030"/>
                    <a:pt x="0" y="4497670"/>
                  </a:cubicBezTo>
                  <a:close/>
                </a:path>
              </a:pathLst>
            </a:custGeom>
            <a:solidFill>
              <a:srgbClr val="FFFFFF"/>
            </a:solidFill>
          </p:spPr>
        </p:sp>
      </p:grpSp>
      <p:grpSp>
        <p:nvGrpSpPr>
          <p:cNvPr name="Group 51" id="51"/>
          <p:cNvGrpSpPr/>
          <p:nvPr/>
        </p:nvGrpSpPr>
        <p:grpSpPr>
          <a:xfrm rot="0">
            <a:off x="14397609" y="2017787"/>
            <a:ext cx="891540" cy="891540"/>
            <a:chOff x="0" y="0"/>
            <a:chExt cx="1188720" cy="1188720"/>
          </a:xfrm>
        </p:grpSpPr>
        <p:sp>
          <p:nvSpPr>
            <p:cNvPr name="Freeform 52" id="52"/>
            <p:cNvSpPr/>
            <p:nvPr/>
          </p:nvSpPr>
          <p:spPr>
            <a:xfrm flipH="false" flipV="false" rot="0">
              <a:off x="0" y="0"/>
              <a:ext cx="1188720" cy="1188720"/>
            </a:xfrm>
            <a:custGeom>
              <a:avLst/>
              <a:gdLst/>
              <a:ahLst/>
              <a:cxnLst/>
              <a:rect r="r" b="b" t="t" l="l"/>
              <a:pathLst>
                <a:path h="1188720" w="1188720">
                  <a:moveTo>
                    <a:pt x="0" y="594360"/>
                  </a:moveTo>
                  <a:cubicBezTo>
                    <a:pt x="0" y="266065"/>
                    <a:pt x="266065" y="0"/>
                    <a:pt x="594360" y="0"/>
                  </a:cubicBezTo>
                  <a:cubicBezTo>
                    <a:pt x="922655" y="0"/>
                    <a:pt x="1188720" y="266065"/>
                    <a:pt x="1188720" y="594360"/>
                  </a:cubicBezTo>
                  <a:cubicBezTo>
                    <a:pt x="1188720" y="922655"/>
                    <a:pt x="922655" y="1188720"/>
                    <a:pt x="594360" y="1188720"/>
                  </a:cubicBezTo>
                  <a:cubicBezTo>
                    <a:pt x="266065" y="1188720"/>
                    <a:pt x="0" y="922655"/>
                    <a:pt x="0" y="594360"/>
                  </a:cubicBezTo>
                  <a:close/>
                </a:path>
              </a:pathLst>
            </a:custGeom>
            <a:solidFill>
              <a:srgbClr val="235347"/>
            </a:solidFill>
          </p:spPr>
        </p:sp>
      </p:grpSp>
      <p:grpSp>
        <p:nvGrpSpPr>
          <p:cNvPr name="Group 53" id="53"/>
          <p:cNvGrpSpPr/>
          <p:nvPr/>
        </p:nvGrpSpPr>
        <p:grpSpPr>
          <a:xfrm rot="0">
            <a:off x="14611579" y="2216523"/>
            <a:ext cx="463601" cy="463601"/>
            <a:chOff x="0" y="0"/>
            <a:chExt cx="618134" cy="618134"/>
          </a:xfrm>
        </p:grpSpPr>
        <p:sp>
          <p:nvSpPr>
            <p:cNvPr name="Freeform 54" id="54" descr="/home/claude/sms-security/icons/clipboard_light.png"/>
            <p:cNvSpPr/>
            <p:nvPr/>
          </p:nvSpPr>
          <p:spPr>
            <a:xfrm flipH="false" flipV="false" rot="0">
              <a:off x="0" y="0"/>
              <a:ext cx="618109" cy="618109"/>
            </a:xfrm>
            <a:custGeom>
              <a:avLst/>
              <a:gdLst/>
              <a:ahLst/>
              <a:cxnLst/>
              <a:rect r="r" b="b" t="t" l="l"/>
              <a:pathLst>
                <a:path h="618109" w="618109">
                  <a:moveTo>
                    <a:pt x="0" y="0"/>
                  </a:moveTo>
                  <a:lnTo>
                    <a:pt x="618109" y="0"/>
                  </a:lnTo>
                  <a:lnTo>
                    <a:pt x="618109" y="618109"/>
                  </a:lnTo>
                  <a:lnTo>
                    <a:pt x="0" y="618109"/>
                  </a:lnTo>
                  <a:lnTo>
                    <a:pt x="0" y="0"/>
                  </a:lnTo>
                  <a:close/>
                </a:path>
              </a:pathLst>
            </a:custGeom>
            <a:blipFill>
              <a:blip r:embed="rId8"/>
              <a:stretch>
                <a:fillRect l="0" t="0" r="-4" b="-4"/>
              </a:stretch>
            </a:blipFill>
          </p:spPr>
        </p:sp>
      </p:grpSp>
      <p:grpSp>
        <p:nvGrpSpPr>
          <p:cNvPr name="Group 55" id="55"/>
          <p:cNvGrpSpPr/>
          <p:nvPr/>
        </p:nvGrpSpPr>
        <p:grpSpPr>
          <a:xfrm rot="0">
            <a:off x="13171551" y="2894093"/>
            <a:ext cx="3360420" cy="622139"/>
            <a:chOff x="0" y="0"/>
            <a:chExt cx="4480560" cy="829518"/>
          </a:xfrm>
        </p:grpSpPr>
        <p:sp>
          <p:nvSpPr>
            <p:cNvPr name="Freeform 56" id="56"/>
            <p:cNvSpPr/>
            <p:nvPr/>
          </p:nvSpPr>
          <p:spPr>
            <a:xfrm flipH="false" flipV="false" rot="0">
              <a:off x="0" y="0"/>
              <a:ext cx="4480560" cy="829518"/>
            </a:xfrm>
            <a:custGeom>
              <a:avLst/>
              <a:gdLst/>
              <a:ahLst/>
              <a:cxnLst/>
              <a:rect r="r" b="b" t="t" l="l"/>
              <a:pathLst>
                <a:path h="829518" w="4480560">
                  <a:moveTo>
                    <a:pt x="0" y="0"/>
                  </a:moveTo>
                  <a:lnTo>
                    <a:pt x="4480560" y="0"/>
                  </a:lnTo>
                  <a:lnTo>
                    <a:pt x="4480560" y="829518"/>
                  </a:lnTo>
                  <a:lnTo>
                    <a:pt x="0" y="829518"/>
                  </a:lnTo>
                  <a:close/>
                </a:path>
              </a:pathLst>
            </a:custGeom>
            <a:blipFill>
              <a:blip r:embed="rId4">
                <a:alphaModFix amt="0"/>
              </a:blip>
              <a:stretch>
                <a:fillRect l="0" t="-61153" r="0" b="-49339"/>
              </a:stretch>
            </a:blipFill>
          </p:spPr>
        </p:sp>
        <p:sp>
          <p:nvSpPr>
            <p:cNvPr name="TextBox 57" id="57"/>
            <p:cNvSpPr txBox="true"/>
            <p:nvPr/>
          </p:nvSpPr>
          <p:spPr>
            <a:xfrm>
              <a:off x="0" y="-38100"/>
              <a:ext cx="4480560" cy="867618"/>
            </a:xfrm>
            <a:prstGeom prst="rect">
              <a:avLst/>
            </a:prstGeom>
          </p:spPr>
          <p:txBody>
            <a:bodyPr anchor="ctr" rtlCol="false" tIns="0" lIns="0" bIns="0" rIns="0"/>
            <a:lstStyle/>
            <a:p>
              <a:pPr algn="ctr">
                <a:lnSpc>
                  <a:spcPts val="2160"/>
                </a:lnSpc>
              </a:pPr>
              <a:r>
                <a:rPr lang="en-US" sz="1800" b="true">
                  <a:solidFill>
                    <a:srgbClr val="051F20"/>
                  </a:solidFill>
                  <a:latin typeface="Calibri (MS) Bold"/>
                  <a:ea typeface="Calibri (MS) Bold"/>
                  <a:cs typeface="Calibri (MS) Bold"/>
                  <a:sym typeface="Calibri (MS) Bold"/>
                </a:rPr>
                <a:t> Implementación de ciberseguridad y privacidad de datos</a:t>
              </a:r>
            </a:p>
          </p:txBody>
        </p:sp>
      </p:grpSp>
      <p:grpSp>
        <p:nvGrpSpPr>
          <p:cNvPr name="Group 58" id="58"/>
          <p:cNvGrpSpPr/>
          <p:nvPr/>
        </p:nvGrpSpPr>
        <p:grpSpPr>
          <a:xfrm rot="0">
            <a:off x="13171551" y="3646170"/>
            <a:ext cx="3379470" cy="1644015"/>
            <a:chOff x="0" y="0"/>
            <a:chExt cx="4505960" cy="2192020"/>
          </a:xfrm>
        </p:grpSpPr>
        <p:sp>
          <p:nvSpPr>
            <p:cNvPr name="Freeform 59" id="59"/>
            <p:cNvSpPr/>
            <p:nvPr/>
          </p:nvSpPr>
          <p:spPr>
            <a:xfrm flipH="false" flipV="false" rot="0">
              <a:off x="0" y="0"/>
              <a:ext cx="4505960" cy="2192020"/>
            </a:xfrm>
            <a:custGeom>
              <a:avLst/>
              <a:gdLst/>
              <a:ahLst/>
              <a:cxnLst/>
              <a:rect r="r" b="b" t="t" l="l"/>
              <a:pathLst>
                <a:path h="2192020" w="4505960">
                  <a:moveTo>
                    <a:pt x="0" y="269875"/>
                  </a:moveTo>
                  <a:cubicBezTo>
                    <a:pt x="0" y="120836"/>
                    <a:pt x="66929" y="0"/>
                    <a:pt x="149479" y="0"/>
                  </a:cubicBezTo>
                  <a:lnTo>
                    <a:pt x="4356481" y="0"/>
                  </a:lnTo>
                  <a:cubicBezTo>
                    <a:pt x="4439031" y="0"/>
                    <a:pt x="4505960" y="120836"/>
                    <a:pt x="4505960" y="269875"/>
                  </a:cubicBezTo>
                  <a:lnTo>
                    <a:pt x="4505960" y="1922145"/>
                  </a:lnTo>
                  <a:cubicBezTo>
                    <a:pt x="4505960" y="2071184"/>
                    <a:pt x="4439031" y="2192020"/>
                    <a:pt x="4356481" y="2192020"/>
                  </a:cubicBezTo>
                  <a:lnTo>
                    <a:pt x="149479" y="2192020"/>
                  </a:lnTo>
                  <a:cubicBezTo>
                    <a:pt x="66929" y="2192020"/>
                    <a:pt x="0" y="2071184"/>
                    <a:pt x="0" y="1922145"/>
                  </a:cubicBezTo>
                  <a:close/>
                </a:path>
              </a:pathLst>
            </a:custGeom>
            <a:solidFill>
              <a:srgbClr val="FFFFFF"/>
            </a:solidFill>
            <a:ln w="19050" cap="sq">
              <a:solidFill>
                <a:srgbClr val="8EB69B"/>
              </a:solidFill>
              <a:prstDash val="dash"/>
              <a:miter/>
            </a:ln>
          </p:spPr>
        </p:sp>
      </p:grpSp>
      <p:sp>
        <p:nvSpPr>
          <p:cNvPr name="TextBox 60" id="60"/>
          <p:cNvSpPr txBox="true"/>
          <p:nvPr/>
        </p:nvSpPr>
        <p:spPr>
          <a:xfrm rot="0">
            <a:off x="13578459" y="3783380"/>
            <a:ext cx="2766060" cy="1266825"/>
          </a:xfrm>
          <a:prstGeom prst="rect">
            <a:avLst/>
          </a:prstGeom>
        </p:spPr>
        <p:txBody>
          <a:bodyPr anchor="t" rtlCol="false" tIns="0" lIns="0" bIns="0" rIns="0">
            <a:spAutoFit/>
          </a:bodyPr>
          <a:lstStyle/>
          <a:p>
            <a:pPr algn="l">
              <a:lnSpc>
                <a:spcPts val="1980"/>
              </a:lnSpc>
            </a:pPr>
            <a:r>
              <a:rPr lang="en-US" sz="1650" i="true">
                <a:solidFill>
                  <a:srgbClr val="7A9E8E"/>
                </a:solidFill>
                <a:latin typeface="Calibri (MS) Italics"/>
                <a:ea typeface="Calibri (MS) Italics"/>
                <a:cs typeface="Calibri (MS) Italics"/>
                <a:sym typeface="Calibri (MS) Italics"/>
              </a:rPr>
              <a:t>Implementación de barreras de ciberseguridad</a:t>
            </a:r>
            <a:r>
              <a:rPr lang="en-US" sz="1650" i="true">
                <a:solidFill>
                  <a:srgbClr val="7A9E8E"/>
                </a:solidFill>
                <a:latin typeface="Calibri (MS) Italics"/>
                <a:ea typeface="Calibri (MS) Italics"/>
                <a:cs typeface="Calibri (MS) Italics"/>
                <a:sym typeface="Calibri (MS) Italics"/>
              </a:rPr>
              <a:t> para garantizar la protección absoluta de la información personal y los mensajes de texto del usuario.</a:t>
            </a:r>
          </a:p>
        </p:txBody>
      </p:sp>
      <p:grpSp>
        <p:nvGrpSpPr>
          <p:cNvPr name="Group 61" id="61"/>
          <p:cNvGrpSpPr/>
          <p:nvPr/>
        </p:nvGrpSpPr>
        <p:grpSpPr>
          <a:xfrm rot="0">
            <a:off x="754380" y="5829300"/>
            <a:ext cx="16802100" cy="2537460"/>
            <a:chOff x="0" y="0"/>
            <a:chExt cx="22402800" cy="3383280"/>
          </a:xfrm>
        </p:grpSpPr>
        <p:sp>
          <p:nvSpPr>
            <p:cNvPr name="Freeform 62" id="62"/>
            <p:cNvSpPr/>
            <p:nvPr/>
          </p:nvSpPr>
          <p:spPr>
            <a:xfrm flipH="false" flipV="false" rot="0">
              <a:off x="0" y="0"/>
              <a:ext cx="22402800" cy="3383280"/>
            </a:xfrm>
            <a:custGeom>
              <a:avLst/>
              <a:gdLst/>
              <a:ahLst/>
              <a:cxnLst/>
              <a:rect r="r" b="b" t="t" l="l"/>
              <a:pathLst>
                <a:path h="3383280" w="22402800">
                  <a:moveTo>
                    <a:pt x="0" y="182880"/>
                  </a:moveTo>
                  <a:cubicBezTo>
                    <a:pt x="0" y="81915"/>
                    <a:pt x="81915" y="0"/>
                    <a:pt x="182880" y="0"/>
                  </a:cubicBezTo>
                  <a:lnTo>
                    <a:pt x="22219920" y="0"/>
                  </a:lnTo>
                  <a:cubicBezTo>
                    <a:pt x="22320884" y="0"/>
                    <a:pt x="22402800" y="81915"/>
                    <a:pt x="22402800" y="182880"/>
                  </a:cubicBezTo>
                  <a:lnTo>
                    <a:pt x="22402800" y="3200400"/>
                  </a:lnTo>
                  <a:cubicBezTo>
                    <a:pt x="22402800" y="3301365"/>
                    <a:pt x="22320884" y="3383280"/>
                    <a:pt x="22219920" y="3383280"/>
                  </a:cubicBezTo>
                  <a:lnTo>
                    <a:pt x="182880" y="3383280"/>
                  </a:lnTo>
                  <a:cubicBezTo>
                    <a:pt x="81915" y="3383280"/>
                    <a:pt x="0" y="3301365"/>
                    <a:pt x="0" y="3200400"/>
                  </a:cubicBezTo>
                  <a:close/>
                </a:path>
              </a:pathLst>
            </a:custGeom>
            <a:solidFill>
              <a:srgbClr val="051F20"/>
            </a:solidFill>
          </p:spPr>
        </p:sp>
      </p:grpSp>
      <p:grpSp>
        <p:nvGrpSpPr>
          <p:cNvPr name="Group 63" id="63"/>
          <p:cNvGrpSpPr/>
          <p:nvPr/>
        </p:nvGrpSpPr>
        <p:grpSpPr>
          <a:xfrm rot="0">
            <a:off x="1165860" y="6026810"/>
            <a:ext cx="822960" cy="822960"/>
            <a:chOff x="0" y="0"/>
            <a:chExt cx="1097280" cy="1097280"/>
          </a:xfrm>
        </p:grpSpPr>
        <p:sp>
          <p:nvSpPr>
            <p:cNvPr name="Freeform 64" id="64"/>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8EB69B"/>
            </a:solidFill>
          </p:spPr>
        </p:sp>
      </p:grpSp>
      <p:grpSp>
        <p:nvGrpSpPr>
          <p:cNvPr name="Group 65" id="65"/>
          <p:cNvGrpSpPr/>
          <p:nvPr/>
        </p:nvGrpSpPr>
        <p:grpSpPr>
          <a:xfrm rot="0">
            <a:off x="1363370" y="6240780"/>
            <a:ext cx="427939" cy="427939"/>
            <a:chOff x="0" y="0"/>
            <a:chExt cx="570586" cy="570586"/>
          </a:xfrm>
        </p:grpSpPr>
        <p:sp>
          <p:nvSpPr>
            <p:cNvPr name="Freeform 66" id="66" descr="/home/claude/sms-security/icons/comment_dark1.png"/>
            <p:cNvSpPr/>
            <p:nvPr/>
          </p:nvSpPr>
          <p:spPr>
            <a:xfrm flipH="false" flipV="false" rot="0">
              <a:off x="0" y="0"/>
              <a:ext cx="570611" cy="570611"/>
            </a:xfrm>
            <a:custGeom>
              <a:avLst/>
              <a:gdLst/>
              <a:ahLst/>
              <a:cxnLst/>
              <a:rect r="r" b="b" t="t" l="l"/>
              <a:pathLst>
                <a:path h="570611" w="570611">
                  <a:moveTo>
                    <a:pt x="0" y="0"/>
                  </a:moveTo>
                  <a:lnTo>
                    <a:pt x="570611" y="0"/>
                  </a:lnTo>
                  <a:lnTo>
                    <a:pt x="570611" y="570611"/>
                  </a:lnTo>
                  <a:lnTo>
                    <a:pt x="0" y="570611"/>
                  </a:lnTo>
                  <a:lnTo>
                    <a:pt x="0" y="0"/>
                  </a:lnTo>
                  <a:close/>
                </a:path>
              </a:pathLst>
            </a:custGeom>
            <a:blipFill>
              <a:blip r:embed="rId9"/>
              <a:stretch>
                <a:fillRect l="0" t="0" r="4" b="4"/>
              </a:stretch>
            </a:blipFill>
          </p:spPr>
        </p:sp>
      </p:grpSp>
      <p:grpSp>
        <p:nvGrpSpPr>
          <p:cNvPr name="Group 67" id="67"/>
          <p:cNvGrpSpPr/>
          <p:nvPr/>
        </p:nvGrpSpPr>
        <p:grpSpPr>
          <a:xfrm rot="0">
            <a:off x="2194560" y="6026810"/>
            <a:ext cx="8229600" cy="685800"/>
            <a:chOff x="0" y="0"/>
            <a:chExt cx="10972800" cy="914400"/>
          </a:xfrm>
        </p:grpSpPr>
        <p:sp>
          <p:nvSpPr>
            <p:cNvPr name="Freeform 68" id="68"/>
            <p:cNvSpPr/>
            <p:nvPr/>
          </p:nvSpPr>
          <p:spPr>
            <a:xfrm flipH="false" flipV="false" rot="0">
              <a:off x="0" y="0"/>
              <a:ext cx="10972800" cy="914400"/>
            </a:xfrm>
            <a:custGeom>
              <a:avLst/>
              <a:gdLst/>
              <a:ahLst/>
              <a:cxnLst/>
              <a:rect r="r" b="b" t="t" l="l"/>
              <a:pathLst>
                <a:path h="914400" w="10972800">
                  <a:moveTo>
                    <a:pt x="0" y="0"/>
                  </a:moveTo>
                  <a:lnTo>
                    <a:pt x="10972800" y="0"/>
                  </a:lnTo>
                  <a:lnTo>
                    <a:pt x="10972800" y="914400"/>
                  </a:lnTo>
                  <a:lnTo>
                    <a:pt x="0" y="914400"/>
                  </a:lnTo>
                  <a:close/>
                </a:path>
              </a:pathLst>
            </a:custGeom>
            <a:blipFill>
              <a:blip r:embed="rId4">
                <a:alphaModFix amt="0"/>
              </a:blip>
              <a:stretch>
                <a:fillRect l="0" t="-183820" r="0" b="-183820"/>
              </a:stretch>
            </a:blipFill>
          </p:spPr>
        </p:sp>
        <p:sp>
          <p:nvSpPr>
            <p:cNvPr name="TextBox 69" id="69"/>
            <p:cNvSpPr txBox="true"/>
            <p:nvPr/>
          </p:nvSpPr>
          <p:spPr>
            <a:xfrm>
              <a:off x="0" y="-19050"/>
              <a:ext cx="10972800" cy="933450"/>
            </a:xfrm>
            <a:prstGeom prst="rect">
              <a:avLst/>
            </a:prstGeom>
          </p:spPr>
          <p:txBody>
            <a:bodyPr anchor="ctr" rtlCol="false" tIns="0" lIns="0" bIns="0" rIns="0"/>
            <a:lstStyle/>
            <a:p>
              <a:pPr algn="l">
                <a:lnSpc>
                  <a:spcPts val="2700"/>
                </a:lnSpc>
              </a:pPr>
              <a:r>
                <a:rPr lang="en-US" sz="2250" b="true">
                  <a:solidFill>
                    <a:srgbClr val="DAF1DE"/>
                  </a:solidFill>
                  <a:latin typeface="Cambria Bold"/>
                  <a:ea typeface="Cambria Bold"/>
                  <a:cs typeface="Cambria Bold"/>
                  <a:sym typeface="Cambria Bold"/>
                </a:rPr>
                <a:t>Relación con los intereses profesionales</a:t>
              </a:r>
            </a:p>
          </p:txBody>
        </p:sp>
      </p:grpSp>
      <p:grpSp>
        <p:nvGrpSpPr>
          <p:cNvPr name="Group 70" id="70"/>
          <p:cNvGrpSpPr/>
          <p:nvPr/>
        </p:nvGrpSpPr>
        <p:grpSpPr>
          <a:xfrm rot="0">
            <a:off x="1156335" y="7054215"/>
            <a:ext cx="15998190" cy="1116330"/>
            <a:chOff x="0" y="0"/>
            <a:chExt cx="21330920" cy="1488440"/>
          </a:xfrm>
        </p:grpSpPr>
        <p:sp>
          <p:nvSpPr>
            <p:cNvPr name="Freeform 71" id="71"/>
            <p:cNvSpPr/>
            <p:nvPr/>
          </p:nvSpPr>
          <p:spPr>
            <a:xfrm flipH="false" flipV="false" rot="0">
              <a:off x="0" y="0"/>
              <a:ext cx="21330920" cy="1488440"/>
            </a:xfrm>
            <a:custGeom>
              <a:avLst/>
              <a:gdLst/>
              <a:ahLst/>
              <a:cxnLst/>
              <a:rect r="r" b="b" t="t" l="l"/>
              <a:pathLst>
                <a:path h="1488440" w="21330920">
                  <a:moveTo>
                    <a:pt x="0" y="148844"/>
                  </a:moveTo>
                  <a:cubicBezTo>
                    <a:pt x="0" y="66675"/>
                    <a:pt x="66675" y="0"/>
                    <a:pt x="148844" y="0"/>
                  </a:cubicBezTo>
                  <a:lnTo>
                    <a:pt x="21182076" y="0"/>
                  </a:lnTo>
                  <a:cubicBezTo>
                    <a:pt x="21264245" y="0"/>
                    <a:pt x="21330920" y="66675"/>
                    <a:pt x="21330920" y="148844"/>
                  </a:cubicBezTo>
                  <a:lnTo>
                    <a:pt x="21330920" y="1339596"/>
                  </a:lnTo>
                  <a:cubicBezTo>
                    <a:pt x="21330920" y="1421765"/>
                    <a:pt x="21264245" y="1488440"/>
                    <a:pt x="21182076" y="1488440"/>
                  </a:cubicBezTo>
                  <a:lnTo>
                    <a:pt x="148844" y="1488440"/>
                  </a:lnTo>
                  <a:cubicBezTo>
                    <a:pt x="66675" y="1488440"/>
                    <a:pt x="0" y="1421765"/>
                    <a:pt x="0" y="1339596"/>
                  </a:cubicBezTo>
                  <a:close/>
                </a:path>
              </a:pathLst>
            </a:custGeom>
            <a:solidFill>
              <a:srgbClr val="FFFFFF"/>
            </a:solidFill>
            <a:ln w="19050" cap="sq">
              <a:solidFill>
                <a:srgbClr val="8EB69B"/>
              </a:solidFill>
              <a:prstDash val="dash"/>
              <a:miter/>
            </a:ln>
          </p:spPr>
        </p:sp>
      </p:grpSp>
      <p:sp>
        <p:nvSpPr>
          <p:cNvPr name="TextBox 72" id="72"/>
          <p:cNvSpPr txBox="true"/>
          <p:nvPr/>
        </p:nvSpPr>
        <p:spPr>
          <a:xfrm rot="0">
            <a:off x="1463040" y="7218045"/>
            <a:ext cx="15384780" cy="771525"/>
          </a:xfrm>
          <a:prstGeom prst="rect">
            <a:avLst/>
          </a:prstGeom>
        </p:spPr>
        <p:txBody>
          <a:bodyPr anchor="t" rtlCol="false" tIns="0" lIns="0" bIns="0" rIns="0">
            <a:spAutoFit/>
          </a:bodyPr>
          <a:lstStyle/>
          <a:p>
            <a:pPr algn="l">
              <a:lnSpc>
                <a:spcPts val="1980"/>
              </a:lnSpc>
            </a:pPr>
            <a:r>
              <a:rPr lang="en-US" sz="1650" i="true">
                <a:solidFill>
                  <a:srgbClr val="7A9E8E"/>
                </a:solidFill>
                <a:latin typeface="Calibri (MS) Italics"/>
                <a:ea typeface="Calibri (MS) Italics"/>
                <a:cs typeface="Calibri (MS) Italics"/>
                <a:sym typeface="Calibri (MS) Italics"/>
              </a:rPr>
              <a:t>En este proyecto hemos puesto nuestro interés por la ciberseguridad como enfoque principal, el desarrollo de aplicaciones móviles como el formato del producto y la integración de la Inteligencia Artificial como mejora para la accesibilidad y resolución de consultas del usuario. Este proyecto nos beneficiara como promotores de la ciberseguridad, manejo de la inteligencia artificial y como desarrolladores de soluciones tecnológicas</a:t>
            </a:r>
          </a:p>
        </p:txBody>
      </p:sp>
      <p:grpSp>
        <p:nvGrpSpPr>
          <p:cNvPr name="Group 73" id="73"/>
          <p:cNvGrpSpPr/>
          <p:nvPr/>
        </p:nvGrpSpPr>
        <p:grpSpPr>
          <a:xfrm rot="0">
            <a:off x="17053103" y="9601200"/>
            <a:ext cx="822960" cy="480060"/>
            <a:chOff x="0" y="0"/>
            <a:chExt cx="1097280" cy="640080"/>
          </a:xfrm>
        </p:grpSpPr>
        <p:sp>
          <p:nvSpPr>
            <p:cNvPr name="Freeform 74" id="74"/>
            <p:cNvSpPr/>
            <p:nvPr/>
          </p:nvSpPr>
          <p:spPr>
            <a:xfrm flipH="false" flipV="false" rot="0">
              <a:off x="0" y="0"/>
              <a:ext cx="1097280" cy="640080"/>
            </a:xfrm>
            <a:custGeom>
              <a:avLst/>
              <a:gdLst/>
              <a:ahLst/>
              <a:cxnLst/>
              <a:rect r="r" b="b" t="t" l="l"/>
              <a:pathLst>
                <a:path h="640080" w="1097280">
                  <a:moveTo>
                    <a:pt x="0" y="0"/>
                  </a:moveTo>
                  <a:lnTo>
                    <a:pt x="1097280" y="0"/>
                  </a:lnTo>
                  <a:lnTo>
                    <a:pt x="1097280" y="640080"/>
                  </a:lnTo>
                  <a:lnTo>
                    <a:pt x="0" y="640080"/>
                  </a:lnTo>
                  <a:close/>
                </a:path>
              </a:pathLst>
            </a:custGeom>
            <a:blipFill>
              <a:blip r:embed="rId4">
                <a:alphaModFix amt="0"/>
              </a:blip>
              <a:stretch>
                <a:fillRect l="-24843" t="0" r="-24843" b="0"/>
              </a:stretch>
            </a:blipFill>
          </p:spPr>
        </p:sp>
        <p:sp>
          <p:nvSpPr>
            <p:cNvPr name="TextBox 75" id="75"/>
            <p:cNvSpPr txBox="true"/>
            <p:nvPr/>
          </p:nvSpPr>
          <p:spPr>
            <a:xfrm>
              <a:off x="0" y="-38100"/>
              <a:ext cx="1097280" cy="678180"/>
            </a:xfrm>
            <a:prstGeom prst="rect">
              <a:avLst/>
            </a:prstGeom>
          </p:spPr>
          <p:txBody>
            <a:bodyPr anchor="ctr" rtlCol="false" tIns="0" lIns="0" bIns="0" rIns="0"/>
            <a:lstStyle/>
            <a:p>
              <a:pPr algn="r">
                <a:lnSpc>
                  <a:spcPts val="1800"/>
                </a:lnSpc>
              </a:pPr>
              <a:r>
                <a:rPr lang="en-US" sz="1500">
                  <a:solidFill>
                    <a:srgbClr val="235347"/>
                  </a:solidFill>
                  <a:latin typeface="Calibri (MS)"/>
                  <a:ea typeface="Calibri (MS)"/>
                  <a:cs typeface="Calibri (MS)"/>
                  <a:sym typeface="Calibri (MS)"/>
                </a:rPr>
                <a:t>03</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AF1DE"/>
        </a:solidFill>
      </p:bgPr>
    </p:bg>
    <p:spTree>
      <p:nvGrpSpPr>
        <p:cNvPr id="1" name=""/>
        <p:cNvGrpSpPr/>
        <p:nvPr/>
      </p:nvGrpSpPr>
      <p:grpSpPr>
        <a:xfrm>
          <a:off x="0" y="0"/>
          <a:ext cx="0" cy="0"/>
          <a:chOff x="0" y="0"/>
          <a:chExt cx="0" cy="0"/>
        </a:xfrm>
      </p:grpSpPr>
      <p:sp>
        <p:nvSpPr>
          <p:cNvPr name="Freeform 2" id="2"/>
          <p:cNvSpPr/>
          <p:nvPr/>
        </p:nvSpPr>
        <p:spPr>
          <a:xfrm flipH="false" flipV="false" rot="0">
            <a:off x="0" y="45720"/>
            <a:ext cx="18288000" cy="10241280"/>
          </a:xfrm>
          <a:custGeom>
            <a:avLst/>
            <a:gdLst/>
            <a:ahLst/>
            <a:cxnLst/>
            <a:rect r="r" b="b" t="t" l="l"/>
            <a:pathLst>
              <a:path h="10241280" w="18288000">
                <a:moveTo>
                  <a:pt x="0" y="0"/>
                </a:moveTo>
                <a:lnTo>
                  <a:pt x="18288000" y="0"/>
                </a:lnTo>
                <a:lnTo>
                  <a:pt x="18288000" y="10241280"/>
                </a:lnTo>
                <a:lnTo>
                  <a:pt x="0" y="10241280"/>
                </a:lnTo>
                <a:lnTo>
                  <a:pt x="0" y="0"/>
                </a:lnTo>
                <a:close/>
              </a:path>
            </a:pathLst>
          </a:custGeom>
          <a:blipFill>
            <a:blip r:embed="rId2">
              <a:alphaModFix amt="40000"/>
            </a:blip>
            <a:stretch>
              <a:fillRect l="0" t="0" r="0" b="0"/>
            </a:stretch>
          </a:blipFill>
        </p:spPr>
      </p:sp>
      <p:grpSp>
        <p:nvGrpSpPr>
          <p:cNvPr name="Group 3" id="3"/>
          <p:cNvGrpSpPr/>
          <p:nvPr/>
        </p:nvGrpSpPr>
        <p:grpSpPr>
          <a:xfrm rot="0">
            <a:off x="754380" y="685800"/>
            <a:ext cx="1028700" cy="1028700"/>
            <a:chOff x="0" y="0"/>
            <a:chExt cx="1371600" cy="1371600"/>
          </a:xfrm>
        </p:grpSpPr>
        <p:sp>
          <p:nvSpPr>
            <p:cNvPr name="Freeform 4" id="4"/>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0B2B26"/>
            </a:solidFill>
          </p:spPr>
        </p:sp>
      </p:grpSp>
      <p:grpSp>
        <p:nvGrpSpPr>
          <p:cNvPr name="Group 5" id="5"/>
          <p:cNvGrpSpPr/>
          <p:nvPr/>
        </p:nvGrpSpPr>
        <p:grpSpPr>
          <a:xfrm rot="0">
            <a:off x="1001268" y="932688"/>
            <a:ext cx="534924" cy="534924"/>
            <a:chOff x="0" y="0"/>
            <a:chExt cx="713232" cy="713232"/>
          </a:xfrm>
        </p:grpSpPr>
        <p:sp>
          <p:nvSpPr>
            <p:cNvPr name="Freeform 6" id="6" descr="/home/claude/sms-security/icons/clock_light.png"/>
            <p:cNvSpPr/>
            <p:nvPr/>
          </p:nvSpPr>
          <p:spPr>
            <a:xfrm flipH="false" flipV="false" rot="0">
              <a:off x="0" y="0"/>
              <a:ext cx="713232" cy="713232"/>
            </a:xfrm>
            <a:custGeom>
              <a:avLst/>
              <a:gdLst/>
              <a:ahLst/>
              <a:cxnLst/>
              <a:rect r="r" b="b" t="t" l="l"/>
              <a:pathLst>
                <a:path h="713232" w="713232">
                  <a:moveTo>
                    <a:pt x="0" y="0"/>
                  </a:moveTo>
                  <a:lnTo>
                    <a:pt x="713232" y="0"/>
                  </a:lnTo>
                  <a:lnTo>
                    <a:pt x="713232" y="713232"/>
                  </a:lnTo>
                  <a:lnTo>
                    <a:pt x="0" y="713232"/>
                  </a:lnTo>
                  <a:lnTo>
                    <a:pt x="0" y="0"/>
                  </a:lnTo>
                  <a:close/>
                </a:path>
              </a:pathLst>
            </a:custGeom>
            <a:blipFill>
              <a:blip r:embed="rId3"/>
              <a:stretch>
                <a:fillRect l="0" t="0" r="0" b="0"/>
              </a:stretch>
            </a:blipFill>
          </p:spPr>
        </p:sp>
      </p:grpSp>
      <p:grpSp>
        <p:nvGrpSpPr>
          <p:cNvPr name="Group 7" id="7"/>
          <p:cNvGrpSpPr/>
          <p:nvPr/>
        </p:nvGrpSpPr>
        <p:grpSpPr>
          <a:xfrm rot="0">
            <a:off x="1988820" y="576072"/>
            <a:ext cx="14401800" cy="754380"/>
            <a:chOff x="0" y="0"/>
            <a:chExt cx="19202400" cy="1005840"/>
          </a:xfrm>
        </p:grpSpPr>
        <p:sp>
          <p:nvSpPr>
            <p:cNvPr name="Freeform 8" id="8"/>
            <p:cNvSpPr/>
            <p:nvPr/>
          </p:nvSpPr>
          <p:spPr>
            <a:xfrm flipH="false" flipV="false" rot="0">
              <a:off x="0" y="0"/>
              <a:ext cx="19202400" cy="1005840"/>
            </a:xfrm>
            <a:custGeom>
              <a:avLst/>
              <a:gdLst/>
              <a:ahLst/>
              <a:cxnLst/>
              <a:rect r="r" b="b" t="t" l="l"/>
              <a:pathLst>
                <a:path h="1005840" w="19202400">
                  <a:moveTo>
                    <a:pt x="0" y="0"/>
                  </a:moveTo>
                  <a:lnTo>
                    <a:pt x="19202400" y="0"/>
                  </a:lnTo>
                  <a:lnTo>
                    <a:pt x="19202400" y="1005840"/>
                  </a:lnTo>
                  <a:lnTo>
                    <a:pt x="0" y="1005840"/>
                  </a:lnTo>
                  <a:close/>
                </a:path>
              </a:pathLst>
            </a:custGeom>
            <a:blipFill>
              <a:blip r:embed="rId4">
                <a:alphaModFix amt="0"/>
              </a:blip>
              <a:stretch>
                <a:fillRect l="0" t="-321987" r="0" b="-321987"/>
              </a:stretch>
            </a:blipFill>
          </p:spPr>
        </p:sp>
        <p:sp>
          <p:nvSpPr>
            <p:cNvPr name="TextBox 9" id="9"/>
            <p:cNvSpPr txBox="true"/>
            <p:nvPr/>
          </p:nvSpPr>
          <p:spPr>
            <a:xfrm>
              <a:off x="0" y="-9525"/>
              <a:ext cx="19202400" cy="1015365"/>
            </a:xfrm>
            <a:prstGeom prst="rect">
              <a:avLst/>
            </a:prstGeom>
          </p:spPr>
          <p:txBody>
            <a:bodyPr anchor="ctr" rtlCol="false" tIns="0" lIns="0" bIns="0" rIns="0"/>
            <a:lstStyle/>
            <a:p>
              <a:pPr algn="l">
                <a:lnSpc>
                  <a:spcPts val="5040"/>
                </a:lnSpc>
              </a:pPr>
              <a:r>
                <a:rPr lang="en-US" sz="4200" b="true">
                  <a:solidFill>
                    <a:srgbClr val="051F20"/>
                  </a:solidFill>
                  <a:latin typeface="Cambria Bold"/>
                  <a:ea typeface="Cambria Bold"/>
                  <a:cs typeface="Cambria Bold"/>
                  <a:sym typeface="Cambria Bold"/>
                </a:rPr>
                <a:t>Factibilidad y Riesgos</a:t>
              </a:r>
            </a:p>
          </p:txBody>
        </p:sp>
      </p:grpSp>
      <p:grpSp>
        <p:nvGrpSpPr>
          <p:cNvPr name="Group 10" id="10"/>
          <p:cNvGrpSpPr/>
          <p:nvPr/>
        </p:nvGrpSpPr>
        <p:grpSpPr>
          <a:xfrm rot="0">
            <a:off x="1988820" y="1303020"/>
            <a:ext cx="14401800" cy="480060"/>
            <a:chOff x="0" y="0"/>
            <a:chExt cx="19202400" cy="640080"/>
          </a:xfrm>
        </p:grpSpPr>
        <p:sp>
          <p:nvSpPr>
            <p:cNvPr name="Freeform 11" id="11"/>
            <p:cNvSpPr/>
            <p:nvPr/>
          </p:nvSpPr>
          <p:spPr>
            <a:xfrm flipH="false" flipV="false" rot="0">
              <a:off x="0" y="0"/>
              <a:ext cx="19202400" cy="640080"/>
            </a:xfrm>
            <a:custGeom>
              <a:avLst/>
              <a:gdLst/>
              <a:ahLst/>
              <a:cxnLst/>
              <a:rect r="r" b="b" t="t" l="l"/>
              <a:pathLst>
                <a:path h="640080" w="19202400">
                  <a:moveTo>
                    <a:pt x="0" y="0"/>
                  </a:moveTo>
                  <a:lnTo>
                    <a:pt x="19202400" y="0"/>
                  </a:lnTo>
                  <a:lnTo>
                    <a:pt x="19202400" y="640080"/>
                  </a:lnTo>
                  <a:lnTo>
                    <a:pt x="0" y="640080"/>
                  </a:lnTo>
                  <a:close/>
                </a:path>
              </a:pathLst>
            </a:custGeom>
            <a:blipFill>
              <a:blip r:embed="rId4">
                <a:alphaModFix amt="0"/>
              </a:blip>
              <a:stretch>
                <a:fillRect l="0" t="-534551" r="0" b="-534551"/>
              </a:stretch>
            </a:blipFill>
          </p:spPr>
        </p:sp>
        <p:sp>
          <p:nvSpPr>
            <p:cNvPr name="TextBox 12" id="12"/>
            <p:cNvSpPr txBox="true"/>
            <p:nvPr/>
          </p:nvSpPr>
          <p:spPr>
            <a:xfrm>
              <a:off x="0" y="-47625"/>
              <a:ext cx="19202400" cy="687705"/>
            </a:xfrm>
            <a:prstGeom prst="rect">
              <a:avLst/>
            </a:prstGeom>
          </p:spPr>
          <p:txBody>
            <a:bodyPr anchor="ctr" rtlCol="false" tIns="0" lIns="0" bIns="0" rIns="0"/>
            <a:lstStyle/>
            <a:p>
              <a:pPr algn="l">
                <a:lnSpc>
                  <a:spcPts val="2340"/>
                </a:lnSpc>
              </a:pPr>
              <a:r>
                <a:rPr lang="en-US" sz="1950" i="true">
                  <a:solidFill>
                    <a:srgbClr val="235347"/>
                  </a:solidFill>
                  <a:latin typeface="Calibri (MS) Italics"/>
                  <a:ea typeface="Calibri (MS) Italics"/>
                  <a:cs typeface="Calibri (MS) Italics"/>
                  <a:sym typeface="Calibri (MS) Italics"/>
                </a:rPr>
                <a:t>Viabilidad en el semestre y estrategias de mitigación</a:t>
              </a:r>
            </a:p>
          </p:txBody>
        </p:sp>
      </p:grpSp>
      <p:grpSp>
        <p:nvGrpSpPr>
          <p:cNvPr name="Group 13" id="13"/>
          <p:cNvGrpSpPr/>
          <p:nvPr/>
        </p:nvGrpSpPr>
        <p:grpSpPr>
          <a:xfrm rot="0">
            <a:off x="754380" y="2125980"/>
            <a:ext cx="8023860" cy="6309360"/>
            <a:chOff x="0" y="0"/>
            <a:chExt cx="10698480" cy="8412480"/>
          </a:xfrm>
        </p:grpSpPr>
        <p:sp>
          <p:nvSpPr>
            <p:cNvPr name="Freeform 14" id="14"/>
            <p:cNvSpPr/>
            <p:nvPr/>
          </p:nvSpPr>
          <p:spPr>
            <a:xfrm flipH="false" flipV="false" rot="0">
              <a:off x="0" y="0"/>
              <a:ext cx="10698480" cy="8412480"/>
            </a:xfrm>
            <a:custGeom>
              <a:avLst/>
              <a:gdLst/>
              <a:ahLst/>
              <a:cxnLst/>
              <a:rect r="r" b="b" t="t" l="l"/>
              <a:pathLst>
                <a:path h="8412480" w="10698480">
                  <a:moveTo>
                    <a:pt x="0" y="182880"/>
                  </a:moveTo>
                  <a:cubicBezTo>
                    <a:pt x="0" y="81915"/>
                    <a:pt x="81915" y="0"/>
                    <a:pt x="182880" y="0"/>
                  </a:cubicBezTo>
                  <a:lnTo>
                    <a:pt x="10515600" y="0"/>
                  </a:lnTo>
                  <a:cubicBezTo>
                    <a:pt x="10616565" y="0"/>
                    <a:pt x="10698480" y="81915"/>
                    <a:pt x="10698480" y="182880"/>
                  </a:cubicBezTo>
                  <a:lnTo>
                    <a:pt x="10698480" y="8229600"/>
                  </a:lnTo>
                  <a:cubicBezTo>
                    <a:pt x="10698480" y="8330565"/>
                    <a:pt x="10616565" y="8412480"/>
                    <a:pt x="10515600" y="8412480"/>
                  </a:cubicBezTo>
                  <a:lnTo>
                    <a:pt x="182880" y="8412480"/>
                  </a:lnTo>
                  <a:cubicBezTo>
                    <a:pt x="81915" y="8412480"/>
                    <a:pt x="0" y="8330565"/>
                    <a:pt x="0" y="8229600"/>
                  </a:cubicBezTo>
                  <a:close/>
                </a:path>
              </a:pathLst>
            </a:custGeom>
            <a:solidFill>
              <a:srgbClr val="FFFFFF"/>
            </a:solidFill>
          </p:spPr>
        </p:sp>
      </p:grpSp>
      <p:grpSp>
        <p:nvGrpSpPr>
          <p:cNvPr name="Group 15" id="15"/>
          <p:cNvGrpSpPr/>
          <p:nvPr/>
        </p:nvGrpSpPr>
        <p:grpSpPr>
          <a:xfrm rot="0">
            <a:off x="1165860" y="2537460"/>
            <a:ext cx="754380" cy="754380"/>
            <a:chOff x="0" y="0"/>
            <a:chExt cx="1005840" cy="1005840"/>
          </a:xfrm>
        </p:grpSpPr>
        <p:sp>
          <p:nvSpPr>
            <p:cNvPr name="Freeform 16" id="16"/>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235347"/>
            </a:solidFill>
          </p:spPr>
        </p:sp>
      </p:grpSp>
      <p:grpSp>
        <p:nvGrpSpPr>
          <p:cNvPr name="Group 17" id="17"/>
          <p:cNvGrpSpPr/>
          <p:nvPr/>
        </p:nvGrpSpPr>
        <p:grpSpPr>
          <a:xfrm rot="0">
            <a:off x="1346911" y="2718511"/>
            <a:ext cx="392278" cy="392278"/>
            <a:chOff x="0" y="0"/>
            <a:chExt cx="523037" cy="523037"/>
          </a:xfrm>
        </p:grpSpPr>
        <p:sp>
          <p:nvSpPr>
            <p:cNvPr name="Freeform 18" id="18" descr="/home/claude/sms-security/icons/check_light.png"/>
            <p:cNvSpPr/>
            <p:nvPr/>
          </p:nvSpPr>
          <p:spPr>
            <a:xfrm flipH="false" flipV="false" rot="0">
              <a:off x="0" y="0"/>
              <a:ext cx="522986" cy="522986"/>
            </a:xfrm>
            <a:custGeom>
              <a:avLst/>
              <a:gdLst/>
              <a:ahLst/>
              <a:cxnLst/>
              <a:rect r="r" b="b" t="t" l="l"/>
              <a:pathLst>
                <a:path h="522986" w="522986">
                  <a:moveTo>
                    <a:pt x="0" y="0"/>
                  </a:moveTo>
                  <a:lnTo>
                    <a:pt x="522986" y="0"/>
                  </a:lnTo>
                  <a:lnTo>
                    <a:pt x="522986" y="522986"/>
                  </a:lnTo>
                  <a:lnTo>
                    <a:pt x="0" y="522986"/>
                  </a:lnTo>
                  <a:lnTo>
                    <a:pt x="0" y="0"/>
                  </a:lnTo>
                  <a:close/>
                </a:path>
              </a:pathLst>
            </a:custGeom>
            <a:blipFill>
              <a:blip r:embed="rId5"/>
              <a:stretch>
                <a:fillRect l="0" t="0" r="-9" b="-9"/>
              </a:stretch>
            </a:blipFill>
          </p:spPr>
        </p:sp>
      </p:grpSp>
      <p:grpSp>
        <p:nvGrpSpPr>
          <p:cNvPr name="Group 19" id="19"/>
          <p:cNvGrpSpPr/>
          <p:nvPr/>
        </p:nvGrpSpPr>
        <p:grpSpPr>
          <a:xfrm rot="0">
            <a:off x="2125980" y="2537460"/>
            <a:ext cx="5486400" cy="754380"/>
            <a:chOff x="0" y="0"/>
            <a:chExt cx="7315200" cy="1005840"/>
          </a:xfrm>
        </p:grpSpPr>
        <p:sp>
          <p:nvSpPr>
            <p:cNvPr name="Freeform 20" id="20"/>
            <p:cNvSpPr/>
            <p:nvPr/>
          </p:nvSpPr>
          <p:spPr>
            <a:xfrm flipH="false" flipV="false" rot="0">
              <a:off x="0" y="0"/>
              <a:ext cx="7315200" cy="1005840"/>
            </a:xfrm>
            <a:custGeom>
              <a:avLst/>
              <a:gdLst/>
              <a:ahLst/>
              <a:cxnLst/>
              <a:rect r="r" b="b" t="t" l="l"/>
              <a:pathLst>
                <a:path h="1005840" w="7315200">
                  <a:moveTo>
                    <a:pt x="0" y="0"/>
                  </a:moveTo>
                  <a:lnTo>
                    <a:pt x="7315200" y="0"/>
                  </a:lnTo>
                  <a:lnTo>
                    <a:pt x="7315200" y="1005840"/>
                  </a:lnTo>
                  <a:lnTo>
                    <a:pt x="0" y="1005840"/>
                  </a:lnTo>
                  <a:close/>
                </a:path>
              </a:pathLst>
            </a:custGeom>
            <a:blipFill>
              <a:blip r:embed="rId4">
                <a:alphaModFix amt="0"/>
              </a:blip>
              <a:stretch>
                <a:fillRect l="0" t="-91709" r="0" b="-91709"/>
              </a:stretch>
            </a:blipFill>
          </p:spPr>
        </p:sp>
        <p:sp>
          <p:nvSpPr>
            <p:cNvPr name="TextBox 21" id="21"/>
            <p:cNvSpPr txBox="true"/>
            <p:nvPr/>
          </p:nvSpPr>
          <p:spPr>
            <a:xfrm>
              <a:off x="0" y="-9525"/>
              <a:ext cx="7315200" cy="1015365"/>
            </a:xfrm>
            <a:prstGeom prst="rect">
              <a:avLst/>
            </a:prstGeom>
          </p:spPr>
          <p:txBody>
            <a:bodyPr anchor="ctr" rtlCol="false" tIns="0" lIns="0" bIns="0" rIns="0"/>
            <a:lstStyle/>
            <a:p>
              <a:pPr algn="l">
                <a:lnSpc>
                  <a:spcPts val="2879"/>
                </a:lnSpc>
              </a:pPr>
              <a:r>
                <a:rPr lang="en-US" sz="2400" b="true">
                  <a:solidFill>
                    <a:srgbClr val="051F20"/>
                  </a:solidFill>
                  <a:latin typeface="Cambria Bold"/>
                  <a:ea typeface="Cambria Bold"/>
                  <a:cs typeface="Cambria Bold"/>
                  <a:sym typeface="Cambria Bold"/>
                </a:rPr>
                <a:t>Factibilidad</a:t>
              </a:r>
            </a:p>
          </p:txBody>
        </p:sp>
      </p:grpSp>
      <p:grpSp>
        <p:nvGrpSpPr>
          <p:cNvPr name="Group 22" id="22"/>
          <p:cNvGrpSpPr/>
          <p:nvPr/>
        </p:nvGrpSpPr>
        <p:grpSpPr>
          <a:xfrm rot="0">
            <a:off x="1156335" y="3488055"/>
            <a:ext cx="7219950" cy="2088902"/>
            <a:chOff x="0" y="0"/>
            <a:chExt cx="9626600" cy="2785203"/>
          </a:xfrm>
        </p:grpSpPr>
        <p:sp>
          <p:nvSpPr>
            <p:cNvPr name="Freeform 23" id="23"/>
            <p:cNvSpPr/>
            <p:nvPr/>
          </p:nvSpPr>
          <p:spPr>
            <a:xfrm flipH="false" flipV="false" rot="0">
              <a:off x="0" y="0"/>
              <a:ext cx="9626600" cy="2785203"/>
            </a:xfrm>
            <a:custGeom>
              <a:avLst/>
              <a:gdLst/>
              <a:ahLst/>
              <a:cxnLst/>
              <a:rect r="r" b="b" t="t" l="l"/>
              <a:pathLst>
                <a:path h="2785203" w="9626600">
                  <a:moveTo>
                    <a:pt x="0" y="165070"/>
                  </a:moveTo>
                  <a:cubicBezTo>
                    <a:pt x="0" y="73884"/>
                    <a:pt x="66167" y="0"/>
                    <a:pt x="147828" y="0"/>
                  </a:cubicBezTo>
                  <a:lnTo>
                    <a:pt x="9478772" y="0"/>
                  </a:lnTo>
                  <a:cubicBezTo>
                    <a:pt x="9560433" y="0"/>
                    <a:pt x="9626600" y="73884"/>
                    <a:pt x="9626600" y="165070"/>
                  </a:cubicBezTo>
                  <a:lnTo>
                    <a:pt x="9626600" y="2620133"/>
                  </a:lnTo>
                  <a:cubicBezTo>
                    <a:pt x="9626600" y="2711318"/>
                    <a:pt x="9560433" y="2785203"/>
                    <a:pt x="9478772" y="2785203"/>
                  </a:cubicBezTo>
                  <a:lnTo>
                    <a:pt x="147828" y="2785203"/>
                  </a:lnTo>
                  <a:cubicBezTo>
                    <a:pt x="66167" y="2785203"/>
                    <a:pt x="0" y="2711318"/>
                    <a:pt x="0" y="2620133"/>
                  </a:cubicBezTo>
                  <a:close/>
                </a:path>
              </a:pathLst>
            </a:custGeom>
            <a:solidFill>
              <a:srgbClr val="FFFFFF"/>
            </a:solidFill>
            <a:ln w="19050" cap="sq">
              <a:solidFill>
                <a:srgbClr val="8EB69B"/>
              </a:solidFill>
              <a:prstDash val="dash"/>
              <a:miter/>
            </a:ln>
          </p:spPr>
        </p:sp>
      </p:grpSp>
      <p:sp>
        <p:nvSpPr>
          <p:cNvPr name="TextBox 24" id="24"/>
          <p:cNvSpPr txBox="true"/>
          <p:nvPr/>
        </p:nvSpPr>
        <p:spPr>
          <a:xfrm rot="0">
            <a:off x="1463040" y="3743325"/>
            <a:ext cx="6606540" cy="1514475"/>
          </a:xfrm>
          <a:prstGeom prst="rect">
            <a:avLst/>
          </a:prstGeom>
        </p:spPr>
        <p:txBody>
          <a:bodyPr anchor="t" rtlCol="false" tIns="0" lIns="0" bIns="0" rIns="0">
            <a:spAutoFit/>
          </a:bodyPr>
          <a:lstStyle/>
          <a:p>
            <a:pPr algn="l">
              <a:lnSpc>
                <a:spcPts val="1980"/>
              </a:lnSpc>
            </a:pPr>
            <a:r>
              <a:rPr lang="en-US" sz="1650" i="true">
                <a:solidFill>
                  <a:srgbClr val="7A9E8E"/>
                </a:solidFill>
                <a:latin typeface="Calibri (MS) Italics"/>
                <a:ea typeface="Calibri (MS) Italics"/>
                <a:cs typeface="Calibri (MS) Italics"/>
                <a:sym typeface="Calibri (MS) Italics"/>
              </a:rPr>
              <a:t>Factibilidad</a:t>
            </a:r>
            <a:r>
              <a:rPr lang="en-US" sz="1650" i="true">
                <a:solidFill>
                  <a:srgbClr val="7A9E8E"/>
                </a:solidFill>
                <a:latin typeface="Calibri (MS) Italics"/>
                <a:ea typeface="Calibri (MS) Italics"/>
                <a:cs typeface="Calibri (MS) Italics"/>
                <a:sym typeface="Calibri (MS) Italics"/>
              </a:rPr>
              <a:t> Técnica y de Recursos: El desarrollo es altamente viable, ya que se sustenta íntegramente en herramientas digitales y frameworks de uso libre (Visual Studio Code, React Native, FastAPI, y las APIs de VirusTotal y WHOIS RDAP). Además, el equipo ya cuenta con experiencia previa en React y FastAPI, lo que elimina la curva de aprendizaje inicial y permite enfocar el esfuerzo técnico directamente en la implementación de la solución.</a:t>
            </a:r>
          </a:p>
        </p:txBody>
      </p:sp>
      <p:grpSp>
        <p:nvGrpSpPr>
          <p:cNvPr name="Group 25" id="25"/>
          <p:cNvGrpSpPr/>
          <p:nvPr/>
        </p:nvGrpSpPr>
        <p:grpSpPr>
          <a:xfrm rot="0">
            <a:off x="1156335" y="5786507"/>
            <a:ext cx="7219950" cy="2315458"/>
            <a:chOff x="0" y="0"/>
            <a:chExt cx="9626600" cy="3087277"/>
          </a:xfrm>
        </p:grpSpPr>
        <p:sp>
          <p:nvSpPr>
            <p:cNvPr name="Freeform 26" id="26"/>
            <p:cNvSpPr/>
            <p:nvPr/>
          </p:nvSpPr>
          <p:spPr>
            <a:xfrm flipH="false" flipV="false" rot="0">
              <a:off x="0" y="0"/>
              <a:ext cx="9626600" cy="3087277"/>
            </a:xfrm>
            <a:custGeom>
              <a:avLst/>
              <a:gdLst/>
              <a:ahLst/>
              <a:cxnLst/>
              <a:rect r="r" b="b" t="t" l="l"/>
              <a:pathLst>
                <a:path h="3087277" w="9626600">
                  <a:moveTo>
                    <a:pt x="0" y="130055"/>
                  </a:moveTo>
                  <a:cubicBezTo>
                    <a:pt x="0" y="58251"/>
                    <a:pt x="66040" y="0"/>
                    <a:pt x="147447" y="0"/>
                  </a:cubicBezTo>
                  <a:lnTo>
                    <a:pt x="9479153" y="0"/>
                  </a:lnTo>
                  <a:cubicBezTo>
                    <a:pt x="9560560" y="0"/>
                    <a:pt x="9626600" y="58251"/>
                    <a:pt x="9626600" y="130055"/>
                  </a:cubicBezTo>
                  <a:lnTo>
                    <a:pt x="9626600" y="2957222"/>
                  </a:lnTo>
                  <a:cubicBezTo>
                    <a:pt x="9626600" y="3029027"/>
                    <a:pt x="9560560" y="3087277"/>
                    <a:pt x="9479153" y="3087277"/>
                  </a:cubicBezTo>
                  <a:lnTo>
                    <a:pt x="147447" y="3087277"/>
                  </a:lnTo>
                  <a:cubicBezTo>
                    <a:pt x="66040" y="3087277"/>
                    <a:pt x="0" y="3029027"/>
                    <a:pt x="0" y="2957222"/>
                  </a:cubicBezTo>
                  <a:close/>
                </a:path>
              </a:pathLst>
            </a:custGeom>
            <a:solidFill>
              <a:srgbClr val="FFFFFF"/>
            </a:solidFill>
            <a:ln w="19050" cap="sq">
              <a:solidFill>
                <a:srgbClr val="8EB69B"/>
              </a:solidFill>
              <a:prstDash val="dash"/>
              <a:miter/>
            </a:ln>
          </p:spPr>
        </p:sp>
      </p:grpSp>
      <p:sp>
        <p:nvSpPr>
          <p:cNvPr name="TextBox 27" id="27"/>
          <p:cNvSpPr txBox="true"/>
          <p:nvPr/>
        </p:nvSpPr>
        <p:spPr>
          <a:xfrm rot="0">
            <a:off x="1463040" y="6017895"/>
            <a:ext cx="6606540" cy="1514475"/>
          </a:xfrm>
          <a:prstGeom prst="rect">
            <a:avLst/>
          </a:prstGeom>
        </p:spPr>
        <p:txBody>
          <a:bodyPr anchor="t" rtlCol="false" tIns="0" lIns="0" bIns="0" rIns="0">
            <a:spAutoFit/>
          </a:bodyPr>
          <a:lstStyle/>
          <a:p>
            <a:pPr algn="l">
              <a:lnSpc>
                <a:spcPts val="1980"/>
              </a:lnSpc>
            </a:pPr>
            <a:r>
              <a:rPr lang="en-US" sz="1650" i="true">
                <a:solidFill>
                  <a:srgbClr val="7A9E8E"/>
                </a:solidFill>
                <a:latin typeface="Calibri (MS) Italics"/>
                <a:ea typeface="Calibri (MS) Italics"/>
                <a:cs typeface="Calibri (MS) Italics"/>
                <a:sym typeface="Calibri (MS) Italics"/>
              </a:rPr>
              <a:t>Factibilidad Operativa y de</a:t>
            </a:r>
            <a:r>
              <a:rPr lang="en-US" sz="1650" i="true">
                <a:solidFill>
                  <a:srgbClr val="7A9E8E"/>
                </a:solidFill>
                <a:latin typeface="Calibri (MS) Italics"/>
                <a:ea typeface="Calibri (MS) Italics"/>
                <a:cs typeface="Calibri (MS) Italics"/>
                <a:sym typeface="Calibri (MS) Italics"/>
              </a:rPr>
              <a:t> Tiempo: A pesar de la carga de la Práctica Profesional de lunes a viernes en la mañana, el plazo de 5 meses es adecuado. El avance se concentrará estratégicamente en el bloque de 3 horas y 40 minutos de la asignatura Capstone los días viernes, complementado con una gestión flexible de horas extra que respeta los tiempos de descanso, apoyándose en la agilidad que otorga el dominio previo de las herramientas.</a:t>
            </a:r>
          </a:p>
        </p:txBody>
      </p:sp>
      <p:grpSp>
        <p:nvGrpSpPr>
          <p:cNvPr name="Group 28" id="28"/>
          <p:cNvGrpSpPr/>
          <p:nvPr/>
        </p:nvGrpSpPr>
        <p:grpSpPr>
          <a:xfrm rot="0">
            <a:off x="9121140" y="2125980"/>
            <a:ext cx="8435340" cy="7715250"/>
            <a:chOff x="0" y="0"/>
            <a:chExt cx="11247120" cy="10287000"/>
          </a:xfrm>
        </p:grpSpPr>
        <p:sp>
          <p:nvSpPr>
            <p:cNvPr name="Freeform 29" id="29"/>
            <p:cNvSpPr/>
            <p:nvPr/>
          </p:nvSpPr>
          <p:spPr>
            <a:xfrm flipH="false" flipV="false" rot="0">
              <a:off x="0" y="0"/>
              <a:ext cx="11247120" cy="10287000"/>
            </a:xfrm>
            <a:custGeom>
              <a:avLst/>
              <a:gdLst/>
              <a:ahLst/>
              <a:cxnLst/>
              <a:rect r="r" b="b" t="t" l="l"/>
              <a:pathLst>
                <a:path h="10287000" w="11247120">
                  <a:moveTo>
                    <a:pt x="0" y="223630"/>
                  </a:moveTo>
                  <a:cubicBezTo>
                    <a:pt x="0" y="100168"/>
                    <a:pt x="81915" y="0"/>
                    <a:pt x="182880" y="0"/>
                  </a:cubicBezTo>
                  <a:lnTo>
                    <a:pt x="11064240" y="0"/>
                  </a:lnTo>
                  <a:cubicBezTo>
                    <a:pt x="11165205" y="0"/>
                    <a:pt x="11247120" y="100168"/>
                    <a:pt x="11247120" y="223630"/>
                  </a:cubicBezTo>
                  <a:lnTo>
                    <a:pt x="11247120" y="10063369"/>
                  </a:lnTo>
                  <a:cubicBezTo>
                    <a:pt x="11247120" y="10186832"/>
                    <a:pt x="11165205" y="10287000"/>
                    <a:pt x="11064240" y="10287000"/>
                  </a:cubicBezTo>
                  <a:lnTo>
                    <a:pt x="182880" y="10287000"/>
                  </a:lnTo>
                  <a:cubicBezTo>
                    <a:pt x="81915" y="10287000"/>
                    <a:pt x="0" y="10186832"/>
                    <a:pt x="0" y="10063369"/>
                  </a:cubicBezTo>
                  <a:close/>
                </a:path>
              </a:pathLst>
            </a:custGeom>
            <a:solidFill>
              <a:srgbClr val="051F20"/>
            </a:solidFill>
          </p:spPr>
        </p:sp>
      </p:grpSp>
      <p:grpSp>
        <p:nvGrpSpPr>
          <p:cNvPr name="Group 30" id="30"/>
          <p:cNvGrpSpPr/>
          <p:nvPr/>
        </p:nvGrpSpPr>
        <p:grpSpPr>
          <a:xfrm rot="0">
            <a:off x="9532620" y="2413196"/>
            <a:ext cx="754380" cy="754380"/>
            <a:chOff x="0" y="0"/>
            <a:chExt cx="1005840" cy="1005840"/>
          </a:xfrm>
        </p:grpSpPr>
        <p:sp>
          <p:nvSpPr>
            <p:cNvPr name="Freeform 31" id="31"/>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8EB69B"/>
            </a:solidFill>
          </p:spPr>
        </p:sp>
      </p:grpSp>
      <p:grpSp>
        <p:nvGrpSpPr>
          <p:cNvPr name="Group 32" id="32"/>
          <p:cNvGrpSpPr/>
          <p:nvPr/>
        </p:nvGrpSpPr>
        <p:grpSpPr>
          <a:xfrm rot="0">
            <a:off x="9713671" y="2582454"/>
            <a:ext cx="392278" cy="392278"/>
            <a:chOff x="0" y="0"/>
            <a:chExt cx="523037" cy="523037"/>
          </a:xfrm>
        </p:grpSpPr>
        <p:sp>
          <p:nvSpPr>
            <p:cNvPr name="Freeform 33" id="33" descr="/home/claude/sms-security/icons/warning_dark1.png"/>
            <p:cNvSpPr/>
            <p:nvPr/>
          </p:nvSpPr>
          <p:spPr>
            <a:xfrm flipH="false" flipV="false" rot="0">
              <a:off x="0" y="0"/>
              <a:ext cx="522986" cy="522986"/>
            </a:xfrm>
            <a:custGeom>
              <a:avLst/>
              <a:gdLst/>
              <a:ahLst/>
              <a:cxnLst/>
              <a:rect r="r" b="b" t="t" l="l"/>
              <a:pathLst>
                <a:path h="522986" w="522986">
                  <a:moveTo>
                    <a:pt x="0" y="0"/>
                  </a:moveTo>
                  <a:lnTo>
                    <a:pt x="522986" y="0"/>
                  </a:lnTo>
                  <a:lnTo>
                    <a:pt x="522986" y="522986"/>
                  </a:lnTo>
                  <a:lnTo>
                    <a:pt x="0" y="522986"/>
                  </a:lnTo>
                  <a:lnTo>
                    <a:pt x="0" y="0"/>
                  </a:lnTo>
                  <a:close/>
                </a:path>
              </a:pathLst>
            </a:custGeom>
            <a:blipFill>
              <a:blip r:embed="rId6"/>
              <a:stretch>
                <a:fillRect l="0" t="0" r="-9" b="-9"/>
              </a:stretch>
            </a:blipFill>
          </p:spPr>
        </p:sp>
      </p:grpSp>
      <p:grpSp>
        <p:nvGrpSpPr>
          <p:cNvPr name="Group 34" id="34"/>
          <p:cNvGrpSpPr/>
          <p:nvPr/>
        </p:nvGrpSpPr>
        <p:grpSpPr>
          <a:xfrm rot="0">
            <a:off x="10496550" y="2401402"/>
            <a:ext cx="6172200" cy="754380"/>
            <a:chOff x="0" y="0"/>
            <a:chExt cx="8229600" cy="1005840"/>
          </a:xfrm>
        </p:grpSpPr>
        <p:sp>
          <p:nvSpPr>
            <p:cNvPr name="Freeform 35" id="35"/>
            <p:cNvSpPr/>
            <p:nvPr/>
          </p:nvSpPr>
          <p:spPr>
            <a:xfrm flipH="false" flipV="false" rot="0">
              <a:off x="0" y="0"/>
              <a:ext cx="8229600" cy="1005840"/>
            </a:xfrm>
            <a:custGeom>
              <a:avLst/>
              <a:gdLst/>
              <a:ahLst/>
              <a:cxnLst/>
              <a:rect r="r" b="b" t="t" l="l"/>
              <a:pathLst>
                <a:path h="1005840" w="8229600">
                  <a:moveTo>
                    <a:pt x="0" y="0"/>
                  </a:moveTo>
                  <a:lnTo>
                    <a:pt x="8229600" y="0"/>
                  </a:lnTo>
                  <a:lnTo>
                    <a:pt x="8229600" y="1005840"/>
                  </a:lnTo>
                  <a:lnTo>
                    <a:pt x="0" y="1005840"/>
                  </a:lnTo>
                  <a:close/>
                </a:path>
              </a:pathLst>
            </a:custGeom>
            <a:blipFill>
              <a:blip r:embed="rId4">
                <a:alphaModFix amt="0"/>
              </a:blip>
              <a:stretch>
                <a:fillRect l="0" t="-109423" r="0" b="-109423"/>
              </a:stretch>
            </a:blipFill>
          </p:spPr>
        </p:sp>
        <p:sp>
          <p:nvSpPr>
            <p:cNvPr name="TextBox 36" id="36"/>
            <p:cNvSpPr txBox="true"/>
            <p:nvPr/>
          </p:nvSpPr>
          <p:spPr>
            <a:xfrm>
              <a:off x="0" y="-9525"/>
              <a:ext cx="8229600" cy="1015365"/>
            </a:xfrm>
            <a:prstGeom prst="rect">
              <a:avLst/>
            </a:prstGeom>
          </p:spPr>
          <p:txBody>
            <a:bodyPr anchor="ctr" rtlCol="false" tIns="0" lIns="0" bIns="0" rIns="0"/>
            <a:lstStyle/>
            <a:p>
              <a:pPr algn="l">
                <a:lnSpc>
                  <a:spcPts val="2879"/>
                </a:lnSpc>
              </a:pPr>
              <a:r>
                <a:rPr lang="en-US" sz="2400" b="true">
                  <a:solidFill>
                    <a:srgbClr val="DAF1DE"/>
                  </a:solidFill>
                  <a:latin typeface="Cambria Bold"/>
                  <a:ea typeface="Cambria Bold"/>
                  <a:cs typeface="Cambria Bold"/>
                  <a:sym typeface="Cambria Bold"/>
                </a:rPr>
                <a:t>Riesgos y mitigación</a:t>
              </a:r>
            </a:p>
          </p:txBody>
        </p:sp>
      </p:grpSp>
      <p:grpSp>
        <p:nvGrpSpPr>
          <p:cNvPr name="Group 37" id="37"/>
          <p:cNvGrpSpPr/>
          <p:nvPr/>
        </p:nvGrpSpPr>
        <p:grpSpPr>
          <a:xfrm rot="0">
            <a:off x="9532620" y="3317631"/>
            <a:ext cx="3566160" cy="480060"/>
            <a:chOff x="0" y="0"/>
            <a:chExt cx="4754880" cy="640080"/>
          </a:xfrm>
        </p:grpSpPr>
        <p:sp>
          <p:nvSpPr>
            <p:cNvPr name="Freeform 38" id="38"/>
            <p:cNvSpPr/>
            <p:nvPr/>
          </p:nvSpPr>
          <p:spPr>
            <a:xfrm flipH="false" flipV="false" rot="0">
              <a:off x="0" y="0"/>
              <a:ext cx="4754880" cy="640080"/>
            </a:xfrm>
            <a:custGeom>
              <a:avLst/>
              <a:gdLst/>
              <a:ahLst/>
              <a:cxnLst/>
              <a:rect r="r" b="b" t="t" l="l"/>
              <a:pathLst>
                <a:path h="640080" w="4754880">
                  <a:moveTo>
                    <a:pt x="0" y="0"/>
                  </a:moveTo>
                  <a:lnTo>
                    <a:pt x="4754880" y="0"/>
                  </a:lnTo>
                  <a:lnTo>
                    <a:pt x="4754880" y="640080"/>
                  </a:lnTo>
                  <a:lnTo>
                    <a:pt x="0" y="640080"/>
                  </a:lnTo>
                  <a:close/>
                </a:path>
              </a:pathLst>
            </a:custGeom>
            <a:blipFill>
              <a:blip r:embed="rId4">
                <a:alphaModFix amt="0"/>
              </a:blip>
              <a:stretch>
                <a:fillRect l="0" t="-94745" r="0" b="-94745"/>
              </a:stretch>
            </a:blipFill>
          </p:spPr>
        </p:sp>
        <p:sp>
          <p:nvSpPr>
            <p:cNvPr name="TextBox 39" id="39"/>
            <p:cNvSpPr txBox="true"/>
            <p:nvPr/>
          </p:nvSpPr>
          <p:spPr>
            <a:xfrm>
              <a:off x="0" y="-28575"/>
              <a:ext cx="4754880" cy="668655"/>
            </a:xfrm>
            <a:prstGeom prst="rect">
              <a:avLst/>
            </a:prstGeom>
          </p:spPr>
          <p:txBody>
            <a:bodyPr anchor="ctr" rtlCol="false" tIns="0" lIns="0" bIns="0" rIns="0"/>
            <a:lstStyle/>
            <a:p>
              <a:pPr algn="l">
                <a:lnSpc>
                  <a:spcPts val="1980"/>
                </a:lnSpc>
              </a:pPr>
              <a:r>
                <a:rPr lang="en-US" sz="1650" b="true">
                  <a:solidFill>
                    <a:srgbClr val="8EB69B"/>
                  </a:solidFill>
                  <a:latin typeface="Calibri (MS) Bold"/>
                  <a:ea typeface="Calibri (MS) Bold"/>
                  <a:cs typeface="Calibri (MS) Bold"/>
                  <a:sym typeface="Calibri (MS) Bold"/>
                </a:rPr>
                <a:t>Riesgo</a:t>
              </a:r>
            </a:p>
          </p:txBody>
        </p:sp>
      </p:grpSp>
      <p:grpSp>
        <p:nvGrpSpPr>
          <p:cNvPr name="Group 40" id="40"/>
          <p:cNvGrpSpPr/>
          <p:nvPr/>
        </p:nvGrpSpPr>
        <p:grpSpPr>
          <a:xfrm rot="0">
            <a:off x="13235940" y="3291840"/>
            <a:ext cx="3977640" cy="480060"/>
            <a:chOff x="0" y="0"/>
            <a:chExt cx="5303520" cy="640080"/>
          </a:xfrm>
        </p:grpSpPr>
        <p:sp>
          <p:nvSpPr>
            <p:cNvPr name="Freeform 41" id="41"/>
            <p:cNvSpPr/>
            <p:nvPr/>
          </p:nvSpPr>
          <p:spPr>
            <a:xfrm flipH="false" flipV="false" rot="0">
              <a:off x="0" y="0"/>
              <a:ext cx="5303520" cy="640080"/>
            </a:xfrm>
            <a:custGeom>
              <a:avLst/>
              <a:gdLst/>
              <a:ahLst/>
              <a:cxnLst/>
              <a:rect r="r" b="b" t="t" l="l"/>
              <a:pathLst>
                <a:path h="640080" w="5303520">
                  <a:moveTo>
                    <a:pt x="0" y="0"/>
                  </a:moveTo>
                  <a:lnTo>
                    <a:pt x="5303520" y="0"/>
                  </a:lnTo>
                  <a:lnTo>
                    <a:pt x="5303520" y="640080"/>
                  </a:lnTo>
                  <a:lnTo>
                    <a:pt x="0" y="640080"/>
                  </a:lnTo>
                  <a:close/>
                </a:path>
              </a:pathLst>
            </a:custGeom>
            <a:blipFill>
              <a:blip r:embed="rId4">
                <a:alphaModFix amt="0"/>
              </a:blip>
              <a:stretch>
                <a:fillRect l="0" t="-111447" r="0" b="-111447"/>
              </a:stretch>
            </a:blipFill>
          </p:spPr>
        </p:sp>
        <p:sp>
          <p:nvSpPr>
            <p:cNvPr name="TextBox 42" id="42"/>
            <p:cNvSpPr txBox="true"/>
            <p:nvPr/>
          </p:nvSpPr>
          <p:spPr>
            <a:xfrm>
              <a:off x="0" y="-28575"/>
              <a:ext cx="5303520" cy="668655"/>
            </a:xfrm>
            <a:prstGeom prst="rect">
              <a:avLst/>
            </a:prstGeom>
          </p:spPr>
          <p:txBody>
            <a:bodyPr anchor="ctr" rtlCol="false" tIns="0" lIns="0" bIns="0" rIns="0"/>
            <a:lstStyle/>
            <a:p>
              <a:pPr algn="l">
                <a:lnSpc>
                  <a:spcPts val="1980"/>
                </a:lnSpc>
              </a:pPr>
              <a:r>
                <a:rPr lang="en-US" sz="1650" b="true">
                  <a:solidFill>
                    <a:srgbClr val="8EB69B"/>
                  </a:solidFill>
                  <a:latin typeface="Calibri (MS) Bold"/>
                  <a:ea typeface="Calibri (MS) Bold"/>
                  <a:cs typeface="Calibri (MS) Bold"/>
                  <a:sym typeface="Calibri (MS) Bold"/>
                </a:rPr>
                <a:t>Mitigación</a:t>
              </a:r>
            </a:p>
          </p:txBody>
        </p:sp>
      </p:grpSp>
      <p:grpSp>
        <p:nvGrpSpPr>
          <p:cNvPr name="Group 43" id="43"/>
          <p:cNvGrpSpPr/>
          <p:nvPr/>
        </p:nvGrpSpPr>
        <p:grpSpPr>
          <a:xfrm rot="0">
            <a:off x="9532620" y="3797691"/>
            <a:ext cx="3429000" cy="1779266"/>
            <a:chOff x="0" y="0"/>
            <a:chExt cx="4572000" cy="2372355"/>
          </a:xfrm>
        </p:grpSpPr>
        <p:sp>
          <p:nvSpPr>
            <p:cNvPr name="Freeform 44" id="44"/>
            <p:cNvSpPr/>
            <p:nvPr/>
          </p:nvSpPr>
          <p:spPr>
            <a:xfrm flipH="false" flipV="false" rot="0">
              <a:off x="0" y="0"/>
              <a:ext cx="4572000" cy="2372355"/>
            </a:xfrm>
            <a:custGeom>
              <a:avLst/>
              <a:gdLst/>
              <a:ahLst/>
              <a:cxnLst/>
              <a:rect r="r" b="b" t="t" l="l"/>
              <a:pathLst>
                <a:path h="2372355" w="4572000">
                  <a:moveTo>
                    <a:pt x="0" y="158157"/>
                  </a:moveTo>
                  <a:cubicBezTo>
                    <a:pt x="0" y="70841"/>
                    <a:pt x="49149" y="0"/>
                    <a:pt x="109728" y="0"/>
                  </a:cubicBezTo>
                  <a:lnTo>
                    <a:pt x="4462272" y="0"/>
                  </a:lnTo>
                  <a:cubicBezTo>
                    <a:pt x="4522851" y="0"/>
                    <a:pt x="4572000" y="70841"/>
                    <a:pt x="4572000" y="158157"/>
                  </a:cubicBezTo>
                  <a:lnTo>
                    <a:pt x="4572000" y="2214198"/>
                  </a:lnTo>
                  <a:cubicBezTo>
                    <a:pt x="4572000" y="2301514"/>
                    <a:pt x="4522851" y="2372355"/>
                    <a:pt x="4462272" y="2372355"/>
                  </a:cubicBezTo>
                  <a:lnTo>
                    <a:pt x="109728" y="2372355"/>
                  </a:lnTo>
                  <a:cubicBezTo>
                    <a:pt x="49149" y="2372355"/>
                    <a:pt x="0" y="2301514"/>
                    <a:pt x="0" y="2214198"/>
                  </a:cubicBezTo>
                  <a:close/>
                </a:path>
              </a:pathLst>
            </a:custGeom>
            <a:solidFill>
              <a:srgbClr val="0B2B26"/>
            </a:solidFill>
          </p:spPr>
        </p:sp>
      </p:grpSp>
      <p:grpSp>
        <p:nvGrpSpPr>
          <p:cNvPr name="Group 45" id="45"/>
          <p:cNvGrpSpPr/>
          <p:nvPr/>
        </p:nvGrpSpPr>
        <p:grpSpPr>
          <a:xfrm rot="0">
            <a:off x="9738360" y="3826266"/>
            <a:ext cx="3017520" cy="1674149"/>
            <a:chOff x="0" y="0"/>
            <a:chExt cx="4023360" cy="2232199"/>
          </a:xfrm>
        </p:grpSpPr>
        <p:sp>
          <p:nvSpPr>
            <p:cNvPr name="Freeform 46" id="46"/>
            <p:cNvSpPr/>
            <p:nvPr/>
          </p:nvSpPr>
          <p:spPr>
            <a:xfrm flipH="false" flipV="false" rot="0">
              <a:off x="0" y="0"/>
              <a:ext cx="4023360" cy="2232199"/>
            </a:xfrm>
            <a:custGeom>
              <a:avLst/>
              <a:gdLst/>
              <a:ahLst/>
              <a:cxnLst/>
              <a:rect r="r" b="b" t="t" l="l"/>
              <a:pathLst>
                <a:path h="2232199" w="4023360">
                  <a:moveTo>
                    <a:pt x="0" y="0"/>
                  </a:moveTo>
                  <a:lnTo>
                    <a:pt x="4023360" y="0"/>
                  </a:lnTo>
                  <a:lnTo>
                    <a:pt x="4023360" y="2232199"/>
                  </a:lnTo>
                  <a:lnTo>
                    <a:pt x="0" y="2232199"/>
                  </a:lnTo>
                  <a:close/>
                </a:path>
              </a:pathLst>
            </a:custGeom>
            <a:blipFill>
              <a:blip r:embed="rId4">
                <a:alphaModFix amt="0"/>
              </a:blip>
              <a:stretch>
                <a:fillRect l="-2487" t="0" r="-2487" b="26264"/>
              </a:stretch>
            </a:blipFill>
          </p:spPr>
        </p:sp>
        <p:sp>
          <p:nvSpPr>
            <p:cNvPr name="TextBox 47" id="47"/>
            <p:cNvSpPr txBox="true"/>
            <p:nvPr/>
          </p:nvSpPr>
          <p:spPr>
            <a:xfrm>
              <a:off x="0" y="-38100"/>
              <a:ext cx="4023360" cy="2270299"/>
            </a:xfrm>
            <a:prstGeom prst="rect">
              <a:avLst/>
            </a:prstGeom>
          </p:spPr>
          <p:txBody>
            <a:bodyPr anchor="ctr" rtlCol="false" tIns="0" lIns="0" bIns="0" rIns="0"/>
            <a:lstStyle/>
            <a:p>
              <a:pPr algn="l">
                <a:lnSpc>
                  <a:spcPts val="1800"/>
                </a:lnSpc>
              </a:pPr>
              <a:r>
                <a:rPr lang="en-US" sz="1500" i="true">
                  <a:solidFill>
                    <a:srgbClr val="7A9E8E"/>
                  </a:solidFill>
                  <a:latin typeface="Calibri (MS) Italics"/>
                  <a:ea typeface="Calibri (MS) Italics"/>
                  <a:cs typeface="Calibri (MS) Italics"/>
                  <a:sym typeface="Calibri (MS) Italics"/>
                </a:rPr>
                <a:t>Bloqueo técnico por políticas de privacidad en iOS. El sistema operativo de Apple restringe que aplicaciones externas lean o analicen los mensajes SMS, imposibilita el funcionamiento central de la aplicación en esta plataforma.</a:t>
              </a:r>
            </a:p>
          </p:txBody>
        </p:sp>
      </p:grpSp>
      <p:grpSp>
        <p:nvGrpSpPr>
          <p:cNvPr name="Group 48" id="48"/>
          <p:cNvGrpSpPr/>
          <p:nvPr/>
        </p:nvGrpSpPr>
        <p:grpSpPr>
          <a:xfrm rot="0">
            <a:off x="13235940" y="3851275"/>
            <a:ext cx="3977640" cy="1725682"/>
            <a:chOff x="0" y="0"/>
            <a:chExt cx="5303520" cy="2300909"/>
          </a:xfrm>
        </p:grpSpPr>
        <p:sp>
          <p:nvSpPr>
            <p:cNvPr name="Freeform 49" id="49"/>
            <p:cNvSpPr/>
            <p:nvPr/>
          </p:nvSpPr>
          <p:spPr>
            <a:xfrm flipH="false" flipV="false" rot="0">
              <a:off x="0" y="0"/>
              <a:ext cx="5303520" cy="2300909"/>
            </a:xfrm>
            <a:custGeom>
              <a:avLst/>
              <a:gdLst/>
              <a:ahLst/>
              <a:cxnLst/>
              <a:rect r="r" b="b" t="t" l="l"/>
              <a:pathLst>
                <a:path h="2300909" w="5303520">
                  <a:moveTo>
                    <a:pt x="0" y="153394"/>
                  </a:moveTo>
                  <a:cubicBezTo>
                    <a:pt x="0" y="68708"/>
                    <a:pt x="49149" y="0"/>
                    <a:pt x="109728" y="0"/>
                  </a:cubicBezTo>
                  <a:lnTo>
                    <a:pt x="5193792" y="0"/>
                  </a:lnTo>
                  <a:cubicBezTo>
                    <a:pt x="5254371" y="0"/>
                    <a:pt x="5303520" y="68708"/>
                    <a:pt x="5303520" y="153394"/>
                  </a:cubicBezTo>
                  <a:lnTo>
                    <a:pt x="5303520" y="2147515"/>
                  </a:lnTo>
                  <a:cubicBezTo>
                    <a:pt x="5303520" y="2232201"/>
                    <a:pt x="5254371" y="2300909"/>
                    <a:pt x="5193792" y="2300909"/>
                  </a:cubicBezTo>
                  <a:lnTo>
                    <a:pt x="109728" y="2300909"/>
                  </a:lnTo>
                  <a:cubicBezTo>
                    <a:pt x="49149" y="2300909"/>
                    <a:pt x="0" y="2232201"/>
                    <a:pt x="0" y="2147515"/>
                  </a:cubicBezTo>
                  <a:close/>
                </a:path>
              </a:pathLst>
            </a:custGeom>
            <a:solidFill>
              <a:srgbClr val="0B2B26"/>
            </a:solidFill>
          </p:spPr>
        </p:sp>
      </p:grpSp>
      <p:grpSp>
        <p:nvGrpSpPr>
          <p:cNvPr name="Group 50" id="50"/>
          <p:cNvGrpSpPr/>
          <p:nvPr/>
        </p:nvGrpSpPr>
        <p:grpSpPr>
          <a:xfrm rot="0">
            <a:off x="13441680" y="4161542"/>
            <a:ext cx="3566160" cy="1234440"/>
            <a:chOff x="0" y="0"/>
            <a:chExt cx="4754880" cy="1645920"/>
          </a:xfrm>
        </p:grpSpPr>
        <p:sp>
          <p:nvSpPr>
            <p:cNvPr name="Freeform 51" id="51"/>
            <p:cNvSpPr/>
            <p:nvPr/>
          </p:nvSpPr>
          <p:spPr>
            <a:xfrm flipH="false" flipV="false" rot="0">
              <a:off x="0" y="0"/>
              <a:ext cx="4754880" cy="1645920"/>
            </a:xfrm>
            <a:custGeom>
              <a:avLst/>
              <a:gdLst/>
              <a:ahLst/>
              <a:cxnLst/>
              <a:rect r="r" b="b" t="t" l="l"/>
              <a:pathLst>
                <a:path h="1645920" w="4754880">
                  <a:moveTo>
                    <a:pt x="0" y="0"/>
                  </a:moveTo>
                  <a:lnTo>
                    <a:pt x="4754880" y="0"/>
                  </a:lnTo>
                  <a:lnTo>
                    <a:pt x="4754880" y="1645920"/>
                  </a:lnTo>
                  <a:lnTo>
                    <a:pt x="0" y="1645920"/>
                  </a:lnTo>
                  <a:close/>
                </a:path>
              </a:pathLst>
            </a:custGeom>
            <a:blipFill>
              <a:blip r:embed="rId4">
                <a:alphaModFix amt="0"/>
              </a:blip>
              <a:stretch>
                <a:fillRect l="0" t="-6290" r="0" b="-6290"/>
              </a:stretch>
            </a:blipFill>
          </p:spPr>
        </p:sp>
        <p:sp>
          <p:nvSpPr>
            <p:cNvPr name="TextBox 52" id="52"/>
            <p:cNvSpPr txBox="true"/>
            <p:nvPr/>
          </p:nvSpPr>
          <p:spPr>
            <a:xfrm>
              <a:off x="0" y="-38100"/>
              <a:ext cx="4754880" cy="1684020"/>
            </a:xfrm>
            <a:prstGeom prst="rect">
              <a:avLst/>
            </a:prstGeom>
          </p:spPr>
          <p:txBody>
            <a:bodyPr anchor="ctr" rtlCol="false" tIns="0" lIns="0" bIns="0" rIns="0"/>
            <a:lstStyle/>
            <a:p>
              <a:pPr algn="l">
                <a:lnSpc>
                  <a:spcPts val="1800"/>
                </a:lnSpc>
              </a:pPr>
              <a:r>
                <a:rPr lang="en-US" sz="1500" i="true">
                  <a:solidFill>
                    <a:srgbClr val="7A9E8E"/>
                  </a:solidFill>
                  <a:latin typeface="Calibri (MS) Italics"/>
                  <a:ea typeface="Calibri (MS) Italics"/>
                  <a:cs typeface="Calibri (MS) Italics"/>
                  <a:sym typeface="Calibri (MS) Italics"/>
                </a:rPr>
                <a:t>Delimitar el alcance del proyecto enfocando el desarrollo y despliegue exclusivamente para el sistema operativo Android. La integración con iOS quedará documentada y planificada formalmente como trabajo futuro.</a:t>
              </a:r>
            </a:p>
          </p:txBody>
        </p:sp>
      </p:grpSp>
      <p:grpSp>
        <p:nvGrpSpPr>
          <p:cNvPr name="Group 53" id="53"/>
          <p:cNvGrpSpPr/>
          <p:nvPr/>
        </p:nvGrpSpPr>
        <p:grpSpPr>
          <a:xfrm rot="0">
            <a:off x="9532620" y="5786507"/>
            <a:ext cx="3429000" cy="1704629"/>
            <a:chOff x="0" y="0"/>
            <a:chExt cx="4572000" cy="2272839"/>
          </a:xfrm>
        </p:grpSpPr>
        <p:sp>
          <p:nvSpPr>
            <p:cNvPr name="Freeform 54" id="54"/>
            <p:cNvSpPr/>
            <p:nvPr/>
          </p:nvSpPr>
          <p:spPr>
            <a:xfrm flipH="false" flipV="false" rot="0">
              <a:off x="0" y="0"/>
              <a:ext cx="4572000" cy="2272839"/>
            </a:xfrm>
            <a:custGeom>
              <a:avLst/>
              <a:gdLst/>
              <a:ahLst/>
              <a:cxnLst/>
              <a:rect r="r" b="b" t="t" l="l"/>
              <a:pathLst>
                <a:path h="2272839" w="4572000">
                  <a:moveTo>
                    <a:pt x="0" y="151523"/>
                  </a:moveTo>
                  <a:cubicBezTo>
                    <a:pt x="0" y="67869"/>
                    <a:pt x="49149" y="0"/>
                    <a:pt x="109728" y="0"/>
                  </a:cubicBezTo>
                  <a:lnTo>
                    <a:pt x="4462272" y="0"/>
                  </a:lnTo>
                  <a:cubicBezTo>
                    <a:pt x="4522851" y="0"/>
                    <a:pt x="4572000" y="67869"/>
                    <a:pt x="4572000" y="151523"/>
                  </a:cubicBezTo>
                  <a:lnTo>
                    <a:pt x="4572000" y="2121316"/>
                  </a:lnTo>
                  <a:cubicBezTo>
                    <a:pt x="4572000" y="2204969"/>
                    <a:pt x="4522851" y="2272839"/>
                    <a:pt x="4462272" y="2272839"/>
                  </a:cubicBezTo>
                  <a:lnTo>
                    <a:pt x="109728" y="2272839"/>
                  </a:lnTo>
                  <a:cubicBezTo>
                    <a:pt x="49149" y="2272839"/>
                    <a:pt x="0" y="2204969"/>
                    <a:pt x="0" y="2121316"/>
                  </a:cubicBezTo>
                  <a:close/>
                </a:path>
              </a:pathLst>
            </a:custGeom>
            <a:solidFill>
              <a:srgbClr val="0B2B26"/>
            </a:solidFill>
          </p:spPr>
        </p:sp>
      </p:grpSp>
      <p:grpSp>
        <p:nvGrpSpPr>
          <p:cNvPr name="Group 55" id="55"/>
          <p:cNvGrpSpPr/>
          <p:nvPr/>
        </p:nvGrpSpPr>
        <p:grpSpPr>
          <a:xfrm rot="0">
            <a:off x="9713671" y="5786507"/>
            <a:ext cx="3017520" cy="1674149"/>
            <a:chOff x="0" y="0"/>
            <a:chExt cx="4023360" cy="2232199"/>
          </a:xfrm>
        </p:grpSpPr>
        <p:sp>
          <p:nvSpPr>
            <p:cNvPr name="Freeform 56" id="56"/>
            <p:cNvSpPr/>
            <p:nvPr/>
          </p:nvSpPr>
          <p:spPr>
            <a:xfrm flipH="false" flipV="false" rot="0">
              <a:off x="0" y="0"/>
              <a:ext cx="4023360" cy="2232199"/>
            </a:xfrm>
            <a:custGeom>
              <a:avLst/>
              <a:gdLst/>
              <a:ahLst/>
              <a:cxnLst/>
              <a:rect r="r" b="b" t="t" l="l"/>
              <a:pathLst>
                <a:path h="2232199" w="4023360">
                  <a:moveTo>
                    <a:pt x="0" y="0"/>
                  </a:moveTo>
                  <a:lnTo>
                    <a:pt x="4023360" y="0"/>
                  </a:lnTo>
                  <a:lnTo>
                    <a:pt x="4023360" y="2232199"/>
                  </a:lnTo>
                  <a:lnTo>
                    <a:pt x="0" y="2232199"/>
                  </a:lnTo>
                  <a:close/>
                </a:path>
              </a:pathLst>
            </a:custGeom>
            <a:blipFill>
              <a:blip r:embed="rId4">
                <a:alphaModFix amt="0"/>
              </a:blip>
              <a:stretch>
                <a:fillRect l="-2487" t="0" r="-2487" b="26264"/>
              </a:stretch>
            </a:blipFill>
          </p:spPr>
        </p:sp>
        <p:sp>
          <p:nvSpPr>
            <p:cNvPr name="TextBox 57" id="57"/>
            <p:cNvSpPr txBox="true"/>
            <p:nvPr/>
          </p:nvSpPr>
          <p:spPr>
            <a:xfrm>
              <a:off x="0" y="-38100"/>
              <a:ext cx="4023360" cy="2270299"/>
            </a:xfrm>
            <a:prstGeom prst="rect">
              <a:avLst/>
            </a:prstGeom>
          </p:spPr>
          <p:txBody>
            <a:bodyPr anchor="ctr" rtlCol="false" tIns="0" lIns="0" bIns="0" rIns="0"/>
            <a:lstStyle/>
            <a:p>
              <a:pPr algn="l">
                <a:lnSpc>
                  <a:spcPts val="1800"/>
                </a:lnSpc>
              </a:pPr>
              <a:r>
                <a:rPr lang="en-US" sz="1500" i="true">
                  <a:solidFill>
                    <a:srgbClr val="7A9E8E"/>
                  </a:solidFill>
                  <a:latin typeface="Calibri (MS) Italics"/>
                  <a:ea typeface="Calibri (MS) Italics"/>
                  <a:cs typeface="Calibri (MS) Italics"/>
                  <a:sym typeface="Calibri (MS) Italics"/>
                </a:rPr>
                <a:t>Agotamiento de cuota en servicios de terceros (APIs). La versión gratuita de la API de VirusTotal tiene un límite estricto de uso (4 solicitudes por minuto y 500 al día), lo que podría paralizar el análisis de enlaces si hay un alto flujo de mensajes.</a:t>
              </a:r>
            </a:p>
          </p:txBody>
        </p:sp>
      </p:grpSp>
      <p:grpSp>
        <p:nvGrpSpPr>
          <p:cNvPr name="Group 58" id="58"/>
          <p:cNvGrpSpPr/>
          <p:nvPr/>
        </p:nvGrpSpPr>
        <p:grpSpPr>
          <a:xfrm rot="0">
            <a:off x="13145966" y="5786507"/>
            <a:ext cx="3977640" cy="1674149"/>
            <a:chOff x="0" y="0"/>
            <a:chExt cx="5303520" cy="2232199"/>
          </a:xfrm>
        </p:grpSpPr>
        <p:sp>
          <p:nvSpPr>
            <p:cNvPr name="Freeform 59" id="59"/>
            <p:cNvSpPr/>
            <p:nvPr/>
          </p:nvSpPr>
          <p:spPr>
            <a:xfrm flipH="false" flipV="false" rot="0">
              <a:off x="0" y="0"/>
              <a:ext cx="5303520" cy="2232199"/>
            </a:xfrm>
            <a:custGeom>
              <a:avLst/>
              <a:gdLst/>
              <a:ahLst/>
              <a:cxnLst/>
              <a:rect r="r" b="b" t="t" l="l"/>
              <a:pathLst>
                <a:path h="2232199" w="5303520">
                  <a:moveTo>
                    <a:pt x="0" y="148813"/>
                  </a:moveTo>
                  <a:cubicBezTo>
                    <a:pt x="0" y="66656"/>
                    <a:pt x="49149" y="0"/>
                    <a:pt x="109728" y="0"/>
                  </a:cubicBezTo>
                  <a:lnTo>
                    <a:pt x="5193792" y="0"/>
                  </a:lnTo>
                  <a:cubicBezTo>
                    <a:pt x="5254371" y="0"/>
                    <a:pt x="5303520" y="66656"/>
                    <a:pt x="5303520" y="148813"/>
                  </a:cubicBezTo>
                  <a:lnTo>
                    <a:pt x="5303520" y="2083385"/>
                  </a:lnTo>
                  <a:cubicBezTo>
                    <a:pt x="5303520" y="2165543"/>
                    <a:pt x="5254371" y="2232199"/>
                    <a:pt x="5193792" y="2232199"/>
                  </a:cubicBezTo>
                  <a:lnTo>
                    <a:pt x="109728" y="2232199"/>
                  </a:lnTo>
                  <a:cubicBezTo>
                    <a:pt x="49149" y="2232199"/>
                    <a:pt x="0" y="2165543"/>
                    <a:pt x="0" y="2083385"/>
                  </a:cubicBezTo>
                  <a:close/>
                </a:path>
              </a:pathLst>
            </a:custGeom>
            <a:solidFill>
              <a:srgbClr val="0B2B26"/>
            </a:solidFill>
          </p:spPr>
        </p:sp>
      </p:grpSp>
      <p:grpSp>
        <p:nvGrpSpPr>
          <p:cNvPr name="Group 60" id="60"/>
          <p:cNvGrpSpPr/>
          <p:nvPr/>
        </p:nvGrpSpPr>
        <p:grpSpPr>
          <a:xfrm rot="0">
            <a:off x="13338810" y="5916047"/>
            <a:ext cx="3566160" cy="1445549"/>
            <a:chOff x="0" y="0"/>
            <a:chExt cx="4754880" cy="1927399"/>
          </a:xfrm>
        </p:grpSpPr>
        <p:sp>
          <p:nvSpPr>
            <p:cNvPr name="Freeform 61" id="61"/>
            <p:cNvSpPr/>
            <p:nvPr/>
          </p:nvSpPr>
          <p:spPr>
            <a:xfrm flipH="false" flipV="false" rot="0">
              <a:off x="0" y="0"/>
              <a:ext cx="4754880" cy="1927399"/>
            </a:xfrm>
            <a:custGeom>
              <a:avLst/>
              <a:gdLst/>
              <a:ahLst/>
              <a:cxnLst/>
              <a:rect r="r" b="b" t="t" l="l"/>
              <a:pathLst>
                <a:path h="1927399" w="4754880">
                  <a:moveTo>
                    <a:pt x="0" y="0"/>
                  </a:moveTo>
                  <a:lnTo>
                    <a:pt x="4754880" y="0"/>
                  </a:lnTo>
                  <a:lnTo>
                    <a:pt x="4754880" y="1927399"/>
                  </a:lnTo>
                  <a:lnTo>
                    <a:pt x="0" y="1927399"/>
                  </a:lnTo>
                  <a:close/>
                </a:path>
              </a:pathLst>
            </a:custGeom>
            <a:blipFill>
              <a:blip r:embed="rId4">
                <a:alphaModFix amt="0"/>
              </a:blip>
              <a:stretch>
                <a:fillRect l="0" t="-5371" r="0" b="9232"/>
              </a:stretch>
            </a:blipFill>
          </p:spPr>
        </p:sp>
        <p:sp>
          <p:nvSpPr>
            <p:cNvPr name="TextBox 62" id="62"/>
            <p:cNvSpPr txBox="true"/>
            <p:nvPr/>
          </p:nvSpPr>
          <p:spPr>
            <a:xfrm>
              <a:off x="0" y="-38100"/>
              <a:ext cx="4754880" cy="1965499"/>
            </a:xfrm>
            <a:prstGeom prst="rect">
              <a:avLst/>
            </a:prstGeom>
          </p:spPr>
          <p:txBody>
            <a:bodyPr anchor="ctr" rtlCol="false" tIns="0" lIns="0" bIns="0" rIns="0"/>
            <a:lstStyle/>
            <a:p>
              <a:pPr algn="l">
                <a:lnSpc>
                  <a:spcPts val="1800"/>
                </a:lnSpc>
              </a:pPr>
              <a:r>
                <a:rPr lang="en-US" sz="1500" i="true">
                  <a:solidFill>
                    <a:srgbClr val="7A9E8E"/>
                  </a:solidFill>
                  <a:latin typeface="Calibri (MS) Italics"/>
                  <a:ea typeface="Calibri (MS) Italics"/>
                  <a:cs typeface="Calibri (MS) Italics"/>
                  <a:sym typeface="Calibri (MS) Italics"/>
                </a:rPr>
                <a:t>Implementar un sistema de caché en el backend. Al almacenar los resultados de dominios y enlaces previamente analizados, se evitan peticiones repetidas a la API de VirusTotal, optimizando la cuota gratuita y mejorando el tiempo de respuesta.</a:t>
              </a:r>
            </a:p>
          </p:txBody>
        </p:sp>
      </p:grpSp>
      <p:grpSp>
        <p:nvGrpSpPr>
          <p:cNvPr name="Group 63" id="63"/>
          <p:cNvGrpSpPr/>
          <p:nvPr/>
        </p:nvGrpSpPr>
        <p:grpSpPr>
          <a:xfrm rot="0">
            <a:off x="9532620" y="7700686"/>
            <a:ext cx="3429000" cy="1772387"/>
            <a:chOff x="0" y="0"/>
            <a:chExt cx="4572000" cy="2363182"/>
          </a:xfrm>
        </p:grpSpPr>
        <p:sp>
          <p:nvSpPr>
            <p:cNvPr name="Freeform 64" id="64"/>
            <p:cNvSpPr/>
            <p:nvPr/>
          </p:nvSpPr>
          <p:spPr>
            <a:xfrm flipH="false" flipV="false" rot="0">
              <a:off x="0" y="0"/>
              <a:ext cx="4572000" cy="2363182"/>
            </a:xfrm>
            <a:custGeom>
              <a:avLst/>
              <a:gdLst/>
              <a:ahLst/>
              <a:cxnLst/>
              <a:rect r="r" b="b" t="t" l="l"/>
              <a:pathLst>
                <a:path h="2363182" w="4572000">
                  <a:moveTo>
                    <a:pt x="0" y="157546"/>
                  </a:moveTo>
                  <a:cubicBezTo>
                    <a:pt x="0" y="70567"/>
                    <a:pt x="49149" y="0"/>
                    <a:pt x="109728" y="0"/>
                  </a:cubicBezTo>
                  <a:lnTo>
                    <a:pt x="4462272" y="0"/>
                  </a:lnTo>
                  <a:cubicBezTo>
                    <a:pt x="4522851" y="0"/>
                    <a:pt x="4572000" y="70567"/>
                    <a:pt x="4572000" y="157546"/>
                  </a:cubicBezTo>
                  <a:lnTo>
                    <a:pt x="4572000" y="2205637"/>
                  </a:lnTo>
                  <a:cubicBezTo>
                    <a:pt x="4572000" y="2292615"/>
                    <a:pt x="4522851" y="2363182"/>
                    <a:pt x="4462272" y="2363182"/>
                  </a:cubicBezTo>
                  <a:lnTo>
                    <a:pt x="109728" y="2363182"/>
                  </a:lnTo>
                  <a:cubicBezTo>
                    <a:pt x="49149" y="2363182"/>
                    <a:pt x="0" y="2292615"/>
                    <a:pt x="0" y="2205637"/>
                  </a:cubicBezTo>
                  <a:close/>
                </a:path>
              </a:pathLst>
            </a:custGeom>
            <a:solidFill>
              <a:srgbClr val="0B2B26"/>
            </a:solidFill>
          </p:spPr>
        </p:sp>
      </p:grpSp>
      <p:grpSp>
        <p:nvGrpSpPr>
          <p:cNvPr name="Group 65" id="65"/>
          <p:cNvGrpSpPr/>
          <p:nvPr/>
        </p:nvGrpSpPr>
        <p:grpSpPr>
          <a:xfrm rot="0">
            <a:off x="9738360" y="7798924"/>
            <a:ext cx="3017520" cy="1674149"/>
            <a:chOff x="0" y="0"/>
            <a:chExt cx="4023360" cy="2232199"/>
          </a:xfrm>
        </p:grpSpPr>
        <p:sp>
          <p:nvSpPr>
            <p:cNvPr name="Freeform 66" id="66"/>
            <p:cNvSpPr/>
            <p:nvPr/>
          </p:nvSpPr>
          <p:spPr>
            <a:xfrm flipH="false" flipV="false" rot="0">
              <a:off x="0" y="0"/>
              <a:ext cx="4023360" cy="2232199"/>
            </a:xfrm>
            <a:custGeom>
              <a:avLst/>
              <a:gdLst/>
              <a:ahLst/>
              <a:cxnLst/>
              <a:rect r="r" b="b" t="t" l="l"/>
              <a:pathLst>
                <a:path h="2232199" w="4023360">
                  <a:moveTo>
                    <a:pt x="0" y="0"/>
                  </a:moveTo>
                  <a:lnTo>
                    <a:pt x="4023360" y="0"/>
                  </a:lnTo>
                  <a:lnTo>
                    <a:pt x="4023360" y="2232199"/>
                  </a:lnTo>
                  <a:lnTo>
                    <a:pt x="0" y="2232199"/>
                  </a:lnTo>
                  <a:close/>
                </a:path>
              </a:pathLst>
            </a:custGeom>
            <a:blipFill>
              <a:blip r:embed="rId4">
                <a:alphaModFix amt="0"/>
              </a:blip>
              <a:stretch>
                <a:fillRect l="-2487" t="0" r="-2487" b="26264"/>
              </a:stretch>
            </a:blipFill>
          </p:spPr>
        </p:sp>
        <p:sp>
          <p:nvSpPr>
            <p:cNvPr name="TextBox 67" id="67"/>
            <p:cNvSpPr txBox="true"/>
            <p:nvPr/>
          </p:nvSpPr>
          <p:spPr>
            <a:xfrm>
              <a:off x="0" y="-38100"/>
              <a:ext cx="4023360" cy="2270299"/>
            </a:xfrm>
            <a:prstGeom prst="rect">
              <a:avLst/>
            </a:prstGeom>
          </p:spPr>
          <p:txBody>
            <a:bodyPr anchor="ctr" rtlCol="false" tIns="0" lIns="0" bIns="0" rIns="0"/>
            <a:lstStyle/>
            <a:p>
              <a:pPr algn="l">
                <a:lnSpc>
                  <a:spcPts val="1800"/>
                </a:lnSpc>
              </a:pPr>
              <a:r>
                <a:rPr lang="en-US" sz="1500" i="true">
                  <a:solidFill>
                    <a:srgbClr val="7A9E8E"/>
                  </a:solidFill>
                  <a:latin typeface="Calibri (MS) Italics"/>
                  <a:ea typeface="Calibri (MS) Italics"/>
                  <a:cs typeface="Calibri (MS) Italics"/>
                  <a:sym typeface="Calibri (MS) Italics"/>
                </a:rPr>
                <a:t>Disponibilidad de tiempo limitada ante imprevistos. Dado que el equipo se encuentra en Práctica Profesional gran parte de la semana, cualquier retraso técnico podría consumir rápidamente las horas designadas para el proyecto Capstone.</a:t>
              </a:r>
            </a:p>
          </p:txBody>
        </p:sp>
      </p:grpSp>
      <p:grpSp>
        <p:nvGrpSpPr>
          <p:cNvPr name="Group 68" id="68"/>
          <p:cNvGrpSpPr/>
          <p:nvPr/>
        </p:nvGrpSpPr>
        <p:grpSpPr>
          <a:xfrm rot="0">
            <a:off x="13235940" y="7749805"/>
            <a:ext cx="3977640" cy="1772387"/>
            <a:chOff x="0" y="0"/>
            <a:chExt cx="5303520" cy="2363182"/>
          </a:xfrm>
        </p:grpSpPr>
        <p:sp>
          <p:nvSpPr>
            <p:cNvPr name="Freeform 69" id="69"/>
            <p:cNvSpPr/>
            <p:nvPr/>
          </p:nvSpPr>
          <p:spPr>
            <a:xfrm flipH="false" flipV="false" rot="0">
              <a:off x="0" y="0"/>
              <a:ext cx="5303520" cy="2363182"/>
            </a:xfrm>
            <a:custGeom>
              <a:avLst/>
              <a:gdLst/>
              <a:ahLst/>
              <a:cxnLst/>
              <a:rect r="r" b="b" t="t" l="l"/>
              <a:pathLst>
                <a:path h="2363182" w="5303520">
                  <a:moveTo>
                    <a:pt x="0" y="157546"/>
                  </a:moveTo>
                  <a:cubicBezTo>
                    <a:pt x="0" y="70567"/>
                    <a:pt x="49149" y="0"/>
                    <a:pt x="109728" y="0"/>
                  </a:cubicBezTo>
                  <a:lnTo>
                    <a:pt x="5193792" y="0"/>
                  </a:lnTo>
                  <a:cubicBezTo>
                    <a:pt x="5254371" y="0"/>
                    <a:pt x="5303520" y="70567"/>
                    <a:pt x="5303520" y="157546"/>
                  </a:cubicBezTo>
                  <a:lnTo>
                    <a:pt x="5303520" y="2205637"/>
                  </a:lnTo>
                  <a:cubicBezTo>
                    <a:pt x="5303520" y="2292615"/>
                    <a:pt x="5254371" y="2363182"/>
                    <a:pt x="5193792" y="2363182"/>
                  </a:cubicBezTo>
                  <a:lnTo>
                    <a:pt x="109728" y="2363182"/>
                  </a:lnTo>
                  <a:cubicBezTo>
                    <a:pt x="49149" y="2363182"/>
                    <a:pt x="0" y="2292615"/>
                    <a:pt x="0" y="2205637"/>
                  </a:cubicBezTo>
                  <a:close/>
                </a:path>
              </a:pathLst>
            </a:custGeom>
            <a:solidFill>
              <a:srgbClr val="0B2B26"/>
            </a:solidFill>
          </p:spPr>
        </p:sp>
      </p:grpSp>
      <p:grpSp>
        <p:nvGrpSpPr>
          <p:cNvPr name="Group 70" id="70"/>
          <p:cNvGrpSpPr/>
          <p:nvPr/>
        </p:nvGrpSpPr>
        <p:grpSpPr>
          <a:xfrm rot="0">
            <a:off x="13351706" y="7759403"/>
            <a:ext cx="3566160" cy="1674149"/>
            <a:chOff x="0" y="0"/>
            <a:chExt cx="4754880" cy="2232199"/>
          </a:xfrm>
        </p:grpSpPr>
        <p:sp>
          <p:nvSpPr>
            <p:cNvPr name="Freeform 71" id="71"/>
            <p:cNvSpPr/>
            <p:nvPr/>
          </p:nvSpPr>
          <p:spPr>
            <a:xfrm flipH="false" flipV="false" rot="0">
              <a:off x="0" y="0"/>
              <a:ext cx="4754880" cy="2232199"/>
            </a:xfrm>
            <a:custGeom>
              <a:avLst/>
              <a:gdLst/>
              <a:ahLst/>
              <a:cxnLst/>
              <a:rect r="r" b="b" t="t" l="l"/>
              <a:pathLst>
                <a:path h="2232199" w="4754880">
                  <a:moveTo>
                    <a:pt x="0" y="0"/>
                  </a:moveTo>
                  <a:lnTo>
                    <a:pt x="4754880" y="0"/>
                  </a:lnTo>
                  <a:lnTo>
                    <a:pt x="4754880" y="2232199"/>
                  </a:lnTo>
                  <a:lnTo>
                    <a:pt x="0" y="2232199"/>
                  </a:lnTo>
                  <a:close/>
                </a:path>
              </a:pathLst>
            </a:custGeom>
            <a:blipFill>
              <a:blip r:embed="rId4">
                <a:alphaModFix amt="0"/>
              </a:blip>
              <a:stretch>
                <a:fillRect l="0" t="-4638" r="0" b="21626"/>
              </a:stretch>
            </a:blipFill>
          </p:spPr>
        </p:sp>
        <p:sp>
          <p:nvSpPr>
            <p:cNvPr name="TextBox 72" id="72"/>
            <p:cNvSpPr txBox="true"/>
            <p:nvPr/>
          </p:nvSpPr>
          <p:spPr>
            <a:xfrm>
              <a:off x="0" y="-38100"/>
              <a:ext cx="4754880" cy="2270299"/>
            </a:xfrm>
            <a:prstGeom prst="rect">
              <a:avLst/>
            </a:prstGeom>
          </p:spPr>
          <p:txBody>
            <a:bodyPr anchor="ctr" rtlCol="false" tIns="0" lIns="0" bIns="0" rIns="0"/>
            <a:lstStyle/>
            <a:p>
              <a:pPr algn="l">
                <a:lnSpc>
                  <a:spcPts val="1800"/>
                </a:lnSpc>
              </a:pPr>
              <a:r>
                <a:rPr lang="en-US" sz="1500" i="true">
                  <a:solidFill>
                    <a:srgbClr val="7A9E8E"/>
                  </a:solidFill>
                  <a:latin typeface="Calibri (MS) Italics"/>
                  <a:ea typeface="Calibri (MS) Italics"/>
                  <a:cs typeface="Calibri (MS) Italics"/>
                  <a:sym typeface="Calibri (MS) Italics"/>
                </a:rPr>
                <a:t>Aprovechar al máximo la curva de aprendizaje nula en React y FastAPI para acelerar el desarrollo durante las horas de clase, y establecer un sistema de trabajo flexible y asíncrono para las horas adicionales que permita avanzar en el código sin comprometer el descanso del equipo.</a:t>
              </a:r>
            </a:p>
          </p:txBody>
        </p:sp>
      </p:grpSp>
      <p:grpSp>
        <p:nvGrpSpPr>
          <p:cNvPr name="Group 73" id="73"/>
          <p:cNvGrpSpPr/>
          <p:nvPr/>
        </p:nvGrpSpPr>
        <p:grpSpPr>
          <a:xfrm rot="0">
            <a:off x="17053103" y="9601200"/>
            <a:ext cx="822960" cy="480060"/>
            <a:chOff x="0" y="0"/>
            <a:chExt cx="1097280" cy="640080"/>
          </a:xfrm>
        </p:grpSpPr>
        <p:sp>
          <p:nvSpPr>
            <p:cNvPr name="Freeform 74" id="74"/>
            <p:cNvSpPr/>
            <p:nvPr/>
          </p:nvSpPr>
          <p:spPr>
            <a:xfrm flipH="false" flipV="false" rot="0">
              <a:off x="0" y="0"/>
              <a:ext cx="1097280" cy="640080"/>
            </a:xfrm>
            <a:custGeom>
              <a:avLst/>
              <a:gdLst/>
              <a:ahLst/>
              <a:cxnLst/>
              <a:rect r="r" b="b" t="t" l="l"/>
              <a:pathLst>
                <a:path h="640080" w="1097280">
                  <a:moveTo>
                    <a:pt x="0" y="0"/>
                  </a:moveTo>
                  <a:lnTo>
                    <a:pt x="1097280" y="0"/>
                  </a:lnTo>
                  <a:lnTo>
                    <a:pt x="1097280" y="640080"/>
                  </a:lnTo>
                  <a:lnTo>
                    <a:pt x="0" y="640080"/>
                  </a:lnTo>
                  <a:close/>
                </a:path>
              </a:pathLst>
            </a:custGeom>
            <a:blipFill>
              <a:blip r:embed="rId4">
                <a:alphaModFix amt="0"/>
              </a:blip>
              <a:stretch>
                <a:fillRect l="-24843" t="0" r="-24843" b="0"/>
              </a:stretch>
            </a:blipFill>
          </p:spPr>
        </p:sp>
        <p:sp>
          <p:nvSpPr>
            <p:cNvPr name="TextBox 75" id="75"/>
            <p:cNvSpPr txBox="true"/>
            <p:nvPr/>
          </p:nvSpPr>
          <p:spPr>
            <a:xfrm>
              <a:off x="0" y="-38100"/>
              <a:ext cx="1097280" cy="678180"/>
            </a:xfrm>
            <a:prstGeom prst="rect">
              <a:avLst/>
            </a:prstGeom>
          </p:spPr>
          <p:txBody>
            <a:bodyPr anchor="ctr" rtlCol="false" tIns="0" lIns="0" bIns="0" rIns="0"/>
            <a:lstStyle/>
            <a:p>
              <a:pPr algn="r">
                <a:lnSpc>
                  <a:spcPts val="1800"/>
                </a:lnSpc>
              </a:pPr>
              <a:r>
                <a:rPr lang="en-US" sz="1500">
                  <a:solidFill>
                    <a:srgbClr val="235347"/>
                  </a:solidFill>
                  <a:latin typeface="Calibri (MS)"/>
                  <a:ea typeface="Calibri (MS)"/>
                  <a:cs typeface="Calibri (MS)"/>
                  <a:sym typeface="Calibri (MS)"/>
                </a:rPr>
                <a:t>04</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AF1DE"/>
        </a:solidFill>
      </p:bgPr>
    </p:bg>
    <p:spTree>
      <p:nvGrpSpPr>
        <p:cNvPr id="1" name=""/>
        <p:cNvGrpSpPr/>
        <p:nvPr/>
      </p:nvGrpSpPr>
      <p:grpSpPr>
        <a:xfrm>
          <a:off x="0" y="0"/>
          <a:ext cx="0" cy="0"/>
          <a:chOff x="0" y="0"/>
          <a:chExt cx="0" cy="0"/>
        </a:xfrm>
      </p:grpSpPr>
      <p:sp>
        <p:nvSpPr>
          <p:cNvPr name="Freeform 2" id="2"/>
          <p:cNvSpPr/>
          <p:nvPr/>
        </p:nvSpPr>
        <p:spPr>
          <a:xfrm flipH="false" flipV="false" rot="0">
            <a:off x="0" y="45720"/>
            <a:ext cx="18288000" cy="10241280"/>
          </a:xfrm>
          <a:custGeom>
            <a:avLst/>
            <a:gdLst/>
            <a:ahLst/>
            <a:cxnLst/>
            <a:rect r="r" b="b" t="t" l="l"/>
            <a:pathLst>
              <a:path h="10241280" w="18288000">
                <a:moveTo>
                  <a:pt x="0" y="0"/>
                </a:moveTo>
                <a:lnTo>
                  <a:pt x="18288000" y="0"/>
                </a:lnTo>
                <a:lnTo>
                  <a:pt x="18288000" y="10241280"/>
                </a:lnTo>
                <a:lnTo>
                  <a:pt x="0" y="10241280"/>
                </a:lnTo>
                <a:lnTo>
                  <a:pt x="0" y="0"/>
                </a:lnTo>
                <a:close/>
              </a:path>
            </a:pathLst>
          </a:custGeom>
          <a:blipFill>
            <a:blip r:embed="rId2">
              <a:alphaModFix amt="40000"/>
            </a:blip>
            <a:stretch>
              <a:fillRect l="0" t="0" r="0" b="0"/>
            </a:stretch>
          </a:blipFill>
        </p:spPr>
      </p:sp>
      <p:grpSp>
        <p:nvGrpSpPr>
          <p:cNvPr name="Group 3" id="3"/>
          <p:cNvGrpSpPr/>
          <p:nvPr/>
        </p:nvGrpSpPr>
        <p:grpSpPr>
          <a:xfrm rot="0">
            <a:off x="754380" y="685800"/>
            <a:ext cx="1028700" cy="1028700"/>
            <a:chOff x="0" y="0"/>
            <a:chExt cx="1371600" cy="1371600"/>
          </a:xfrm>
        </p:grpSpPr>
        <p:sp>
          <p:nvSpPr>
            <p:cNvPr name="Freeform 4" id="4"/>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0B2B26"/>
            </a:solidFill>
          </p:spPr>
        </p:sp>
      </p:grpSp>
      <p:grpSp>
        <p:nvGrpSpPr>
          <p:cNvPr name="Group 5" id="5"/>
          <p:cNvGrpSpPr/>
          <p:nvPr/>
        </p:nvGrpSpPr>
        <p:grpSpPr>
          <a:xfrm rot="0">
            <a:off x="1001268" y="932688"/>
            <a:ext cx="534924" cy="534924"/>
            <a:chOff x="0" y="0"/>
            <a:chExt cx="713232" cy="713232"/>
          </a:xfrm>
        </p:grpSpPr>
        <p:sp>
          <p:nvSpPr>
            <p:cNvPr name="Freeform 6" id="6" descr="/home/claude/sms-security/icons/target_light.png"/>
            <p:cNvSpPr/>
            <p:nvPr/>
          </p:nvSpPr>
          <p:spPr>
            <a:xfrm flipH="false" flipV="false" rot="0">
              <a:off x="0" y="0"/>
              <a:ext cx="713232" cy="713232"/>
            </a:xfrm>
            <a:custGeom>
              <a:avLst/>
              <a:gdLst/>
              <a:ahLst/>
              <a:cxnLst/>
              <a:rect r="r" b="b" t="t" l="l"/>
              <a:pathLst>
                <a:path h="713232" w="713232">
                  <a:moveTo>
                    <a:pt x="0" y="0"/>
                  </a:moveTo>
                  <a:lnTo>
                    <a:pt x="713232" y="0"/>
                  </a:lnTo>
                  <a:lnTo>
                    <a:pt x="713232" y="713232"/>
                  </a:lnTo>
                  <a:lnTo>
                    <a:pt x="0" y="713232"/>
                  </a:lnTo>
                  <a:lnTo>
                    <a:pt x="0" y="0"/>
                  </a:lnTo>
                  <a:close/>
                </a:path>
              </a:pathLst>
            </a:custGeom>
            <a:blipFill>
              <a:blip r:embed="rId3"/>
              <a:stretch>
                <a:fillRect l="0" t="0" r="0" b="0"/>
              </a:stretch>
            </a:blipFill>
          </p:spPr>
        </p:sp>
      </p:grpSp>
      <p:grpSp>
        <p:nvGrpSpPr>
          <p:cNvPr name="Group 7" id="7"/>
          <p:cNvGrpSpPr/>
          <p:nvPr/>
        </p:nvGrpSpPr>
        <p:grpSpPr>
          <a:xfrm rot="0">
            <a:off x="1988820" y="576072"/>
            <a:ext cx="14401800" cy="754380"/>
            <a:chOff x="0" y="0"/>
            <a:chExt cx="19202400" cy="1005840"/>
          </a:xfrm>
        </p:grpSpPr>
        <p:sp>
          <p:nvSpPr>
            <p:cNvPr name="Freeform 8" id="8"/>
            <p:cNvSpPr/>
            <p:nvPr/>
          </p:nvSpPr>
          <p:spPr>
            <a:xfrm flipH="false" flipV="false" rot="0">
              <a:off x="0" y="0"/>
              <a:ext cx="19202400" cy="1005840"/>
            </a:xfrm>
            <a:custGeom>
              <a:avLst/>
              <a:gdLst/>
              <a:ahLst/>
              <a:cxnLst/>
              <a:rect r="r" b="b" t="t" l="l"/>
              <a:pathLst>
                <a:path h="1005840" w="19202400">
                  <a:moveTo>
                    <a:pt x="0" y="0"/>
                  </a:moveTo>
                  <a:lnTo>
                    <a:pt x="19202400" y="0"/>
                  </a:lnTo>
                  <a:lnTo>
                    <a:pt x="19202400" y="1005840"/>
                  </a:lnTo>
                  <a:lnTo>
                    <a:pt x="0" y="1005840"/>
                  </a:lnTo>
                  <a:close/>
                </a:path>
              </a:pathLst>
            </a:custGeom>
            <a:blipFill>
              <a:blip r:embed="rId4">
                <a:alphaModFix amt="0"/>
              </a:blip>
              <a:stretch>
                <a:fillRect l="0" t="-321987" r="0" b="-321987"/>
              </a:stretch>
            </a:blipFill>
          </p:spPr>
        </p:sp>
        <p:sp>
          <p:nvSpPr>
            <p:cNvPr name="TextBox 9" id="9"/>
            <p:cNvSpPr txBox="true"/>
            <p:nvPr/>
          </p:nvSpPr>
          <p:spPr>
            <a:xfrm>
              <a:off x="0" y="-9525"/>
              <a:ext cx="19202400" cy="1015365"/>
            </a:xfrm>
            <a:prstGeom prst="rect">
              <a:avLst/>
            </a:prstGeom>
          </p:spPr>
          <p:txBody>
            <a:bodyPr anchor="ctr" rtlCol="false" tIns="0" lIns="0" bIns="0" rIns="0"/>
            <a:lstStyle/>
            <a:p>
              <a:pPr algn="l">
                <a:lnSpc>
                  <a:spcPts val="5040"/>
                </a:lnSpc>
              </a:pPr>
              <a:r>
                <a:rPr lang="en-US" sz="4200" b="true">
                  <a:solidFill>
                    <a:srgbClr val="051F20"/>
                  </a:solidFill>
                  <a:latin typeface="Cambria Bold"/>
                  <a:ea typeface="Cambria Bold"/>
                  <a:cs typeface="Cambria Bold"/>
                  <a:sym typeface="Cambria Bold"/>
                </a:rPr>
                <a:t>Objetivos</a:t>
              </a:r>
            </a:p>
          </p:txBody>
        </p:sp>
      </p:grpSp>
      <p:grpSp>
        <p:nvGrpSpPr>
          <p:cNvPr name="Group 10" id="10"/>
          <p:cNvGrpSpPr/>
          <p:nvPr/>
        </p:nvGrpSpPr>
        <p:grpSpPr>
          <a:xfrm rot="0">
            <a:off x="1988820" y="1303020"/>
            <a:ext cx="14401800" cy="480060"/>
            <a:chOff x="0" y="0"/>
            <a:chExt cx="19202400" cy="640080"/>
          </a:xfrm>
        </p:grpSpPr>
        <p:sp>
          <p:nvSpPr>
            <p:cNvPr name="Freeform 11" id="11"/>
            <p:cNvSpPr/>
            <p:nvPr/>
          </p:nvSpPr>
          <p:spPr>
            <a:xfrm flipH="false" flipV="false" rot="0">
              <a:off x="0" y="0"/>
              <a:ext cx="19202400" cy="640080"/>
            </a:xfrm>
            <a:custGeom>
              <a:avLst/>
              <a:gdLst/>
              <a:ahLst/>
              <a:cxnLst/>
              <a:rect r="r" b="b" t="t" l="l"/>
              <a:pathLst>
                <a:path h="640080" w="19202400">
                  <a:moveTo>
                    <a:pt x="0" y="0"/>
                  </a:moveTo>
                  <a:lnTo>
                    <a:pt x="19202400" y="0"/>
                  </a:lnTo>
                  <a:lnTo>
                    <a:pt x="19202400" y="640080"/>
                  </a:lnTo>
                  <a:lnTo>
                    <a:pt x="0" y="640080"/>
                  </a:lnTo>
                  <a:close/>
                </a:path>
              </a:pathLst>
            </a:custGeom>
            <a:blipFill>
              <a:blip r:embed="rId4">
                <a:alphaModFix amt="0"/>
              </a:blip>
              <a:stretch>
                <a:fillRect l="0" t="-534551" r="0" b="-534551"/>
              </a:stretch>
            </a:blipFill>
          </p:spPr>
        </p:sp>
        <p:sp>
          <p:nvSpPr>
            <p:cNvPr name="TextBox 12" id="12"/>
            <p:cNvSpPr txBox="true"/>
            <p:nvPr/>
          </p:nvSpPr>
          <p:spPr>
            <a:xfrm>
              <a:off x="0" y="-47625"/>
              <a:ext cx="19202400" cy="687705"/>
            </a:xfrm>
            <a:prstGeom prst="rect">
              <a:avLst/>
            </a:prstGeom>
          </p:spPr>
          <p:txBody>
            <a:bodyPr anchor="ctr" rtlCol="false" tIns="0" lIns="0" bIns="0" rIns="0"/>
            <a:lstStyle/>
            <a:p>
              <a:pPr algn="l">
                <a:lnSpc>
                  <a:spcPts val="2340"/>
                </a:lnSpc>
              </a:pPr>
              <a:r>
                <a:rPr lang="en-US" sz="1950" i="true">
                  <a:solidFill>
                    <a:srgbClr val="235347"/>
                  </a:solidFill>
                  <a:latin typeface="Calibri (MS) Italics"/>
                  <a:ea typeface="Calibri (MS) Italics"/>
                  <a:cs typeface="Calibri (MS) Italics"/>
                  <a:sym typeface="Calibri (MS) Italics"/>
                </a:rPr>
                <a:t>Objetivo general y objetivos específicos del proyecto</a:t>
              </a:r>
            </a:p>
          </p:txBody>
        </p:sp>
      </p:grpSp>
      <p:grpSp>
        <p:nvGrpSpPr>
          <p:cNvPr name="Group 13" id="13"/>
          <p:cNvGrpSpPr/>
          <p:nvPr/>
        </p:nvGrpSpPr>
        <p:grpSpPr>
          <a:xfrm rot="0">
            <a:off x="754380" y="2125980"/>
            <a:ext cx="16802100" cy="1577340"/>
            <a:chOff x="0" y="0"/>
            <a:chExt cx="22402800" cy="2103120"/>
          </a:xfrm>
        </p:grpSpPr>
        <p:sp>
          <p:nvSpPr>
            <p:cNvPr name="Freeform 14" id="14"/>
            <p:cNvSpPr/>
            <p:nvPr/>
          </p:nvSpPr>
          <p:spPr>
            <a:xfrm flipH="false" flipV="false" rot="0">
              <a:off x="0" y="0"/>
              <a:ext cx="22402800" cy="2103120"/>
            </a:xfrm>
            <a:custGeom>
              <a:avLst/>
              <a:gdLst/>
              <a:ahLst/>
              <a:cxnLst/>
              <a:rect r="r" b="b" t="t" l="l"/>
              <a:pathLst>
                <a:path h="2103120" w="22402800">
                  <a:moveTo>
                    <a:pt x="0" y="182880"/>
                  </a:moveTo>
                  <a:cubicBezTo>
                    <a:pt x="0" y="81915"/>
                    <a:pt x="81915" y="0"/>
                    <a:pt x="182880" y="0"/>
                  </a:cubicBezTo>
                  <a:lnTo>
                    <a:pt x="22219920" y="0"/>
                  </a:lnTo>
                  <a:cubicBezTo>
                    <a:pt x="22320884" y="0"/>
                    <a:pt x="22402800" y="81915"/>
                    <a:pt x="22402800" y="182880"/>
                  </a:cubicBezTo>
                  <a:lnTo>
                    <a:pt x="22402800" y="1920240"/>
                  </a:lnTo>
                  <a:cubicBezTo>
                    <a:pt x="22402800" y="2021205"/>
                    <a:pt x="22320884" y="2103120"/>
                    <a:pt x="22219920" y="2103120"/>
                  </a:cubicBezTo>
                  <a:lnTo>
                    <a:pt x="182880" y="2103120"/>
                  </a:lnTo>
                  <a:cubicBezTo>
                    <a:pt x="81915" y="2103120"/>
                    <a:pt x="0" y="2021205"/>
                    <a:pt x="0" y="1920240"/>
                  </a:cubicBezTo>
                  <a:close/>
                </a:path>
              </a:pathLst>
            </a:custGeom>
            <a:solidFill>
              <a:srgbClr val="051F20"/>
            </a:solidFill>
          </p:spPr>
        </p:sp>
      </p:grpSp>
      <p:grpSp>
        <p:nvGrpSpPr>
          <p:cNvPr name="Group 15" id="15"/>
          <p:cNvGrpSpPr/>
          <p:nvPr/>
        </p:nvGrpSpPr>
        <p:grpSpPr>
          <a:xfrm rot="0">
            <a:off x="1097280" y="2400300"/>
            <a:ext cx="960120" cy="960120"/>
            <a:chOff x="0" y="0"/>
            <a:chExt cx="1280160" cy="1280160"/>
          </a:xfrm>
        </p:grpSpPr>
        <p:sp>
          <p:nvSpPr>
            <p:cNvPr name="Freeform 16" id="16"/>
            <p:cNvSpPr/>
            <p:nvPr/>
          </p:nvSpPr>
          <p:spPr>
            <a:xfrm flipH="false" flipV="false" rot="0">
              <a:off x="0" y="0"/>
              <a:ext cx="1280160" cy="1280160"/>
            </a:xfrm>
            <a:custGeom>
              <a:avLst/>
              <a:gdLst/>
              <a:ahLst/>
              <a:cxnLst/>
              <a:rect r="r" b="b" t="t" l="l"/>
              <a:pathLst>
                <a:path h="1280160" w="1280160">
                  <a:moveTo>
                    <a:pt x="0" y="640080"/>
                  </a:moveTo>
                  <a:cubicBezTo>
                    <a:pt x="0" y="286512"/>
                    <a:pt x="286512" y="0"/>
                    <a:pt x="640080" y="0"/>
                  </a:cubicBezTo>
                  <a:cubicBezTo>
                    <a:pt x="993648" y="0"/>
                    <a:pt x="1280160" y="286512"/>
                    <a:pt x="1280160" y="640080"/>
                  </a:cubicBezTo>
                  <a:cubicBezTo>
                    <a:pt x="1280160" y="993648"/>
                    <a:pt x="993648" y="1280160"/>
                    <a:pt x="640080" y="1280160"/>
                  </a:cubicBezTo>
                  <a:cubicBezTo>
                    <a:pt x="286512" y="1280160"/>
                    <a:pt x="0" y="993648"/>
                    <a:pt x="0" y="640080"/>
                  </a:cubicBezTo>
                  <a:close/>
                </a:path>
              </a:pathLst>
            </a:custGeom>
            <a:solidFill>
              <a:srgbClr val="8EB69B"/>
            </a:solidFill>
          </p:spPr>
        </p:sp>
      </p:grpSp>
      <p:grpSp>
        <p:nvGrpSpPr>
          <p:cNvPr name="Group 17" id="17"/>
          <p:cNvGrpSpPr/>
          <p:nvPr/>
        </p:nvGrpSpPr>
        <p:grpSpPr>
          <a:xfrm rot="0">
            <a:off x="1327709" y="2630729"/>
            <a:ext cx="499262" cy="499262"/>
            <a:chOff x="0" y="0"/>
            <a:chExt cx="665683" cy="665683"/>
          </a:xfrm>
        </p:grpSpPr>
        <p:sp>
          <p:nvSpPr>
            <p:cNvPr name="Freeform 18" id="18" descr="/home/claude/sms-security/icons/flag_dark1.png"/>
            <p:cNvSpPr/>
            <p:nvPr/>
          </p:nvSpPr>
          <p:spPr>
            <a:xfrm flipH="false" flipV="false" rot="0">
              <a:off x="0" y="0"/>
              <a:ext cx="665734" cy="665734"/>
            </a:xfrm>
            <a:custGeom>
              <a:avLst/>
              <a:gdLst/>
              <a:ahLst/>
              <a:cxnLst/>
              <a:rect r="r" b="b" t="t" l="l"/>
              <a:pathLst>
                <a:path h="665734" w="665734">
                  <a:moveTo>
                    <a:pt x="0" y="0"/>
                  </a:moveTo>
                  <a:lnTo>
                    <a:pt x="665734" y="0"/>
                  </a:lnTo>
                  <a:lnTo>
                    <a:pt x="665734" y="665734"/>
                  </a:lnTo>
                  <a:lnTo>
                    <a:pt x="0" y="665734"/>
                  </a:lnTo>
                  <a:lnTo>
                    <a:pt x="0" y="0"/>
                  </a:lnTo>
                  <a:close/>
                </a:path>
              </a:pathLst>
            </a:custGeom>
            <a:blipFill>
              <a:blip r:embed="rId5"/>
              <a:stretch>
                <a:fillRect l="0" t="0" r="7" b="7"/>
              </a:stretch>
            </a:blipFill>
          </p:spPr>
        </p:sp>
      </p:grpSp>
      <p:grpSp>
        <p:nvGrpSpPr>
          <p:cNvPr name="Group 19" id="19"/>
          <p:cNvGrpSpPr/>
          <p:nvPr/>
        </p:nvGrpSpPr>
        <p:grpSpPr>
          <a:xfrm rot="0">
            <a:off x="2263140" y="2304288"/>
            <a:ext cx="5486400" cy="480060"/>
            <a:chOff x="0" y="0"/>
            <a:chExt cx="7315200" cy="640080"/>
          </a:xfrm>
        </p:grpSpPr>
        <p:sp>
          <p:nvSpPr>
            <p:cNvPr name="Freeform 20" id="20"/>
            <p:cNvSpPr/>
            <p:nvPr/>
          </p:nvSpPr>
          <p:spPr>
            <a:xfrm flipH="false" flipV="false" rot="0">
              <a:off x="0" y="0"/>
              <a:ext cx="7315200" cy="640080"/>
            </a:xfrm>
            <a:custGeom>
              <a:avLst/>
              <a:gdLst/>
              <a:ahLst/>
              <a:cxnLst/>
              <a:rect r="r" b="b" t="t" l="l"/>
              <a:pathLst>
                <a:path h="640080" w="7315200">
                  <a:moveTo>
                    <a:pt x="0" y="0"/>
                  </a:moveTo>
                  <a:lnTo>
                    <a:pt x="7315200" y="0"/>
                  </a:lnTo>
                  <a:lnTo>
                    <a:pt x="7315200" y="640080"/>
                  </a:lnTo>
                  <a:lnTo>
                    <a:pt x="0" y="640080"/>
                  </a:lnTo>
                  <a:close/>
                </a:path>
              </a:pathLst>
            </a:custGeom>
            <a:blipFill>
              <a:blip r:embed="rId4">
                <a:alphaModFix amt="0"/>
              </a:blip>
              <a:stretch>
                <a:fillRect l="0" t="-172686" r="0" b="-172686"/>
              </a:stretch>
            </a:blipFill>
          </p:spPr>
        </p:sp>
        <p:sp>
          <p:nvSpPr>
            <p:cNvPr name="TextBox 21" id="21"/>
            <p:cNvSpPr txBox="true"/>
            <p:nvPr/>
          </p:nvSpPr>
          <p:spPr>
            <a:xfrm>
              <a:off x="0" y="-28575"/>
              <a:ext cx="7315200" cy="668655"/>
            </a:xfrm>
            <a:prstGeom prst="rect">
              <a:avLst/>
            </a:prstGeom>
          </p:spPr>
          <p:txBody>
            <a:bodyPr anchor="ctr" rtlCol="false" tIns="0" lIns="0" bIns="0" rIns="0"/>
            <a:lstStyle/>
            <a:p>
              <a:pPr algn="l">
                <a:lnSpc>
                  <a:spcPts val="1980"/>
                </a:lnSpc>
              </a:pPr>
              <a:r>
                <a:rPr lang="en-US" b="true" sz="1650" spc="150">
                  <a:solidFill>
                    <a:srgbClr val="8EB69B"/>
                  </a:solidFill>
                  <a:latin typeface="Calibri (MS) Bold"/>
                  <a:ea typeface="Calibri (MS) Bold"/>
                  <a:cs typeface="Calibri (MS) Bold"/>
                  <a:sym typeface="Calibri (MS) Bold"/>
                </a:rPr>
                <a:t>OBJETIVO GENERAL</a:t>
              </a:r>
            </a:p>
          </p:txBody>
        </p:sp>
      </p:grpSp>
      <p:grpSp>
        <p:nvGrpSpPr>
          <p:cNvPr name="Group 22" id="22"/>
          <p:cNvGrpSpPr/>
          <p:nvPr/>
        </p:nvGrpSpPr>
        <p:grpSpPr>
          <a:xfrm rot="0">
            <a:off x="2253615" y="2761107"/>
            <a:ext cx="14969490" cy="773430"/>
            <a:chOff x="0" y="0"/>
            <a:chExt cx="19959320" cy="1031240"/>
          </a:xfrm>
        </p:grpSpPr>
        <p:sp>
          <p:nvSpPr>
            <p:cNvPr name="Freeform 23" id="23"/>
            <p:cNvSpPr/>
            <p:nvPr/>
          </p:nvSpPr>
          <p:spPr>
            <a:xfrm flipH="false" flipV="false" rot="0">
              <a:off x="0" y="0"/>
              <a:ext cx="19959321" cy="1031240"/>
            </a:xfrm>
            <a:custGeom>
              <a:avLst/>
              <a:gdLst/>
              <a:ahLst/>
              <a:cxnLst/>
              <a:rect r="r" b="b" t="t" l="l"/>
              <a:pathLst>
                <a:path h="1031240" w="19959321">
                  <a:moveTo>
                    <a:pt x="0" y="149987"/>
                  </a:moveTo>
                  <a:cubicBezTo>
                    <a:pt x="0" y="67183"/>
                    <a:pt x="67183" y="0"/>
                    <a:pt x="149987" y="0"/>
                  </a:cubicBezTo>
                  <a:lnTo>
                    <a:pt x="19809333" y="0"/>
                  </a:lnTo>
                  <a:cubicBezTo>
                    <a:pt x="19892138" y="0"/>
                    <a:pt x="19959321" y="67183"/>
                    <a:pt x="19959321" y="149987"/>
                  </a:cubicBezTo>
                  <a:lnTo>
                    <a:pt x="19959321" y="881253"/>
                  </a:lnTo>
                  <a:cubicBezTo>
                    <a:pt x="19959321" y="964057"/>
                    <a:pt x="19892138" y="1031240"/>
                    <a:pt x="19809333" y="1031240"/>
                  </a:cubicBezTo>
                  <a:lnTo>
                    <a:pt x="149987" y="1031240"/>
                  </a:lnTo>
                  <a:cubicBezTo>
                    <a:pt x="67183" y="1031240"/>
                    <a:pt x="0" y="964057"/>
                    <a:pt x="0" y="881253"/>
                  </a:cubicBezTo>
                  <a:close/>
                </a:path>
              </a:pathLst>
            </a:custGeom>
            <a:solidFill>
              <a:srgbClr val="FFFFFF"/>
            </a:solidFill>
            <a:ln w="19050" cap="sq">
              <a:solidFill>
                <a:srgbClr val="8EB69B"/>
              </a:solidFill>
              <a:prstDash val="dash"/>
              <a:miter/>
            </a:ln>
          </p:spPr>
        </p:sp>
      </p:grpSp>
      <p:sp>
        <p:nvSpPr>
          <p:cNvPr name="TextBox 24" id="24"/>
          <p:cNvSpPr txBox="true"/>
          <p:nvPr/>
        </p:nvSpPr>
        <p:spPr>
          <a:xfrm rot="0">
            <a:off x="2560320" y="2924937"/>
            <a:ext cx="14356080" cy="523875"/>
          </a:xfrm>
          <a:prstGeom prst="rect">
            <a:avLst/>
          </a:prstGeom>
        </p:spPr>
        <p:txBody>
          <a:bodyPr anchor="t" rtlCol="false" tIns="0" lIns="0" bIns="0" rIns="0">
            <a:spAutoFit/>
          </a:bodyPr>
          <a:lstStyle/>
          <a:p>
            <a:pPr algn="l">
              <a:lnSpc>
                <a:spcPts val="1980"/>
              </a:lnSpc>
            </a:pPr>
            <a:r>
              <a:rPr lang="en-US" sz="1650" i="true">
                <a:solidFill>
                  <a:srgbClr val="7A9E8E"/>
                </a:solidFill>
                <a:latin typeface="Calibri (MS) Italics"/>
                <a:ea typeface="Calibri (MS) Italics"/>
                <a:cs typeface="Calibri (MS) Italics"/>
                <a:sym typeface="Calibri (MS) Italics"/>
              </a:rPr>
              <a:t>Desarrollar una solución móvil basada en análisis de URLs y evaluación de riesgo textual para mitigar la tasa de éxito de ataques de ingeniería social (smishing) dirigidos a población vulnerable</a:t>
            </a:r>
          </a:p>
        </p:txBody>
      </p:sp>
      <p:grpSp>
        <p:nvGrpSpPr>
          <p:cNvPr name="Group 25" id="25"/>
          <p:cNvGrpSpPr/>
          <p:nvPr/>
        </p:nvGrpSpPr>
        <p:grpSpPr>
          <a:xfrm rot="0">
            <a:off x="754380" y="4046220"/>
            <a:ext cx="6858000" cy="411480"/>
            <a:chOff x="0" y="0"/>
            <a:chExt cx="9144000" cy="548640"/>
          </a:xfrm>
        </p:grpSpPr>
        <p:sp>
          <p:nvSpPr>
            <p:cNvPr name="Freeform 26" id="26"/>
            <p:cNvSpPr/>
            <p:nvPr/>
          </p:nvSpPr>
          <p:spPr>
            <a:xfrm flipH="false" flipV="false" rot="0">
              <a:off x="0" y="0"/>
              <a:ext cx="9144000" cy="548640"/>
            </a:xfrm>
            <a:custGeom>
              <a:avLst/>
              <a:gdLst/>
              <a:ahLst/>
              <a:cxnLst/>
              <a:rect r="r" b="b" t="t" l="l"/>
              <a:pathLst>
                <a:path h="548640" w="9144000">
                  <a:moveTo>
                    <a:pt x="0" y="0"/>
                  </a:moveTo>
                  <a:lnTo>
                    <a:pt x="9144000" y="0"/>
                  </a:lnTo>
                  <a:lnTo>
                    <a:pt x="9144000" y="548640"/>
                  </a:lnTo>
                  <a:lnTo>
                    <a:pt x="0" y="548640"/>
                  </a:lnTo>
                  <a:close/>
                </a:path>
              </a:pathLst>
            </a:custGeom>
            <a:blipFill>
              <a:blip r:embed="rId4">
                <a:alphaModFix amt="0"/>
              </a:blip>
              <a:stretch>
                <a:fillRect l="0" t="-274750" r="0" b="-274750"/>
              </a:stretch>
            </a:blipFill>
          </p:spPr>
        </p:sp>
        <p:sp>
          <p:nvSpPr>
            <p:cNvPr name="TextBox 27" id="27"/>
            <p:cNvSpPr txBox="true"/>
            <p:nvPr/>
          </p:nvSpPr>
          <p:spPr>
            <a:xfrm>
              <a:off x="0" y="-28575"/>
              <a:ext cx="9144000" cy="577215"/>
            </a:xfrm>
            <a:prstGeom prst="rect">
              <a:avLst/>
            </a:prstGeom>
          </p:spPr>
          <p:txBody>
            <a:bodyPr anchor="ctr" rtlCol="false" tIns="0" lIns="0" bIns="0" rIns="0"/>
            <a:lstStyle/>
            <a:p>
              <a:pPr algn="l">
                <a:lnSpc>
                  <a:spcPts val="1980"/>
                </a:lnSpc>
              </a:pPr>
              <a:r>
                <a:rPr lang="en-US" b="true" sz="1650" spc="150">
                  <a:solidFill>
                    <a:srgbClr val="235347"/>
                  </a:solidFill>
                  <a:latin typeface="Calibri (MS) Bold"/>
                  <a:ea typeface="Calibri (MS) Bold"/>
                  <a:cs typeface="Calibri (MS) Bold"/>
                  <a:sym typeface="Calibri (MS) Bold"/>
                </a:rPr>
                <a:t>OBJETIVOS ESPECÍFICOS</a:t>
              </a:r>
            </a:p>
          </p:txBody>
        </p:sp>
      </p:grpSp>
      <p:grpSp>
        <p:nvGrpSpPr>
          <p:cNvPr name="Group 28" id="28"/>
          <p:cNvGrpSpPr/>
          <p:nvPr/>
        </p:nvGrpSpPr>
        <p:grpSpPr>
          <a:xfrm rot="0">
            <a:off x="744855" y="4585335"/>
            <a:ext cx="8180070" cy="1459230"/>
            <a:chOff x="0" y="0"/>
            <a:chExt cx="10906760" cy="1945640"/>
          </a:xfrm>
        </p:grpSpPr>
        <p:sp>
          <p:nvSpPr>
            <p:cNvPr name="Freeform 29" id="29"/>
            <p:cNvSpPr/>
            <p:nvPr/>
          </p:nvSpPr>
          <p:spPr>
            <a:xfrm flipH="false" flipV="false" rot="0">
              <a:off x="0" y="0"/>
              <a:ext cx="10906760" cy="1945640"/>
            </a:xfrm>
            <a:custGeom>
              <a:avLst/>
              <a:gdLst/>
              <a:ahLst/>
              <a:cxnLst/>
              <a:rect r="r" b="b" t="t" l="l"/>
              <a:pathLst>
                <a:path h="1945640" w="10906760">
                  <a:moveTo>
                    <a:pt x="0" y="148209"/>
                  </a:moveTo>
                  <a:cubicBezTo>
                    <a:pt x="0" y="66421"/>
                    <a:pt x="66421" y="0"/>
                    <a:pt x="148209" y="0"/>
                  </a:cubicBezTo>
                  <a:lnTo>
                    <a:pt x="10758551" y="0"/>
                  </a:lnTo>
                  <a:cubicBezTo>
                    <a:pt x="10840466" y="0"/>
                    <a:pt x="10906760" y="66421"/>
                    <a:pt x="10906760" y="148209"/>
                  </a:cubicBezTo>
                  <a:lnTo>
                    <a:pt x="10906760" y="1797431"/>
                  </a:lnTo>
                  <a:cubicBezTo>
                    <a:pt x="10906760" y="1879346"/>
                    <a:pt x="10840339" y="1945640"/>
                    <a:pt x="10758551" y="1945640"/>
                  </a:cubicBezTo>
                  <a:lnTo>
                    <a:pt x="148209" y="1945640"/>
                  </a:lnTo>
                  <a:cubicBezTo>
                    <a:pt x="66421" y="1945640"/>
                    <a:pt x="0" y="1879219"/>
                    <a:pt x="0" y="1797431"/>
                  </a:cubicBezTo>
                  <a:close/>
                </a:path>
              </a:pathLst>
            </a:custGeom>
            <a:solidFill>
              <a:srgbClr val="FFFFFF"/>
            </a:solidFill>
            <a:ln w="19050" cap="sq">
              <a:solidFill>
                <a:srgbClr val="8EB69B"/>
              </a:solidFill>
              <a:prstDash val="solid"/>
              <a:miter/>
            </a:ln>
          </p:spPr>
        </p:sp>
      </p:grpSp>
      <p:grpSp>
        <p:nvGrpSpPr>
          <p:cNvPr name="Group 30" id="30"/>
          <p:cNvGrpSpPr/>
          <p:nvPr/>
        </p:nvGrpSpPr>
        <p:grpSpPr>
          <a:xfrm rot="0">
            <a:off x="960120" y="4937760"/>
            <a:ext cx="754380" cy="754380"/>
            <a:chOff x="0" y="0"/>
            <a:chExt cx="1005840" cy="1005840"/>
          </a:xfrm>
        </p:grpSpPr>
        <p:sp>
          <p:nvSpPr>
            <p:cNvPr name="Freeform 31" id="31"/>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235347"/>
            </a:solidFill>
          </p:spPr>
        </p:sp>
      </p:grpSp>
      <p:grpSp>
        <p:nvGrpSpPr>
          <p:cNvPr name="Group 32" id="32"/>
          <p:cNvGrpSpPr/>
          <p:nvPr/>
        </p:nvGrpSpPr>
        <p:grpSpPr>
          <a:xfrm rot="0">
            <a:off x="1141171" y="5118811"/>
            <a:ext cx="392278" cy="392278"/>
            <a:chOff x="0" y="0"/>
            <a:chExt cx="523037" cy="523037"/>
          </a:xfrm>
        </p:grpSpPr>
        <p:sp>
          <p:nvSpPr>
            <p:cNvPr name="Freeform 33" id="33" descr="/home/claude/sms-security/icons/check_light.png"/>
            <p:cNvSpPr/>
            <p:nvPr/>
          </p:nvSpPr>
          <p:spPr>
            <a:xfrm flipH="false" flipV="false" rot="0">
              <a:off x="0" y="0"/>
              <a:ext cx="522986" cy="522986"/>
            </a:xfrm>
            <a:custGeom>
              <a:avLst/>
              <a:gdLst/>
              <a:ahLst/>
              <a:cxnLst/>
              <a:rect r="r" b="b" t="t" l="l"/>
              <a:pathLst>
                <a:path h="522986" w="522986">
                  <a:moveTo>
                    <a:pt x="0" y="0"/>
                  </a:moveTo>
                  <a:lnTo>
                    <a:pt x="522986" y="0"/>
                  </a:lnTo>
                  <a:lnTo>
                    <a:pt x="522986" y="522986"/>
                  </a:lnTo>
                  <a:lnTo>
                    <a:pt x="0" y="522986"/>
                  </a:lnTo>
                  <a:lnTo>
                    <a:pt x="0" y="0"/>
                  </a:lnTo>
                  <a:close/>
                </a:path>
              </a:pathLst>
            </a:custGeom>
            <a:blipFill>
              <a:blip r:embed="rId6"/>
              <a:stretch>
                <a:fillRect l="0" t="0" r="-9" b="-9"/>
              </a:stretch>
            </a:blipFill>
          </p:spPr>
        </p:sp>
      </p:grpSp>
      <p:grpSp>
        <p:nvGrpSpPr>
          <p:cNvPr name="Group 34" id="34"/>
          <p:cNvGrpSpPr/>
          <p:nvPr/>
        </p:nvGrpSpPr>
        <p:grpSpPr>
          <a:xfrm rot="0">
            <a:off x="1920240" y="4732020"/>
            <a:ext cx="6789420" cy="1165860"/>
            <a:chOff x="0" y="0"/>
            <a:chExt cx="9052560" cy="1554480"/>
          </a:xfrm>
        </p:grpSpPr>
        <p:sp>
          <p:nvSpPr>
            <p:cNvPr name="Freeform 35" id="35"/>
            <p:cNvSpPr/>
            <p:nvPr/>
          </p:nvSpPr>
          <p:spPr>
            <a:xfrm flipH="false" flipV="false" rot="0">
              <a:off x="0" y="0"/>
              <a:ext cx="9052560" cy="1554480"/>
            </a:xfrm>
            <a:custGeom>
              <a:avLst/>
              <a:gdLst/>
              <a:ahLst/>
              <a:cxnLst/>
              <a:rect r="r" b="b" t="t" l="l"/>
              <a:pathLst>
                <a:path h="1554480" w="9052560">
                  <a:moveTo>
                    <a:pt x="0" y="0"/>
                  </a:moveTo>
                  <a:lnTo>
                    <a:pt x="9052560" y="0"/>
                  </a:lnTo>
                  <a:lnTo>
                    <a:pt x="9052560" y="1554480"/>
                  </a:lnTo>
                  <a:lnTo>
                    <a:pt x="0" y="1554480"/>
                  </a:lnTo>
                  <a:close/>
                </a:path>
              </a:pathLst>
            </a:custGeom>
            <a:blipFill>
              <a:blip r:embed="rId4">
                <a:alphaModFix amt="0"/>
              </a:blip>
              <a:stretch>
                <a:fillRect l="0" t="-63471" r="0" b="-63471"/>
              </a:stretch>
            </a:blipFill>
          </p:spPr>
        </p:sp>
        <p:sp>
          <p:nvSpPr>
            <p:cNvPr name="TextBox 36" id="36"/>
            <p:cNvSpPr txBox="true"/>
            <p:nvPr/>
          </p:nvSpPr>
          <p:spPr>
            <a:xfrm>
              <a:off x="0" y="-28575"/>
              <a:ext cx="9052560" cy="1583055"/>
            </a:xfrm>
            <a:prstGeom prst="rect">
              <a:avLst/>
            </a:prstGeom>
          </p:spPr>
          <p:txBody>
            <a:bodyPr anchor="ctr" rtlCol="false" tIns="0" lIns="0" bIns="0" rIns="0"/>
            <a:lstStyle/>
            <a:p>
              <a:pPr algn="l">
                <a:lnSpc>
                  <a:spcPts val="1980"/>
                </a:lnSpc>
              </a:pPr>
              <a:r>
                <a:rPr lang="en-US" sz="1650" i="true">
                  <a:solidFill>
                    <a:srgbClr val="7A9E8E"/>
                  </a:solidFill>
                  <a:latin typeface="Calibri (MS) Italics"/>
                  <a:ea typeface="Calibri (MS) Italics"/>
                  <a:cs typeface="Calibri (MS) Italics"/>
                  <a:sym typeface="Calibri (MS) Italics"/>
                </a:rPr>
                <a:t>Analizar el texto de mensaje SMS mediante un sistema de reglas y un dataset de patrones de smishing chilenos (creado y recolectado por el equipo), con el fin de identificar coincidencias con estafas conocidas.</a:t>
              </a:r>
            </a:p>
          </p:txBody>
        </p:sp>
      </p:grpSp>
      <p:grpSp>
        <p:nvGrpSpPr>
          <p:cNvPr name="Group 37" id="37"/>
          <p:cNvGrpSpPr/>
          <p:nvPr/>
        </p:nvGrpSpPr>
        <p:grpSpPr>
          <a:xfrm rot="0">
            <a:off x="9385935" y="4585335"/>
            <a:ext cx="8180070" cy="1459230"/>
            <a:chOff x="0" y="0"/>
            <a:chExt cx="10906760" cy="1945640"/>
          </a:xfrm>
        </p:grpSpPr>
        <p:sp>
          <p:nvSpPr>
            <p:cNvPr name="Freeform 38" id="38"/>
            <p:cNvSpPr/>
            <p:nvPr/>
          </p:nvSpPr>
          <p:spPr>
            <a:xfrm flipH="false" flipV="false" rot="0">
              <a:off x="0" y="0"/>
              <a:ext cx="10906760" cy="1945640"/>
            </a:xfrm>
            <a:custGeom>
              <a:avLst/>
              <a:gdLst/>
              <a:ahLst/>
              <a:cxnLst/>
              <a:rect r="r" b="b" t="t" l="l"/>
              <a:pathLst>
                <a:path h="1945640" w="10906760">
                  <a:moveTo>
                    <a:pt x="0" y="148209"/>
                  </a:moveTo>
                  <a:cubicBezTo>
                    <a:pt x="0" y="66421"/>
                    <a:pt x="66421" y="0"/>
                    <a:pt x="148209" y="0"/>
                  </a:cubicBezTo>
                  <a:lnTo>
                    <a:pt x="10758551" y="0"/>
                  </a:lnTo>
                  <a:cubicBezTo>
                    <a:pt x="10840466" y="0"/>
                    <a:pt x="10906760" y="66421"/>
                    <a:pt x="10906760" y="148209"/>
                  </a:cubicBezTo>
                  <a:lnTo>
                    <a:pt x="10906760" y="1797431"/>
                  </a:lnTo>
                  <a:cubicBezTo>
                    <a:pt x="10906760" y="1879346"/>
                    <a:pt x="10840339" y="1945640"/>
                    <a:pt x="10758551" y="1945640"/>
                  </a:cubicBezTo>
                  <a:lnTo>
                    <a:pt x="148209" y="1945640"/>
                  </a:lnTo>
                  <a:cubicBezTo>
                    <a:pt x="66421" y="1945640"/>
                    <a:pt x="0" y="1879219"/>
                    <a:pt x="0" y="1797431"/>
                  </a:cubicBezTo>
                  <a:close/>
                </a:path>
              </a:pathLst>
            </a:custGeom>
            <a:solidFill>
              <a:srgbClr val="FFFFFF"/>
            </a:solidFill>
            <a:ln w="19050" cap="sq">
              <a:solidFill>
                <a:srgbClr val="8EB69B"/>
              </a:solidFill>
              <a:prstDash val="solid"/>
              <a:miter/>
            </a:ln>
          </p:spPr>
        </p:sp>
      </p:grpSp>
      <p:grpSp>
        <p:nvGrpSpPr>
          <p:cNvPr name="Group 39" id="39"/>
          <p:cNvGrpSpPr/>
          <p:nvPr/>
        </p:nvGrpSpPr>
        <p:grpSpPr>
          <a:xfrm rot="0">
            <a:off x="9601200" y="4937760"/>
            <a:ext cx="754380" cy="754380"/>
            <a:chOff x="0" y="0"/>
            <a:chExt cx="1005840" cy="1005840"/>
          </a:xfrm>
        </p:grpSpPr>
        <p:sp>
          <p:nvSpPr>
            <p:cNvPr name="Freeform 40" id="40"/>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235347"/>
            </a:solidFill>
          </p:spPr>
        </p:sp>
      </p:grpSp>
      <p:grpSp>
        <p:nvGrpSpPr>
          <p:cNvPr name="Group 41" id="41"/>
          <p:cNvGrpSpPr/>
          <p:nvPr/>
        </p:nvGrpSpPr>
        <p:grpSpPr>
          <a:xfrm rot="0">
            <a:off x="9782251" y="5118811"/>
            <a:ext cx="392278" cy="392278"/>
            <a:chOff x="0" y="0"/>
            <a:chExt cx="523037" cy="523037"/>
          </a:xfrm>
        </p:grpSpPr>
        <p:sp>
          <p:nvSpPr>
            <p:cNvPr name="Freeform 42" id="42" descr="/home/claude/sms-security/icons/check_light.png"/>
            <p:cNvSpPr/>
            <p:nvPr/>
          </p:nvSpPr>
          <p:spPr>
            <a:xfrm flipH="false" flipV="false" rot="0">
              <a:off x="0" y="0"/>
              <a:ext cx="522986" cy="522986"/>
            </a:xfrm>
            <a:custGeom>
              <a:avLst/>
              <a:gdLst/>
              <a:ahLst/>
              <a:cxnLst/>
              <a:rect r="r" b="b" t="t" l="l"/>
              <a:pathLst>
                <a:path h="522986" w="522986">
                  <a:moveTo>
                    <a:pt x="0" y="0"/>
                  </a:moveTo>
                  <a:lnTo>
                    <a:pt x="522986" y="0"/>
                  </a:lnTo>
                  <a:lnTo>
                    <a:pt x="522986" y="522986"/>
                  </a:lnTo>
                  <a:lnTo>
                    <a:pt x="0" y="522986"/>
                  </a:lnTo>
                  <a:lnTo>
                    <a:pt x="0" y="0"/>
                  </a:lnTo>
                  <a:close/>
                </a:path>
              </a:pathLst>
            </a:custGeom>
            <a:blipFill>
              <a:blip r:embed="rId6"/>
              <a:stretch>
                <a:fillRect l="0" t="0" r="-9" b="-9"/>
              </a:stretch>
            </a:blipFill>
          </p:spPr>
        </p:sp>
      </p:grpSp>
      <p:grpSp>
        <p:nvGrpSpPr>
          <p:cNvPr name="Group 43" id="43"/>
          <p:cNvGrpSpPr/>
          <p:nvPr/>
        </p:nvGrpSpPr>
        <p:grpSpPr>
          <a:xfrm rot="0">
            <a:off x="10561320" y="4732020"/>
            <a:ext cx="6789420" cy="1165860"/>
            <a:chOff x="0" y="0"/>
            <a:chExt cx="9052560" cy="1554480"/>
          </a:xfrm>
        </p:grpSpPr>
        <p:sp>
          <p:nvSpPr>
            <p:cNvPr name="Freeform 44" id="44"/>
            <p:cNvSpPr/>
            <p:nvPr/>
          </p:nvSpPr>
          <p:spPr>
            <a:xfrm flipH="false" flipV="false" rot="0">
              <a:off x="0" y="0"/>
              <a:ext cx="9052560" cy="1554480"/>
            </a:xfrm>
            <a:custGeom>
              <a:avLst/>
              <a:gdLst/>
              <a:ahLst/>
              <a:cxnLst/>
              <a:rect r="r" b="b" t="t" l="l"/>
              <a:pathLst>
                <a:path h="1554480" w="9052560">
                  <a:moveTo>
                    <a:pt x="0" y="0"/>
                  </a:moveTo>
                  <a:lnTo>
                    <a:pt x="9052560" y="0"/>
                  </a:lnTo>
                  <a:lnTo>
                    <a:pt x="9052560" y="1554480"/>
                  </a:lnTo>
                  <a:lnTo>
                    <a:pt x="0" y="1554480"/>
                  </a:lnTo>
                  <a:close/>
                </a:path>
              </a:pathLst>
            </a:custGeom>
            <a:blipFill>
              <a:blip r:embed="rId4">
                <a:alphaModFix amt="0"/>
              </a:blip>
              <a:stretch>
                <a:fillRect l="0" t="-63471" r="0" b="-63471"/>
              </a:stretch>
            </a:blipFill>
          </p:spPr>
        </p:sp>
        <p:sp>
          <p:nvSpPr>
            <p:cNvPr name="TextBox 45" id="45"/>
            <p:cNvSpPr txBox="true"/>
            <p:nvPr/>
          </p:nvSpPr>
          <p:spPr>
            <a:xfrm>
              <a:off x="0" y="-28575"/>
              <a:ext cx="9052560" cy="1583055"/>
            </a:xfrm>
            <a:prstGeom prst="rect">
              <a:avLst/>
            </a:prstGeom>
          </p:spPr>
          <p:txBody>
            <a:bodyPr anchor="ctr" rtlCol="false" tIns="0" lIns="0" bIns="0" rIns="0"/>
            <a:lstStyle/>
            <a:p>
              <a:pPr algn="l">
                <a:lnSpc>
                  <a:spcPts val="1980"/>
                </a:lnSpc>
              </a:pPr>
              <a:r>
                <a:rPr lang="en-US" sz="1650" i="true">
                  <a:solidFill>
                    <a:srgbClr val="7A9E8E"/>
                  </a:solidFill>
                  <a:latin typeface="Calibri (MS) Italics"/>
                  <a:ea typeface="Calibri (MS) Italics"/>
                  <a:cs typeface="Calibri (MS) Italics"/>
                  <a:sym typeface="Calibri (MS) Italics"/>
                </a:rPr>
                <a:t>Generar un puntaje de riesgo (score) a partir de distintas métricas, y así clasificar el nivel de peligrosidad del mensaje analizado.</a:t>
              </a:r>
            </a:p>
          </p:txBody>
        </p:sp>
      </p:grpSp>
      <p:grpSp>
        <p:nvGrpSpPr>
          <p:cNvPr name="Group 46" id="46"/>
          <p:cNvGrpSpPr/>
          <p:nvPr/>
        </p:nvGrpSpPr>
        <p:grpSpPr>
          <a:xfrm rot="0">
            <a:off x="744855" y="6368415"/>
            <a:ext cx="8180070" cy="1459230"/>
            <a:chOff x="0" y="0"/>
            <a:chExt cx="10906760" cy="1945640"/>
          </a:xfrm>
        </p:grpSpPr>
        <p:sp>
          <p:nvSpPr>
            <p:cNvPr name="Freeform 47" id="47"/>
            <p:cNvSpPr/>
            <p:nvPr/>
          </p:nvSpPr>
          <p:spPr>
            <a:xfrm flipH="false" flipV="false" rot="0">
              <a:off x="0" y="0"/>
              <a:ext cx="10906760" cy="1945640"/>
            </a:xfrm>
            <a:custGeom>
              <a:avLst/>
              <a:gdLst/>
              <a:ahLst/>
              <a:cxnLst/>
              <a:rect r="r" b="b" t="t" l="l"/>
              <a:pathLst>
                <a:path h="1945640" w="10906760">
                  <a:moveTo>
                    <a:pt x="0" y="148209"/>
                  </a:moveTo>
                  <a:cubicBezTo>
                    <a:pt x="0" y="66421"/>
                    <a:pt x="66421" y="0"/>
                    <a:pt x="148209" y="0"/>
                  </a:cubicBezTo>
                  <a:lnTo>
                    <a:pt x="10758551" y="0"/>
                  </a:lnTo>
                  <a:cubicBezTo>
                    <a:pt x="10840466" y="0"/>
                    <a:pt x="10906760" y="66421"/>
                    <a:pt x="10906760" y="148209"/>
                  </a:cubicBezTo>
                  <a:lnTo>
                    <a:pt x="10906760" y="1797431"/>
                  </a:lnTo>
                  <a:cubicBezTo>
                    <a:pt x="10906760" y="1879346"/>
                    <a:pt x="10840339" y="1945640"/>
                    <a:pt x="10758551" y="1945640"/>
                  </a:cubicBezTo>
                  <a:lnTo>
                    <a:pt x="148209" y="1945640"/>
                  </a:lnTo>
                  <a:cubicBezTo>
                    <a:pt x="66421" y="1945640"/>
                    <a:pt x="0" y="1879219"/>
                    <a:pt x="0" y="1797431"/>
                  </a:cubicBezTo>
                  <a:close/>
                </a:path>
              </a:pathLst>
            </a:custGeom>
            <a:solidFill>
              <a:srgbClr val="FFFFFF"/>
            </a:solidFill>
            <a:ln w="19050" cap="sq">
              <a:solidFill>
                <a:srgbClr val="8EB69B"/>
              </a:solidFill>
              <a:prstDash val="solid"/>
              <a:miter/>
            </a:ln>
          </p:spPr>
        </p:sp>
      </p:grpSp>
      <p:grpSp>
        <p:nvGrpSpPr>
          <p:cNvPr name="Group 48" id="48"/>
          <p:cNvGrpSpPr/>
          <p:nvPr/>
        </p:nvGrpSpPr>
        <p:grpSpPr>
          <a:xfrm rot="0">
            <a:off x="960120" y="6720840"/>
            <a:ext cx="754380" cy="754380"/>
            <a:chOff x="0" y="0"/>
            <a:chExt cx="1005840" cy="1005840"/>
          </a:xfrm>
        </p:grpSpPr>
        <p:sp>
          <p:nvSpPr>
            <p:cNvPr name="Freeform 49" id="49"/>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235347"/>
            </a:solidFill>
          </p:spPr>
        </p:sp>
      </p:grpSp>
      <p:grpSp>
        <p:nvGrpSpPr>
          <p:cNvPr name="Group 50" id="50"/>
          <p:cNvGrpSpPr/>
          <p:nvPr/>
        </p:nvGrpSpPr>
        <p:grpSpPr>
          <a:xfrm rot="0">
            <a:off x="1141171" y="6901891"/>
            <a:ext cx="392278" cy="392278"/>
            <a:chOff x="0" y="0"/>
            <a:chExt cx="523037" cy="523037"/>
          </a:xfrm>
        </p:grpSpPr>
        <p:sp>
          <p:nvSpPr>
            <p:cNvPr name="Freeform 51" id="51" descr="/home/claude/sms-security/icons/check_light.png"/>
            <p:cNvSpPr/>
            <p:nvPr/>
          </p:nvSpPr>
          <p:spPr>
            <a:xfrm flipH="false" flipV="false" rot="0">
              <a:off x="0" y="0"/>
              <a:ext cx="522986" cy="522986"/>
            </a:xfrm>
            <a:custGeom>
              <a:avLst/>
              <a:gdLst/>
              <a:ahLst/>
              <a:cxnLst/>
              <a:rect r="r" b="b" t="t" l="l"/>
              <a:pathLst>
                <a:path h="522986" w="522986">
                  <a:moveTo>
                    <a:pt x="0" y="0"/>
                  </a:moveTo>
                  <a:lnTo>
                    <a:pt x="522986" y="0"/>
                  </a:lnTo>
                  <a:lnTo>
                    <a:pt x="522986" y="522986"/>
                  </a:lnTo>
                  <a:lnTo>
                    <a:pt x="0" y="522986"/>
                  </a:lnTo>
                  <a:lnTo>
                    <a:pt x="0" y="0"/>
                  </a:lnTo>
                  <a:close/>
                </a:path>
              </a:pathLst>
            </a:custGeom>
            <a:blipFill>
              <a:blip r:embed="rId6"/>
              <a:stretch>
                <a:fillRect l="0" t="0" r="-9" b="-9"/>
              </a:stretch>
            </a:blipFill>
          </p:spPr>
        </p:sp>
      </p:grpSp>
      <p:grpSp>
        <p:nvGrpSpPr>
          <p:cNvPr name="Group 52" id="52"/>
          <p:cNvGrpSpPr/>
          <p:nvPr/>
        </p:nvGrpSpPr>
        <p:grpSpPr>
          <a:xfrm rot="0">
            <a:off x="1920240" y="6515100"/>
            <a:ext cx="6789420" cy="1165860"/>
            <a:chOff x="0" y="0"/>
            <a:chExt cx="9052560" cy="1554480"/>
          </a:xfrm>
        </p:grpSpPr>
        <p:sp>
          <p:nvSpPr>
            <p:cNvPr name="Freeform 53" id="53"/>
            <p:cNvSpPr/>
            <p:nvPr/>
          </p:nvSpPr>
          <p:spPr>
            <a:xfrm flipH="false" flipV="false" rot="0">
              <a:off x="0" y="0"/>
              <a:ext cx="9052560" cy="1554480"/>
            </a:xfrm>
            <a:custGeom>
              <a:avLst/>
              <a:gdLst/>
              <a:ahLst/>
              <a:cxnLst/>
              <a:rect r="r" b="b" t="t" l="l"/>
              <a:pathLst>
                <a:path h="1554480" w="9052560">
                  <a:moveTo>
                    <a:pt x="0" y="0"/>
                  </a:moveTo>
                  <a:lnTo>
                    <a:pt x="9052560" y="0"/>
                  </a:lnTo>
                  <a:lnTo>
                    <a:pt x="9052560" y="1554480"/>
                  </a:lnTo>
                  <a:lnTo>
                    <a:pt x="0" y="1554480"/>
                  </a:lnTo>
                  <a:close/>
                </a:path>
              </a:pathLst>
            </a:custGeom>
            <a:blipFill>
              <a:blip r:embed="rId4">
                <a:alphaModFix amt="0"/>
              </a:blip>
              <a:stretch>
                <a:fillRect l="0" t="-63471" r="0" b="-63471"/>
              </a:stretch>
            </a:blipFill>
          </p:spPr>
        </p:sp>
        <p:sp>
          <p:nvSpPr>
            <p:cNvPr name="TextBox 54" id="54"/>
            <p:cNvSpPr txBox="true"/>
            <p:nvPr/>
          </p:nvSpPr>
          <p:spPr>
            <a:xfrm>
              <a:off x="0" y="-28575"/>
              <a:ext cx="9052560" cy="1583055"/>
            </a:xfrm>
            <a:prstGeom prst="rect">
              <a:avLst/>
            </a:prstGeom>
          </p:spPr>
          <p:txBody>
            <a:bodyPr anchor="ctr" rtlCol="false" tIns="0" lIns="0" bIns="0" rIns="0"/>
            <a:lstStyle/>
            <a:p>
              <a:pPr algn="l">
                <a:lnSpc>
                  <a:spcPts val="1980"/>
                </a:lnSpc>
              </a:pPr>
              <a:r>
                <a:rPr lang="en-US" sz="1650" i="true">
                  <a:solidFill>
                    <a:srgbClr val="7A9E8E"/>
                  </a:solidFill>
                  <a:latin typeface="Calibri (MS) Italics"/>
                  <a:ea typeface="Calibri (MS) Italics"/>
                  <a:cs typeface="Calibri (MS) Italics"/>
                  <a:sym typeface="Calibri (MS) Italics"/>
                </a:rPr>
                <a:t>Verificar la reputación y antigüedad de los enlaces presentes en los SMS mediante la API de VirusTotal y los protocolos RDAP y WHOIS, para detectar dominios maliciosos o de reciente creación, incluyendo dominios .cl.</a:t>
              </a:r>
            </a:p>
          </p:txBody>
        </p:sp>
      </p:grpSp>
      <p:grpSp>
        <p:nvGrpSpPr>
          <p:cNvPr name="Group 55" id="55"/>
          <p:cNvGrpSpPr/>
          <p:nvPr/>
        </p:nvGrpSpPr>
        <p:grpSpPr>
          <a:xfrm rot="0">
            <a:off x="9385935" y="6368415"/>
            <a:ext cx="8180070" cy="1459230"/>
            <a:chOff x="0" y="0"/>
            <a:chExt cx="10906760" cy="1945640"/>
          </a:xfrm>
        </p:grpSpPr>
        <p:sp>
          <p:nvSpPr>
            <p:cNvPr name="Freeform 56" id="56"/>
            <p:cNvSpPr/>
            <p:nvPr/>
          </p:nvSpPr>
          <p:spPr>
            <a:xfrm flipH="false" flipV="false" rot="0">
              <a:off x="0" y="0"/>
              <a:ext cx="10906760" cy="1945640"/>
            </a:xfrm>
            <a:custGeom>
              <a:avLst/>
              <a:gdLst/>
              <a:ahLst/>
              <a:cxnLst/>
              <a:rect r="r" b="b" t="t" l="l"/>
              <a:pathLst>
                <a:path h="1945640" w="10906760">
                  <a:moveTo>
                    <a:pt x="0" y="148209"/>
                  </a:moveTo>
                  <a:cubicBezTo>
                    <a:pt x="0" y="66421"/>
                    <a:pt x="66421" y="0"/>
                    <a:pt x="148209" y="0"/>
                  </a:cubicBezTo>
                  <a:lnTo>
                    <a:pt x="10758551" y="0"/>
                  </a:lnTo>
                  <a:cubicBezTo>
                    <a:pt x="10840466" y="0"/>
                    <a:pt x="10906760" y="66421"/>
                    <a:pt x="10906760" y="148209"/>
                  </a:cubicBezTo>
                  <a:lnTo>
                    <a:pt x="10906760" y="1797431"/>
                  </a:lnTo>
                  <a:cubicBezTo>
                    <a:pt x="10906760" y="1879346"/>
                    <a:pt x="10840339" y="1945640"/>
                    <a:pt x="10758551" y="1945640"/>
                  </a:cubicBezTo>
                  <a:lnTo>
                    <a:pt x="148209" y="1945640"/>
                  </a:lnTo>
                  <a:cubicBezTo>
                    <a:pt x="66421" y="1945640"/>
                    <a:pt x="0" y="1879219"/>
                    <a:pt x="0" y="1797431"/>
                  </a:cubicBezTo>
                  <a:close/>
                </a:path>
              </a:pathLst>
            </a:custGeom>
            <a:solidFill>
              <a:srgbClr val="FFFFFF"/>
            </a:solidFill>
            <a:ln w="19050" cap="sq">
              <a:solidFill>
                <a:srgbClr val="8EB69B"/>
              </a:solidFill>
              <a:prstDash val="solid"/>
              <a:miter/>
            </a:ln>
          </p:spPr>
        </p:sp>
      </p:grpSp>
      <p:grpSp>
        <p:nvGrpSpPr>
          <p:cNvPr name="Group 57" id="57"/>
          <p:cNvGrpSpPr/>
          <p:nvPr/>
        </p:nvGrpSpPr>
        <p:grpSpPr>
          <a:xfrm rot="0">
            <a:off x="9601200" y="6720840"/>
            <a:ext cx="754380" cy="754380"/>
            <a:chOff x="0" y="0"/>
            <a:chExt cx="1005840" cy="1005840"/>
          </a:xfrm>
        </p:grpSpPr>
        <p:sp>
          <p:nvSpPr>
            <p:cNvPr name="Freeform 58" id="58"/>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235347"/>
            </a:solidFill>
          </p:spPr>
        </p:sp>
      </p:grpSp>
      <p:grpSp>
        <p:nvGrpSpPr>
          <p:cNvPr name="Group 59" id="59"/>
          <p:cNvGrpSpPr/>
          <p:nvPr/>
        </p:nvGrpSpPr>
        <p:grpSpPr>
          <a:xfrm rot="0">
            <a:off x="9782251" y="6901891"/>
            <a:ext cx="392278" cy="392278"/>
            <a:chOff x="0" y="0"/>
            <a:chExt cx="523037" cy="523037"/>
          </a:xfrm>
        </p:grpSpPr>
        <p:sp>
          <p:nvSpPr>
            <p:cNvPr name="Freeform 60" id="60" descr="/home/claude/sms-security/icons/check_light.png"/>
            <p:cNvSpPr/>
            <p:nvPr/>
          </p:nvSpPr>
          <p:spPr>
            <a:xfrm flipH="false" flipV="false" rot="0">
              <a:off x="0" y="0"/>
              <a:ext cx="522986" cy="522986"/>
            </a:xfrm>
            <a:custGeom>
              <a:avLst/>
              <a:gdLst/>
              <a:ahLst/>
              <a:cxnLst/>
              <a:rect r="r" b="b" t="t" l="l"/>
              <a:pathLst>
                <a:path h="522986" w="522986">
                  <a:moveTo>
                    <a:pt x="0" y="0"/>
                  </a:moveTo>
                  <a:lnTo>
                    <a:pt x="522986" y="0"/>
                  </a:lnTo>
                  <a:lnTo>
                    <a:pt x="522986" y="522986"/>
                  </a:lnTo>
                  <a:lnTo>
                    <a:pt x="0" y="522986"/>
                  </a:lnTo>
                  <a:lnTo>
                    <a:pt x="0" y="0"/>
                  </a:lnTo>
                  <a:close/>
                </a:path>
              </a:pathLst>
            </a:custGeom>
            <a:blipFill>
              <a:blip r:embed="rId6"/>
              <a:stretch>
                <a:fillRect l="0" t="0" r="-9" b="-9"/>
              </a:stretch>
            </a:blipFill>
          </p:spPr>
        </p:sp>
      </p:grpSp>
      <p:grpSp>
        <p:nvGrpSpPr>
          <p:cNvPr name="Group 61" id="61"/>
          <p:cNvGrpSpPr/>
          <p:nvPr/>
        </p:nvGrpSpPr>
        <p:grpSpPr>
          <a:xfrm rot="0">
            <a:off x="10561320" y="6515100"/>
            <a:ext cx="6789420" cy="1165860"/>
            <a:chOff x="0" y="0"/>
            <a:chExt cx="9052560" cy="1554480"/>
          </a:xfrm>
        </p:grpSpPr>
        <p:sp>
          <p:nvSpPr>
            <p:cNvPr name="Freeform 62" id="62"/>
            <p:cNvSpPr/>
            <p:nvPr/>
          </p:nvSpPr>
          <p:spPr>
            <a:xfrm flipH="false" flipV="false" rot="0">
              <a:off x="0" y="0"/>
              <a:ext cx="9052560" cy="1554480"/>
            </a:xfrm>
            <a:custGeom>
              <a:avLst/>
              <a:gdLst/>
              <a:ahLst/>
              <a:cxnLst/>
              <a:rect r="r" b="b" t="t" l="l"/>
              <a:pathLst>
                <a:path h="1554480" w="9052560">
                  <a:moveTo>
                    <a:pt x="0" y="0"/>
                  </a:moveTo>
                  <a:lnTo>
                    <a:pt x="9052560" y="0"/>
                  </a:lnTo>
                  <a:lnTo>
                    <a:pt x="9052560" y="1554480"/>
                  </a:lnTo>
                  <a:lnTo>
                    <a:pt x="0" y="1554480"/>
                  </a:lnTo>
                  <a:close/>
                </a:path>
              </a:pathLst>
            </a:custGeom>
            <a:blipFill>
              <a:blip r:embed="rId4">
                <a:alphaModFix amt="0"/>
              </a:blip>
              <a:stretch>
                <a:fillRect l="0" t="-63471" r="0" b="-63471"/>
              </a:stretch>
            </a:blipFill>
          </p:spPr>
        </p:sp>
        <p:sp>
          <p:nvSpPr>
            <p:cNvPr name="TextBox 63" id="63"/>
            <p:cNvSpPr txBox="true"/>
            <p:nvPr/>
          </p:nvSpPr>
          <p:spPr>
            <a:xfrm>
              <a:off x="0" y="-28575"/>
              <a:ext cx="9052560" cy="1583055"/>
            </a:xfrm>
            <a:prstGeom prst="rect">
              <a:avLst/>
            </a:prstGeom>
          </p:spPr>
          <p:txBody>
            <a:bodyPr anchor="ctr" rtlCol="false" tIns="0" lIns="0" bIns="0" rIns="0"/>
            <a:lstStyle/>
            <a:p>
              <a:pPr algn="l">
                <a:lnSpc>
                  <a:spcPts val="1980"/>
                </a:lnSpc>
              </a:pPr>
              <a:r>
                <a:rPr lang="en-US" sz="1650" i="true">
                  <a:solidFill>
                    <a:srgbClr val="7A9E8E"/>
                  </a:solidFill>
                  <a:latin typeface="Calibri (MS) Italics"/>
                  <a:ea typeface="Calibri (MS) Italics"/>
                  <a:cs typeface="Calibri (MS) Italics"/>
                  <a:sym typeface="Calibri (MS) Italics"/>
                </a:rPr>
                <a:t>Desarrollar una aplicación móvil para Android, para todos los habitantes de Chile, especialmente a personas de la tercera edad, que permita analizar mensajes de forma simple e intuitiva.</a:t>
              </a:r>
            </a:p>
          </p:txBody>
        </p:sp>
      </p:grpSp>
      <p:grpSp>
        <p:nvGrpSpPr>
          <p:cNvPr name="Group 64" id="64"/>
          <p:cNvGrpSpPr/>
          <p:nvPr/>
        </p:nvGrpSpPr>
        <p:grpSpPr>
          <a:xfrm rot="0">
            <a:off x="17053103" y="9601200"/>
            <a:ext cx="822960" cy="480060"/>
            <a:chOff x="0" y="0"/>
            <a:chExt cx="1097280" cy="640080"/>
          </a:xfrm>
        </p:grpSpPr>
        <p:sp>
          <p:nvSpPr>
            <p:cNvPr name="Freeform 65" id="65"/>
            <p:cNvSpPr/>
            <p:nvPr/>
          </p:nvSpPr>
          <p:spPr>
            <a:xfrm flipH="false" flipV="false" rot="0">
              <a:off x="0" y="0"/>
              <a:ext cx="1097280" cy="640080"/>
            </a:xfrm>
            <a:custGeom>
              <a:avLst/>
              <a:gdLst/>
              <a:ahLst/>
              <a:cxnLst/>
              <a:rect r="r" b="b" t="t" l="l"/>
              <a:pathLst>
                <a:path h="640080" w="1097280">
                  <a:moveTo>
                    <a:pt x="0" y="0"/>
                  </a:moveTo>
                  <a:lnTo>
                    <a:pt x="1097280" y="0"/>
                  </a:lnTo>
                  <a:lnTo>
                    <a:pt x="1097280" y="640080"/>
                  </a:lnTo>
                  <a:lnTo>
                    <a:pt x="0" y="640080"/>
                  </a:lnTo>
                  <a:close/>
                </a:path>
              </a:pathLst>
            </a:custGeom>
            <a:blipFill>
              <a:blip r:embed="rId4">
                <a:alphaModFix amt="0"/>
              </a:blip>
              <a:stretch>
                <a:fillRect l="-24843" t="0" r="-24843" b="0"/>
              </a:stretch>
            </a:blipFill>
          </p:spPr>
        </p:sp>
        <p:sp>
          <p:nvSpPr>
            <p:cNvPr name="TextBox 66" id="66"/>
            <p:cNvSpPr txBox="true"/>
            <p:nvPr/>
          </p:nvSpPr>
          <p:spPr>
            <a:xfrm>
              <a:off x="0" y="-38100"/>
              <a:ext cx="1097280" cy="678180"/>
            </a:xfrm>
            <a:prstGeom prst="rect">
              <a:avLst/>
            </a:prstGeom>
          </p:spPr>
          <p:txBody>
            <a:bodyPr anchor="ctr" rtlCol="false" tIns="0" lIns="0" bIns="0" rIns="0"/>
            <a:lstStyle/>
            <a:p>
              <a:pPr algn="r">
                <a:lnSpc>
                  <a:spcPts val="1800"/>
                </a:lnSpc>
              </a:pPr>
              <a:r>
                <a:rPr lang="en-US" sz="1500">
                  <a:solidFill>
                    <a:srgbClr val="235347"/>
                  </a:solidFill>
                  <a:latin typeface="Calibri (MS)"/>
                  <a:ea typeface="Calibri (MS)"/>
                  <a:cs typeface="Calibri (MS)"/>
                  <a:sym typeface="Calibri (MS)"/>
                </a:rPr>
                <a:t>05</a:t>
              </a:r>
            </a:p>
          </p:txBody>
        </p:sp>
      </p:grpSp>
      <p:grpSp>
        <p:nvGrpSpPr>
          <p:cNvPr name="Group 67" id="67"/>
          <p:cNvGrpSpPr/>
          <p:nvPr/>
        </p:nvGrpSpPr>
        <p:grpSpPr>
          <a:xfrm rot="0">
            <a:off x="754380" y="8103870"/>
            <a:ext cx="8180070" cy="1459230"/>
            <a:chOff x="0" y="0"/>
            <a:chExt cx="10906760" cy="1945640"/>
          </a:xfrm>
        </p:grpSpPr>
        <p:sp>
          <p:nvSpPr>
            <p:cNvPr name="Freeform 68" id="68"/>
            <p:cNvSpPr/>
            <p:nvPr/>
          </p:nvSpPr>
          <p:spPr>
            <a:xfrm flipH="false" flipV="false" rot="0">
              <a:off x="0" y="0"/>
              <a:ext cx="10906760" cy="1945640"/>
            </a:xfrm>
            <a:custGeom>
              <a:avLst/>
              <a:gdLst/>
              <a:ahLst/>
              <a:cxnLst/>
              <a:rect r="r" b="b" t="t" l="l"/>
              <a:pathLst>
                <a:path h="1945640" w="10906760">
                  <a:moveTo>
                    <a:pt x="0" y="148209"/>
                  </a:moveTo>
                  <a:cubicBezTo>
                    <a:pt x="0" y="66421"/>
                    <a:pt x="66421" y="0"/>
                    <a:pt x="148209" y="0"/>
                  </a:cubicBezTo>
                  <a:lnTo>
                    <a:pt x="10758551" y="0"/>
                  </a:lnTo>
                  <a:cubicBezTo>
                    <a:pt x="10840466" y="0"/>
                    <a:pt x="10906760" y="66421"/>
                    <a:pt x="10906760" y="148209"/>
                  </a:cubicBezTo>
                  <a:lnTo>
                    <a:pt x="10906760" y="1797431"/>
                  </a:lnTo>
                  <a:cubicBezTo>
                    <a:pt x="10906760" y="1879346"/>
                    <a:pt x="10840339" y="1945640"/>
                    <a:pt x="10758551" y="1945640"/>
                  </a:cubicBezTo>
                  <a:lnTo>
                    <a:pt x="148209" y="1945640"/>
                  </a:lnTo>
                  <a:cubicBezTo>
                    <a:pt x="66421" y="1945640"/>
                    <a:pt x="0" y="1879219"/>
                    <a:pt x="0" y="1797431"/>
                  </a:cubicBezTo>
                  <a:close/>
                </a:path>
              </a:pathLst>
            </a:custGeom>
            <a:solidFill>
              <a:srgbClr val="FFFFFF"/>
            </a:solidFill>
            <a:ln w="19050" cap="sq">
              <a:solidFill>
                <a:srgbClr val="8EB69B"/>
              </a:solidFill>
              <a:prstDash val="solid"/>
              <a:miter/>
            </a:ln>
          </p:spPr>
        </p:sp>
      </p:grpSp>
      <p:grpSp>
        <p:nvGrpSpPr>
          <p:cNvPr name="Group 69" id="69"/>
          <p:cNvGrpSpPr/>
          <p:nvPr/>
        </p:nvGrpSpPr>
        <p:grpSpPr>
          <a:xfrm rot="0">
            <a:off x="969645" y="8456295"/>
            <a:ext cx="754380" cy="754380"/>
            <a:chOff x="0" y="0"/>
            <a:chExt cx="1005840" cy="1005840"/>
          </a:xfrm>
        </p:grpSpPr>
        <p:sp>
          <p:nvSpPr>
            <p:cNvPr name="Freeform 70" id="70"/>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235347"/>
            </a:solidFill>
          </p:spPr>
        </p:sp>
      </p:grpSp>
      <p:grpSp>
        <p:nvGrpSpPr>
          <p:cNvPr name="Group 71" id="71"/>
          <p:cNvGrpSpPr/>
          <p:nvPr/>
        </p:nvGrpSpPr>
        <p:grpSpPr>
          <a:xfrm rot="0">
            <a:off x="1150696" y="8637346"/>
            <a:ext cx="392278" cy="392278"/>
            <a:chOff x="0" y="0"/>
            <a:chExt cx="523037" cy="523037"/>
          </a:xfrm>
        </p:grpSpPr>
        <p:sp>
          <p:nvSpPr>
            <p:cNvPr name="Freeform 72" id="72" descr="/home/claude/sms-security/icons/check_light.png"/>
            <p:cNvSpPr/>
            <p:nvPr/>
          </p:nvSpPr>
          <p:spPr>
            <a:xfrm flipH="false" flipV="false" rot="0">
              <a:off x="0" y="0"/>
              <a:ext cx="522986" cy="522986"/>
            </a:xfrm>
            <a:custGeom>
              <a:avLst/>
              <a:gdLst/>
              <a:ahLst/>
              <a:cxnLst/>
              <a:rect r="r" b="b" t="t" l="l"/>
              <a:pathLst>
                <a:path h="522986" w="522986">
                  <a:moveTo>
                    <a:pt x="0" y="0"/>
                  </a:moveTo>
                  <a:lnTo>
                    <a:pt x="522986" y="0"/>
                  </a:lnTo>
                  <a:lnTo>
                    <a:pt x="522986" y="522986"/>
                  </a:lnTo>
                  <a:lnTo>
                    <a:pt x="0" y="522986"/>
                  </a:lnTo>
                  <a:lnTo>
                    <a:pt x="0" y="0"/>
                  </a:lnTo>
                  <a:close/>
                </a:path>
              </a:pathLst>
            </a:custGeom>
            <a:blipFill>
              <a:blip r:embed="rId6"/>
              <a:stretch>
                <a:fillRect l="0" t="0" r="-9" b="-9"/>
              </a:stretch>
            </a:blipFill>
          </p:spPr>
        </p:sp>
      </p:grpSp>
      <p:grpSp>
        <p:nvGrpSpPr>
          <p:cNvPr name="Group 73" id="73"/>
          <p:cNvGrpSpPr/>
          <p:nvPr/>
        </p:nvGrpSpPr>
        <p:grpSpPr>
          <a:xfrm rot="0">
            <a:off x="1929765" y="8250555"/>
            <a:ext cx="6789420" cy="1165860"/>
            <a:chOff x="0" y="0"/>
            <a:chExt cx="9052560" cy="1554480"/>
          </a:xfrm>
        </p:grpSpPr>
        <p:sp>
          <p:nvSpPr>
            <p:cNvPr name="Freeform 74" id="74"/>
            <p:cNvSpPr/>
            <p:nvPr/>
          </p:nvSpPr>
          <p:spPr>
            <a:xfrm flipH="false" flipV="false" rot="0">
              <a:off x="0" y="0"/>
              <a:ext cx="9052560" cy="1554480"/>
            </a:xfrm>
            <a:custGeom>
              <a:avLst/>
              <a:gdLst/>
              <a:ahLst/>
              <a:cxnLst/>
              <a:rect r="r" b="b" t="t" l="l"/>
              <a:pathLst>
                <a:path h="1554480" w="9052560">
                  <a:moveTo>
                    <a:pt x="0" y="0"/>
                  </a:moveTo>
                  <a:lnTo>
                    <a:pt x="9052560" y="0"/>
                  </a:lnTo>
                  <a:lnTo>
                    <a:pt x="9052560" y="1554480"/>
                  </a:lnTo>
                  <a:lnTo>
                    <a:pt x="0" y="1554480"/>
                  </a:lnTo>
                  <a:close/>
                </a:path>
              </a:pathLst>
            </a:custGeom>
            <a:blipFill>
              <a:blip r:embed="rId4">
                <a:alphaModFix amt="0"/>
              </a:blip>
              <a:stretch>
                <a:fillRect l="0" t="-63471" r="0" b="-63471"/>
              </a:stretch>
            </a:blipFill>
          </p:spPr>
        </p:sp>
        <p:sp>
          <p:nvSpPr>
            <p:cNvPr name="TextBox 75" id="75"/>
            <p:cNvSpPr txBox="true"/>
            <p:nvPr/>
          </p:nvSpPr>
          <p:spPr>
            <a:xfrm>
              <a:off x="0" y="-28575"/>
              <a:ext cx="9052560" cy="1583055"/>
            </a:xfrm>
            <a:prstGeom prst="rect">
              <a:avLst/>
            </a:prstGeom>
          </p:spPr>
          <p:txBody>
            <a:bodyPr anchor="ctr" rtlCol="false" tIns="0" lIns="0" bIns="0" rIns="0"/>
            <a:lstStyle/>
            <a:p>
              <a:pPr algn="l">
                <a:lnSpc>
                  <a:spcPts val="1980"/>
                </a:lnSpc>
              </a:pPr>
              <a:r>
                <a:rPr lang="en-US" sz="1650" i="true">
                  <a:solidFill>
                    <a:srgbClr val="7A9E8E"/>
                  </a:solidFill>
                  <a:latin typeface="Calibri (MS) Italics"/>
                  <a:ea typeface="Calibri (MS) Italics"/>
                  <a:cs typeface="Calibri (MS) Italics"/>
                  <a:sym typeface="Calibri (MS) Italics"/>
                </a:rPr>
                <a:t>Implementar un chatbot educativo que explique en palabras simples los resultados del análisis y brinde recomendaciones de seguridad al usuario, dependiendo del mensaje recibido.</a:t>
              </a:r>
            </a:p>
          </p:txBody>
        </p:sp>
      </p:grpSp>
      <p:grpSp>
        <p:nvGrpSpPr>
          <p:cNvPr name="Group 76" id="76"/>
          <p:cNvGrpSpPr/>
          <p:nvPr/>
        </p:nvGrpSpPr>
        <p:grpSpPr>
          <a:xfrm rot="0">
            <a:off x="9385935" y="8103870"/>
            <a:ext cx="8180070" cy="1459230"/>
            <a:chOff x="0" y="0"/>
            <a:chExt cx="10906760" cy="1945640"/>
          </a:xfrm>
        </p:grpSpPr>
        <p:sp>
          <p:nvSpPr>
            <p:cNvPr name="Freeform 77" id="77"/>
            <p:cNvSpPr/>
            <p:nvPr/>
          </p:nvSpPr>
          <p:spPr>
            <a:xfrm flipH="false" flipV="false" rot="0">
              <a:off x="0" y="0"/>
              <a:ext cx="10906760" cy="1945640"/>
            </a:xfrm>
            <a:custGeom>
              <a:avLst/>
              <a:gdLst/>
              <a:ahLst/>
              <a:cxnLst/>
              <a:rect r="r" b="b" t="t" l="l"/>
              <a:pathLst>
                <a:path h="1945640" w="10906760">
                  <a:moveTo>
                    <a:pt x="0" y="148209"/>
                  </a:moveTo>
                  <a:cubicBezTo>
                    <a:pt x="0" y="66421"/>
                    <a:pt x="66421" y="0"/>
                    <a:pt x="148209" y="0"/>
                  </a:cubicBezTo>
                  <a:lnTo>
                    <a:pt x="10758551" y="0"/>
                  </a:lnTo>
                  <a:cubicBezTo>
                    <a:pt x="10840466" y="0"/>
                    <a:pt x="10906760" y="66421"/>
                    <a:pt x="10906760" y="148209"/>
                  </a:cubicBezTo>
                  <a:lnTo>
                    <a:pt x="10906760" y="1797431"/>
                  </a:lnTo>
                  <a:cubicBezTo>
                    <a:pt x="10906760" y="1879346"/>
                    <a:pt x="10840339" y="1945640"/>
                    <a:pt x="10758551" y="1945640"/>
                  </a:cubicBezTo>
                  <a:lnTo>
                    <a:pt x="148209" y="1945640"/>
                  </a:lnTo>
                  <a:cubicBezTo>
                    <a:pt x="66421" y="1945640"/>
                    <a:pt x="0" y="1879219"/>
                    <a:pt x="0" y="1797431"/>
                  </a:cubicBezTo>
                  <a:close/>
                </a:path>
              </a:pathLst>
            </a:custGeom>
            <a:solidFill>
              <a:srgbClr val="FFFFFF"/>
            </a:solidFill>
            <a:ln w="19050" cap="sq">
              <a:solidFill>
                <a:srgbClr val="8EB69B"/>
              </a:solidFill>
              <a:prstDash val="solid"/>
              <a:miter/>
            </a:ln>
          </p:spPr>
        </p:sp>
      </p:grpSp>
      <p:grpSp>
        <p:nvGrpSpPr>
          <p:cNvPr name="Group 78" id="78"/>
          <p:cNvGrpSpPr/>
          <p:nvPr/>
        </p:nvGrpSpPr>
        <p:grpSpPr>
          <a:xfrm rot="0">
            <a:off x="9601200" y="8456295"/>
            <a:ext cx="754380" cy="754380"/>
            <a:chOff x="0" y="0"/>
            <a:chExt cx="1005840" cy="1005840"/>
          </a:xfrm>
        </p:grpSpPr>
        <p:sp>
          <p:nvSpPr>
            <p:cNvPr name="Freeform 79" id="79"/>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235347"/>
            </a:solidFill>
          </p:spPr>
        </p:sp>
      </p:grpSp>
      <p:grpSp>
        <p:nvGrpSpPr>
          <p:cNvPr name="Group 80" id="80"/>
          <p:cNvGrpSpPr/>
          <p:nvPr/>
        </p:nvGrpSpPr>
        <p:grpSpPr>
          <a:xfrm rot="0">
            <a:off x="9782251" y="8637346"/>
            <a:ext cx="392278" cy="392278"/>
            <a:chOff x="0" y="0"/>
            <a:chExt cx="523037" cy="523037"/>
          </a:xfrm>
        </p:grpSpPr>
        <p:sp>
          <p:nvSpPr>
            <p:cNvPr name="Freeform 81" id="81" descr="/home/claude/sms-security/icons/check_light.png"/>
            <p:cNvSpPr/>
            <p:nvPr/>
          </p:nvSpPr>
          <p:spPr>
            <a:xfrm flipH="false" flipV="false" rot="0">
              <a:off x="0" y="0"/>
              <a:ext cx="522986" cy="522986"/>
            </a:xfrm>
            <a:custGeom>
              <a:avLst/>
              <a:gdLst/>
              <a:ahLst/>
              <a:cxnLst/>
              <a:rect r="r" b="b" t="t" l="l"/>
              <a:pathLst>
                <a:path h="522986" w="522986">
                  <a:moveTo>
                    <a:pt x="0" y="0"/>
                  </a:moveTo>
                  <a:lnTo>
                    <a:pt x="522986" y="0"/>
                  </a:lnTo>
                  <a:lnTo>
                    <a:pt x="522986" y="522986"/>
                  </a:lnTo>
                  <a:lnTo>
                    <a:pt x="0" y="522986"/>
                  </a:lnTo>
                  <a:lnTo>
                    <a:pt x="0" y="0"/>
                  </a:lnTo>
                  <a:close/>
                </a:path>
              </a:pathLst>
            </a:custGeom>
            <a:blipFill>
              <a:blip r:embed="rId6"/>
              <a:stretch>
                <a:fillRect l="0" t="0" r="-9" b="-9"/>
              </a:stretch>
            </a:blipFill>
          </p:spPr>
        </p:sp>
      </p:grpSp>
      <p:grpSp>
        <p:nvGrpSpPr>
          <p:cNvPr name="Group 82" id="82"/>
          <p:cNvGrpSpPr/>
          <p:nvPr/>
        </p:nvGrpSpPr>
        <p:grpSpPr>
          <a:xfrm rot="0">
            <a:off x="10561320" y="8250555"/>
            <a:ext cx="6789420" cy="1165860"/>
            <a:chOff x="0" y="0"/>
            <a:chExt cx="9052560" cy="1554480"/>
          </a:xfrm>
        </p:grpSpPr>
        <p:sp>
          <p:nvSpPr>
            <p:cNvPr name="Freeform 83" id="83"/>
            <p:cNvSpPr/>
            <p:nvPr/>
          </p:nvSpPr>
          <p:spPr>
            <a:xfrm flipH="false" flipV="false" rot="0">
              <a:off x="0" y="0"/>
              <a:ext cx="9052560" cy="1554480"/>
            </a:xfrm>
            <a:custGeom>
              <a:avLst/>
              <a:gdLst/>
              <a:ahLst/>
              <a:cxnLst/>
              <a:rect r="r" b="b" t="t" l="l"/>
              <a:pathLst>
                <a:path h="1554480" w="9052560">
                  <a:moveTo>
                    <a:pt x="0" y="0"/>
                  </a:moveTo>
                  <a:lnTo>
                    <a:pt x="9052560" y="0"/>
                  </a:lnTo>
                  <a:lnTo>
                    <a:pt x="9052560" y="1554480"/>
                  </a:lnTo>
                  <a:lnTo>
                    <a:pt x="0" y="1554480"/>
                  </a:lnTo>
                  <a:close/>
                </a:path>
              </a:pathLst>
            </a:custGeom>
            <a:blipFill>
              <a:blip r:embed="rId4">
                <a:alphaModFix amt="0"/>
              </a:blip>
              <a:stretch>
                <a:fillRect l="0" t="-63471" r="0" b="-63471"/>
              </a:stretch>
            </a:blipFill>
          </p:spPr>
        </p:sp>
        <p:sp>
          <p:nvSpPr>
            <p:cNvPr name="TextBox 84" id="84"/>
            <p:cNvSpPr txBox="true"/>
            <p:nvPr/>
          </p:nvSpPr>
          <p:spPr>
            <a:xfrm>
              <a:off x="0" y="-28575"/>
              <a:ext cx="9052560" cy="1583055"/>
            </a:xfrm>
            <a:prstGeom prst="rect">
              <a:avLst/>
            </a:prstGeom>
          </p:spPr>
          <p:txBody>
            <a:bodyPr anchor="ctr" rtlCol="false" tIns="0" lIns="0" bIns="0" rIns="0"/>
            <a:lstStyle/>
            <a:p>
              <a:pPr algn="l">
                <a:lnSpc>
                  <a:spcPts val="1980"/>
                </a:lnSpc>
              </a:pPr>
              <a:r>
                <a:rPr lang="en-US" sz="1650" i="true">
                  <a:solidFill>
                    <a:srgbClr val="7A9E8E"/>
                  </a:solidFill>
                  <a:latin typeface="Calibri (MS) Italics"/>
                  <a:ea typeface="Calibri (MS) Italics"/>
                  <a:cs typeface="Calibri (MS) Italics"/>
                  <a:sym typeface="Calibri (MS) Italics"/>
                </a:rPr>
                <a:t>Desarrollar un panel de monitoreo interno para el equipo, que permita ver estadísticas de los mensajes anteriormente analizados, categorías de smishing más frecuentes y reportes pendientes de verificación, para futuros estudios.</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51F20"/>
        </a:solidFill>
      </p:bgPr>
    </p:bg>
    <p:spTree>
      <p:nvGrpSpPr>
        <p:cNvPr id="1" name=""/>
        <p:cNvGrpSpPr/>
        <p:nvPr/>
      </p:nvGrpSpPr>
      <p:grpSpPr>
        <a:xfrm>
          <a:off x="0" y="0"/>
          <a:ext cx="0" cy="0"/>
          <a:chOff x="0" y="0"/>
          <a:chExt cx="0" cy="0"/>
        </a:xfrm>
      </p:grpSpPr>
      <p:grpSp>
        <p:nvGrpSpPr>
          <p:cNvPr name="Group 2" id="2"/>
          <p:cNvGrpSpPr/>
          <p:nvPr/>
        </p:nvGrpSpPr>
        <p:grpSpPr>
          <a:xfrm rot="0">
            <a:off x="754380" y="685800"/>
            <a:ext cx="1028700" cy="1028700"/>
            <a:chOff x="0" y="0"/>
            <a:chExt cx="1371600" cy="1371600"/>
          </a:xfrm>
        </p:grpSpPr>
        <p:sp>
          <p:nvSpPr>
            <p:cNvPr name="Freeform 3" id="3"/>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8EB69B"/>
            </a:solidFill>
          </p:spPr>
        </p:sp>
      </p:grpSp>
      <p:grpSp>
        <p:nvGrpSpPr>
          <p:cNvPr name="Group 4" id="4"/>
          <p:cNvGrpSpPr/>
          <p:nvPr/>
        </p:nvGrpSpPr>
        <p:grpSpPr>
          <a:xfrm rot="0">
            <a:off x="1001268" y="932688"/>
            <a:ext cx="534924" cy="534924"/>
            <a:chOff x="0" y="0"/>
            <a:chExt cx="713232" cy="713232"/>
          </a:xfrm>
        </p:grpSpPr>
        <p:sp>
          <p:nvSpPr>
            <p:cNvPr name="Freeform 5" id="5" descr="/home/claude/sms-security/icons/cogs_dark1.png"/>
            <p:cNvSpPr/>
            <p:nvPr/>
          </p:nvSpPr>
          <p:spPr>
            <a:xfrm flipH="false" flipV="false" rot="0">
              <a:off x="0" y="0"/>
              <a:ext cx="713232" cy="713232"/>
            </a:xfrm>
            <a:custGeom>
              <a:avLst/>
              <a:gdLst/>
              <a:ahLst/>
              <a:cxnLst/>
              <a:rect r="r" b="b" t="t" l="l"/>
              <a:pathLst>
                <a:path h="713232" w="713232">
                  <a:moveTo>
                    <a:pt x="0" y="0"/>
                  </a:moveTo>
                  <a:lnTo>
                    <a:pt x="713232" y="0"/>
                  </a:lnTo>
                  <a:lnTo>
                    <a:pt x="713232" y="713232"/>
                  </a:lnTo>
                  <a:lnTo>
                    <a:pt x="0" y="713232"/>
                  </a:lnTo>
                  <a:lnTo>
                    <a:pt x="0" y="0"/>
                  </a:lnTo>
                  <a:close/>
                </a:path>
              </a:pathLst>
            </a:custGeom>
            <a:blipFill>
              <a:blip r:embed="rId2"/>
              <a:stretch>
                <a:fillRect l="0" t="0" r="0" b="0"/>
              </a:stretch>
            </a:blipFill>
          </p:spPr>
        </p:sp>
      </p:grpSp>
      <p:grpSp>
        <p:nvGrpSpPr>
          <p:cNvPr name="Group 6" id="6"/>
          <p:cNvGrpSpPr/>
          <p:nvPr/>
        </p:nvGrpSpPr>
        <p:grpSpPr>
          <a:xfrm rot="0">
            <a:off x="1988820" y="576072"/>
            <a:ext cx="14401800" cy="754380"/>
            <a:chOff x="0" y="0"/>
            <a:chExt cx="19202400" cy="1005840"/>
          </a:xfrm>
        </p:grpSpPr>
        <p:sp>
          <p:nvSpPr>
            <p:cNvPr name="Freeform 7" id="7"/>
            <p:cNvSpPr/>
            <p:nvPr/>
          </p:nvSpPr>
          <p:spPr>
            <a:xfrm flipH="false" flipV="false" rot="0">
              <a:off x="0" y="0"/>
              <a:ext cx="19202400" cy="1005840"/>
            </a:xfrm>
            <a:custGeom>
              <a:avLst/>
              <a:gdLst/>
              <a:ahLst/>
              <a:cxnLst/>
              <a:rect r="r" b="b" t="t" l="l"/>
              <a:pathLst>
                <a:path h="1005840" w="19202400">
                  <a:moveTo>
                    <a:pt x="0" y="0"/>
                  </a:moveTo>
                  <a:lnTo>
                    <a:pt x="19202400" y="0"/>
                  </a:lnTo>
                  <a:lnTo>
                    <a:pt x="19202400" y="1005840"/>
                  </a:lnTo>
                  <a:lnTo>
                    <a:pt x="0" y="1005840"/>
                  </a:lnTo>
                  <a:close/>
                </a:path>
              </a:pathLst>
            </a:custGeom>
            <a:blipFill>
              <a:blip r:embed="rId3">
                <a:alphaModFix amt="0"/>
              </a:blip>
              <a:stretch>
                <a:fillRect l="0" t="-321987" r="0" b="-321987"/>
              </a:stretch>
            </a:blipFill>
          </p:spPr>
        </p:sp>
        <p:sp>
          <p:nvSpPr>
            <p:cNvPr name="TextBox 8" id="8"/>
            <p:cNvSpPr txBox="true"/>
            <p:nvPr/>
          </p:nvSpPr>
          <p:spPr>
            <a:xfrm>
              <a:off x="0" y="-9525"/>
              <a:ext cx="19202400" cy="1015365"/>
            </a:xfrm>
            <a:prstGeom prst="rect">
              <a:avLst/>
            </a:prstGeom>
          </p:spPr>
          <p:txBody>
            <a:bodyPr anchor="ctr" rtlCol="false" tIns="0" lIns="0" bIns="0" rIns="0"/>
            <a:lstStyle/>
            <a:p>
              <a:pPr algn="l">
                <a:lnSpc>
                  <a:spcPts val="5040"/>
                </a:lnSpc>
              </a:pPr>
              <a:r>
                <a:rPr lang="en-US" sz="4200" b="true">
                  <a:solidFill>
                    <a:srgbClr val="DAF1DE"/>
                  </a:solidFill>
                  <a:latin typeface="Cambria Bold"/>
                  <a:ea typeface="Cambria Bold"/>
                  <a:cs typeface="Cambria Bold"/>
                  <a:sym typeface="Cambria Bold"/>
                </a:rPr>
                <a:t>Metodología de Trabajo</a:t>
              </a:r>
            </a:p>
          </p:txBody>
        </p:sp>
      </p:grpSp>
      <p:grpSp>
        <p:nvGrpSpPr>
          <p:cNvPr name="Group 9" id="9"/>
          <p:cNvGrpSpPr/>
          <p:nvPr/>
        </p:nvGrpSpPr>
        <p:grpSpPr>
          <a:xfrm rot="0">
            <a:off x="1988820" y="1303020"/>
            <a:ext cx="14401800" cy="480060"/>
            <a:chOff x="0" y="0"/>
            <a:chExt cx="19202400" cy="640080"/>
          </a:xfrm>
        </p:grpSpPr>
        <p:sp>
          <p:nvSpPr>
            <p:cNvPr name="Freeform 10" id="10"/>
            <p:cNvSpPr/>
            <p:nvPr/>
          </p:nvSpPr>
          <p:spPr>
            <a:xfrm flipH="false" flipV="false" rot="0">
              <a:off x="0" y="0"/>
              <a:ext cx="19202400" cy="640080"/>
            </a:xfrm>
            <a:custGeom>
              <a:avLst/>
              <a:gdLst/>
              <a:ahLst/>
              <a:cxnLst/>
              <a:rect r="r" b="b" t="t" l="l"/>
              <a:pathLst>
                <a:path h="640080" w="19202400">
                  <a:moveTo>
                    <a:pt x="0" y="0"/>
                  </a:moveTo>
                  <a:lnTo>
                    <a:pt x="19202400" y="0"/>
                  </a:lnTo>
                  <a:lnTo>
                    <a:pt x="19202400" y="640080"/>
                  </a:lnTo>
                  <a:lnTo>
                    <a:pt x="0" y="640080"/>
                  </a:lnTo>
                  <a:close/>
                </a:path>
              </a:pathLst>
            </a:custGeom>
            <a:blipFill>
              <a:blip r:embed="rId3">
                <a:alphaModFix amt="0"/>
              </a:blip>
              <a:stretch>
                <a:fillRect l="0" t="-534551" r="0" b="-534551"/>
              </a:stretch>
            </a:blipFill>
          </p:spPr>
        </p:sp>
        <p:sp>
          <p:nvSpPr>
            <p:cNvPr name="TextBox 11" id="11"/>
            <p:cNvSpPr txBox="true"/>
            <p:nvPr/>
          </p:nvSpPr>
          <p:spPr>
            <a:xfrm>
              <a:off x="0" y="-47625"/>
              <a:ext cx="19202400" cy="687705"/>
            </a:xfrm>
            <a:prstGeom prst="rect">
              <a:avLst/>
            </a:prstGeom>
          </p:spPr>
          <p:txBody>
            <a:bodyPr anchor="ctr" rtlCol="false" tIns="0" lIns="0" bIns="0" rIns="0"/>
            <a:lstStyle/>
            <a:p>
              <a:pPr algn="l">
                <a:lnSpc>
                  <a:spcPts val="2340"/>
                </a:lnSpc>
              </a:pPr>
              <a:r>
                <a:rPr lang="en-US" sz="1950" i="true">
                  <a:solidFill>
                    <a:srgbClr val="8EB69B"/>
                  </a:solidFill>
                  <a:latin typeface="Calibri (MS) Italics"/>
                  <a:ea typeface="Calibri (MS) Italics"/>
                  <a:cs typeface="Calibri (MS) Italics"/>
                  <a:sym typeface="Calibri (MS) Italics"/>
                </a:rPr>
                <a:t>Etapas del proceso y roles del equipo</a:t>
              </a:r>
            </a:p>
          </p:txBody>
        </p:sp>
      </p:grpSp>
      <p:grpSp>
        <p:nvGrpSpPr>
          <p:cNvPr name="Group 12" id="12"/>
          <p:cNvGrpSpPr/>
          <p:nvPr/>
        </p:nvGrpSpPr>
        <p:grpSpPr>
          <a:xfrm rot="0">
            <a:off x="754380" y="6377940"/>
            <a:ext cx="6858000" cy="411480"/>
            <a:chOff x="0" y="0"/>
            <a:chExt cx="9144000" cy="548640"/>
          </a:xfrm>
        </p:grpSpPr>
        <p:sp>
          <p:nvSpPr>
            <p:cNvPr name="Freeform 13" id="13"/>
            <p:cNvSpPr/>
            <p:nvPr/>
          </p:nvSpPr>
          <p:spPr>
            <a:xfrm flipH="false" flipV="false" rot="0">
              <a:off x="0" y="0"/>
              <a:ext cx="9144000" cy="548640"/>
            </a:xfrm>
            <a:custGeom>
              <a:avLst/>
              <a:gdLst/>
              <a:ahLst/>
              <a:cxnLst/>
              <a:rect r="r" b="b" t="t" l="l"/>
              <a:pathLst>
                <a:path h="548640" w="9144000">
                  <a:moveTo>
                    <a:pt x="0" y="0"/>
                  </a:moveTo>
                  <a:lnTo>
                    <a:pt x="9144000" y="0"/>
                  </a:lnTo>
                  <a:lnTo>
                    <a:pt x="9144000" y="548640"/>
                  </a:lnTo>
                  <a:lnTo>
                    <a:pt x="0" y="548640"/>
                  </a:lnTo>
                  <a:close/>
                </a:path>
              </a:pathLst>
            </a:custGeom>
            <a:blipFill>
              <a:blip r:embed="rId3">
                <a:alphaModFix amt="0"/>
              </a:blip>
              <a:stretch>
                <a:fillRect l="0" t="-274750" r="0" b="-274750"/>
              </a:stretch>
            </a:blipFill>
          </p:spPr>
        </p:sp>
        <p:sp>
          <p:nvSpPr>
            <p:cNvPr name="TextBox 14" id="14"/>
            <p:cNvSpPr txBox="true"/>
            <p:nvPr/>
          </p:nvSpPr>
          <p:spPr>
            <a:xfrm>
              <a:off x="0" y="-28575"/>
              <a:ext cx="9144000" cy="577215"/>
            </a:xfrm>
            <a:prstGeom prst="rect">
              <a:avLst/>
            </a:prstGeom>
          </p:spPr>
          <p:txBody>
            <a:bodyPr anchor="ctr" rtlCol="false" tIns="0" lIns="0" bIns="0" rIns="0"/>
            <a:lstStyle/>
            <a:p>
              <a:pPr algn="l">
                <a:lnSpc>
                  <a:spcPts val="1980"/>
                </a:lnSpc>
              </a:pPr>
              <a:r>
                <a:rPr lang="en-US" b="true" sz="1650" spc="150">
                  <a:solidFill>
                    <a:srgbClr val="8EB69B"/>
                  </a:solidFill>
                  <a:latin typeface="Calibri (MS) Bold"/>
                  <a:ea typeface="Calibri (MS) Bold"/>
                  <a:cs typeface="Calibri (MS) Bold"/>
                  <a:sym typeface="Calibri (MS) Bold"/>
                </a:rPr>
                <a:t>ROLES DEL EQUIPO</a:t>
              </a:r>
            </a:p>
          </p:txBody>
        </p:sp>
      </p:grpSp>
      <p:grpSp>
        <p:nvGrpSpPr>
          <p:cNvPr name="Group 15" id="15"/>
          <p:cNvGrpSpPr/>
          <p:nvPr/>
        </p:nvGrpSpPr>
        <p:grpSpPr>
          <a:xfrm rot="0">
            <a:off x="754380" y="6858000"/>
            <a:ext cx="5417820" cy="2537460"/>
            <a:chOff x="0" y="0"/>
            <a:chExt cx="7223760" cy="3383280"/>
          </a:xfrm>
        </p:grpSpPr>
        <p:sp>
          <p:nvSpPr>
            <p:cNvPr name="Freeform 16" id="16"/>
            <p:cNvSpPr/>
            <p:nvPr/>
          </p:nvSpPr>
          <p:spPr>
            <a:xfrm flipH="false" flipV="false" rot="0">
              <a:off x="0" y="0"/>
              <a:ext cx="7223760" cy="3383280"/>
            </a:xfrm>
            <a:custGeom>
              <a:avLst/>
              <a:gdLst/>
              <a:ahLst/>
              <a:cxnLst/>
              <a:rect r="r" b="b" t="t" l="l"/>
              <a:pathLst>
                <a:path h="3383280" w="7223760">
                  <a:moveTo>
                    <a:pt x="0" y="182880"/>
                  </a:moveTo>
                  <a:cubicBezTo>
                    <a:pt x="0" y="81915"/>
                    <a:pt x="81915" y="0"/>
                    <a:pt x="182880" y="0"/>
                  </a:cubicBezTo>
                  <a:lnTo>
                    <a:pt x="7040880" y="0"/>
                  </a:lnTo>
                  <a:cubicBezTo>
                    <a:pt x="7141845" y="0"/>
                    <a:pt x="7223760" y="81915"/>
                    <a:pt x="7223760" y="182880"/>
                  </a:cubicBezTo>
                  <a:lnTo>
                    <a:pt x="7223760" y="3200400"/>
                  </a:lnTo>
                  <a:cubicBezTo>
                    <a:pt x="7223760" y="3301365"/>
                    <a:pt x="7141845" y="3383280"/>
                    <a:pt x="7040880" y="3383280"/>
                  </a:cubicBezTo>
                  <a:lnTo>
                    <a:pt x="182880" y="3383280"/>
                  </a:lnTo>
                  <a:cubicBezTo>
                    <a:pt x="81915" y="3383280"/>
                    <a:pt x="0" y="3301365"/>
                    <a:pt x="0" y="3200400"/>
                  </a:cubicBezTo>
                  <a:close/>
                </a:path>
              </a:pathLst>
            </a:custGeom>
            <a:solidFill>
              <a:srgbClr val="0B2B26"/>
            </a:solidFill>
          </p:spPr>
        </p:sp>
      </p:grpSp>
      <p:grpSp>
        <p:nvGrpSpPr>
          <p:cNvPr name="Group 17" id="17"/>
          <p:cNvGrpSpPr/>
          <p:nvPr/>
        </p:nvGrpSpPr>
        <p:grpSpPr>
          <a:xfrm rot="0">
            <a:off x="1097280" y="7200900"/>
            <a:ext cx="822960" cy="822960"/>
            <a:chOff x="0" y="0"/>
            <a:chExt cx="1097280" cy="1097280"/>
          </a:xfrm>
        </p:grpSpPr>
        <p:sp>
          <p:nvSpPr>
            <p:cNvPr name="Freeform 18" id="18"/>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8EB69B"/>
            </a:solidFill>
          </p:spPr>
        </p:sp>
      </p:grpSp>
      <p:grpSp>
        <p:nvGrpSpPr>
          <p:cNvPr name="Group 19" id="19"/>
          <p:cNvGrpSpPr/>
          <p:nvPr/>
        </p:nvGrpSpPr>
        <p:grpSpPr>
          <a:xfrm rot="0">
            <a:off x="1294790" y="7398410"/>
            <a:ext cx="427939" cy="427939"/>
            <a:chOff x="0" y="0"/>
            <a:chExt cx="570586" cy="570586"/>
          </a:xfrm>
        </p:grpSpPr>
        <p:sp>
          <p:nvSpPr>
            <p:cNvPr name="Freeform 20" id="20" descr="/home/claude/sms-security/icons/users_dark1.png"/>
            <p:cNvSpPr/>
            <p:nvPr/>
          </p:nvSpPr>
          <p:spPr>
            <a:xfrm flipH="false" flipV="false" rot="0">
              <a:off x="0" y="0"/>
              <a:ext cx="570611" cy="570611"/>
            </a:xfrm>
            <a:custGeom>
              <a:avLst/>
              <a:gdLst/>
              <a:ahLst/>
              <a:cxnLst/>
              <a:rect r="r" b="b" t="t" l="l"/>
              <a:pathLst>
                <a:path h="570611" w="570611">
                  <a:moveTo>
                    <a:pt x="0" y="0"/>
                  </a:moveTo>
                  <a:lnTo>
                    <a:pt x="570611" y="0"/>
                  </a:lnTo>
                  <a:lnTo>
                    <a:pt x="570611" y="570611"/>
                  </a:lnTo>
                  <a:lnTo>
                    <a:pt x="0" y="570611"/>
                  </a:lnTo>
                  <a:lnTo>
                    <a:pt x="0" y="0"/>
                  </a:lnTo>
                  <a:close/>
                </a:path>
              </a:pathLst>
            </a:custGeom>
            <a:blipFill>
              <a:blip r:embed="rId4"/>
              <a:stretch>
                <a:fillRect l="0" t="0" r="4" b="4"/>
              </a:stretch>
            </a:blipFill>
          </p:spPr>
        </p:sp>
      </p:grpSp>
      <p:grpSp>
        <p:nvGrpSpPr>
          <p:cNvPr name="Group 21" id="21"/>
          <p:cNvGrpSpPr/>
          <p:nvPr/>
        </p:nvGrpSpPr>
        <p:grpSpPr>
          <a:xfrm rot="0">
            <a:off x="2198370" y="7292340"/>
            <a:ext cx="3771900" cy="548640"/>
            <a:chOff x="0" y="0"/>
            <a:chExt cx="5029200" cy="731520"/>
          </a:xfrm>
        </p:grpSpPr>
        <p:sp>
          <p:nvSpPr>
            <p:cNvPr name="Freeform 22" id="22"/>
            <p:cNvSpPr/>
            <p:nvPr/>
          </p:nvSpPr>
          <p:spPr>
            <a:xfrm flipH="false" flipV="false" rot="0">
              <a:off x="0" y="0"/>
              <a:ext cx="5029200" cy="731520"/>
            </a:xfrm>
            <a:custGeom>
              <a:avLst/>
              <a:gdLst/>
              <a:ahLst/>
              <a:cxnLst/>
              <a:rect r="r" b="b" t="t" l="l"/>
              <a:pathLst>
                <a:path h="731520" w="5029200">
                  <a:moveTo>
                    <a:pt x="0" y="0"/>
                  </a:moveTo>
                  <a:lnTo>
                    <a:pt x="5029200" y="0"/>
                  </a:lnTo>
                  <a:lnTo>
                    <a:pt x="5029200" y="731520"/>
                  </a:lnTo>
                  <a:lnTo>
                    <a:pt x="0" y="731520"/>
                  </a:lnTo>
                  <a:close/>
                </a:path>
              </a:pathLst>
            </a:custGeom>
            <a:blipFill>
              <a:blip r:embed="rId3">
                <a:alphaModFix amt="0"/>
              </a:blip>
              <a:stretch>
                <a:fillRect l="0" t="-83959" r="0" b="-83959"/>
              </a:stretch>
            </a:blipFill>
          </p:spPr>
        </p:sp>
        <p:sp>
          <p:nvSpPr>
            <p:cNvPr name="TextBox 23" id="23"/>
            <p:cNvSpPr txBox="true"/>
            <p:nvPr/>
          </p:nvSpPr>
          <p:spPr>
            <a:xfrm>
              <a:off x="0" y="-47625"/>
              <a:ext cx="5029200" cy="779145"/>
            </a:xfrm>
            <a:prstGeom prst="rect">
              <a:avLst/>
            </a:prstGeom>
          </p:spPr>
          <p:txBody>
            <a:bodyPr anchor="ctr" rtlCol="false" tIns="0" lIns="0" bIns="0" rIns="0"/>
            <a:lstStyle/>
            <a:p>
              <a:pPr algn="l">
                <a:lnSpc>
                  <a:spcPts val="2340"/>
                </a:lnSpc>
              </a:pPr>
              <a:r>
                <a:rPr lang="en-US" b="true" sz="1950" i="true">
                  <a:solidFill>
                    <a:srgbClr val="DAF1DE"/>
                  </a:solidFill>
                  <a:latin typeface="Calibri (MS) Bold Italics"/>
                  <a:ea typeface="Calibri (MS) Bold Italics"/>
                  <a:cs typeface="Calibri (MS) Bold Italics"/>
                  <a:sym typeface="Calibri (MS) Bold Italics"/>
                </a:rPr>
                <a:t>Manuel Rivas</a:t>
              </a:r>
            </a:p>
          </p:txBody>
        </p:sp>
      </p:grpSp>
      <p:grpSp>
        <p:nvGrpSpPr>
          <p:cNvPr name="Group 24" id="24"/>
          <p:cNvGrpSpPr/>
          <p:nvPr/>
        </p:nvGrpSpPr>
        <p:grpSpPr>
          <a:xfrm rot="0">
            <a:off x="1087755" y="8151495"/>
            <a:ext cx="4751070" cy="1047750"/>
            <a:chOff x="0" y="0"/>
            <a:chExt cx="6334760" cy="1397000"/>
          </a:xfrm>
        </p:grpSpPr>
        <p:sp>
          <p:nvSpPr>
            <p:cNvPr name="Freeform 25" id="25"/>
            <p:cNvSpPr/>
            <p:nvPr/>
          </p:nvSpPr>
          <p:spPr>
            <a:xfrm flipH="false" flipV="false" rot="0">
              <a:off x="0" y="0"/>
              <a:ext cx="6334760" cy="1397000"/>
            </a:xfrm>
            <a:custGeom>
              <a:avLst/>
              <a:gdLst/>
              <a:ahLst/>
              <a:cxnLst/>
              <a:rect r="r" b="b" t="t" l="l"/>
              <a:pathLst>
                <a:path h="1397000" w="6334760">
                  <a:moveTo>
                    <a:pt x="0" y="148971"/>
                  </a:moveTo>
                  <a:cubicBezTo>
                    <a:pt x="0" y="66675"/>
                    <a:pt x="66675" y="0"/>
                    <a:pt x="148971" y="0"/>
                  </a:cubicBezTo>
                  <a:lnTo>
                    <a:pt x="6185789" y="0"/>
                  </a:lnTo>
                  <a:cubicBezTo>
                    <a:pt x="6268085" y="0"/>
                    <a:pt x="6334760" y="66675"/>
                    <a:pt x="6334760" y="148971"/>
                  </a:cubicBezTo>
                  <a:lnTo>
                    <a:pt x="6334760" y="1248029"/>
                  </a:lnTo>
                  <a:cubicBezTo>
                    <a:pt x="6334760" y="1330325"/>
                    <a:pt x="6268085" y="1397000"/>
                    <a:pt x="6185789" y="1397000"/>
                  </a:cubicBezTo>
                  <a:lnTo>
                    <a:pt x="148971" y="1397000"/>
                  </a:lnTo>
                  <a:cubicBezTo>
                    <a:pt x="66675" y="1397000"/>
                    <a:pt x="0" y="1330325"/>
                    <a:pt x="0" y="1248029"/>
                  </a:cubicBezTo>
                  <a:close/>
                </a:path>
              </a:pathLst>
            </a:custGeom>
            <a:solidFill>
              <a:srgbClr val="FFFFFF"/>
            </a:solidFill>
            <a:ln w="19050" cap="sq">
              <a:solidFill>
                <a:srgbClr val="8EB69B"/>
              </a:solidFill>
              <a:prstDash val="dash"/>
              <a:miter/>
            </a:ln>
          </p:spPr>
        </p:sp>
      </p:grpSp>
      <p:sp>
        <p:nvSpPr>
          <p:cNvPr name="TextBox 26" id="26"/>
          <p:cNvSpPr txBox="true"/>
          <p:nvPr/>
        </p:nvSpPr>
        <p:spPr>
          <a:xfrm rot="0">
            <a:off x="1394460" y="8315325"/>
            <a:ext cx="4137660" cy="771525"/>
          </a:xfrm>
          <a:prstGeom prst="rect">
            <a:avLst/>
          </a:prstGeom>
        </p:spPr>
        <p:txBody>
          <a:bodyPr anchor="t" rtlCol="false" tIns="0" lIns="0" bIns="0" rIns="0">
            <a:spAutoFit/>
          </a:bodyPr>
          <a:lstStyle/>
          <a:p>
            <a:pPr algn="l">
              <a:lnSpc>
                <a:spcPts val="1980"/>
              </a:lnSpc>
            </a:pPr>
            <a:r>
              <a:rPr lang="en-US" sz="1650" i="true">
                <a:solidFill>
                  <a:srgbClr val="7A9E8E"/>
                </a:solidFill>
                <a:latin typeface="Calibri (MS) Italics"/>
                <a:ea typeface="Calibri (MS) Italics"/>
                <a:cs typeface="Calibri (MS) Italics"/>
                <a:sym typeface="Calibri (MS) Italics"/>
              </a:rPr>
              <a:t>Frontend (React Native), diseño de interfaz orientada al adulto mayor, experiencia de usuario.</a:t>
            </a:r>
          </a:p>
        </p:txBody>
      </p:sp>
      <p:grpSp>
        <p:nvGrpSpPr>
          <p:cNvPr name="Group 27" id="27"/>
          <p:cNvGrpSpPr/>
          <p:nvPr/>
        </p:nvGrpSpPr>
        <p:grpSpPr>
          <a:xfrm rot="0">
            <a:off x="6446520" y="6858000"/>
            <a:ext cx="5417820" cy="2537460"/>
            <a:chOff x="0" y="0"/>
            <a:chExt cx="7223760" cy="3383280"/>
          </a:xfrm>
        </p:grpSpPr>
        <p:sp>
          <p:nvSpPr>
            <p:cNvPr name="Freeform 28" id="28"/>
            <p:cNvSpPr/>
            <p:nvPr/>
          </p:nvSpPr>
          <p:spPr>
            <a:xfrm flipH="false" flipV="false" rot="0">
              <a:off x="0" y="0"/>
              <a:ext cx="7223760" cy="3383280"/>
            </a:xfrm>
            <a:custGeom>
              <a:avLst/>
              <a:gdLst/>
              <a:ahLst/>
              <a:cxnLst/>
              <a:rect r="r" b="b" t="t" l="l"/>
              <a:pathLst>
                <a:path h="3383280" w="7223760">
                  <a:moveTo>
                    <a:pt x="0" y="182880"/>
                  </a:moveTo>
                  <a:cubicBezTo>
                    <a:pt x="0" y="81915"/>
                    <a:pt x="81915" y="0"/>
                    <a:pt x="182880" y="0"/>
                  </a:cubicBezTo>
                  <a:lnTo>
                    <a:pt x="7040880" y="0"/>
                  </a:lnTo>
                  <a:cubicBezTo>
                    <a:pt x="7141845" y="0"/>
                    <a:pt x="7223760" y="81915"/>
                    <a:pt x="7223760" y="182880"/>
                  </a:cubicBezTo>
                  <a:lnTo>
                    <a:pt x="7223760" y="3200400"/>
                  </a:lnTo>
                  <a:cubicBezTo>
                    <a:pt x="7223760" y="3301365"/>
                    <a:pt x="7141845" y="3383280"/>
                    <a:pt x="7040880" y="3383280"/>
                  </a:cubicBezTo>
                  <a:lnTo>
                    <a:pt x="182880" y="3383280"/>
                  </a:lnTo>
                  <a:cubicBezTo>
                    <a:pt x="81915" y="3383280"/>
                    <a:pt x="0" y="3301365"/>
                    <a:pt x="0" y="3200400"/>
                  </a:cubicBezTo>
                  <a:close/>
                </a:path>
              </a:pathLst>
            </a:custGeom>
            <a:solidFill>
              <a:srgbClr val="0B2B26"/>
            </a:solidFill>
          </p:spPr>
        </p:sp>
      </p:grpSp>
      <p:grpSp>
        <p:nvGrpSpPr>
          <p:cNvPr name="Group 29" id="29"/>
          <p:cNvGrpSpPr/>
          <p:nvPr/>
        </p:nvGrpSpPr>
        <p:grpSpPr>
          <a:xfrm rot="0">
            <a:off x="6789420" y="7200900"/>
            <a:ext cx="822960" cy="822960"/>
            <a:chOff x="0" y="0"/>
            <a:chExt cx="1097280" cy="1097280"/>
          </a:xfrm>
        </p:grpSpPr>
        <p:sp>
          <p:nvSpPr>
            <p:cNvPr name="Freeform 30" id="30"/>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8EB69B"/>
            </a:solidFill>
          </p:spPr>
        </p:sp>
      </p:grpSp>
      <p:grpSp>
        <p:nvGrpSpPr>
          <p:cNvPr name="Group 31" id="31"/>
          <p:cNvGrpSpPr/>
          <p:nvPr/>
        </p:nvGrpSpPr>
        <p:grpSpPr>
          <a:xfrm rot="0">
            <a:off x="6986930" y="7398410"/>
            <a:ext cx="427939" cy="427939"/>
            <a:chOff x="0" y="0"/>
            <a:chExt cx="570586" cy="570586"/>
          </a:xfrm>
        </p:grpSpPr>
        <p:sp>
          <p:nvSpPr>
            <p:cNvPr name="Freeform 32" id="32" descr="/home/claude/sms-security/icons/users_dark1.png"/>
            <p:cNvSpPr/>
            <p:nvPr/>
          </p:nvSpPr>
          <p:spPr>
            <a:xfrm flipH="false" flipV="false" rot="0">
              <a:off x="0" y="0"/>
              <a:ext cx="570611" cy="570611"/>
            </a:xfrm>
            <a:custGeom>
              <a:avLst/>
              <a:gdLst/>
              <a:ahLst/>
              <a:cxnLst/>
              <a:rect r="r" b="b" t="t" l="l"/>
              <a:pathLst>
                <a:path h="570611" w="570611">
                  <a:moveTo>
                    <a:pt x="0" y="0"/>
                  </a:moveTo>
                  <a:lnTo>
                    <a:pt x="570611" y="0"/>
                  </a:lnTo>
                  <a:lnTo>
                    <a:pt x="570611" y="570611"/>
                  </a:lnTo>
                  <a:lnTo>
                    <a:pt x="0" y="570611"/>
                  </a:lnTo>
                  <a:lnTo>
                    <a:pt x="0" y="0"/>
                  </a:lnTo>
                  <a:close/>
                </a:path>
              </a:pathLst>
            </a:custGeom>
            <a:blipFill>
              <a:blip r:embed="rId4"/>
              <a:stretch>
                <a:fillRect l="0" t="0" r="4" b="4"/>
              </a:stretch>
            </a:blipFill>
          </p:spPr>
        </p:sp>
      </p:grpSp>
      <p:grpSp>
        <p:nvGrpSpPr>
          <p:cNvPr name="Group 33" id="33"/>
          <p:cNvGrpSpPr/>
          <p:nvPr/>
        </p:nvGrpSpPr>
        <p:grpSpPr>
          <a:xfrm rot="0">
            <a:off x="7890815" y="7338060"/>
            <a:ext cx="3771900" cy="548640"/>
            <a:chOff x="0" y="0"/>
            <a:chExt cx="5029200" cy="731520"/>
          </a:xfrm>
        </p:grpSpPr>
        <p:sp>
          <p:nvSpPr>
            <p:cNvPr name="Freeform 34" id="34"/>
            <p:cNvSpPr/>
            <p:nvPr/>
          </p:nvSpPr>
          <p:spPr>
            <a:xfrm flipH="false" flipV="false" rot="0">
              <a:off x="0" y="0"/>
              <a:ext cx="5029200" cy="731520"/>
            </a:xfrm>
            <a:custGeom>
              <a:avLst/>
              <a:gdLst/>
              <a:ahLst/>
              <a:cxnLst/>
              <a:rect r="r" b="b" t="t" l="l"/>
              <a:pathLst>
                <a:path h="731520" w="5029200">
                  <a:moveTo>
                    <a:pt x="0" y="0"/>
                  </a:moveTo>
                  <a:lnTo>
                    <a:pt x="5029200" y="0"/>
                  </a:lnTo>
                  <a:lnTo>
                    <a:pt x="5029200" y="731520"/>
                  </a:lnTo>
                  <a:lnTo>
                    <a:pt x="0" y="731520"/>
                  </a:lnTo>
                  <a:close/>
                </a:path>
              </a:pathLst>
            </a:custGeom>
            <a:blipFill>
              <a:blip r:embed="rId3">
                <a:alphaModFix amt="0"/>
              </a:blip>
              <a:stretch>
                <a:fillRect l="0" t="-83959" r="0" b="-83959"/>
              </a:stretch>
            </a:blipFill>
          </p:spPr>
        </p:sp>
        <p:sp>
          <p:nvSpPr>
            <p:cNvPr name="TextBox 35" id="35"/>
            <p:cNvSpPr txBox="true"/>
            <p:nvPr/>
          </p:nvSpPr>
          <p:spPr>
            <a:xfrm>
              <a:off x="0" y="-47625"/>
              <a:ext cx="5029200" cy="779145"/>
            </a:xfrm>
            <a:prstGeom prst="rect">
              <a:avLst/>
            </a:prstGeom>
          </p:spPr>
          <p:txBody>
            <a:bodyPr anchor="ctr" rtlCol="false" tIns="0" lIns="0" bIns="0" rIns="0"/>
            <a:lstStyle/>
            <a:p>
              <a:pPr algn="l">
                <a:lnSpc>
                  <a:spcPts val="2340"/>
                </a:lnSpc>
              </a:pPr>
              <a:r>
                <a:rPr lang="en-US" b="true" sz="1950" i="true">
                  <a:solidFill>
                    <a:srgbClr val="DAF1DE"/>
                  </a:solidFill>
                  <a:latin typeface="Calibri (MS) Bold Italics"/>
                  <a:ea typeface="Calibri (MS) Bold Italics"/>
                  <a:cs typeface="Calibri (MS) Bold Italics"/>
                  <a:sym typeface="Calibri (MS) Bold Italics"/>
                </a:rPr>
                <a:t>Bryan Acuña</a:t>
              </a:r>
            </a:p>
          </p:txBody>
        </p:sp>
      </p:grpSp>
      <p:grpSp>
        <p:nvGrpSpPr>
          <p:cNvPr name="Group 36" id="36"/>
          <p:cNvGrpSpPr/>
          <p:nvPr/>
        </p:nvGrpSpPr>
        <p:grpSpPr>
          <a:xfrm rot="0">
            <a:off x="6779895" y="8151495"/>
            <a:ext cx="4751070" cy="1047750"/>
            <a:chOff x="0" y="0"/>
            <a:chExt cx="6334760" cy="1397000"/>
          </a:xfrm>
        </p:grpSpPr>
        <p:sp>
          <p:nvSpPr>
            <p:cNvPr name="Freeform 37" id="37"/>
            <p:cNvSpPr/>
            <p:nvPr/>
          </p:nvSpPr>
          <p:spPr>
            <a:xfrm flipH="false" flipV="false" rot="0">
              <a:off x="0" y="0"/>
              <a:ext cx="6334760" cy="1397000"/>
            </a:xfrm>
            <a:custGeom>
              <a:avLst/>
              <a:gdLst/>
              <a:ahLst/>
              <a:cxnLst/>
              <a:rect r="r" b="b" t="t" l="l"/>
              <a:pathLst>
                <a:path h="1397000" w="6334760">
                  <a:moveTo>
                    <a:pt x="0" y="148971"/>
                  </a:moveTo>
                  <a:cubicBezTo>
                    <a:pt x="0" y="66675"/>
                    <a:pt x="66675" y="0"/>
                    <a:pt x="148971" y="0"/>
                  </a:cubicBezTo>
                  <a:lnTo>
                    <a:pt x="6185789" y="0"/>
                  </a:lnTo>
                  <a:cubicBezTo>
                    <a:pt x="6268085" y="0"/>
                    <a:pt x="6334760" y="66675"/>
                    <a:pt x="6334760" y="148971"/>
                  </a:cubicBezTo>
                  <a:lnTo>
                    <a:pt x="6334760" y="1248029"/>
                  </a:lnTo>
                  <a:cubicBezTo>
                    <a:pt x="6334760" y="1330325"/>
                    <a:pt x="6268085" y="1397000"/>
                    <a:pt x="6185789" y="1397000"/>
                  </a:cubicBezTo>
                  <a:lnTo>
                    <a:pt x="148971" y="1397000"/>
                  </a:lnTo>
                  <a:cubicBezTo>
                    <a:pt x="66675" y="1397000"/>
                    <a:pt x="0" y="1330325"/>
                    <a:pt x="0" y="1248029"/>
                  </a:cubicBezTo>
                  <a:close/>
                </a:path>
              </a:pathLst>
            </a:custGeom>
            <a:solidFill>
              <a:srgbClr val="FFFFFF"/>
            </a:solidFill>
            <a:ln w="19050" cap="sq">
              <a:solidFill>
                <a:srgbClr val="8EB69B"/>
              </a:solidFill>
              <a:prstDash val="dash"/>
              <a:miter/>
            </a:ln>
          </p:spPr>
        </p:sp>
      </p:grpSp>
      <p:sp>
        <p:nvSpPr>
          <p:cNvPr name="TextBox 38" id="38"/>
          <p:cNvSpPr txBox="true"/>
          <p:nvPr/>
        </p:nvSpPr>
        <p:spPr>
          <a:xfrm rot="0">
            <a:off x="7086600" y="8315325"/>
            <a:ext cx="4137660" cy="771525"/>
          </a:xfrm>
          <a:prstGeom prst="rect">
            <a:avLst/>
          </a:prstGeom>
        </p:spPr>
        <p:txBody>
          <a:bodyPr anchor="t" rtlCol="false" tIns="0" lIns="0" bIns="0" rIns="0">
            <a:spAutoFit/>
          </a:bodyPr>
          <a:lstStyle/>
          <a:p>
            <a:pPr algn="l">
              <a:lnSpc>
                <a:spcPts val="1980"/>
              </a:lnSpc>
            </a:pPr>
            <a:r>
              <a:rPr lang="en-US" sz="1650" i="true">
                <a:solidFill>
                  <a:srgbClr val="7A9E8E"/>
                </a:solidFill>
                <a:latin typeface="Calibri (MS) Italics"/>
                <a:ea typeface="Calibri (MS) Italics"/>
                <a:cs typeface="Calibri (MS) Italics"/>
                <a:sym typeface="Calibri (MS) Italics"/>
              </a:rPr>
              <a:t>Backend (Node.js/Express), integración de APIs externas (VirusTotal, RDAP, WHOIS), lógica de scoring de riesgo.</a:t>
            </a:r>
          </a:p>
        </p:txBody>
      </p:sp>
      <p:grpSp>
        <p:nvGrpSpPr>
          <p:cNvPr name="Group 39" id="39"/>
          <p:cNvGrpSpPr/>
          <p:nvPr/>
        </p:nvGrpSpPr>
        <p:grpSpPr>
          <a:xfrm rot="0">
            <a:off x="12138660" y="6858000"/>
            <a:ext cx="5417820" cy="2537460"/>
            <a:chOff x="0" y="0"/>
            <a:chExt cx="7223760" cy="3383280"/>
          </a:xfrm>
        </p:grpSpPr>
        <p:sp>
          <p:nvSpPr>
            <p:cNvPr name="Freeform 40" id="40"/>
            <p:cNvSpPr/>
            <p:nvPr/>
          </p:nvSpPr>
          <p:spPr>
            <a:xfrm flipH="false" flipV="false" rot="0">
              <a:off x="0" y="0"/>
              <a:ext cx="7223760" cy="3383280"/>
            </a:xfrm>
            <a:custGeom>
              <a:avLst/>
              <a:gdLst/>
              <a:ahLst/>
              <a:cxnLst/>
              <a:rect r="r" b="b" t="t" l="l"/>
              <a:pathLst>
                <a:path h="3383280" w="7223760">
                  <a:moveTo>
                    <a:pt x="0" y="182880"/>
                  </a:moveTo>
                  <a:cubicBezTo>
                    <a:pt x="0" y="81915"/>
                    <a:pt x="81915" y="0"/>
                    <a:pt x="182880" y="0"/>
                  </a:cubicBezTo>
                  <a:lnTo>
                    <a:pt x="7040880" y="0"/>
                  </a:lnTo>
                  <a:cubicBezTo>
                    <a:pt x="7141845" y="0"/>
                    <a:pt x="7223760" y="81915"/>
                    <a:pt x="7223760" y="182880"/>
                  </a:cubicBezTo>
                  <a:lnTo>
                    <a:pt x="7223760" y="3200400"/>
                  </a:lnTo>
                  <a:cubicBezTo>
                    <a:pt x="7223760" y="3301365"/>
                    <a:pt x="7141845" y="3383280"/>
                    <a:pt x="7040880" y="3383280"/>
                  </a:cubicBezTo>
                  <a:lnTo>
                    <a:pt x="182880" y="3383280"/>
                  </a:lnTo>
                  <a:cubicBezTo>
                    <a:pt x="81915" y="3383280"/>
                    <a:pt x="0" y="3301365"/>
                    <a:pt x="0" y="3200400"/>
                  </a:cubicBezTo>
                  <a:close/>
                </a:path>
              </a:pathLst>
            </a:custGeom>
            <a:solidFill>
              <a:srgbClr val="0B2B26"/>
            </a:solidFill>
          </p:spPr>
        </p:sp>
      </p:grpSp>
      <p:grpSp>
        <p:nvGrpSpPr>
          <p:cNvPr name="Group 41" id="41"/>
          <p:cNvGrpSpPr/>
          <p:nvPr/>
        </p:nvGrpSpPr>
        <p:grpSpPr>
          <a:xfrm rot="0">
            <a:off x="12481560" y="7200900"/>
            <a:ext cx="822960" cy="822960"/>
            <a:chOff x="0" y="0"/>
            <a:chExt cx="1097280" cy="1097280"/>
          </a:xfrm>
        </p:grpSpPr>
        <p:sp>
          <p:nvSpPr>
            <p:cNvPr name="Freeform 42" id="42"/>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8EB69B"/>
            </a:solidFill>
          </p:spPr>
        </p:sp>
      </p:grpSp>
      <p:grpSp>
        <p:nvGrpSpPr>
          <p:cNvPr name="Group 43" id="43"/>
          <p:cNvGrpSpPr/>
          <p:nvPr/>
        </p:nvGrpSpPr>
        <p:grpSpPr>
          <a:xfrm rot="0">
            <a:off x="12679070" y="7398410"/>
            <a:ext cx="427939" cy="427939"/>
            <a:chOff x="0" y="0"/>
            <a:chExt cx="570586" cy="570586"/>
          </a:xfrm>
        </p:grpSpPr>
        <p:sp>
          <p:nvSpPr>
            <p:cNvPr name="Freeform 44" id="44" descr="/home/claude/sms-security/icons/users_dark1.png"/>
            <p:cNvSpPr/>
            <p:nvPr/>
          </p:nvSpPr>
          <p:spPr>
            <a:xfrm flipH="false" flipV="false" rot="0">
              <a:off x="0" y="0"/>
              <a:ext cx="570611" cy="570611"/>
            </a:xfrm>
            <a:custGeom>
              <a:avLst/>
              <a:gdLst/>
              <a:ahLst/>
              <a:cxnLst/>
              <a:rect r="r" b="b" t="t" l="l"/>
              <a:pathLst>
                <a:path h="570611" w="570611">
                  <a:moveTo>
                    <a:pt x="0" y="0"/>
                  </a:moveTo>
                  <a:lnTo>
                    <a:pt x="570611" y="0"/>
                  </a:lnTo>
                  <a:lnTo>
                    <a:pt x="570611" y="570611"/>
                  </a:lnTo>
                  <a:lnTo>
                    <a:pt x="0" y="570611"/>
                  </a:lnTo>
                  <a:lnTo>
                    <a:pt x="0" y="0"/>
                  </a:lnTo>
                  <a:close/>
                </a:path>
              </a:pathLst>
            </a:custGeom>
            <a:blipFill>
              <a:blip r:embed="rId4"/>
              <a:stretch>
                <a:fillRect l="0" t="0" r="4" b="4"/>
              </a:stretch>
            </a:blipFill>
          </p:spPr>
        </p:sp>
      </p:grpSp>
      <p:grpSp>
        <p:nvGrpSpPr>
          <p:cNvPr name="Group 45" id="45"/>
          <p:cNvGrpSpPr/>
          <p:nvPr/>
        </p:nvGrpSpPr>
        <p:grpSpPr>
          <a:xfrm rot="0">
            <a:off x="13487400" y="7338060"/>
            <a:ext cx="3771900" cy="548640"/>
            <a:chOff x="0" y="0"/>
            <a:chExt cx="5029200" cy="731520"/>
          </a:xfrm>
        </p:grpSpPr>
        <p:sp>
          <p:nvSpPr>
            <p:cNvPr name="Freeform 46" id="46"/>
            <p:cNvSpPr/>
            <p:nvPr/>
          </p:nvSpPr>
          <p:spPr>
            <a:xfrm flipH="false" flipV="false" rot="0">
              <a:off x="0" y="0"/>
              <a:ext cx="5029200" cy="731520"/>
            </a:xfrm>
            <a:custGeom>
              <a:avLst/>
              <a:gdLst/>
              <a:ahLst/>
              <a:cxnLst/>
              <a:rect r="r" b="b" t="t" l="l"/>
              <a:pathLst>
                <a:path h="731520" w="5029200">
                  <a:moveTo>
                    <a:pt x="0" y="0"/>
                  </a:moveTo>
                  <a:lnTo>
                    <a:pt x="5029200" y="0"/>
                  </a:lnTo>
                  <a:lnTo>
                    <a:pt x="5029200" y="731520"/>
                  </a:lnTo>
                  <a:lnTo>
                    <a:pt x="0" y="731520"/>
                  </a:lnTo>
                  <a:close/>
                </a:path>
              </a:pathLst>
            </a:custGeom>
            <a:blipFill>
              <a:blip r:embed="rId3">
                <a:alphaModFix amt="0"/>
              </a:blip>
              <a:stretch>
                <a:fillRect l="0" t="-83959" r="0" b="-83959"/>
              </a:stretch>
            </a:blipFill>
          </p:spPr>
        </p:sp>
        <p:sp>
          <p:nvSpPr>
            <p:cNvPr name="TextBox 47" id="47"/>
            <p:cNvSpPr txBox="true"/>
            <p:nvPr/>
          </p:nvSpPr>
          <p:spPr>
            <a:xfrm>
              <a:off x="0" y="-47625"/>
              <a:ext cx="5029200" cy="779145"/>
            </a:xfrm>
            <a:prstGeom prst="rect">
              <a:avLst/>
            </a:prstGeom>
          </p:spPr>
          <p:txBody>
            <a:bodyPr anchor="ctr" rtlCol="false" tIns="0" lIns="0" bIns="0" rIns="0"/>
            <a:lstStyle/>
            <a:p>
              <a:pPr algn="l">
                <a:lnSpc>
                  <a:spcPts val="2340"/>
                </a:lnSpc>
              </a:pPr>
              <a:r>
                <a:rPr lang="en-US" b="true" sz="1950" i="true">
                  <a:solidFill>
                    <a:srgbClr val="DAF1DE"/>
                  </a:solidFill>
                  <a:latin typeface="Calibri (MS) Bold Italics"/>
                  <a:ea typeface="Calibri (MS) Bold Italics"/>
                  <a:cs typeface="Calibri (MS) Bold Italics"/>
                  <a:sym typeface="Calibri (MS) Bold Italics"/>
                </a:rPr>
                <a:t>Marcel Tusach</a:t>
              </a:r>
            </a:p>
          </p:txBody>
        </p:sp>
      </p:grpSp>
      <p:grpSp>
        <p:nvGrpSpPr>
          <p:cNvPr name="Group 48" id="48"/>
          <p:cNvGrpSpPr/>
          <p:nvPr/>
        </p:nvGrpSpPr>
        <p:grpSpPr>
          <a:xfrm rot="0">
            <a:off x="12472035" y="8151495"/>
            <a:ext cx="4751070" cy="1047750"/>
            <a:chOff x="0" y="0"/>
            <a:chExt cx="6334760" cy="1397000"/>
          </a:xfrm>
        </p:grpSpPr>
        <p:sp>
          <p:nvSpPr>
            <p:cNvPr name="Freeform 49" id="49"/>
            <p:cNvSpPr/>
            <p:nvPr/>
          </p:nvSpPr>
          <p:spPr>
            <a:xfrm flipH="false" flipV="false" rot="0">
              <a:off x="0" y="0"/>
              <a:ext cx="6334760" cy="1397000"/>
            </a:xfrm>
            <a:custGeom>
              <a:avLst/>
              <a:gdLst/>
              <a:ahLst/>
              <a:cxnLst/>
              <a:rect r="r" b="b" t="t" l="l"/>
              <a:pathLst>
                <a:path h="1397000" w="6334760">
                  <a:moveTo>
                    <a:pt x="0" y="148971"/>
                  </a:moveTo>
                  <a:cubicBezTo>
                    <a:pt x="0" y="66675"/>
                    <a:pt x="66675" y="0"/>
                    <a:pt x="148971" y="0"/>
                  </a:cubicBezTo>
                  <a:lnTo>
                    <a:pt x="6185789" y="0"/>
                  </a:lnTo>
                  <a:cubicBezTo>
                    <a:pt x="6268085" y="0"/>
                    <a:pt x="6334760" y="66675"/>
                    <a:pt x="6334760" y="148971"/>
                  </a:cubicBezTo>
                  <a:lnTo>
                    <a:pt x="6334760" y="1248029"/>
                  </a:lnTo>
                  <a:cubicBezTo>
                    <a:pt x="6334760" y="1330325"/>
                    <a:pt x="6268085" y="1397000"/>
                    <a:pt x="6185789" y="1397000"/>
                  </a:cubicBezTo>
                  <a:lnTo>
                    <a:pt x="148971" y="1397000"/>
                  </a:lnTo>
                  <a:cubicBezTo>
                    <a:pt x="66675" y="1397000"/>
                    <a:pt x="0" y="1330325"/>
                    <a:pt x="0" y="1248029"/>
                  </a:cubicBezTo>
                  <a:close/>
                </a:path>
              </a:pathLst>
            </a:custGeom>
            <a:solidFill>
              <a:srgbClr val="FFFFFF"/>
            </a:solidFill>
            <a:ln w="19050" cap="sq">
              <a:solidFill>
                <a:srgbClr val="8EB69B"/>
              </a:solidFill>
              <a:prstDash val="dash"/>
              <a:miter/>
            </a:ln>
          </p:spPr>
        </p:sp>
      </p:grpSp>
      <p:sp>
        <p:nvSpPr>
          <p:cNvPr name="TextBox 50" id="50"/>
          <p:cNvSpPr txBox="true"/>
          <p:nvPr/>
        </p:nvSpPr>
        <p:spPr>
          <a:xfrm rot="0">
            <a:off x="12778740" y="8315325"/>
            <a:ext cx="4137660" cy="771525"/>
          </a:xfrm>
          <a:prstGeom prst="rect">
            <a:avLst/>
          </a:prstGeom>
        </p:spPr>
        <p:txBody>
          <a:bodyPr anchor="t" rtlCol="false" tIns="0" lIns="0" bIns="0" rIns="0">
            <a:spAutoFit/>
          </a:bodyPr>
          <a:lstStyle/>
          <a:p>
            <a:pPr algn="l">
              <a:lnSpc>
                <a:spcPts val="1980"/>
              </a:lnSpc>
            </a:pPr>
            <a:r>
              <a:rPr lang="en-US" sz="1650" i="true">
                <a:solidFill>
                  <a:srgbClr val="7A9E8E"/>
                </a:solidFill>
                <a:latin typeface="Calibri (MS) Italics"/>
                <a:ea typeface="Calibri (MS) Italics"/>
                <a:cs typeface="Calibri (MS) Italics"/>
                <a:sym typeface="Calibri (MS) Italics"/>
              </a:rPr>
              <a:t>Base de datos (MongoDB), chatbot educativo (integración con Gemini API), panel de monitoreo interno</a:t>
            </a:r>
          </a:p>
        </p:txBody>
      </p:sp>
      <p:grpSp>
        <p:nvGrpSpPr>
          <p:cNvPr name="Group 51" id="51"/>
          <p:cNvGrpSpPr/>
          <p:nvPr/>
        </p:nvGrpSpPr>
        <p:grpSpPr>
          <a:xfrm rot="0">
            <a:off x="17053103" y="9601200"/>
            <a:ext cx="822960" cy="480060"/>
            <a:chOff x="0" y="0"/>
            <a:chExt cx="1097280" cy="640080"/>
          </a:xfrm>
        </p:grpSpPr>
        <p:sp>
          <p:nvSpPr>
            <p:cNvPr name="Freeform 52" id="52"/>
            <p:cNvSpPr/>
            <p:nvPr/>
          </p:nvSpPr>
          <p:spPr>
            <a:xfrm flipH="false" flipV="false" rot="0">
              <a:off x="0" y="0"/>
              <a:ext cx="1097280" cy="640080"/>
            </a:xfrm>
            <a:custGeom>
              <a:avLst/>
              <a:gdLst/>
              <a:ahLst/>
              <a:cxnLst/>
              <a:rect r="r" b="b" t="t" l="l"/>
              <a:pathLst>
                <a:path h="640080" w="1097280">
                  <a:moveTo>
                    <a:pt x="0" y="0"/>
                  </a:moveTo>
                  <a:lnTo>
                    <a:pt x="1097280" y="0"/>
                  </a:lnTo>
                  <a:lnTo>
                    <a:pt x="1097280" y="640080"/>
                  </a:lnTo>
                  <a:lnTo>
                    <a:pt x="0" y="640080"/>
                  </a:lnTo>
                  <a:close/>
                </a:path>
              </a:pathLst>
            </a:custGeom>
            <a:blipFill>
              <a:blip r:embed="rId3">
                <a:alphaModFix amt="0"/>
              </a:blip>
              <a:stretch>
                <a:fillRect l="-24843" t="0" r="-24843" b="0"/>
              </a:stretch>
            </a:blipFill>
          </p:spPr>
        </p:sp>
        <p:sp>
          <p:nvSpPr>
            <p:cNvPr name="TextBox 53" id="53"/>
            <p:cNvSpPr txBox="true"/>
            <p:nvPr/>
          </p:nvSpPr>
          <p:spPr>
            <a:xfrm>
              <a:off x="0" y="-38100"/>
              <a:ext cx="1097280" cy="678180"/>
            </a:xfrm>
            <a:prstGeom prst="rect">
              <a:avLst/>
            </a:prstGeom>
          </p:spPr>
          <p:txBody>
            <a:bodyPr anchor="ctr" rtlCol="false" tIns="0" lIns="0" bIns="0" rIns="0"/>
            <a:lstStyle/>
            <a:p>
              <a:pPr algn="r">
                <a:lnSpc>
                  <a:spcPts val="1800"/>
                </a:lnSpc>
              </a:pPr>
              <a:r>
                <a:rPr lang="en-US" sz="1500">
                  <a:solidFill>
                    <a:srgbClr val="8EB69B"/>
                  </a:solidFill>
                  <a:latin typeface="Calibri (MS)"/>
                  <a:ea typeface="Calibri (MS)"/>
                  <a:cs typeface="Calibri (MS)"/>
                  <a:sym typeface="Calibri (MS)"/>
                </a:rPr>
                <a:t>06</a:t>
              </a:r>
            </a:p>
          </p:txBody>
        </p:sp>
      </p:grpSp>
      <p:grpSp>
        <p:nvGrpSpPr>
          <p:cNvPr name="Group 54" id="54"/>
          <p:cNvGrpSpPr/>
          <p:nvPr/>
        </p:nvGrpSpPr>
        <p:grpSpPr>
          <a:xfrm rot="0">
            <a:off x="744855" y="4791075"/>
            <a:ext cx="16752570" cy="1322070"/>
            <a:chOff x="0" y="0"/>
            <a:chExt cx="22336760" cy="1762760"/>
          </a:xfrm>
        </p:grpSpPr>
        <p:sp>
          <p:nvSpPr>
            <p:cNvPr name="Freeform 55" id="55"/>
            <p:cNvSpPr/>
            <p:nvPr/>
          </p:nvSpPr>
          <p:spPr>
            <a:xfrm flipH="false" flipV="false" rot="0">
              <a:off x="0" y="0"/>
              <a:ext cx="22336761" cy="1762760"/>
            </a:xfrm>
            <a:custGeom>
              <a:avLst/>
              <a:gdLst/>
              <a:ahLst/>
              <a:cxnLst/>
              <a:rect r="r" b="b" t="t" l="l"/>
              <a:pathLst>
                <a:path h="1762760" w="22336761">
                  <a:moveTo>
                    <a:pt x="0" y="148463"/>
                  </a:moveTo>
                  <a:cubicBezTo>
                    <a:pt x="0" y="66421"/>
                    <a:pt x="66421" y="0"/>
                    <a:pt x="148463" y="0"/>
                  </a:cubicBezTo>
                  <a:lnTo>
                    <a:pt x="22188297" y="0"/>
                  </a:lnTo>
                  <a:cubicBezTo>
                    <a:pt x="22270338" y="0"/>
                    <a:pt x="22336761" y="66421"/>
                    <a:pt x="22336761" y="148463"/>
                  </a:cubicBezTo>
                  <a:lnTo>
                    <a:pt x="22336761" y="1614297"/>
                  </a:lnTo>
                  <a:cubicBezTo>
                    <a:pt x="22336761" y="1696339"/>
                    <a:pt x="22270338" y="1762760"/>
                    <a:pt x="22188297" y="1762760"/>
                  </a:cubicBezTo>
                  <a:lnTo>
                    <a:pt x="148463" y="1762760"/>
                  </a:lnTo>
                  <a:cubicBezTo>
                    <a:pt x="66421" y="1762760"/>
                    <a:pt x="0" y="1696339"/>
                    <a:pt x="0" y="1614297"/>
                  </a:cubicBezTo>
                  <a:close/>
                </a:path>
              </a:pathLst>
            </a:custGeom>
            <a:solidFill>
              <a:srgbClr val="FFFFFF"/>
            </a:solidFill>
            <a:ln w="19050" cap="sq">
              <a:solidFill>
                <a:srgbClr val="8EB69B"/>
              </a:solidFill>
              <a:prstDash val="dash"/>
              <a:miter/>
            </a:ln>
          </p:spPr>
        </p:sp>
      </p:grpSp>
      <p:sp>
        <p:nvSpPr>
          <p:cNvPr name="TextBox 56" id="56"/>
          <p:cNvSpPr txBox="true"/>
          <p:nvPr/>
        </p:nvSpPr>
        <p:spPr>
          <a:xfrm rot="0">
            <a:off x="1051560" y="4954905"/>
            <a:ext cx="16139160" cy="1019175"/>
          </a:xfrm>
          <a:prstGeom prst="rect">
            <a:avLst/>
          </a:prstGeom>
        </p:spPr>
        <p:txBody>
          <a:bodyPr anchor="t" rtlCol="false" tIns="0" lIns="0" bIns="0" rIns="0">
            <a:spAutoFit/>
          </a:bodyPr>
          <a:lstStyle/>
          <a:p>
            <a:pPr algn="l">
              <a:lnSpc>
                <a:spcPts val="1980"/>
              </a:lnSpc>
            </a:pPr>
            <a:r>
              <a:rPr lang="en-US" sz="1650" i="true">
                <a:solidFill>
                  <a:srgbClr val="7A9E8E"/>
                </a:solidFill>
                <a:latin typeface="Calibri (MS) Italics"/>
                <a:ea typeface="Calibri (MS) Italics"/>
                <a:cs typeface="Calibri (MS) Italics"/>
                <a:sym typeface="Calibri (MS) Italics"/>
              </a:rPr>
              <a:t>Se utilizará la</a:t>
            </a:r>
            <a:r>
              <a:rPr lang="en-US" sz="1650" i="true">
                <a:solidFill>
                  <a:srgbClr val="7A9E8E"/>
                </a:solidFill>
                <a:latin typeface="Calibri (MS) Italics"/>
                <a:ea typeface="Calibri (MS) Italics"/>
                <a:cs typeface="Calibri (MS) Italics"/>
                <a:sym typeface="Calibri (MS) Italics"/>
              </a:rPr>
              <a:t> Metodología Tradicional (Cascada) debido a que el equipo tiene experiencia en completar actividades de manera secuencial, asegurando entregables claros y definidos en cada etapa. Además, se adopta este enfoque predictivo para optimizar la gestión del tiempo y los recursos disponibles, considerando las responsabilidades paralelas del equipo por el desarrollo de sus prácticas profesionales. Esta metodología encaja perfectamente ya que los requerimientos son fijos, están bien definidos desde el inicio y no se anticipan cambios estructurales durante la producción. </a:t>
            </a:r>
          </a:p>
        </p:txBody>
      </p:sp>
      <p:grpSp>
        <p:nvGrpSpPr>
          <p:cNvPr name="Group 57" id="57"/>
          <p:cNvGrpSpPr/>
          <p:nvPr/>
        </p:nvGrpSpPr>
        <p:grpSpPr>
          <a:xfrm rot="0">
            <a:off x="754380" y="2400300"/>
            <a:ext cx="3182112" cy="2057400"/>
            <a:chOff x="0" y="0"/>
            <a:chExt cx="4242816" cy="2743200"/>
          </a:xfrm>
        </p:grpSpPr>
        <p:sp>
          <p:nvSpPr>
            <p:cNvPr name="Freeform 58" id="58"/>
            <p:cNvSpPr/>
            <p:nvPr/>
          </p:nvSpPr>
          <p:spPr>
            <a:xfrm flipH="false" flipV="false" rot="0">
              <a:off x="0" y="0"/>
              <a:ext cx="4242816" cy="2743200"/>
            </a:xfrm>
            <a:custGeom>
              <a:avLst/>
              <a:gdLst/>
              <a:ahLst/>
              <a:cxnLst/>
              <a:rect r="r" b="b" t="t" l="l"/>
              <a:pathLst>
                <a:path h="2743200" w="4242816">
                  <a:moveTo>
                    <a:pt x="0" y="146304"/>
                  </a:moveTo>
                  <a:cubicBezTo>
                    <a:pt x="0" y="65532"/>
                    <a:pt x="65532" y="0"/>
                    <a:pt x="146304" y="0"/>
                  </a:cubicBezTo>
                  <a:lnTo>
                    <a:pt x="4096512" y="0"/>
                  </a:lnTo>
                  <a:cubicBezTo>
                    <a:pt x="4177284" y="0"/>
                    <a:pt x="4242816" y="65532"/>
                    <a:pt x="4242816" y="146304"/>
                  </a:cubicBezTo>
                  <a:lnTo>
                    <a:pt x="4242816" y="2596896"/>
                  </a:lnTo>
                  <a:cubicBezTo>
                    <a:pt x="4242816" y="2677668"/>
                    <a:pt x="4177284" y="2743200"/>
                    <a:pt x="4096512" y="2743200"/>
                  </a:cubicBezTo>
                  <a:lnTo>
                    <a:pt x="146304" y="2743200"/>
                  </a:lnTo>
                  <a:cubicBezTo>
                    <a:pt x="65532" y="2743200"/>
                    <a:pt x="0" y="2677668"/>
                    <a:pt x="0" y="2596896"/>
                  </a:cubicBezTo>
                  <a:close/>
                </a:path>
              </a:pathLst>
            </a:custGeom>
            <a:solidFill>
              <a:srgbClr val="0B2B26"/>
            </a:solidFill>
          </p:spPr>
        </p:sp>
      </p:grpSp>
      <p:grpSp>
        <p:nvGrpSpPr>
          <p:cNvPr name="Group 59" id="59"/>
          <p:cNvGrpSpPr/>
          <p:nvPr/>
        </p:nvGrpSpPr>
        <p:grpSpPr>
          <a:xfrm rot="0">
            <a:off x="1968246" y="2674620"/>
            <a:ext cx="754380" cy="754380"/>
            <a:chOff x="0" y="0"/>
            <a:chExt cx="1005840" cy="1005840"/>
          </a:xfrm>
        </p:grpSpPr>
        <p:sp>
          <p:nvSpPr>
            <p:cNvPr name="Freeform 60" id="60"/>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8EB69B"/>
            </a:solidFill>
          </p:spPr>
        </p:sp>
      </p:grpSp>
      <p:grpSp>
        <p:nvGrpSpPr>
          <p:cNvPr name="Group 61" id="61"/>
          <p:cNvGrpSpPr/>
          <p:nvPr/>
        </p:nvGrpSpPr>
        <p:grpSpPr>
          <a:xfrm rot="0">
            <a:off x="2149297" y="2855671"/>
            <a:ext cx="392278" cy="392278"/>
            <a:chOff x="0" y="0"/>
            <a:chExt cx="523037" cy="523037"/>
          </a:xfrm>
        </p:grpSpPr>
        <p:sp>
          <p:nvSpPr>
            <p:cNvPr name="Freeform 62" id="62" descr="/home/claude/sms-security/icons/search_dark1.png"/>
            <p:cNvSpPr/>
            <p:nvPr/>
          </p:nvSpPr>
          <p:spPr>
            <a:xfrm flipH="false" flipV="false" rot="0">
              <a:off x="0" y="0"/>
              <a:ext cx="522986" cy="522986"/>
            </a:xfrm>
            <a:custGeom>
              <a:avLst/>
              <a:gdLst/>
              <a:ahLst/>
              <a:cxnLst/>
              <a:rect r="r" b="b" t="t" l="l"/>
              <a:pathLst>
                <a:path h="522986" w="522986">
                  <a:moveTo>
                    <a:pt x="0" y="0"/>
                  </a:moveTo>
                  <a:lnTo>
                    <a:pt x="522986" y="0"/>
                  </a:lnTo>
                  <a:lnTo>
                    <a:pt x="522986" y="522986"/>
                  </a:lnTo>
                  <a:lnTo>
                    <a:pt x="0" y="522986"/>
                  </a:lnTo>
                  <a:lnTo>
                    <a:pt x="0" y="0"/>
                  </a:lnTo>
                  <a:close/>
                </a:path>
              </a:pathLst>
            </a:custGeom>
            <a:blipFill>
              <a:blip r:embed="rId5"/>
              <a:stretch>
                <a:fillRect l="0" t="0" r="-9" b="-9"/>
              </a:stretch>
            </a:blipFill>
          </p:spPr>
        </p:sp>
      </p:grpSp>
      <p:grpSp>
        <p:nvGrpSpPr>
          <p:cNvPr name="Group 63" id="63"/>
          <p:cNvGrpSpPr/>
          <p:nvPr/>
        </p:nvGrpSpPr>
        <p:grpSpPr>
          <a:xfrm rot="0">
            <a:off x="864108" y="2510028"/>
            <a:ext cx="548640" cy="411480"/>
            <a:chOff x="0" y="0"/>
            <a:chExt cx="731520" cy="548640"/>
          </a:xfrm>
        </p:grpSpPr>
        <p:sp>
          <p:nvSpPr>
            <p:cNvPr name="Freeform 64" id="64"/>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65" id="65"/>
            <p:cNvSpPr txBox="true"/>
            <p:nvPr/>
          </p:nvSpPr>
          <p:spPr>
            <a:xfrm>
              <a:off x="0" y="-28575"/>
              <a:ext cx="731520" cy="577215"/>
            </a:xfrm>
            <a:prstGeom prst="rect">
              <a:avLst/>
            </a:prstGeom>
          </p:spPr>
          <p:txBody>
            <a:bodyPr anchor="ctr" rtlCol="false" tIns="0" lIns="0" bIns="0" rIns="0"/>
            <a:lstStyle/>
            <a:p>
              <a:pPr algn="l">
                <a:lnSpc>
                  <a:spcPts val="1980"/>
                </a:lnSpc>
              </a:pPr>
              <a:r>
                <a:rPr lang="en-US" sz="1650" b="true">
                  <a:solidFill>
                    <a:srgbClr val="8EB69B"/>
                  </a:solidFill>
                  <a:latin typeface="Calibri (MS) Bold"/>
                  <a:ea typeface="Calibri (MS) Bold"/>
                  <a:cs typeface="Calibri (MS) Bold"/>
                  <a:sym typeface="Calibri (MS) Bold"/>
                </a:rPr>
                <a:t>1</a:t>
              </a:r>
            </a:p>
          </p:txBody>
        </p:sp>
      </p:grpSp>
      <p:sp>
        <p:nvSpPr>
          <p:cNvPr name="TextBox 66" id="66"/>
          <p:cNvSpPr txBox="true"/>
          <p:nvPr/>
        </p:nvSpPr>
        <p:spPr>
          <a:xfrm rot="0">
            <a:off x="955548" y="3710940"/>
            <a:ext cx="2779776" cy="632460"/>
          </a:xfrm>
          <a:prstGeom prst="rect">
            <a:avLst/>
          </a:prstGeom>
        </p:spPr>
        <p:txBody>
          <a:bodyPr anchor="t" rtlCol="false" tIns="0" lIns="0" bIns="0" rIns="0">
            <a:spAutoFit/>
          </a:bodyPr>
          <a:lstStyle/>
          <a:p>
            <a:pPr algn="ctr">
              <a:lnSpc>
                <a:spcPts val="2160"/>
              </a:lnSpc>
            </a:pPr>
            <a:r>
              <a:rPr lang="en-US" sz="1800" b="true">
                <a:solidFill>
                  <a:srgbClr val="DAF1DE"/>
                </a:solidFill>
                <a:latin typeface="Calibri (MS) Bold"/>
                <a:ea typeface="Calibri (MS) Bold"/>
                <a:cs typeface="Calibri (MS) Bold"/>
                <a:sym typeface="Calibri (MS) Bold"/>
              </a:rPr>
              <a:t>Requerimientos</a:t>
            </a:r>
          </a:p>
        </p:txBody>
      </p:sp>
      <p:grpSp>
        <p:nvGrpSpPr>
          <p:cNvPr name="Group 67" id="67"/>
          <p:cNvGrpSpPr/>
          <p:nvPr/>
        </p:nvGrpSpPr>
        <p:grpSpPr>
          <a:xfrm rot="0">
            <a:off x="3950208" y="3264408"/>
            <a:ext cx="178308" cy="329184"/>
            <a:chOff x="0" y="0"/>
            <a:chExt cx="237744" cy="438912"/>
          </a:xfrm>
        </p:grpSpPr>
        <p:sp>
          <p:nvSpPr>
            <p:cNvPr name="Freeform 68" id="68"/>
            <p:cNvSpPr/>
            <p:nvPr/>
          </p:nvSpPr>
          <p:spPr>
            <a:xfrm flipH="false" flipV="false" rot="0">
              <a:off x="0" y="0"/>
              <a:ext cx="237744" cy="438912"/>
            </a:xfrm>
            <a:custGeom>
              <a:avLst/>
              <a:gdLst/>
              <a:ahLst/>
              <a:cxnLst/>
              <a:rect r="r" b="b" t="t" l="l"/>
              <a:pathLst>
                <a:path h="438912" w="237744">
                  <a:moveTo>
                    <a:pt x="0" y="0"/>
                  </a:moveTo>
                  <a:lnTo>
                    <a:pt x="118872" y="0"/>
                  </a:lnTo>
                  <a:lnTo>
                    <a:pt x="237744" y="219456"/>
                  </a:lnTo>
                  <a:lnTo>
                    <a:pt x="118872" y="438912"/>
                  </a:lnTo>
                  <a:lnTo>
                    <a:pt x="0" y="438912"/>
                  </a:lnTo>
                  <a:lnTo>
                    <a:pt x="118872" y="219456"/>
                  </a:lnTo>
                  <a:close/>
                </a:path>
              </a:pathLst>
            </a:custGeom>
            <a:solidFill>
              <a:srgbClr val="8EB69B"/>
            </a:solidFill>
          </p:spPr>
        </p:sp>
      </p:grpSp>
      <p:grpSp>
        <p:nvGrpSpPr>
          <p:cNvPr name="Group 69" id="69"/>
          <p:cNvGrpSpPr/>
          <p:nvPr/>
        </p:nvGrpSpPr>
        <p:grpSpPr>
          <a:xfrm rot="0">
            <a:off x="4142232" y="2400300"/>
            <a:ext cx="3182112" cy="2057400"/>
            <a:chOff x="0" y="0"/>
            <a:chExt cx="4242816" cy="2743200"/>
          </a:xfrm>
        </p:grpSpPr>
        <p:sp>
          <p:nvSpPr>
            <p:cNvPr name="Freeform 70" id="70"/>
            <p:cNvSpPr/>
            <p:nvPr/>
          </p:nvSpPr>
          <p:spPr>
            <a:xfrm flipH="false" flipV="false" rot="0">
              <a:off x="0" y="0"/>
              <a:ext cx="4242816" cy="2743200"/>
            </a:xfrm>
            <a:custGeom>
              <a:avLst/>
              <a:gdLst/>
              <a:ahLst/>
              <a:cxnLst/>
              <a:rect r="r" b="b" t="t" l="l"/>
              <a:pathLst>
                <a:path h="2743200" w="4242816">
                  <a:moveTo>
                    <a:pt x="0" y="146304"/>
                  </a:moveTo>
                  <a:cubicBezTo>
                    <a:pt x="0" y="65532"/>
                    <a:pt x="65532" y="0"/>
                    <a:pt x="146304" y="0"/>
                  </a:cubicBezTo>
                  <a:lnTo>
                    <a:pt x="4096512" y="0"/>
                  </a:lnTo>
                  <a:cubicBezTo>
                    <a:pt x="4177284" y="0"/>
                    <a:pt x="4242816" y="65532"/>
                    <a:pt x="4242816" y="146304"/>
                  </a:cubicBezTo>
                  <a:lnTo>
                    <a:pt x="4242816" y="2596896"/>
                  </a:lnTo>
                  <a:cubicBezTo>
                    <a:pt x="4242816" y="2677668"/>
                    <a:pt x="4177284" y="2743200"/>
                    <a:pt x="4096512" y="2743200"/>
                  </a:cubicBezTo>
                  <a:lnTo>
                    <a:pt x="146304" y="2743200"/>
                  </a:lnTo>
                  <a:cubicBezTo>
                    <a:pt x="65532" y="2743200"/>
                    <a:pt x="0" y="2677668"/>
                    <a:pt x="0" y="2596896"/>
                  </a:cubicBezTo>
                  <a:close/>
                </a:path>
              </a:pathLst>
            </a:custGeom>
            <a:solidFill>
              <a:srgbClr val="0B2B26"/>
            </a:solidFill>
          </p:spPr>
        </p:sp>
      </p:grpSp>
      <p:grpSp>
        <p:nvGrpSpPr>
          <p:cNvPr name="Group 71" id="71"/>
          <p:cNvGrpSpPr/>
          <p:nvPr/>
        </p:nvGrpSpPr>
        <p:grpSpPr>
          <a:xfrm rot="0">
            <a:off x="5356098" y="2674620"/>
            <a:ext cx="754380" cy="754380"/>
            <a:chOff x="0" y="0"/>
            <a:chExt cx="1005840" cy="1005840"/>
          </a:xfrm>
        </p:grpSpPr>
        <p:sp>
          <p:nvSpPr>
            <p:cNvPr name="Freeform 72" id="72"/>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8EB69B"/>
            </a:solidFill>
          </p:spPr>
        </p:sp>
      </p:grpSp>
      <p:grpSp>
        <p:nvGrpSpPr>
          <p:cNvPr name="Group 73" id="73"/>
          <p:cNvGrpSpPr/>
          <p:nvPr/>
        </p:nvGrpSpPr>
        <p:grpSpPr>
          <a:xfrm rot="0">
            <a:off x="5537149" y="2855671"/>
            <a:ext cx="392278" cy="392278"/>
            <a:chOff x="0" y="0"/>
            <a:chExt cx="523037" cy="523037"/>
          </a:xfrm>
        </p:grpSpPr>
        <p:sp>
          <p:nvSpPr>
            <p:cNvPr name="Freeform 74" id="74" descr="/home/claude/sms-security/icons/layers_dark1.png"/>
            <p:cNvSpPr/>
            <p:nvPr/>
          </p:nvSpPr>
          <p:spPr>
            <a:xfrm flipH="false" flipV="false" rot="0">
              <a:off x="0" y="0"/>
              <a:ext cx="522986" cy="522986"/>
            </a:xfrm>
            <a:custGeom>
              <a:avLst/>
              <a:gdLst/>
              <a:ahLst/>
              <a:cxnLst/>
              <a:rect r="r" b="b" t="t" l="l"/>
              <a:pathLst>
                <a:path h="522986" w="522986">
                  <a:moveTo>
                    <a:pt x="0" y="0"/>
                  </a:moveTo>
                  <a:lnTo>
                    <a:pt x="522986" y="0"/>
                  </a:lnTo>
                  <a:lnTo>
                    <a:pt x="522986" y="522986"/>
                  </a:lnTo>
                  <a:lnTo>
                    <a:pt x="0" y="522986"/>
                  </a:lnTo>
                  <a:lnTo>
                    <a:pt x="0" y="0"/>
                  </a:lnTo>
                  <a:close/>
                </a:path>
              </a:pathLst>
            </a:custGeom>
            <a:blipFill>
              <a:blip r:embed="rId6"/>
              <a:stretch>
                <a:fillRect l="0" t="0" r="-9" b="-9"/>
              </a:stretch>
            </a:blipFill>
          </p:spPr>
        </p:sp>
      </p:grpSp>
      <p:grpSp>
        <p:nvGrpSpPr>
          <p:cNvPr name="Group 75" id="75"/>
          <p:cNvGrpSpPr/>
          <p:nvPr/>
        </p:nvGrpSpPr>
        <p:grpSpPr>
          <a:xfrm rot="0">
            <a:off x="4251960" y="2510028"/>
            <a:ext cx="548640" cy="411480"/>
            <a:chOff x="0" y="0"/>
            <a:chExt cx="731520" cy="548640"/>
          </a:xfrm>
        </p:grpSpPr>
        <p:sp>
          <p:nvSpPr>
            <p:cNvPr name="Freeform 76" id="76"/>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77" id="77"/>
            <p:cNvSpPr txBox="true"/>
            <p:nvPr/>
          </p:nvSpPr>
          <p:spPr>
            <a:xfrm>
              <a:off x="0" y="-28575"/>
              <a:ext cx="731520" cy="577215"/>
            </a:xfrm>
            <a:prstGeom prst="rect">
              <a:avLst/>
            </a:prstGeom>
          </p:spPr>
          <p:txBody>
            <a:bodyPr anchor="ctr" rtlCol="false" tIns="0" lIns="0" bIns="0" rIns="0"/>
            <a:lstStyle/>
            <a:p>
              <a:pPr algn="l">
                <a:lnSpc>
                  <a:spcPts val="1980"/>
                </a:lnSpc>
              </a:pPr>
              <a:r>
                <a:rPr lang="en-US" sz="1650" b="true">
                  <a:solidFill>
                    <a:srgbClr val="8EB69B"/>
                  </a:solidFill>
                  <a:latin typeface="Calibri (MS) Bold"/>
                  <a:ea typeface="Calibri (MS) Bold"/>
                  <a:cs typeface="Calibri (MS) Bold"/>
                  <a:sym typeface="Calibri (MS) Bold"/>
                </a:rPr>
                <a:t>2</a:t>
              </a:r>
            </a:p>
          </p:txBody>
        </p:sp>
      </p:grpSp>
      <p:sp>
        <p:nvSpPr>
          <p:cNvPr name="TextBox 78" id="78"/>
          <p:cNvSpPr txBox="true"/>
          <p:nvPr/>
        </p:nvSpPr>
        <p:spPr>
          <a:xfrm rot="0">
            <a:off x="4343400" y="3710940"/>
            <a:ext cx="2779776" cy="632460"/>
          </a:xfrm>
          <a:prstGeom prst="rect">
            <a:avLst/>
          </a:prstGeom>
        </p:spPr>
        <p:txBody>
          <a:bodyPr anchor="t" rtlCol="false" tIns="0" lIns="0" bIns="0" rIns="0">
            <a:spAutoFit/>
          </a:bodyPr>
          <a:lstStyle/>
          <a:p>
            <a:pPr algn="ctr">
              <a:lnSpc>
                <a:spcPts val="2160"/>
              </a:lnSpc>
            </a:pPr>
            <a:r>
              <a:rPr lang="en-US" sz="1800" b="true">
                <a:solidFill>
                  <a:srgbClr val="DAF1DE"/>
                </a:solidFill>
                <a:latin typeface="Calibri (MS) Bold"/>
                <a:ea typeface="Calibri (MS) Bold"/>
                <a:cs typeface="Calibri (MS) Bold"/>
                <a:sym typeface="Calibri (MS) Bold"/>
              </a:rPr>
              <a:t>Diseño</a:t>
            </a:r>
          </a:p>
        </p:txBody>
      </p:sp>
      <p:grpSp>
        <p:nvGrpSpPr>
          <p:cNvPr name="Group 79" id="79"/>
          <p:cNvGrpSpPr/>
          <p:nvPr/>
        </p:nvGrpSpPr>
        <p:grpSpPr>
          <a:xfrm rot="0">
            <a:off x="7338060" y="3264408"/>
            <a:ext cx="178308" cy="329184"/>
            <a:chOff x="0" y="0"/>
            <a:chExt cx="237744" cy="438912"/>
          </a:xfrm>
        </p:grpSpPr>
        <p:sp>
          <p:nvSpPr>
            <p:cNvPr name="Freeform 80" id="80"/>
            <p:cNvSpPr/>
            <p:nvPr/>
          </p:nvSpPr>
          <p:spPr>
            <a:xfrm flipH="false" flipV="false" rot="0">
              <a:off x="0" y="0"/>
              <a:ext cx="237744" cy="438912"/>
            </a:xfrm>
            <a:custGeom>
              <a:avLst/>
              <a:gdLst/>
              <a:ahLst/>
              <a:cxnLst/>
              <a:rect r="r" b="b" t="t" l="l"/>
              <a:pathLst>
                <a:path h="438912" w="237744">
                  <a:moveTo>
                    <a:pt x="0" y="0"/>
                  </a:moveTo>
                  <a:lnTo>
                    <a:pt x="118872" y="0"/>
                  </a:lnTo>
                  <a:lnTo>
                    <a:pt x="237744" y="219456"/>
                  </a:lnTo>
                  <a:lnTo>
                    <a:pt x="118872" y="438912"/>
                  </a:lnTo>
                  <a:lnTo>
                    <a:pt x="0" y="438912"/>
                  </a:lnTo>
                  <a:lnTo>
                    <a:pt x="118872" y="219456"/>
                  </a:lnTo>
                  <a:close/>
                </a:path>
              </a:pathLst>
            </a:custGeom>
            <a:solidFill>
              <a:srgbClr val="8EB69B"/>
            </a:solidFill>
          </p:spPr>
        </p:sp>
      </p:grpSp>
      <p:grpSp>
        <p:nvGrpSpPr>
          <p:cNvPr name="Group 81" id="81"/>
          <p:cNvGrpSpPr/>
          <p:nvPr/>
        </p:nvGrpSpPr>
        <p:grpSpPr>
          <a:xfrm rot="0">
            <a:off x="7530084" y="2400300"/>
            <a:ext cx="3182112" cy="2057400"/>
            <a:chOff x="0" y="0"/>
            <a:chExt cx="4242816" cy="2743200"/>
          </a:xfrm>
        </p:grpSpPr>
        <p:sp>
          <p:nvSpPr>
            <p:cNvPr name="Freeform 82" id="82"/>
            <p:cNvSpPr/>
            <p:nvPr/>
          </p:nvSpPr>
          <p:spPr>
            <a:xfrm flipH="false" flipV="false" rot="0">
              <a:off x="0" y="0"/>
              <a:ext cx="4242816" cy="2743200"/>
            </a:xfrm>
            <a:custGeom>
              <a:avLst/>
              <a:gdLst/>
              <a:ahLst/>
              <a:cxnLst/>
              <a:rect r="r" b="b" t="t" l="l"/>
              <a:pathLst>
                <a:path h="2743200" w="4242816">
                  <a:moveTo>
                    <a:pt x="0" y="146304"/>
                  </a:moveTo>
                  <a:cubicBezTo>
                    <a:pt x="0" y="65532"/>
                    <a:pt x="65532" y="0"/>
                    <a:pt x="146304" y="0"/>
                  </a:cubicBezTo>
                  <a:lnTo>
                    <a:pt x="4096512" y="0"/>
                  </a:lnTo>
                  <a:cubicBezTo>
                    <a:pt x="4177284" y="0"/>
                    <a:pt x="4242816" y="65532"/>
                    <a:pt x="4242816" y="146304"/>
                  </a:cubicBezTo>
                  <a:lnTo>
                    <a:pt x="4242816" y="2596896"/>
                  </a:lnTo>
                  <a:cubicBezTo>
                    <a:pt x="4242816" y="2677668"/>
                    <a:pt x="4177284" y="2743200"/>
                    <a:pt x="4096512" y="2743200"/>
                  </a:cubicBezTo>
                  <a:lnTo>
                    <a:pt x="146304" y="2743200"/>
                  </a:lnTo>
                  <a:cubicBezTo>
                    <a:pt x="65532" y="2743200"/>
                    <a:pt x="0" y="2677668"/>
                    <a:pt x="0" y="2596896"/>
                  </a:cubicBezTo>
                  <a:close/>
                </a:path>
              </a:pathLst>
            </a:custGeom>
            <a:solidFill>
              <a:srgbClr val="0B2B26"/>
            </a:solidFill>
          </p:spPr>
        </p:sp>
      </p:grpSp>
      <p:grpSp>
        <p:nvGrpSpPr>
          <p:cNvPr name="Group 83" id="83"/>
          <p:cNvGrpSpPr/>
          <p:nvPr/>
        </p:nvGrpSpPr>
        <p:grpSpPr>
          <a:xfrm rot="0">
            <a:off x="8743950" y="2674620"/>
            <a:ext cx="754380" cy="754380"/>
            <a:chOff x="0" y="0"/>
            <a:chExt cx="1005840" cy="1005840"/>
          </a:xfrm>
        </p:grpSpPr>
        <p:sp>
          <p:nvSpPr>
            <p:cNvPr name="Freeform 84" id="84"/>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8EB69B"/>
            </a:solidFill>
          </p:spPr>
        </p:sp>
      </p:grpSp>
      <p:grpSp>
        <p:nvGrpSpPr>
          <p:cNvPr name="Group 85" id="85"/>
          <p:cNvGrpSpPr/>
          <p:nvPr/>
        </p:nvGrpSpPr>
        <p:grpSpPr>
          <a:xfrm rot="0">
            <a:off x="8925001" y="2855671"/>
            <a:ext cx="392278" cy="392278"/>
            <a:chOff x="0" y="0"/>
            <a:chExt cx="523037" cy="523037"/>
          </a:xfrm>
        </p:grpSpPr>
        <p:sp>
          <p:nvSpPr>
            <p:cNvPr name="Freeform 86" id="86" descr="/home/claude/sms-security/icons/code_dark1.png"/>
            <p:cNvSpPr/>
            <p:nvPr/>
          </p:nvSpPr>
          <p:spPr>
            <a:xfrm flipH="false" flipV="false" rot="0">
              <a:off x="0" y="0"/>
              <a:ext cx="522986" cy="522986"/>
            </a:xfrm>
            <a:custGeom>
              <a:avLst/>
              <a:gdLst/>
              <a:ahLst/>
              <a:cxnLst/>
              <a:rect r="r" b="b" t="t" l="l"/>
              <a:pathLst>
                <a:path h="522986" w="522986">
                  <a:moveTo>
                    <a:pt x="0" y="0"/>
                  </a:moveTo>
                  <a:lnTo>
                    <a:pt x="522986" y="0"/>
                  </a:lnTo>
                  <a:lnTo>
                    <a:pt x="522986" y="522986"/>
                  </a:lnTo>
                  <a:lnTo>
                    <a:pt x="0" y="522986"/>
                  </a:lnTo>
                  <a:lnTo>
                    <a:pt x="0" y="0"/>
                  </a:lnTo>
                  <a:close/>
                </a:path>
              </a:pathLst>
            </a:custGeom>
            <a:blipFill>
              <a:blip r:embed="rId7"/>
              <a:stretch>
                <a:fillRect l="0" t="0" r="-9" b="-9"/>
              </a:stretch>
            </a:blipFill>
          </p:spPr>
        </p:sp>
      </p:grpSp>
      <p:grpSp>
        <p:nvGrpSpPr>
          <p:cNvPr name="Group 87" id="87"/>
          <p:cNvGrpSpPr/>
          <p:nvPr/>
        </p:nvGrpSpPr>
        <p:grpSpPr>
          <a:xfrm rot="0">
            <a:off x="7639812" y="2510028"/>
            <a:ext cx="548640" cy="411480"/>
            <a:chOff x="0" y="0"/>
            <a:chExt cx="731520" cy="548640"/>
          </a:xfrm>
        </p:grpSpPr>
        <p:sp>
          <p:nvSpPr>
            <p:cNvPr name="Freeform 88" id="88"/>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89" id="89"/>
            <p:cNvSpPr txBox="true"/>
            <p:nvPr/>
          </p:nvSpPr>
          <p:spPr>
            <a:xfrm>
              <a:off x="0" y="-28575"/>
              <a:ext cx="731520" cy="577215"/>
            </a:xfrm>
            <a:prstGeom prst="rect">
              <a:avLst/>
            </a:prstGeom>
          </p:spPr>
          <p:txBody>
            <a:bodyPr anchor="ctr" rtlCol="false" tIns="0" lIns="0" bIns="0" rIns="0"/>
            <a:lstStyle/>
            <a:p>
              <a:pPr algn="l">
                <a:lnSpc>
                  <a:spcPts val="1980"/>
                </a:lnSpc>
              </a:pPr>
              <a:r>
                <a:rPr lang="en-US" sz="1650" b="true">
                  <a:solidFill>
                    <a:srgbClr val="8EB69B"/>
                  </a:solidFill>
                  <a:latin typeface="Calibri (MS) Bold"/>
                  <a:ea typeface="Calibri (MS) Bold"/>
                  <a:cs typeface="Calibri (MS) Bold"/>
                  <a:sym typeface="Calibri (MS) Bold"/>
                </a:rPr>
                <a:t>3</a:t>
              </a:r>
            </a:p>
          </p:txBody>
        </p:sp>
      </p:grpSp>
      <p:sp>
        <p:nvSpPr>
          <p:cNvPr name="TextBox 90" id="90"/>
          <p:cNvSpPr txBox="true"/>
          <p:nvPr/>
        </p:nvSpPr>
        <p:spPr>
          <a:xfrm rot="0">
            <a:off x="7731252" y="3710940"/>
            <a:ext cx="2779776" cy="632460"/>
          </a:xfrm>
          <a:prstGeom prst="rect">
            <a:avLst/>
          </a:prstGeom>
        </p:spPr>
        <p:txBody>
          <a:bodyPr anchor="t" rtlCol="false" tIns="0" lIns="0" bIns="0" rIns="0">
            <a:spAutoFit/>
          </a:bodyPr>
          <a:lstStyle/>
          <a:p>
            <a:pPr algn="ctr">
              <a:lnSpc>
                <a:spcPts val="2160"/>
              </a:lnSpc>
            </a:pPr>
            <a:r>
              <a:rPr lang="en-US" sz="1800" b="true">
                <a:solidFill>
                  <a:srgbClr val="DAF1DE"/>
                </a:solidFill>
                <a:latin typeface="Calibri (MS) Bold"/>
                <a:ea typeface="Calibri (MS) Bold"/>
                <a:cs typeface="Calibri (MS) Bold"/>
                <a:sym typeface="Calibri (MS) Bold"/>
              </a:rPr>
              <a:t>Desarrollo</a:t>
            </a:r>
          </a:p>
        </p:txBody>
      </p:sp>
      <p:grpSp>
        <p:nvGrpSpPr>
          <p:cNvPr name="Group 91" id="91"/>
          <p:cNvGrpSpPr/>
          <p:nvPr/>
        </p:nvGrpSpPr>
        <p:grpSpPr>
          <a:xfrm rot="0">
            <a:off x="10725912" y="3264408"/>
            <a:ext cx="178308" cy="329184"/>
            <a:chOff x="0" y="0"/>
            <a:chExt cx="237744" cy="438912"/>
          </a:xfrm>
        </p:grpSpPr>
        <p:sp>
          <p:nvSpPr>
            <p:cNvPr name="Freeform 92" id="92"/>
            <p:cNvSpPr/>
            <p:nvPr/>
          </p:nvSpPr>
          <p:spPr>
            <a:xfrm flipH="false" flipV="false" rot="0">
              <a:off x="0" y="0"/>
              <a:ext cx="237744" cy="438912"/>
            </a:xfrm>
            <a:custGeom>
              <a:avLst/>
              <a:gdLst/>
              <a:ahLst/>
              <a:cxnLst/>
              <a:rect r="r" b="b" t="t" l="l"/>
              <a:pathLst>
                <a:path h="438912" w="237744">
                  <a:moveTo>
                    <a:pt x="0" y="0"/>
                  </a:moveTo>
                  <a:lnTo>
                    <a:pt x="118872" y="0"/>
                  </a:lnTo>
                  <a:lnTo>
                    <a:pt x="237744" y="219456"/>
                  </a:lnTo>
                  <a:lnTo>
                    <a:pt x="118872" y="438912"/>
                  </a:lnTo>
                  <a:lnTo>
                    <a:pt x="0" y="438912"/>
                  </a:lnTo>
                  <a:lnTo>
                    <a:pt x="118872" y="219456"/>
                  </a:lnTo>
                  <a:close/>
                </a:path>
              </a:pathLst>
            </a:custGeom>
            <a:solidFill>
              <a:srgbClr val="8EB69B"/>
            </a:solidFill>
          </p:spPr>
        </p:sp>
      </p:grpSp>
      <p:grpSp>
        <p:nvGrpSpPr>
          <p:cNvPr name="Group 93" id="93"/>
          <p:cNvGrpSpPr/>
          <p:nvPr/>
        </p:nvGrpSpPr>
        <p:grpSpPr>
          <a:xfrm rot="0">
            <a:off x="10917936" y="2400300"/>
            <a:ext cx="3182112" cy="2057400"/>
            <a:chOff x="0" y="0"/>
            <a:chExt cx="4242816" cy="2743200"/>
          </a:xfrm>
        </p:grpSpPr>
        <p:sp>
          <p:nvSpPr>
            <p:cNvPr name="Freeform 94" id="94"/>
            <p:cNvSpPr/>
            <p:nvPr/>
          </p:nvSpPr>
          <p:spPr>
            <a:xfrm flipH="false" flipV="false" rot="0">
              <a:off x="0" y="0"/>
              <a:ext cx="4242816" cy="2743200"/>
            </a:xfrm>
            <a:custGeom>
              <a:avLst/>
              <a:gdLst/>
              <a:ahLst/>
              <a:cxnLst/>
              <a:rect r="r" b="b" t="t" l="l"/>
              <a:pathLst>
                <a:path h="2743200" w="4242816">
                  <a:moveTo>
                    <a:pt x="0" y="146304"/>
                  </a:moveTo>
                  <a:cubicBezTo>
                    <a:pt x="0" y="65532"/>
                    <a:pt x="65532" y="0"/>
                    <a:pt x="146304" y="0"/>
                  </a:cubicBezTo>
                  <a:lnTo>
                    <a:pt x="4096512" y="0"/>
                  </a:lnTo>
                  <a:cubicBezTo>
                    <a:pt x="4177284" y="0"/>
                    <a:pt x="4242816" y="65532"/>
                    <a:pt x="4242816" y="146304"/>
                  </a:cubicBezTo>
                  <a:lnTo>
                    <a:pt x="4242816" y="2596896"/>
                  </a:lnTo>
                  <a:cubicBezTo>
                    <a:pt x="4242816" y="2677668"/>
                    <a:pt x="4177284" y="2743200"/>
                    <a:pt x="4096512" y="2743200"/>
                  </a:cubicBezTo>
                  <a:lnTo>
                    <a:pt x="146304" y="2743200"/>
                  </a:lnTo>
                  <a:cubicBezTo>
                    <a:pt x="65532" y="2743200"/>
                    <a:pt x="0" y="2677668"/>
                    <a:pt x="0" y="2596896"/>
                  </a:cubicBezTo>
                  <a:close/>
                </a:path>
              </a:pathLst>
            </a:custGeom>
            <a:solidFill>
              <a:srgbClr val="0B2B26"/>
            </a:solidFill>
          </p:spPr>
        </p:sp>
      </p:grpSp>
      <p:grpSp>
        <p:nvGrpSpPr>
          <p:cNvPr name="Group 95" id="95"/>
          <p:cNvGrpSpPr/>
          <p:nvPr/>
        </p:nvGrpSpPr>
        <p:grpSpPr>
          <a:xfrm rot="0">
            <a:off x="12131802" y="2674620"/>
            <a:ext cx="754380" cy="754380"/>
            <a:chOff x="0" y="0"/>
            <a:chExt cx="1005840" cy="1005840"/>
          </a:xfrm>
        </p:grpSpPr>
        <p:sp>
          <p:nvSpPr>
            <p:cNvPr name="Freeform 96" id="96"/>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8EB69B"/>
            </a:solidFill>
          </p:spPr>
        </p:sp>
      </p:grpSp>
      <p:grpSp>
        <p:nvGrpSpPr>
          <p:cNvPr name="Group 97" id="97"/>
          <p:cNvGrpSpPr/>
          <p:nvPr/>
        </p:nvGrpSpPr>
        <p:grpSpPr>
          <a:xfrm rot="0">
            <a:off x="12312853" y="2855671"/>
            <a:ext cx="392278" cy="392278"/>
            <a:chOff x="0" y="0"/>
            <a:chExt cx="523037" cy="523037"/>
          </a:xfrm>
        </p:grpSpPr>
        <p:sp>
          <p:nvSpPr>
            <p:cNvPr name="Freeform 98" id="98" descr="/home/claude/sms-security/icons/check_dark1.png"/>
            <p:cNvSpPr/>
            <p:nvPr/>
          </p:nvSpPr>
          <p:spPr>
            <a:xfrm flipH="false" flipV="false" rot="0">
              <a:off x="0" y="0"/>
              <a:ext cx="522986" cy="522986"/>
            </a:xfrm>
            <a:custGeom>
              <a:avLst/>
              <a:gdLst/>
              <a:ahLst/>
              <a:cxnLst/>
              <a:rect r="r" b="b" t="t" l="l"/>
              <a:pathLst>
                <a:path h="522986" w="522986">
                  <a:moveTo>
                    <a:pt x="0" y="0"/>
                  </a:moveTo>
                  <a:lnTo>
                    <a:pt x="522986" y="0"/>
                  </a:lnTo>
                  <a:lnTo>
                    <a:pt x="522986" y="522986"/>
                  </a:lnTo>
                  <a:lnTo>
                    <a:pt x="0" y="522986"/>
                  </a:lnTo>
                  <a:lnTo>
                    <a:pt x="0" y="0"/>
                  </a:lnTo>
                  <a:close/>
                </a:path>
              </a:pathLst>
            </a:custGeom>
            <a:blipFill>
              <a:blip r:embed="rId8"/>
              <a:stretch>
                <a:fillRect l="0" t="0" r="-9" b="-9"/>
              </a:stretch>
            </a:blipFill>
          </p:spPr>
        </p:sp>
      </p:grpSp>
      <p:grpSp>
        <p:nvGrpSpPr>
          <p:cNvPr name="Group 99" id="99"/>
          <p:cNvGrpSpPr/>
          <p:nvPr/>
        </p:nvGrpSpPr>
        <p:grpSpPr>
          <a:xfrm rot="0">
            <a:off x="11027664" y="2510028"/>
            <a:ext cx="548640" cy="411480"/>
            <a:chOff x="0" y="0"/>
            <a:chExt cx="731520" cy="548640"/>
          </a:xfrm>
        </p:grpSpPr>
        <p:sp>
          <p:nvSpPr>
            <p:cNvPr name="Freeform 100" id="100"/>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101" id="101"/>
            <p:cNvSpPr txBox="true"/>
            <p:nvPr/>
          </p:nvSpPr>
          <p:spPr>
            <a:xfrm>
              <a:off x="0" y="-28575"/>
              <a:ext cx="731520" cy="577215"/>
            </a:xfrm>
            <a:prstGeom prst="rect">
              <a:avLst/>
            </a:prstGeom>
          </p:spPr>
          <p:txBody>
            <a:bodyPr anchor="ctr" rtlCol="false" tIns="0" lIns="0" bIns="0" rIns="0"/>
            <a:lstStyle/>
            <a:p>
              <a:pPr algn="l">
                <a:lnSpc>
                  <a:spcPts val="1980"/>
                </a:lnSpc>
              </a:pPr>
              <a:r>
                <a:rPr lang="en-US" sz="1650" b="true">
                  <a:solidFill>
                    <a:srgbClr val="8EB69B"/>
                  </a:solidFill>
                  <a:latin typeface="Calibri (MS) Bold"/>
                  <a:ea typeface="Calibri (MS) Bold"/>
                  <a:cs typeface="Calibri (MS) Bold"/>
                  <a:sym typeface="Calibri (MS) Bold"/>
                </a:rPr>
                <a:t>4</a:t>
              </a:r>
            </a:p>
          </p:txBody>
        </p:sp>
      </p:grpSp>
      <p:sp>
        <p:nvSpPr>
          <p:cNvPr name="TextBox 102" id="102"/>
          <p:cNvSpPr txBox="true"/>
          <p:nvPr/>
        </p:nvSpPr>
        <p:spPr>
          <a:xfrm rot="0">
            <a:off x="11119104" y="3710940"/>
            <a:ext cx="2779776" cy="632460"/>
          </a:xfrm>
          <a:prstGeom prst="rect">
            <a:avLst/>
          </a:prstGeom>
        </p:spPr>
        <p:txBody>
          <a:bodyPr anchor="t" rtlCol="false" tIns="0" lIns="0" bIns="0" rIns="0">
            <a:spAutoFit/>
          </a:bodyPr>
          <a:lstStyle/>
          <a:p>
            <a:pPr algn="ctr">
              <a:lnSpc>
                <a:spcPts val="2160"/>
              </a:lnSpc>
            </a:pPr>
            <a:r>
              <a:rPr lang="en-US" sz="1800" b="true">
                <a:solidFill>
                  <a:srgbClr val="DAF1DE"/>
                </a:solidFill>
                <a:latin typeface="Calibri (MS) Bold"/>
                <a:ea typeface="Calibri (MS) Bold"/>
                <a:cs typeface="Calibri (MS) Bold"/>
                <a:sym typeface="Calibri (MS) Bold"/>
              </a:rPr>
              <a:t>Pruebas</a:t>
            </a:r>
          </a:p>
        </p:txBody>
      </p:sp>
      <p:grpSp>
        <p:nvGrpSpPr>
          <p:cNvPr name="Group 103" id="103"/>
          <p:cNvGrpSpPr/>
          <p:nvPr/>
        </p:nvGrpSpPr>
        <p:grpSpPr>
          <a:xfrm rot="0">
            <a:off x="14113764" y="3264408"/>
            <a:ext cx="178308" cy="329184"/>
            <a:chOff x="0" y="0"/>
            <a:chExt cx="237744" cy="438912"/>
          </a:xfrm>
        </p:grpSpPr>
        <p:sp>
          <p:nvSpPr>
            <p:cNvPr name="Freeform 104" id="104"/>
            <p:cNvSpPr/>
            <p:nvPr/>
          </p:nvSpPr>
          <p:spPr>
            <a:xfrm flipH="false" flipV="false" rot="0">
              <a:off x="0" y="0"/>
              <a:ext cx="237744" cy="438912"/>
            </a:xfrm>
            <a:custGeom>
              <a:avLst/>
              <a:gdLst/>
              <a:ahLst/>
              <a:cxnLst/>
              <a:rect r="r" b="b" t="t" l="l"/>
              <a:pathLst>
                <a:path h="438912" w="237744">
                  <a:moveTo>
                    <a:pt x="0" y="0"/>
                  </a:moveTo>
                  <a:lnTo>
                    <a:pt x="118872" y="0"/>
                  </a:lnTo>
                  <a:lnTo>
                    <a:pt x="237744" y="219456"/>
                  </a:lnTo>
                  <a:lnTo>
                    <a:pt x="118872" y="438912"/>
                  </a:lnTo>
                  <a:lnTo>
                    <a:pt x="0" y="438912"/>
                  </a:lnTo>
                  <a:lnTo>
                    <a:pt x="118872" y="219456"/>
                  </a:lnTo>
                  <a:close/>
                </a:path>
              </a:pathLst>
            </a:custGeom>
            <a:solidFill>
              <a:srgbClr val="8EB69B"/>
            </a:solidFill>
          </p:spPr>
        </p:sp>
      </p:grpSp>
      <p:grpSp>
        <p:nvGrpSpPr>
          <p:cNvPr name="Group 105" id="105"/>
          <p:cNvGrpSpPr/>
          <p:nvPr/>
        </p:nvGrpSpPr>
        <p:grpSpPr>
          <a:xfrm rot="0">
            <a:off x="14305788" y="2400300"/>
            <a:ext cx="3182112" cy="2057400"/>
            <a:chOff x="0" y="0"/>
            <a:chExt cx="4242816" cy="2743200"/>
          </a:xfrm>
        </p:grpSpPr>
        <p:sp>
          <p:nvSpPr>
            <p:cNvPr name="Freeform 106" id="106"/>
            <p:cNvSpPr/>
            <p:nvPr/>
          </p:nvSpPr>
          <p:spPr>
            <a:xfrm flipH="false" flipV="false" rot="0">
              <a:off x="0" y="0"/>
              <a:ext cx="4242816" cy="2743200"/>
            </a:xfrm>
            <a:custGeom>
              <a:avLst/>
              <a:gdLst/>
              <a:ahLst/>
              <a:cxnLst/>
              <a:rect r="r" b="b" t="t" l="l"/>
              <a:pathLst>
                <a:path h="2743200" w="4242816">
                  <a:moveTo>
                    <a:pt x="0" y="146304"/>
                  </a:moveTo>
                  <a:cubicBezTo>
                    <a:pt x="0" y="65532"/>
                    <a:pt x="65532" y="0"/>
                    <a:pt x="146304" y="0"/>
                  </a:cubicBezTo>
                  <a:lnTo>
                    <a:pt x="4096512" y="0"/>
                  </a:lnTo>
                  <a:cubicBezTo>
                    <a:pt x="4177284" y="0"/>
                    <a:pt x="4242816" y="65532"/>
                    <a:pt x="4242816" y="146304"/>
                  </a:cubicBezTo>
                  <a:lnTo>
                    <a:pt x="4242816" y="2596896"/>
                  </a:lnTo>
                  <a:cubicBezTo>
                    <a:pt x="4242816" y="2677668"/>
                    <a:pt x="4177284" y="2743200"/>
                    <a:pt x="4096512" y="2743200"/>
                  </a:cubicBezTo>
                  <a:lnTo>
                    <a:pt x="146304" y="2743200"/>
                  </a:lnTo>
                  <a:cubicBezTo>
                    <a:pt x="65532" y="2743200"/>
                    <a:pt x="0" y="2677668"/>
                    <a:pt x="0" y="2596896"/>
                  </a:cubicBezTo>
                  <a:close/>
                </a:path>
              </a:pathLst>
            </a:custGeom>
            <a:solidFill>
              <a:srgbClr val="0B2B26"/>
            </a:solidFill>
          </p:spPr>
        </p:sp>
      </p:grpSp>
      <p:grpSp>
        <p:nvGrpSpPr>
          <p:cNvPr name="Group 107" id="107"/>
          <p:cNvGrpSpPr/>
          <p:nvPr/>
        </p:nvGrpSpPr>
        <p:grpSpPr>
          <a:xfrm rot="0">
            <a:off x="15519654" y="2674620"/>
            <a:ext cx="754380" cy="754380"/>
            <a:chOff x="0" y="0"/>
            <a:chExt cx="1005840" cy="1005840"/>
          </a:xfrm>
        </p:grpSpPr>
        <p:sp>
          <p:nvSpPr>
            <p:cNvPr name="Freeform 108" id="108"/>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8EB69B"/>
            </a:solidFill>
          </p:spPr>
        </p:sp>
      </p:grpSp>
      <p:grpSp>
        <p:nvGrpSpPr>
          <p:cNvPr name="Group 109" id="109"/>
          <p:cNvGrpSpPr/>
          <p:nvPr/>
        </p:nvGrpSpPr>
        <p:grpSpPr>
          <a:xfrm rot="0">
            <a:off x="14415516" y="2510028"/>
            <a:ext cx="548640" cy="411480"/>
            <a:chOff x="0" y="0"/>
            <a:chExt cx="731520" cy="548640"/>
          </a:xfrm>
        </p:grpSpPr>
        <p:sp>
          <p:nvSpPr>
            <p:cNvPr name="Freeform 110" id="110"/>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111" id="111"/>
            <p:cNvSpPr txBox="true"/>
            <p:nvPr/>
          </p:nvSpPr>
          <p:spPr>
            <a:xfrm>
              <a:off x="0" y="-28575"/>
              <a:ext cx="731520" cy="577215"/>
            </a:xfrm>
            <a:prstGeom prst="rect">
              <a:avLst/>
            </a:prstGeom>
          </p:spPr>
          <p:txBody>
            <a:bodyPr anchor="ctr" rtlCol="false" tIns="0" lIns="0" bIns="0" rIns="0"/>
            <a:lstStyle/>
            <a:p>
              <a:pPr algn="l">
                <a:lnSpc>
                  <a:spcPts val="1980"/>
                </a:lnSpc>
              </a:pPr>
              <a:r>
                <a:rPr lang="en-US" sz="1650" b="true">
                  <a:solidFill>
                    <a:srgbClr val="8EB69B"/>
                  </a:solidFill>
                  <a:latin typeface="Calibri (MS) Bold"/>
                  <a:ea typeface="Calibri (MS) Bold"/>
                  <a:cs typeface="Calibri (MS) Bold"/>
                  <a:sym typeface="Calibri (MS) Bold"/>
                </a:rPr>
                <a:t>5</a:t>
              </a:r>
            </a:p>
          </p:txBody>
        </p:sp>
      </p:grpSp>
      <p:sp>
        <p:nvSpPr>
          <p:cNvPr name="TextBox 112" id="112"/>
          <p:cNvSpPr txBox="true"/>
          <p:nvPr/>
        </p:nvSpPr>
        <p:spPr>
          <a:xfrm rot="0">
            <a:off x="14506956" y="3710940"/>
            <a:ext cx="2779776" cy="632460"/>
          </a:xfrm>
          <a:prstGeom prst="rect">
            <a:avLst/>
          </a:prstGeom>
        </p:spPr>
        <p:txBody>
          <a:bodyPr anchor="t" rtlCol="false" tIns="0" lIns="0" bIns="0" rIns="0">
            <a:spAutoFit/>
          </a:bodyPr>
          <a:lstStyle/>
          <a:p>
            <a:pPr algn="ctr">
              <a:lnSpc>
                <a:spcPts val="2160"/>
              </a:lnSpc>
            </a:pPr>
            <a:r>
              <a:rPr lang="en-US" sz="1800" b="true">
                <a:solidFill>
                  <a:srgbClr val="DAF1DE"/>
                </a:solidFill>
                <a:latin typeface="Calibri (MS) Bold"/>
                <a:ea typeface="Calibri (MS) Bold"/>
                <a:cs typeface="Calibri (MS) Bold"/>
                <a:sym typeface="Calibri (MS) Bold"/>
              </a:rPr>
              <a:t>Despliegue</a:t>
            </a:r>
          </a:p>
        </p:txBody>
      </p:sp>
      <p:grpSp>
        <p:nvGrpSpPr>
          <p:cNvPr name="Group 113" id="113"/>
          <p:cNvGrpSpPr/>
          <p:nvPr/>
        </p:nvGrpSpPr>
        <p:grpSpPr>
          <a:xfrm rot="0">
            <a:off x="15700705" y="2855671"/>
            <a:ext cx="392278" cy="392278"/>
            <a:chOff x="0" y="0"/>
            <a:chExt cx="523037" cy="523037"/>
          </a:xfrm>
        </p:grpSpPr>
        <p:sp>
          <p:nvSpPr>
            <p:cNvPr name="Freeform 114" id="114" descr="/home/claude/sms-security/icons/flag_dark1.png"/>
            <p:cNvSpPr/>
            <p:nvPr/>
          </p:nvSpPr>
          <p:spPr>
            <a:xfrm flipH="false" flipV="false" rot="0">
              <a:off x="0" y="0"/>
              <a:ext cx="522986" cy="522986"/>
            </a:xfrm>
            <a:custGeom>
              <a:avLst/>
              <a:gdLst/>
              <a:ahLst/>
              <a:cxnLst/>
              <a:rect r="r" b="b" t="t" l="l"/>
              <a:pathLst>
                <a:path h="522986" w="522986">
                  <a:moveTo>
                    <a:pt x="0" y="0"/>
                  </a:moveTo>
                  <a:lnTo>
                    <a:pt x="522986" y="0"/>
                  </a:lnTo>
                  <a:lnTo>
                    <a:pt x="522986" y="522986"/>
                  </a:lnTo>
                  <a:lnTo>
                    <a:pt x="0" y="522986"/>
                  </a:lnTo>
                  <a:lnTo>
                    <a:pt x="0" y="0"/>
                  </a:lnTo>
                  <a:close/>
                </a:path>
              </a:pathLst>
            </a:custGeom>
            <a:blipFill>
              <a:blip r:embed="rId9"/>
              <a:stretch>
                <a:fillRect l="0" t="0" r="-9" b="-9"/>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AF1DE"/>
        </a:solidFill>
      </p:bgPr>
    </p:bg>
    <p:spTree>
      <p:nvGrpSpPr>
        <p:cNvPr id="1" name=""/>
        <p:cNvGrpSpPr/>
        <p:nvPr/>
      </p:nvGrpSpPr>
      <p:grpSpPr>
        <a:xfrm>
          <a:off x="0" y="0"/>
          <a:ext cx="0" cy="0"/>
          <a:chOff x="0" y="0"/>
          <a:chExt cx="0" cy="0"/>
        </a:xfrm>
      </p:grpSpPr>
      <p:sp>
        <p:nvSpPr>
          <p:cNvPr name="Freeform 2" id="2"/>
          <p:cNvSpPr/>
          <p:nvPr/>
        </p:nvSpPr>
        <p:spPr>
          <a:xfrm flipH="false" flipV="false" rot="0">
            <a:off x="0" y="45720"/>
            <a:ext cx="18288000" cy="10241280"/>
          </a:xfrm>
          <a:custGeom>
            <a:avLst/>
            <a:gdLst/>
            <a:ahLst/>
            <a:cxnLst/>
            <a:rect r="r" b="b" t="t" l="l"/>
            <a:pathLst>
              <a:path h="10241280" w="18288000">
                <a:moveTo>
                  <a:pt x="0" y="0"/>
                </a:moveTo>
                <a:lnTo>
                  <a:pt x="18288000" y="0"/>
                </a:lnTo>
                <a:lnTo>
                  <a:pt x="18288000" y="10241280"/>
                </a:lnTo>
                <a:lnTo>
                  <a:pt x="0" y="10241280"/>
                </a:lnTo>
                <a:lnTo>
                  <a:pt x="0" y="0"/>
                </a:lnTo>
                <a:close/>
              </a:path>
            </a:pathLst>
          </a:custGeom>
          <a:blipFill>
            <a:blip r:embed="rId2">
              <a:alphaModFix amt="40000"/>
            </a:blip>
            <a:stretch>
              <a:fillRect l="0" t="0" r="0" b="0"/>
            </a:stretch>
          </a:blipFill>
        </p:spPr>
      </p:sp>
      <p:grpSp>
        <p:nvGrpSpPr>
          <p:cNvPr name="Group 3" id="3"/>
          <p:cNvGrpSpPr/>
          <p:nvPr/>
        </p:nvGrpSpPr>
        <p:grpSpPr>
          <a:xfrm rot="0">
            <a:off x="754380" y="685800"/>
            <a:ext cx="1028700" cy="1028700"/>
            <a:chOff x="0" y="0"/>
            <a:chExt cx="1371600" cy="1371600"/>
          </a:xfrm>
        </p:grpSpPr>
        <p:sp>
          <p:nvSpPr>
            <p:cNvPr name="Freeform 4" id="4"/>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0B2B26"/>
            </a:solidFill>
          </p:spPr>
        </p:sp>
      </p:grpSp>
      <p:grpSp>
        <p:nvGrpSpPr>
          <p:cNvPr name="Group 5" id="5"/>
          <p:cNvGrpSpPr/>
          <p:nvPr/>
        </p:nvGrpSpPr>
        <p:grpSpPr>
          <a:xfrm rot="0">
            <a:off x="1001268" y="932688"/>
            <a:ext cx="534924" cy="534924"/>
            <a:chOff x="0" y="0"/>
            <a:chExt cx="713232" cy="713232"/>
          </a:xfrm>
        </p:grpSpPr>
        <p:sp>
          <p:nvSpPr>
            <p:cNvPr name="Freeform 6" id="6" descr="/home/claude/sms-security/icons/calendar_light.png"/>
            <p:cNvSpPr/>
            <p:nvPr/>
          </p:nvSpPr>
          <p:spPr>
            <a:xfrm flipH="false" flipV="false" rot="0">
              <a:off x="0" y="0"/>
              <a:ext cx="713232" cy="713232"/>
            </a:xfrm>
            <a:custGeom>
              <a:avLst/>
              <a:gdLst/>
              <a:ahLst/>
              <a:cxnLst/>
              <a:rect r="r" b="b" t="t" l="l"/>
              <a:pathLst>
                <a:path h="713232" w="713232">
                  <a:moveTo>
                    <a:pt x="0" y="0"/>
                  </a:moveTo>
                  <a:lnTo>
                    <a:pt x="713232" y="0"/>
                  </a:lnTo>
                  <a:lnTo>
                    <a:pt x="713232" y="713232"/>
                  </a:lnTo>
                  <a:lnTo>
                    <a:pt x="0" y="713232"/>
                  </a:lnTo>
                  <a:lnTo>
                    <a:pt x="0" y="0"/>
                  </a:lnTo>
                  <a:close/>
                </a:path>
              </a:pathLst>
            </a:custGeom>
            <a:blipFill>
              <a:blip r:embed="rId3"/>
              <a:stretch>
                <a:fillRect l="0" t="0" r="0" b="0"/>
              </a:stretch>
            </a:blipFill>
          </p:spPr>
        </p:sp>
      </p:grpSp>
      <p:grpSp>
        <p:nvGrpSpPr>
          <p:cNvPr name="Group 7" id="7"/>
          <p:cNvGrpSpPr/>
          <p:nvPr/>
        </p:nvGrpSpPr>
        <p:grpSpPr>
          <a:xfrm rot="0">
            <a:off x="1988820" y="576072"/>
            <a:ext cx="14401800" cy="754380"/>
            <a:chOff x="0" y="0"/>
            <a:chExt cx="19202400" cy="1005840"/>
          </a:xfrm>
        </p:grpSpPr>
        <p:sp>
          <p:nvSpPr>
            <p:cNvPr name="Freeform 8" id="8"/>
            <p:cNvSpPr/>
            <p:nvPr/>
          </p:nvSpPr>
          <p:spPr>
            <a:xfrm flipH="false" flipV="false" rot="0">
              <a:off x="0" y="0"/>
              <a:ext cx="19202400" cy="1005840"/>
            </a:xfrm>
            <a:custGeom>
              <a:avLst/>
              <a:gdLst/>
              <a:ahLst/>
              <a:cxnLst/>
              <a:rect r="r" b="b" t="t" l="l"/>
              <a:pathLst>
                <a:path h="1005840" w="19202400">
                  <a:moveTo>
                    <a:pt x="0" y="0"/>
                  </a:moveTo>
                  <a:lnTo>
                    <a:pt x="19202400" y="0"/>
                  </a:lnTo>
                  <a:lnTo>
                    <a:pt x="19202400" y="1005840"/>
                  </a:lnTo>
                  <a:lnTo>
                    <a:pt x="0" y="1005840"/>
                  </a:lnTo>
                  <a:close/>
                </a:path>
              </a:pathLst>
            </a:custGeom>
            <a:blipFill>
              <a:blip r:embed="rId4">
                <a:alphaModFix amt="0"/>
              </a:blip>
              <a:stretch>
                <a:fillRect l="0" t="-321987" r="0" b="-321987"/>
              </a:stretch>
            </a:blipFill>
          </p:spPr>
        </p:sp>
        <p:sp>
          <p:nvSpPr>
            <p:cNvPr name="TextBox 9" id="9"/>
            <p:cNvSpPr txBox="true"/>
            <p:nvPr/>
          </p:nvSpPr>
          <p:spPr>
            <a:xfrm>
              <a:off x="0" y="-9525"/>
              <a:ext cx="19202400" cy="1015365"/>
            </a:xfrm>
            <a:prstGeom prst="rect">
              <a:avLst/>
            </a:prstGeom>
          </p:spPr>
          <p:txBody>
            <a:bodyPr anchor="ctr" rtlCol="false" tIns="0" lIns="0" bIns="0" rIns="0"/>
            <a:lstStyle/>
            <a:p>
              <a:pPr algn="l">
                <a:lnSpc>
                  <a:spcPts val="5040"/>
                </a:lnSpc>
              </a:pPr>
              <a:r>
                <a:rPr lang="en-US" sz="4200" b="true">
                  <a:solidFill>
                    <a:srgbClr val="051F20"/>
                  </a:solidFill>
                  <a:latin typeface="Cambria Bold"/>
                  <a:ea typeface="Cambria Bold"/>
                  <a:cs typeface="Cambria Bold"/>
                  <a:sym typeface="Cambria Bold"/>
                </a:rPr>
                <a:t>Plan de Trabajo e Hitos</a:t>
              </a:r>
            </a:p>
          </p:txBody>
        </p:sp>
      </p:grpSp>
      <p:grpSp>
        <p:nvGrpSpPr>
          <p:cNvPr name="Group 10" id="10"/>
          <p:cNvGrpSpPr/>
          <p:nvPr/>
        </p:nvGrpSpPr>
        <p:grpSpPr>
          <a:xfrm rot="0">
            <a:off x="1988820" y="1303020"/>
            <a:ext cx="14401800" cy="480060"/>
            <a:chOff x="0" y="0"/>
            <a:chExt cx="19202400" cy="640080"/>
          </a:xfrm>
        </p:grpSpPr>
        <p:sp>
          <p:nvSpPr>
            <p:cNvPr name="Freeform 11" id="11"/>
            <p:cNvSpPr/>
            <p:nvPr/>
          </p:nvSpPr>
          <p:spPr>
            <a:xfrm flipH="false" flipV="false" rot="0">
              <a:off x="0" y="0"/>
              <a:ext cx="19202400" cy="640080"/>
            </a:xfrm>
            <a:custGeom>
              <a:avLst/>
              <a:gdLst/>
              <a:ahLst/>
              <a:cxnLst/>
              <a:rect r="r" b="b" t="t" l="l"/>
              <a:pathLst>
                <a:path h="640080" w="19202400">
                  <a:moveTo>
                    <a:pt x="0" y="0"/>
                  </a:moveTo>
                  <a:lnTo>
                    <a:pt x="19202400" y="0"/>
                  </a:lnTo>
                  <a:lnTo>
                    <a:pt x="19202400" y="640080"/>
                  </a:lnTo>
                  <a:lnTo>
                    <a:pt x="0" y="640080"/>
                  </a:lnTo>
                  <a:close/>
                </a:path>
              </a:pathLst>
            </a:custGeom>
            <a:blipFill>
              <a:blip r:embed="rId4">
                <a:alphaModFix amt="0"/>
              </a:blip>
              <a:stretch>
                <a:fillRect l="0" t="-534551" r="0" b="-534551"/>
              </a:stretch>
            </a:blipFill>
          </p:spPr>
        </p:sp>
        <p:sp>
          <p:nvSpPr>
            <p:cNvPr name="TextBox 12" id="12"/>
            <p:cNvSpPr txBox="true"/>
            <p:nvPr/>
          </p:nvSpPr>
          <p:spPr>
            <a:xfrm>
              <a:off x="0" y="-47625"/>
              <a:ext cx="19202400" cy="687705"/>
            </a:xfrm>
            <a:prstGeom prst="rect">
              <a:avLst/>
            </a:prstGeom>
          </p:spPr>
          <p:txBody>
            <a:bodyPr anchor="ctr" rtlCol="false" tIns="0" lIns="0" bIns="0" rIns="0"/>
            <a:lstStyle/>
            <a:p>
              <a:pPr algn="l">
                <a:lnSpc>
                  <a:spcPts val="2340"/>
                </a:lnSpc>
              </a:pPr>
              <a:r>
                <a:rPr lang="en-US" sz="1950" i="true">
                  <a:solidFill>
                    <a:srgbClr val="235347"/>
                  </a:solidFill>
                  <a:latin typeface="Calibri (MS) Italics"/>
                  <a:ea typeface="Calibri (MS) Italics"/>
                  <a:cs typeface="Calibri (MS) Italics"/>
                  <a:sym typeface="Calibri (MS) Italics"/>
                </a:rPr>
                <a:t>Cronograma, recursos y evidencias de avance</a:t>
              </a:r>
            </a:p>
          </p:txBody>
        </p:sp>
      </p:grpSp>
      <p:grpSp>
        <p:nvGrpSpPr>
          <p:cNvPr name="Group 13" id="13"/>
          <p:cNvGrpSpPr/>
          <p:nvPr/>
        </p:nvGrpSpPr>
        <p:grpSpPr>
          <a:xfrm rot="0">
            <a:off x="829818" y="2851380"/>
            <a:ext cx="5390388" cy="5681520"/>
            <a:chOff x="0" y="0"/>
            <a:chExt cx="7187184" cy="7575360"/>
          </a:xfrm>
        </p:grpSpPr>
        <p:sp>
          <p:nvSpPr>
            <p:cNvPr name="Freeform 14" id="14"/>
            <p:cNvSpPr/>
            <p:nvPr/>
          </p:nvSpPr>
          <p:spPr>
            <a:xfrm flipH="false" flipV="false" rot="0">
              <a:off x="0" y="0"/>
              <a:ext cx="7187185" cy="7575360"/>
            </a:xfrm>
            <a:custGeom>
              <a:avLst/>
              <a:gdLst/>
              <a:ahLst/>
              <a:cxnLst/>
              <a:rect r="r" b="b" t="t" l="l"/>
              <a:pathLst>
                <a:path h="7575360" w="7187185">
                  <a:moveTo>
                    <a:pt x="0" y="352342"/>
                  </a:moveTo>
                  <a:cubicBezTo>
                    <a:pt x="0" y="157820"/>
                    <a:pt x="81915" y="0"/>
                    <a:pt x="182880" y="0"/>
                  </a:cubicBezTo>
                  <a:lnTo>
                    <a:pt x="7004304" y="0"/>
                  </a:lnTo>
                  <a:cubicBezTo>
                    <a:pt x="7105269" y="0"/>
                    <a:pt x="7187185" y="157820"/>
                    <a:pt x="7187185" y="352342"/>
                  </a:cubicBezTo>
                  <a:lnTo>
                    <a:pt x="7187185" y="7223018"/>
                  </a:lnTo>
                  <a:cubicBezTo>
                    <a:pt x="7187185" y="7417541"/>
                    <a:pt x="7105269" y="7575360"/>
                    <a:pt x="7004304" y="7575360"/>
                  </a:cubicBezTo>
                  <a:lnTo>
                    <a:pt x="182880" y="7575360"/>
                  </a:lnTo>
                  <a:cubicBezTo>
                    <a:pt x="81915" y="7575360"/>
                    <a:pt x="0" y="7417540"/>
                    <a:pt x="0" y="7223018"/>
                  </a:cubicBezTo>
                  <a:close/>
                </a:path>
              </a:pathLst>
            </a:custGeom>
            <a:solidFill>
              <a:srgbClr val="051F20"/>
            </a:solidFill>
          </p:spPr>
        </p:sp>
      </p:grpSp>
      <p:grpSp>
        <p:nvGrpSpPr>
          <p:cNvPr name="Group 15" id="15"/>
          <p:cNvGrpSpPr/>
          <p:nvPr/>
        </p:nvGrpSpPr>
        <p:grpSpPr>
          <a:xfrm rot="0">
            <a:off x="1234440" y="3008691"/>
            <a:ext cx="754380" cy="754380"/>
            <a:chOff x="0" y="0"/>
            <a:chExt cx="1005840" cy="1005840"/>
          </a:xfrm>
        </p:grpSpPr>
        <p:sp>
          <p:nvSpPr>
            <p:cNvPr name="Freeform 16" id="16"/>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8EB69B"/>
            </a:solidFill>
          </p:spPr>
        </p:sp>
      </p:grpSp>
      <p:grpSp>
        <p:nvGrpSpPr>
          <p:cNvPr name="Group 17" id="17"/>
          <p:cNvGrpSpPr/>
          <p:nvPr/>
        </p:nvGrpSpPr>
        <p:grpSpPr>
          <a:xfrm rot="0">
            <a:off x="1415491" y="3189743"/>
            <a:ext cx="392278" cy="392278"/>
            <a:chOff x="0" y="0"/>
            <a:chExt cx="523037" cy="523037"/>
          </a:xfrm>
        </p:grpSpPr>
        <p:sp>
          <p:nvSpPr>
            <p:cNvPr name="Freeform 18" id="18" descr="/home/claude/sms-security/icons/clipboard_dark1.png"/>
            <p:cNvSpPr/>
            <p:nvPr/>
          </p:nvSpPr>
          <p:spPr>
            <a:xfrm flipH="false" flipV="false" rot="0">
              <a:off x="0" y="0"/>
              <a:ext cx="522986" cy="522986"/>
            </a:xfrm>
            <a:custGeom>
              <a:avLst/>
              <a:gdLst/>
              <a:ahLst/>
              <a:cxnLst/>
              <a:rect r="r" b="b" t="t" l="l"/>
              <a:pathLst>
                <a:path h="522986" w="522986">
                  <a:moveTo>
                    <a:pt x="0" y="0"/>
                  </a:moveTo>
                  <a:lnTo>
                    <a:pt x="522986" y="0"/>
                  </a:lnTo>
                  <a:lnTo>
                    <a:pt x="522986" y="522986"/>
                  </a:lnTo>
                  <a:lnTo>
                    <a:pt x="0" y="522986"/>
                  </a:lnTo>
                  <a:lnTo>
                    <a:pt x="0" y="0"/>
                  </a:lnTo>
                  <a:close/>
                </a:path>
              </a:pathLst>
            </a:custGeom>
            <a:blipFill>
              <a:blip r:embed="rId5"/>
              <a:stretch>
                <a:fillRect l="0" t="0" r="-9" b="-9"/>
              </a:stretch>
            </a:blipFill>
          </p:spPr>
        </p:sp>
      </p:grpSp>
      <p:grpSp>
        <p:nvGrpSpPr>
          <p:cNvPr name="Group 19" id="19"/>
          <p:cNvGrpSpPr/>
          <p:nvPr/>
        </p:nvGrpSpPr>
        <p:grpSpPr>
          <a:xfrm rot="0">
            <a:off x="2083498" y="3008691"/>
            <a:ext cx="3840480" cy="754380"/>
            <a:chOff x="0" y="0"/>
            <a:chExt cx="5120640" cy="1005840"/>
          </a:xfrm>
        </p:grpSpPr>
        <p:sp>
          <p:nvSpPr>
            <p:cNvPr name="Freeform 20" id="20"/>
            <p:cNvSpPr/>
            <p:nvPr/>
          </p:nvSpPr>
          <p:spPr>
            <a:xfrm flipH="false" flipV="false" rot="0">
              <a:off x="0" y="0"/>
              <a:ext cx="5120640" cy="1005840"/>
            </a:xfrm>
            <a:custGeom>
              <a:avLst/>
              <a:gdLst/>
              <a:ahLst/>
              <a:cxnLst/>
              <a:rect r="r" b="b" t="t" l="l"/>
              <a:pathLst>
                <a:path h="1005840" w="5120640">
                  <a:moveTo>
                    <a:pt x="0" y="0"/>
                  </a:moveTo>
                  <a:lnTo>
                    <a:pt x="5120640" y="0"/>
                  </a:lnTo>
                  <a:lnTo>
                    <a:pt x="5120640" y="1005840"/>
                  </a:lnTo>
                  <a:lnTo>
                    <a:pt x="0" y="1005840"/>
                  </a:lnTo>
                  <a:close/>
                </a:path>
              </a:pathLst>
            </a:custGeom>
            <a:blipFill>
              <a:blip r:embed="rId4">
                <a:alphaModFix amt="0"/>
              </a:blip>
              <a:stretch>
                <a:fillRect l="0" t="-49196" r="0" b="-49196"/>
              </a:stretch>
            </a:blipFill>
          </p:spPr>
        </p:sp>
        <p:sp>
          <p:nvSpPr>
            <p:cNvPr name="TextBox 21" id="21"/>
            <p:cNvSpPr txBox="true"/>
            <p:nvPr/>
          </p:nvSpPr>
          <p:spPr>
            <a:xfrm>
              <a:off x="0" y="-19050"/>
              <a:ext cx="5120640" cy="1024890"/>
            </a:xfrm>
            <a:prstGeom prst="rect">
              <a:avLst/>
            </a:prstGeom>
          </p:spPr>
          <p:txBody>
            <a:bodyPr anchor="ctr" rtlCol="false" tIns="0" lIns="0" bIns="0" rIns="0"/>
            <a:lstStyle/>
            <a:p>
              <a:pPr algn="l">
                <a:lnSpc>
                  <a:spcPts val="2520"/>
                </a:lnSpc>
              </a:pPr>
              <a:r>
                <a:rPr lang="en-US" sz="2100" b="true">
                  <a:solidFill>
                    <a:srgbClr val="DAF1DE"/>
                  </a:solidFill>
                  <a:latin typeface="Cambria Bold"/>
                  <a:ea typeface="Cambria Bold"/>
                  <a:cs typeface="Cambria Bold"/>
                  <a:sym typeface="Cambria Bold"/>
                </a:rPr>
                <a:t>Recursos</a:t>
              </a:r>
            </a:p>
          </p:txBody>
        </p:sp>
      </p:grpSp>
      <p:grpSp>
        <p:nvGrpSpPr>
          <p:cNvPr name="Group 22" id="22"/>
          <p:cNvGrpSpPr/>
          <p:nvPr/>
        </p:nvGrpSpPr>
        <p:grpSpPr>
          <a:xfrm rot="0">
            <a:off x="936572" y="3834734"/>
            <a:ext cx="4987407" cy="4434784"/>
            <a:chOff x="0" y="0"/>
            <a:chExt cx="6649876" cy="5913045"/>
          </a:xfrm>
        </p:grpSpPr>
        <p:sp>
          <p:nvSpPr>
            <p:cNvPr name="Freeform 23" id="23"/>
            <p:cNvSpPr/>
            <p:nvPr/>
          </p:nvSpPr>
          <p:spPr>
            <a:xfrm flipH="false" flipV="false" rot="0">
              <a:off x="0" y="0"/>
              <a:ext cx="6649875" cy="5913045"/>
            </a:xfrm>
            <a:custGeom>
              <a:avLst/>
              <a:gdLst/>
              <a:ahLst/>
              <a:cxnLst/>
              <a:rect r="r" b="b" t="t" l="l"/>
              <a:pathLst>
                <a:path h="5913045" w="6649875">
                  <a:moveTo>
                    <a:pt x="0" y="473044"/>
                  </a:moveTo>
                  <a:cubicBezTo>
                    <a:pt x="0" y="211817"/>
                    <a:pt x="70130" y="0"/>
                    <a:pt x="156619" y="0"/>
                  </a:cubicBezTo>
                  <a:lnTo>
                    <a:pt x="6493256" y="0"/>
                  </a:lnTo>
                  <a:cubicBezTo>
                    <a:pt x="6579746" y="0"/>
                    <a:pt x="6649875" y="211817"/>
                    <a:pt x="6649875" y="473044"/>
                  </a:cubicBezTo>
                  <a:lnTo>
                    <a:pt x="6649875" y="5440002"/>
                  </a:lnTo>
                  <a:cubicBezTo>
                    <a:pt x="6649875" y="5701229"/>
                    <a:pt x="6579746" y="5913045"/>
                    <a:pt x="6493256" y="5913045"/>
                  </a:cubicBezTo>
                  <a:lnTo>
                    <a:pt x="156619" y="5913045"/>
                  </a:lnTo>
                  <a:cubicBezTo>
                    <a:pt x="70130" y="5913045"/>
                    <a:pt x="0" y="5701229"/>
                    <a:pt x="0" y="5440002"/>
                  </a:cubicBezTo>
                  <a:close/>
                </a:path>
              </a:pathLst>
            </a:custGeom>
            <a:solidFill>
              <a:srgbClr val="FFFFFF"/>
            </a:solidFill>
            <a:ln w="19050" cap="sq">
              <a:solidFill>
                <a:srgbClr val="8EB69B"/>
              </a:solidFill>
              <a:prstDash val="dash"/>
              <a:miter/>
            </a:ln>
          </p:spPr>
        </p:sp>
      </p:grpSp>
      <p:sp>
        <p:nvSpPr>
          <p:cNvPr name="TextBox 24" id="24"/>
          <p:cNvSpPr txBox="true"/>
          <p:nvPr/>
        </p:nvSpPr>
        <p:spPr>
          <a:xfrm rot="0">
            <a:off x="1126046" y="3909465"/>
            <a:ext cx="4797933" cy="4486275"/>
          </a:xfrm>
          <a:prstGeom prst="rect">
            <a:avLst/>
          </a:prstGeom>
        </p:spPr>
        <p:txBody>
          <a:bodyPr anchor="t" rtlCol="false" tIns="0" lIns="0" bIns="0" rIns="0">
            <a:spAutoFit/>
          </a:bodyPr>
          <a:lstStyle/>
          <a:p>
            <a:pPr algn="l">
              <a:lnSpc>
                <a:spcPts val="1980"/>
              </a:lnSpc>
            </a:pPr>
            <a:r>
              <a:rPr lang="en-US" sz="1650" i="true">
                <a:solidFill>
                  <a:srgbClr val="7A9E8E"/>
                </a:solidFill>
                <a:latin typeface="Calibri (MS) Italics"/>
                <a:ea typeface="Calibri (MS) Italics"/>
                <a:cs typeface="Calibri (MS) Italics"/>
                <a:sym typeface="Calibri (MS) Italics"/>
              </a:rPr>
              <a:t>Herramientas de Desarrollo y Diseño</a:t>
            </a:r>
          </a:p>
          <a:p>
            <a:pPr algn="l" marL="356235" indent="-178118" lvl="1">
              <a:lnSpc>
                <a:spcPts val="1980"/>
              </a:lnSpc>
              <a:buFont typeface="Arial"/>
              <a:buChar char="•"/>
            </a:pPr>
            <a:r>
              <a:rPr lang="en-US" sz="1650" i="true">
                <a:solidFill>
                  <a:srgbClr val="7A9E8E"/>
                </a:solidFill>
                <a:latin typeface="Calibri (MS) Italics"/>
                <a:ea typeface="Calibri (MS) Italics"/>
                <a:cs typeface="Calibri (MS) Italics"/>
                <a:sym typeface="Calibri (MS) Italics"/>
              </a:rPr>
              <a:t>Se requiere Visual Studio Code, Node.js y Expo para el entorno de programación. </a:t>
            </a:r>
          </a:p>
          <a:p>
            <a:pPr algn="l" marL="356235" indent="-178118" lvl="1">
              <a:lnSpc>
                <a:spcPts val="1980"/>
              </a:lnSpc>
              <a:buFont typeface="Arial"/>
              <a:buChar char="•"/>
            </a:pPr>
            <a:r>
              <a:rPr lang="en-US" sz="1650" i="true">
                <a:solidFill>
                  <a:srgbClr val="7A9E8E"/>
                </a:solidFill>
                <a:latin typeface="Calibri (MS) Italics"/>
                <a:ea typeface="Calibri (MS) Italics"/>
                <a:cs typeface="Calibri (MS) Italics"/>
                <a:sym typeface="Calibri (MS) Italics"/>
              </a:rPr>
              <a:t>La gestión del modelo de datos utiliza MongoDB Compass. </a:t>
            </a:r>
          </a:p>
          <a:p>
            <a:pPr algn="l" marL="356235" indent="-178118" lvl="1">
              <a:lnSpc>
                <a:spcPts val="1980"/>
              </a:lnSpc>
              <a:buFont typeface="Arial"/>
              <a:buChar char="•"/>
            </a:pPr>
            <a:r>
              <a:rPr lang="en-US" sz="1650" i="true">
                <a:solidFill>
                  <a:srgbClr val="7A9E8E"/>
                </a:solidFill>
                <a:latin typeface="Calibri (MS) Italics"/>
                <a:ea typeface="Calibri (MS) Italics"/>
                <a:cs typeface="Calibri (MS) Italics"/>
                <a:sym typeface="Calibri (MS) Italics"/>
              </a:rPr>
              <a:t>El diseño de interfaces y arquitectura del sistema emplea Figma (o similar) y herramientas de diagramación. </a:t>
            </a:r>
          </a:p>
          <a:p>
            <a:pPr algn="l" marL="356235" indent="-178118" lvl="1">
              <a:lnSpc>
                <a:spcPts val="1980"/>
              </a:lnSpc>
              <a:buFont typeface="Arial"/>
              <a:buChar char="•"/>
            </a:pPr>
            <a:r>
              <a:rPr lang="en-US" sz="1650" i="true">
                <a:solidFill>
                  <a:srgbClr val="7A9E8E"/>
                </a:solidFill>
                <a:latin typeface="Calibri (MS) Italics"/>
                <a:ea typeface="Calibri (MS) Italics"/>
                <a:cs typeface="Calibri (MS) Italics"/>
                <a:sym typeface="Calibri (MS) Italics"/>
              </a:rPr>
              <a:t>La construcción del panel de monitoreo requiere una librería de visualización de datos. </a:t>
            </a:r>
          </a:p>
          <a:p>
            <a:pPr algn="l">
              <a:lnSpc>
                <a:spcPts val="1980"/>
              </a:lnSpc>
            </a:pPr>
            <a:r>
              <a:rPr lang="en-US" sz="1650" i="true">
                <a:solidFill>
                  <a:srgbClr val="7A9E8E"/>
                </a:solidFill>
                <a:latin typeface="Calibri (MS) Italics"/>
                <a:ea typeface="Calibri (MS) Italics"/>
                <a:cs typeface="Calibri (MS) Italics"/>
                <a:sym typeface="Calibri (MS) Italics"/>
              </a:rPr>
              <a:t>Datos y Servicios Externos</a:t>
            </a:r>
          </a:p>
          <a:p>
            <a:pPr algn="l" marL="356235" indent="-178118" lvl="1">
              <a:lnSpc>
                <a:spcPts val="1980"/>
              </a:lnSpc>
              <a:buFont typeface="Arial"/>
              <a:buChar char="•"/>
            </a:pPr>
            <a:r>
              <a:rPr lang="en-US" sz="1650" i="true">
                <a:solidFill>
                  <a:srgbClr val="7A9E8E"/>
                </a:solidFill>
                <a:latin typeface="Calibri (MS) Italics"/>
                <a:ea typeface="Calibri (MS) Italics"/>
                <a:cs typeface="Calibri (MS) Italics"/>
                <a:sym typeface="Calibri (MS) Italics"/>
              </a:rPr>
              <a:t>El análisis de riesgo y entrenamiento se basa en información recopilada mediante un dataset en formato CSV de smishing chileno. </a:t>
            </a:r>
          </a:p>
          <a:p>
            <a:pPr algn="l" marL="356235" indent="-178118" lvl="1">
              <a:lnSpc>
                <a:spcPts val="1980"/>
              </a:lnSpc>
              <a:buFont typeface="Arial"/>
              <a:buChar char="•"/>
            </a:pPr>
            <a:r>
              <a:rPr lang="en-US" sz="1650" i="true">
                <a:solidFill>
                  <a:srgbClr val="7A9E8E"/>
                </a:solidFill>
                <a:latin typeface="Calibri (MS) Italics"/>
                <a:ea typeface="Calibri (MS) Italics"/>
                <a:cs typeface="Calibri (MS) Italics"/>
                <a:sym typeface="Calibri (MS) Italics"/>
              </a:rPr>
              <a:t>El desarrollo de la lógica y el chatbot exige contar con la documentación y las credenciales de las distintas APIs, incluyendo la API de Gemini.</a:t>
            </a:r>
          </a:p>
          <a:p>
            <a:pPr algn="l">
              <a:lnSpc>
                <a:spcPts val="1980"/>
              </a:lnSpc>
            </a:pPr>
          </a:p>
        </p:txBody>
      </p:sp>
      <p:grpSp>
        <p:nvGrpSpPr>
          <p:cNvPr name="Group 25" id="25"/>
          <p:cNvGrpSpPr/>
          <p:nvPr/>
        </p:nvGrpSpPr>
        <p:grpSpPr>
          <a:xfrm rot="0">
            <a:off x="6529768" y="2851380"/>
            <a:ext cx="5390388" cy="6559156"/>
            <a:chOff x="0" y="0"/>
            <a:chExt cx="7187184" cy="8745541"/>
          </a:xfrm>
        </p:grpSpPr>
        <p:sp>
          <p:nvSpPr>
            <p:cNvPr name="Freeform 26" id="26"/>
            <p:cNvSpPr/>
            <p:nvPr/>
          </p:nvSpPr>
          <p:spPr>
            <a:xfrm flipH="false" flipV="false" rot="0">
              <a:off x="0" y="0"/>
              <a:ext cx="7187185" cy="8745541"/>
            </a:xfrm>
            <a:custGeom>
              <a:avLst/>
              <a:gdLst/>
              <a:ahLst/>
              <a:cxnLst/>
              <a:rect r="r" b="b" t="t" l="l"/>
              <a:pathLst>
                <a:path h="8745541" w="7187185">
                  <a:moveTo>
                    <a:pt x="0" y="406769"/>
                  </a:moveTo>
                  <a:cubicBezTo>
                    <a:pt x="0" y="182199"/>
                    <a:pt x="81915" y="0"/>
                    <a:pt x="182880" y="0"/>
                  </a:cubicBezTo>
                  <a:lnTo>
                    <a:pt x="7004304" y="0"/>
                  </a:lnTo>
                  <a:cubicBezTo>
                    <a:pt x="7105269" y="0"/>
                    <a:pt x="7187185" y="182199"/>
                    <a:pt x="7187185" y="406769"/>
                  </a:cubicBezTo>
                  <a:lnTo>
                    <a:pt x="7187185" y="8338772"/>
                  </a:lnTo>
                  <a:cubicBezTo>
                    <a:pt x="7187185" y="8563343"/>
                    <a:pt x="7105269" y="8745541"/>
                    <a:pt x="7004304" y="8745541"/>
                  </a:cubicBezTo>
                  <a:lnTo>
                    <a:pt x="182880" y="8745541"/>
                  </a:lnTo>
                  <a:cubicBezTo>
                    <a:pt x="81915" y="8745541"/>
                    <a:pt x="0" y="8563342"/>
                    <a:pt x="0" y="8338772"/>
                  </a:cubicBezTo>
                  <a:close/>
                </a:path>
              </a:pathLst>
            </a:custGeom>
            <a:solidFill>
              <a:srgbClr val="051F20"/>
            </a:solidFill>
          </p:spPr>
        </p:sp>
      </p:grpSp>
      <p:grpSp>
        <p:nvGrpSpPr>
          <p:cNvPr name="Group 27" id="27"/>
          <p:cNvGrpSpPr/>
          <p:nvPr/>
        </p:nvGrpSpPr>
        <p:grpSpPr>
          <a:xfrm rot="0">
            <a:off x="6872668" y="3066886"/>
            <a:ext cx="754380" cy="754380"/>
            <a:chOff x="0" y="0"/>
            <a:chExt cx="1005840" cy="1005840"/>
          </a:xfrm>
        </p:grpSpPr>
        <p:sp>
          <p:nvSpPr>
            <p:cNvPr name="Freeform 28" id="28"/>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8EB69B"/>
            </a:solidFill>
          </p:spPr>
        </p:sp>
      </p:grpSp>
      <p:grpSp>
        <p:nvGrpSpPr>
          <p:cNvPr name="Group 29" id="29"/>
          <p:cNvGrpSpPr/>
          <p:nvPr/>
        </p:nvGrpSpPr>
        <p:grpSpPr>
          <a:xfrm rot="0">
            <a:off x="7053720" y="3247937"/>
            <a:ext cx="392278" cy="392278"/>
            <a:chOff x="0" y="0"/>
            <a:chExt cx="523037" cy="523037"/>
          </a:xfrm>
        </p:grpSpPr>
        <p:sp>
          <p:nvSpPr>
            <p:cNvPr name="Freeform 30" id="30" descr="/home/claude/sms-security/icons/clock_dark1.png"/>
            <p:cNvSpPr/>
            <p:nvPr/>
          </p:nvSpPr>
          <p:spPr>
            <a:xfrm flipH="false" flipV="false" rot="0">
              <a:off x="0" y="0"/>
              <a:ext cx="522986" cy="522986"/>
            </a:xfrm>
            <a:custGeom>
              <a:avLst/>
              <a:gdLst/>
              <a:ahLst/>
              <a:cxnLst/>
              <a:rect r="r" b="b" t="t" l="l"/>
              <a:pathLst>
                <a:path h="522986" w="522986">
                  <a:moveTo>
                    <a:pt x="0" y="0"/>
                  </a:moveTo>
                  <a:lnTo>
                    <a:pt x="522986" y="0"/>
                  </a:lnTo>
                  <a:lnTo>
                    <a:pt x="522986" y="522986"/>
                  </a:lnTo>
                  <a:lnTo>
                    <a:pt x="0" y="522986"/>
                  </a:lnTo>
                  <a:lnTo>
                    <a:pt x="0" y="0"/>
                  </a:lnTo>
                  <a:close/>
                </a:path>
              </a:pathLst>
            </a:custGeom>
            <a:blipFill>
              <a:blip r:embed="rId6"/>
              <a:stretch>
                <a:fillRect l="0" t="0" r="-9" b="-9"/>
              </a:stretch>
            </a:blipFill>
          </p:spPr>
        </p:sp>
      </p:grpSp>
      <p:grpSp>
        <p:nvGrpSpPr>
          <p:cNvPr name="Group 31" id="31"/>
          <p:cNvGrpSpPr/>
          <p:nvPr/>
        </p:nvGrpSpPr>
        <p:grpSpPr>
          <a:xfrm rot="0">
            <a:off x="7832788" y="3066886"/>
            <a:ext cx="3840480" cy="754380"/>
            <a:chOff x="0" y="0"/>
            <a:chExt cx="5120640" cy="1005840"/>
          </a:xfrm>
        </p:grpSpPr>
        <p:sp>
          <p:nvSpPr>
            <p:cNvPr name="Freeform 32" id="32"/>
            <p:cNvSpPr/>
            <p:nvPr/>
          </p:nvSpPr>
          <p:spPr>
            <a:xfrm flipH="false" flipV="false" rot="0">
              <a:off x="0" y="0"/>
              <a:ext cx="5120640" cy="1005840"/>
            </a:xfrm>
            <a:custGeom>
              <a:avLst/>
              <a:gdLst/>
              <a:ahLst/>
              <a:cxnLst/>
              <a:rect r="r" b="b" t="t" l="l"/>
              <a:pathLst>
                <a:path h="1005840" w="5120640">
                  <a:moveTo>
                    <a:pt x="0" y="0"/>
                  </a:moveTo>
                  <a:lnTo>
                    <a:pt x="5120640" y="0"/>
                  </a:lnTo>
                  <a:lnTo>
                    <a:pt x="5120640" y="1005840"/>
                  </a:lnTo>
                  <a:lnTo>
                    <a:pt x="0" y="1005840"/>
                  </a:lnTo>
                  <a:close/>
                </a:path>
              </a:pathLst>
            </a:custGeom>
            <a:blipFill>
              <a:blip r:embed="rId4">
                <a:alphaModFix amt="0"/>
              </a:blip>
              <a:stretch>
                <a:fillRect l="0" t="-49196" r="0" b="-49196"/>
              </a:stretch>
            </a:blipFill>
          </p:spPr>
        </p:sp>
        <p:sp>
          <p:nvSpPr>
            <p:cNvPr name="TextBox 33" id="33"/>
            <p:cNvSpPr txBox="true"/>
            <p:nvPr/>
          </p:nvSpPr>
          <p:spPr>
            <a:xfrm>
              <a:off x="0" y="-19050"/>
              <a:ext cx="5120640" cy="1024890"/>
            </a:xfrm>
            <a:prstGeom prst="rect">
              <a:avLst/>
            </a:prstGeom>
          </p:spPr>
          <p:txBody>
            <a:bodyPr anchor="ctr" rtlCol="false" tIns="0" lIns="0" bIns="0" rIns="0"/>
            <a:lstStyle/>
            <a:p>
              <a:pPr algn="l">
                <a:lnSpc>
                  <a:spcPts val="2520"/>
                </a:lnSpc>
              </a:pPr>
              <a:r>
                <a:rPr lang="en-US" sz="2100" b="true">
                  <a:solidFill>
                    <a:srgbClr val="DAF1DE"/>
                  </a:solidFill>
                  <a:latin typeface="Cambria Bold"/>
                  <a:ea typeface="Cambria Bold"/>
                  <a:cs typeface="Cambria Bold"/>
                  <a:sym typeface="Cambria Bold"/>
                </a:rPr>
                <a:t>Tiempos</a:t>
              </a:r>
            </a:p>
          </p:txBody>
        </p:sp>
      </p:grpSp>
      <p:grpSp>
        <p:nvGrpSpPr>
          <p:cNvPr name="Group 34" id="34"/>
          <p:cNvGrpSpPr/>
          <p:nvPr/>
        </p:nvGrpSpPr>
        <p:grpSpPr>
          <a:xfrm rot="0">
            <a:off x="6863143" y="4017481"/>
            <a:ext cx="4723638" cy="5221605"/>
            <a:chOff x="0" y="0"/>
            <a:chExt cx="6298184" cy="6962140"/>
          </a:xfrm>
        </p:grpSpPr>
        <p:sp>
          <p:nvSpPr>
            <p:cNvPr name="Freeform 35" id="35"/>
            <p:cNvSpPr/>
            <p:nvPr/>
          </p:nvSpPr>
          <p:spPr>
            <a:xfrm flipH="false" flipV="false" rot="0">
              <a:off x="0" y="0"/>
              <a:ext cx="6298184" cy="6962140"/>
            </a:xfrm>
            <a:custGeom>
              <a:avLst/>
              <a:gdLst/>
              <a:ahLst/>
              <a:cxnLst/>
              <a:rect r="r" b="b" t="t" l="l"/>
              <a:pathLst>
                <a:path h="6962140" w="6298184">
                  <a:moveTo>
                    <a:pt x="0" y="556971"/>
                  </a:moveTo>
                  <a:cubicBezTo>
                    <a:pt x="0" y="249397"/>
                    <a:pt x="66421" y="0"/>
                    <a:pt x="148336" y="0"/>
                  </a:cubicBezTo>
                  <a:lnTo>
                    <a:pt x="6149848" y="0"/>
                  </a:lnTo>
                  <a:cubicBezTo>
                    <a:pt x="6231763" y="0"/>
                    <a:pt x="6298184" y="249397"/>
                    <a:pt x="6298184" y="556971"/>
                  </a:cubicBezTo>
                  <a:lnTo>
                    <a:pt x="6298184" y="6405169"/>
                  </a:lnTo>
                  <a:cubicBezTo>
                    <a:pt x="6298184" y="6712743"/>
                    <a:pt x="6231763" y="6962140"/>
                    <a:pt x="6149848" y="6962140"/>
                  </a:cubicBezTo>
                  <a:lnTo>
                    <a:pt x="148336" y="6962140"/>
                  </a:lnTo>
                  <a:cubicBezTo>
                    <a:pt x="66421" y="6962140"/>
                    <a:pt x="0" y="6712743"/>
                    <a:pt x="0" y="6405169"/>
                  </a:cubicBezTo>
                  <a:close/>
                </a:path>
              </a:pathLst>
            </a:custGeom>
            <a:solidFill>
              <a:srgbClr val="FFFFFF"/>
            </a:solidFill>
            <a:ln w="19050" cap="sq">
              <a:solidFill>
                <a:srgbClr val="8EB69B"/>
              </a:solidFill>
              <a:prstDash val="dash"/>
              <a:miter/>
            </a:ln>
          </p:spPr>
        </p:sp>
      </p:grpSp>
      <p:sp>
        <p:nvSpPr>
          <p:cNvPr name="TextBox 36" id="36"/>
          <p:cNvSpPr txBox="true"/>
          <p:nvPr/>
        </p:nvSpPr>
        <p:spPr>
          <a:xfrm rot="0">
            <a:off x="7053720" y="4181311"/>
            <a:ext cx="4401523" cy="5229225"/>
          </a:xfrm>
          <a:prstGeom prst="rect">
            <a:avLst/>
          </a:prstGeom>
        </p:spPr>
        <p:txBody>
          <a:bodyPr anchor="t" rtlCol="false" tIns="0" lIns="0" bIns="0" rIns="0">
            <a:spAutoFit/>
          </a:bodyPr>
          <a:lstStyle/>
          <a:p>
            <a:pPr algn="l">
              <a:lnSpc>
                <a:spcPts val="1980"/>
              </a:lnSpc>
            </a:pPr>
            <a:r>
              <a:rPr lang="en-US" sz="1650" i="true">
                <a:solidFill>
                  <a:srgbClr val="7A9E8E"/>
                </a:solidFill>
                <a:latin typeface="Calibri (MS) Italics"/>
                <a:ea typeface="Calibri (MS) Italics"/>
                <a:cs typeface="Calibri (MS) Italics"/>
                <a:sym typeface="Calibri (MS) Italics"/>
              </a:rPr>
              <a:t>Desglose de Tiempos (18 Semanas Totales)</a:t>
            </a:r>
          </a:p>
          <a:p>
            <a:pPr algn="l" marL="356235" indent="-178118" lvl="1">
              <a:lnSpc>
                <a:spcPts val="1980"/>
              </a:lnSpc>
              <a:buFont typeface="Arial"/>
              <a:buChar char="•"/>
            </a:pPr>
            <a:r>
              <a:rPr lang="en-US" sz="1650" i="true">
                <a:solidFill>
                  <a:srgbClr val="7A9E8E"/>
                </a:solidFill>
                <a:latin typeface="Calibri (MS) Italics"/>
                <a:ea typeface="Calibri (MS) Italics"/>
                <a:cs typeface="Calibri (MS) Italics"/>
                <a:sym typeface="Calibri (MS) Italics"/>
              </a:rPr>
              <a:t>Fase de Análisis y Diseño:</a:t>
            </a:r>
          </a:p>
          <a:p>
            <a:pPr algn="l" marL="712470" indent="-237490" lvl="2">
              <a:lnSpc>
                <a:spcPts val="1980"/>
              </a:lnSpc>
              <a:buFont typeface="Arial"/>
              <a:buChar char="⚬"/>
            </a:pPr>
            <a:r>
              <a:rPr lang="en-US" sz="1650" i="true">
                <a:solidFill>
                  <a:srgbClr val="7A9E8E"/>
                </a:solidFill>
                <a:latin typeface="Calibri (MS) Italics"/>
                <a:ea typeface="Calibri (MS) Italics"/>
                <a:cs typeface="Calibri (MS) Italics"/>
                <a:sym typeface="Calibri (MS) Italics"/>
              </a:rPr>
              <a:t>Definición del problema, alcance y modelo de datos: 1 semana por tarea. </a:t>
            </a:r>
          </a:p>
          <a:p>
            <a:pPr algn="l" marL="712470" indent="-237490" lvl="2">
              <a:lnSpc>
                <a:spcPts val="1980"/>
              </a:lnSpc>
              <a:buFont typeface="Arial"/>
              <a:buChar char="⚬"/>
            </a:pPr>
            <a:r>
              <a:rPr lang="en-US" sz="1650" i="true">
                <a:solidFill>
                  <a:srgbClr val="7A9E8E"/>
                </a:solidFill>
                <a:latin typeface="Calibri (MS) Italics"/>
                <a:ea typeface="Calibri (MS) Italics"/>
                <a:cs typeface="Calibri (MS) Italics"/>
                <a:sym typeface="Calibri (MS) Italics"/>
              </a:rPr>
              <a:t>Definición de requerimientos y diseño de arquitectura: 2 semanas por tarea. </a:t>
            </a:r>
          </a:p>
          <a:p>
            <a:pPr algn="l" marL="712470" indent="-237490" lvl="2">
              <a:lnSpc>
                <a:spcPts val="1980"/>
              </a:lnSpc>
              <a:buFont typeface="Arial"/>
              <a:buChar char="⚬"/>
            </a:pPr>
            <a:r>
              <a:rPr lang="en-US" sz="1650" i="true">
                <a:solidFill>
                  <a:srgbClr val="7A9E8E"/>
                </a:solidFill>
                <a:latin typeface="Calibri (MS) Italics"/>
                <a:ea typeface="Calibri (MS) Italics"/>
                <a:cs typeface="Calibri (MS) Italics"/>
                <a:sym typeface="Calibri (MS) Italics"/>
              </a:rPr>
              <a:t>Diseño de interfaz intuitiva: 1 semana. </a:t>
            </a:r>
          </a:p>
          <a:p>
            <a:pPr algn="l" marL="356235" indent="-178118" lvl="1">
              <a:lnSpc>
                <a:spcPts val="1980"/>
              </a:lnSpc>
              <a:buFont typeface="Arial"/>
              <a:buChar char="•"/>
            </a:pPr>
            <a:r>
              <a:rPr lang="en-US" sz="1650" i="true">
                <a:solidFill>
                  <a:srgbClr val="7A9E8E"/>
                </a:solidFill>
                <a:latin typeface="Calibri (MS) Italics"/>
                <a:ea typeface="Calibri (MS) Italics"/>
                <a:cs typeface="Calibri (MS) Italics"/>
                <a:sym typeface="Calibri (MS) Italics"/>
              </a:rPr>
              <a:t>Fase de Desarrollo:</a:t>
            </a:r>
          </a:p>
          <a:p>
            <a:pPr algn="l" marL="712470" indent="-237490" lvl="2">
              <a:lnSpc>
                <a:spcPts val="1980"/>
              </a:lnSpc>
              <a:buFont typeface="Arial"/>
              <a:buChar char="⚬"/>
            </a:pPr>
            <a:r>
              <a:rPr lang="en-US" sz="1650" i="true">
                <a:solidFill>
                  <a:srgbClr val="7A9E8E"/>
                </a:solidFill>
                <a:latin typeface="Calibri (MS) Italics"/>
                <a:ea typeface="Calibri (MS) Italics"/>
                <a:cs typeface="Calibri (MS) Italics"/>
                <a:sym typeface="Calibri (MS) Italics"/>
              </a:rPr>
              <a:t>Desarrollo del Frontend (React Native): 6 semanas. </a:t>
            </a:r>
          </a:p>
          <a:p>
            <a:pPr algn="l" marL="712470" indent="-237490" lvl="2">
              <a:lnSpc>
                <a:spcPts val="1980"/>
              </a:lnSpc>
              <a:buFont typeface="Arial"/>
              <a:buChar char="⚬"/>
            </a:pPr>
            <a:r>
              <a:rPr lang="en-US" sz="1650" i="true">
                <a:solidFill>
                  <a:srgbClr val="7A9E8E"/>
                </a:solidFill>
                <a:latin typeface="Calibri (MS) Italics"/>
                <a:ea typeface="Calibri (MS) Italics"/>
                <a:cs typeface="Calibri (MS) Italics"/>
                <a:sym typeface="Calibri (MS) Italics"/>
              </a:rPr>
              <a:t>Desarrollo del Backend (Node.js/Express): 4 semanas. </a:t>
            </a:r>
          </a:p>
          <a:p>
            <a:pPr algn="l" marL="712470" indent="-237490" lvl="2">
              <a:lnSpc>
                <a:spcPts val="1980"/>
              </a:lnSpc>
              <a:buFont typeface="Arial"/>
              <a:buChar char="⚬"/>
            </a:pPr>
            <a:r>
              <a:rPr lang="en-US" sz="1650" i="true">
                <a:solidFill>
                  <a:srgbClr val="7A9E8E"/>
                </a:solidFill>
                <a:latin typeface="Calibri (MS) Italics"/>
                <a:ea typeface="Calibri (MS) Italics"/>
                <a:cs typeface="Calibri (MS) Italics"/>
                <a:sym typeface="Calibri (MS) Italics"/>
              </a:rPr>
              <a:t>Integración de APIs, Chatbot, Lógica de scoring y Panel de monitoreo: 3 semanas cada tarea. </a:t>
            </a:r>
          </a:p>
          <a:p>
            <a:pPr algn="l" marL="356235" indent="-178118" lvl="1">
              <a:lnSpc>
                <a:spcPts val="1980"/>
              </a:lnSpc>
              <a:buFont typeface="Arial"/>
              <a:buChar char="•"/>
            </a:pPr>
            <a:r>
              <a:rPr lang="en-US" sz="1650" i="true">
                <a:solidFill>
                  <a:srgbClr val="7A9E8E"/>
                </a:solidFill>
                <a:latin typeface="Calibri (MS) Italics"/>
                <a:ea typeface="Calibri (MS) Italics"/>
                <a:cs typeface="Calibri (MS) Italics"/>
                <a:sym typeface="Calibri (MS) Italics"/>
              </a:rPr>
              <a:t>Fase de Pruebas y Cierre:</a:t>
            </a:r>
          </a:p>
          <a:p>
            <a:pPr algn="l" marL="712470" indent="-237490" lvl="2">
              <a:lnSpc>
                <a:spcPts val="1980"/>
              </a:lnSpc>
              <a:buFont typeface="Arial"/>
              <a:buChar char="⚬"/>
            </a:pPr>
            <a:r>
              <a:rPr lang="en-US" sz="1650" i="true">
                <a:solidFill>
                  <a:srgbClr val="7A9E8E"/>
                </a:solidFill>
                <a:latin typeface="Calibri (MS) Italics"/>
                <a:ea typeface="Calibri (MS) Italics"/>
                <a:cs typeface="Calibri (MS) Italics"/>
                <a:sym typeface="Calibri (MS) Italics"/>
              </a:rPr>
              <a:t>Pruebas funcionales de la aplicación: 3 semanas. </a:t>
            </a:r>
          </a:p>
          <a:p>
            <a:pPr algn="l" marL="712470" indent="-237490" lvl="2">
              <a:lnSpc>
                <a:spcPts val="1980"/>
              </a:lnSpc>
              <a:buFont typeface="Arial"/>
              <a:buChar char="⚬"/>
            </a:pPr>
            <a:r>
              <a:rPr lang="en-US" sz="1650" i="true">
                <a:solidFill>
                  <a:srgbClr val="7A9E8E"/>
                </a:solidFill>
                <a:latin typeface="Calibri (MS) Italics"/>
                <a:ea typeface="Calibri (MS) Italics"/>
                <a:cs typeface="Calibri (MS) Italics"/>
                <a:sym typeface="Calibri (MS) Italics"/>
              </a:rPr>
              <a:t>Documentación final y presentación: 3 semanas. </a:t>
            </a:r>
          </a:p>
          <a:p>
            <a:pPr algn="l">
              <a:lnSpc>
                <a:spcPts val="1980"/>
              </a:lnSpc>
            </a:pPr>
          </a:p>
        </p:txBody>
      </p:sp>
      <p:grpSp>
        <p:nvGrpSpPr>
          <p:cNvPr name="Group 37" id="37"/>
          <p:cNvGrpSpPr/>
          <p:nvPr/>
        </p:nvGrpSpPr>
        <p:grpSpPr>
          <a:xfrm rot="0">
            <a:off x="12229719" y="2870594"/>
            <a:ext cx="5390388" cy="2948940"/>
            <a:chOff x="0" y="0"/>
            <a:chExt cx="7187184" cy="3931920"/>
          </a:xfrm>
        </p:grpSpPr>
        <p:sp>
          <p:nvSpPr>
            <p:cNvPr name="Freeform 38" id="38"/>
            <p:cNvSpPr/>
            <p:nvPr/>
          </p:nvSpPr>
          <p:spPr>
            <a:xfrm flipH="false" flipV="false" rot="0">
              <a:off x="0" y="0"/>
              <a:ext cx="7187185" cy="3931920"/>
            </a:xfrm>
            <a:custGeom>
              <a:avLst/>
              <a:gdLst/>
              <a:ahLst/>
              <a:cxnLst/>
              <a:rect r="r" b="b" t="t" l="l"/>
              <a:pathLst>
                <a:path h="3931920" w="7187185">
                  <a:moveTo>
                    <a:pt x="0" y="182880"/>
                  </a:moveTo>
                  <a:cubicBezTo>
                    <a:pt x="0" y="81915"/>
                    <a:pt x="81915" y="0"/>
                    <a:pt x="182880" y="0"/>
                  </a:cubicBezTo>
                  <a:lnTo>
                    <a:pt x="7004304" y="0"/>
                  </a:lnTo>
                  <a:cubicBezTo>
                    <a:pt x="7105269" y="0"/>
                    <a:pt x="7187185" y="81915"/>
                    <a:pt x="7187185" y="182880"/>
                  </a:cubicBezTo>
                  <a:lnTo>
                    <a:pt x="7187185" y="3749040"/>
                  </a:lnTo>
                  <a:cubicBezTo>
                    <a:pt x="7187185" y="3850005"/>
                    <a:pt x="7105269" y="3931920"/>
                    <a:pt x="7004304" y="3931920"/>
                  </a:cubicBezTo>
                  <a:lnTo>
                    <a:pt x="182880" y="3931920"/>
                  </a:lnTo>
                  <a:cubicBezTo>
                    <a:pt x="81915" y="3931920"/>
                    <a:pt x="0" y="3850005"/>
                    <a:pt x="0" y="3749040"/>
                  </a:cubicBezTo>
                  <a:close/>
                </a:path>
              </a:pathLst>
            </a:custGeom>
            <a:solidFill>
              <a:srgbClr val="051F20"/>
            </a:solidFill>
          </p:spPr>
        </p:sp>
      </p:grpSp>
      <p:grpSp>
        <p:nvGrpSpPr>
          <p:cNvPr name="Group 39" id="39"/>
          <p:cNvGrpSpPr/>
          <p:nvPr/>
        </p:nvGrpSpPr>
        <p:grpSpPr>
          <a:xfrm rot="0">
            <a:off x="12572619" y="3213494"/>
            <a:ext cx="754380" cy="754380"/>
            <a:chOff x="0" y="0"/>
            <a:chExt cx="1005840" cy="1005840"/>
          </a:xfrm>
        </p:grpSpPr>
        <p:sp>
          <p:nvSpPr>
            <p:cNvPr name="Freeform 40" id="40"/>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8EB69B"/>
            </a:solidFill>
          </p:spPr>
        </p:sp>
      </p:grpSp>
      <p:grpSp>
        <p:nvGrpSpPr>
          <p:cNvPr name="Group 41" id="41"/>
          <p:cNvGrpSpPr/>
          <p:nvPr/>
        </p:nvGrpSpPr>
        <p:grpSpPr>
          <a:xfrm rot="0">
            <a:off x="12753670" y="3394545"/>
            <a:ext cx="392278" cy="392278"/>
            <a:chOff x="0" y="0"/>
            <a:chExt cx="523037" cy="523037"/>
          </a:xfrm>
        </p:grpSpPr>
        <p:sp>
          <p:nvSpPr>
            <p:cNvPr name="Freeform 42" id="42" descr="/home/claude/sms-security/icons/flag_dark1.png"/>
            <p:cNvSpPr/>
            <p:nvPr/>
          </p:nvSpPr>
          <p:spPr>
            <a:xfrm flipH="false" flipV="false" rot="0">
              <a:off x="0" y="0"/>
              <a:ext cx="522986" cy="522986"/>
            </a:xfrm>
            <a:custGeom>
              <a:avLst/>
              <a:gdLst/>
              <a:ahLst/>
              <a:cxnLst/>
              <a:rect r="r" b="b" t="t" l="l"/>
              <a:pathLst>
                <a:path h="522986" w="522986">
                  <a:moveTo>
                    <a:pt x="0" y="0"/>
                  </a:moveTo>
                  <a:lnTo>
                    <a:pt x="522986" y="0"/>
                  </a:lnTo>
                  <a:lnTo>
                    <a:pt x="522986" y="522986"/>
                  </a:lnTo>
                  <a:lnTo>
                    <a:pt x="0" y="522986"/>
                  </a:lnTo>
                  <a:lnTo>
                    <a:pt x="0" y="0"/>
                  </a:lnTo>
                  <a:close/>
                </a:path>
              </a:pathLst>
            </a:custGeom>
            <a:blipFill>
              <a:blip r:embed="rId7"/>
              <a:stretch>
                <a:fillRect l="0" t="0" r="-9" b="-9"/>
              </a:stretch>
            </a:blipFill>
          </p:spPr>
        </p:sp>
      </p:grpSp>
      <p:grpSp>
        <p:nvGrpSpPr>
          <p:cNvPr name="Group 43" id="43"/>
          <p:cNvGrpSpPr/>
          <p:nvPr/>
        </p:nvGrpSpPr>
        <p:grpSpPr>
          <a:xfrm rot="0">
            <a:off x="13532739" y="3213494"/>
            <a:ext cx="3840480" cy="754380"/>
            <a:chOff x="0" y="0"/>
            <a:chExt cx="5120640" cy="1005840"/>
          </a:xfrm>
        </p:grpSpPr>
        <p:sp>
          <p:nvSpPr>
            <p:cNvPr name="Freeform 44" id="44"/>
            <p:cNvSpPr/>
            <p:nvPr/>
          </p:nvSpPr>
          <p:spPr>
            <a:xfrm flipH="false" flipV="false" rot="0">
              <a:off x="0" y="0"/>
              <a:ext cx="5120640" cy="1005840"/>
            </a:xfrm>
            <a:custGeom>
              <a:avLst/>
              <a:gdLst/>
              <a:ahLst/>
              <a:cxnLst/>
              <a:rect r="r" b="b" t="t" l="l"/>
              <a:pathLst>
                <a:path h="1005840" w="5120640">
                  <a:moveTo>
                    <a:pt x="0" y="0"/>
                  </a:moveTo>
                  <a:lnTo>
                    <a:pt x="5120640" y="0"/>
                  </a:lnTo>
                  <a:lnTo>
                    <a:pt x="5120640" y="1005840"/>
                  </a:lnTo>
                  <a:lnTo>
                    <a:pt x="0" y="1005840"/>
                  </a:lnTo>
                  <a:close/>
                </a:path>
              </a:pathLst>
            </a:custGeom>
            <a:blipFill>
              <a:blip r:embed="rId4">
                <a:alphaModFix amt="0"/>
              </a:blip>
              <a:stretch>
                <a:fillRect l="0" t="-49196" r="0" b="-49196"/>
              </a:stretch>
            </a:blipFill>
          </p:spPr>
        </p:sp>
        <p:sp>
          <p:nvSpPr>
            <p:cNvPr name="TextBox 45" id="45"/>
            <p:cNvSpPr txBox="true"/>
            <p:nvPr/>
          </p:nvSpPr>
          <p:spPr>
            <a:xfrm>
              <a:off x="0" y="-19050"/>
              <a:ext cx="5120640" cy="1024890"/>
            </a:xfrm>
            <a:prstGeom prst="rect">
              <a:avLst/>
            </a:prstGeom>
          </p:spPr>
          <p:txBody>
            <a:bodyPr anchor="ctr" rtlCol="false" tIns="0" lIns="0" bIns="0" rIns="0"/>
            <a:lstStyle/>
            <a:p>
              <a:pPr algn="l">
                <a:lnSpc>
                  <a:spcPts val="2520"/>
                </a:lnSpc>
              </a:pPr>
              <a:r>
                <a:rPr lang="en-US" sz="2100" b="true">
                  <a:solidFill>
                    <a:srgbClr val="DAF1DE"/>
                  </a:solidFill>
                  <a:latin typeface="Cambria Bold"/>
                  <a:ea typeface="Cambria Bold"/>
                  <a:cs typeface="Cambria Bold"/>
                  <a:sym typeface="Cambria Bold"/>
                </a:rPr>
                <a:t>Hitos clave</a:t>
              </a:r>
            </a:p>
          </p:txBody>
        </p:sp>
      </p:grpSp>
      <p:grpSp>
        <p:nvGrpSpPr>
          <p:cNvPr name="Group 46" id="46"/>
          <p:cNvGrpSpPr/>
          <p:nvPr/>
        </p:nvGrpSpPr>
        <p:grpSpPr>
          <a:xfrm rot="0">
            <a:off x="12563094" y="4074115"/>
            <a:ext cx="4723638" cy="1480624"/>
            <a:chOff x="0" y="0"/>
            <a:chExt cx="6298184" cy="1974166"/>
          </a:xfrm>
        </p:grpSpPr>
        <p:sp>
          <p:nvSpPr>
            <p:cNvPr name="Freeform 47" id="47"/>
            <p:cNvSpPr/>
            <p:nvPr/>
          </p:nvSpPr>
          <p:spPr>
            <a:xfrm flipH="false" flipV="false" rot="0">
              <a:off x="0" y="0"/>
              <a:ext cx="6298184" cy="1974166"/>
            </a:xfrm>
            <a:custGeom>
              <a:avLst/>
              <a:gdLst/>
              <a:ahLst/>
              <a:cxnLst/>
              <a:rect r="r" b="b" t="t" l="l"/>
              <a:pathLst>
                <a:path h="1974166" w="6298184">
                  <a:moveTo>
                    <a:pt x="0" y="157933"/>
                  </a:moveTo>
                  <a:cubicBezTo>
                    <a:pt x="0" y="70718"/>
                    <a:pt x="66421" y="0"/>
                    <a:pt x="148336" y="0"/>
                  </a:cubicBezTo>
                  <a:lnTo>
                    <a:pt x="6149848" y="0"/>
                  </a:lnTo>
                  <a:cubicBezTo>
                    <a:pt x="6231763" y="0"/>
                    <a:pt x="6298184" y="70718"/>
                    <a:pt x="6298184" y="157933"/>
                  </a:cubicBezTo>
                  <a:lnTo>
                    <a:pt x="6298184" y="1816233"/>
                  </a:lnTo>
                  <a:cubicBezTo>
                    <a:pt x="6298184" y="1903448"/>
                    <a:pt x="6231763" y="1974166"/>
                    <a:pt x="6149848" y="1974166"/>
                  </a:cubicBezTo>
                  <a:lnTo>
                    <a:pt x="148336" y="1974166"/>
                  </a:lnTo>
                  <a:cubicBezTo>
                    <a:pt x="66421" y="1974166"/>
                    <a:pt x="0" y="1903448"/>
                    <a:pt x="0" y="1816233"/>
                  </a:cubicBezTo>
                  <a:close/>
                </a:path>
              </a:pathLst>
            </a:custGeom>
            <a:solidFill>
              <a:srgbClr val="FFFFFF"/>
            </a:solidFill>
            <a:ln w="19050" cap="sq">
              <a:solidFill>
                <a:srgbClr val="8EB69B"/>
              </a:solidFill>
              <a:prstDash val="dash"/>
              <a:miter/>
            </a:ln>
          </p:spPr>
        </p:sp>
      </p:grpSp>
      <p:sp>
        <p:nvSpPr>
          <p:cNvPr name="TextBox 48" id="48"/>
          <p:cNvSpPr txBox="true"/>
          <p:nvPr/>
        </p:nvSpPr>
        <p:spPr>
          <a:xfrm rot="0">
            <a:off x="12563094" y="4201724"/>
            <a:ext cx="4723638" cy="1266825"/>
          </a:xfrm>
          <a:prstGeom prst="rect">
            <a:avLst/>
          </a:prstGeom>
        </p:spPr>
        <p:txBody>
          <a:bodyPr anchor="t" rtlCol="false" tIns="0" lIns="0" bIns="0" rIns="0">
            <a:spAutoFit/>
          </a:bodyPr>
          <a:lstStyle/>
          <a:p>
            <a:pPr algn="l" marL="356235" indent="-178118" lvl="1">
              <a:lnSpc>
                <a:spcPts val="1980"/>
              </a:lnSpc>
              <a:buFont typeface="Arial"/>
              <a:buChar char="•"/>
            </a:pPr>
            <a:r>
              <a:rPr lang="en-US" sz="1650" i="true">
                <a:solidFill>
                  <a:srgbClr val="7A9E8E"/>
                </a:solidFill>
                <a:latin typeface="Calibri (MS) Italics"/>
                <a:ea typeface="Calibri (MS) Italics"/>
                <a:cs typeface="Calibri (MS) Italics"/>
                <a:sym typeface="Calibri (MS) Italics"/>
              </a:rPr>
              <a:t>Fase 1: Analisis y Planificacion de requerimientos informaticos y arquitectura de Software</a:t>
            </a:r>
          </a:p>
          <a:p>
            <a:pPr algn="l" marL="356235" indent="-178118" lvl="1">
              <a:lnSpc>
                <a:spcPts val="1980"/>
              </a:lnSpc>
              <a:buFont typeface="Arial"/>
              <a:buChar char="•"/>
            </a:pPr>
            <a:r>
              <a:rPr lang="en-US" sz="1650" i="true">
                <a:solidFill>
                  <a:srgbClr val="7A9E8E"/>
                </a:solidFill>
                <a:latin typeface="Calibri (MS) Italics"/>
                <a:ea typeface="Calibri (MS) Italics"/>
                <a:cs typeface="Calibri (MS) Italics"/>
                <a:sym typeface="Calibri (MS) Italics"/>
              </a:rPr>
              <a:t>Fase 2: Desarrollo aplicacion</a:t>
            </a:r>
          </a:p>
          <a:p>
            <a:pPr algn="l" marL="356235" indent="-178118" lvl="1">
              <a:lnSpc>
                <a:spcPts val="1980"/>
              </a:lnSpc>
              <a:buFont typeface="Arial"/>
              <a:buChar char="•"/>
            </a:pPr>
            <a:r>
              <a:rPr lang="en-US" sz="1650" i="true">
                <a:solidFill>
                  <a:srgbClr val="7A9E8E"/>
                </a:solidFill>
                <a:latin typeface="Calibri (MS) Italics"/>
                <a:ea typeface="Calibri (MS) Italics"/>
                <a:cs typeface="Calibri (MS) Italics"/>
                <a:sym typeface="Calibri (MS) Italics"/>
              </a:rPr>
              <a:t>Fase 3: Pruebas funcionales del sistema, documentacion final y presentacion</a:t>
            </a:r>
          </a:p>
        </p:txBody>
      </p:sp>
      <p:grpSp>
        <p:nvGrpSpPr>
          <p:cNvPr name="Group 49" id="49"/>
          <p:cNvGrpSpPr/>
          <p:nvPr/>
        </p:nvGrpSpPr>
        <p:grpSpPr>
          <a:xfrm rot="0">
            <a:off x="17053103" y="9601200"/>
            <a:ext cx="822960" cy="480060"/>
            <a:chOff x="0" y="0"/>
            <a:chExt cx="1097280" cy="640080"/>
          </a:xfrm>
        </p:grpSpPr>
        <p:sp>
          <p:nvSpPr>
            <p:cNvPr name="Freeform 50" id="50"/>
            <p:cNvSpPr/>
            <p:nvPr/>
          </p:nvSpPr>
          <p:spPr>
            <a:xfrm flipH="false" flipV="false" rot="0">
              <a:off x="0" y="0"/>
              <a:ext cx="1097280" cy="640080"/>
            </a:xfrm>
            <a:custGeom>
              <a:avLst/>
              <a:gdLst/>
              <a:ahLst/>
              <a:cxnLst/>
              <a:rect r="r" b="b" t="t" l="l"/>
              <a:pathLst>
                <a:path h="640080" w="1097280">
                  <a:moveTo>
                    <a:pt x="0" y="0"/>
                  </a:moveTo>
                  <a:lnTo>
                    <a:pt x="1097280" y="0"/>
                  </a:lnTo>
                  <a:lnTo>
                    <a:pt x="1097280" y="640080"/>
                  </a:lnTo>
                  <a:lnTo>
                    <a:pt x="0" y="640080"/>
                  </a:lnTo>
                  <a:close/>
                </a:path>
              </a:pathLst>
            </a:custGeom>
            <a:blipFill>
              <a:blip r:embed="rId4">
                <a:alphaModFix amt="0"/>
              </a:blip>
              <a:stretch>
                <a:fillRect l="-24843" t="0" r="-24843" b="0"/>
              </a:stretch>
            </a:blipFill>
          </p:spPr>
        </p:sp>
        <p:sp>
          <p:nvSpPr>
            <p:cNvPr name="TextBox 51" id="51"/>
            <p:cNvSpPr txBox="true"/>
            <p:nvPr/>
          </p:nvSpPr>
          <p:spPr>
            <a:xfrm>
              <a:off x="0" y="-38100"/>
              <a:ext cx="1097280" cy="678180"/>
            </a:xfrm>
            <a:prstGeom prst="rect">
              <a:avLst/>
            </a:prstGeom>
          </p:spPr>
          <p:txBody>
            <a:bodyPr anchor="ctr" rtlCol="false" tIns="0" lIns="0" bIns="0" rIns="0"/>
            <a:lstStyle/>
            <a:p>
              <a:pPr algn="r">
                <a:lnSpc>
                  <a:spcPts val="1800"/>
                </a:lnSpc>
              </a:pPr>
              <a:r>
                <a:rPr lang="en-US" sz="1500">
                  <a:solidFill>
                    <a:srgbClr val="235347"/>
                  </a:solidFill>
                  <a:latin typeface="Calibri (MS)"/>
                  <a:ea typeface="Calibri (MS)"/>
                  <a:cs typeface="Calibri (MS)"/>
                  <a:sym typeface="Calibri (MS)"/>
                </a:rPr>
                <a:t>07</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51F20"/>
        </a:solidFill>
      </p:bgPr>
    </p:bg>
    <p:spTree>
      <p:nvGrpSpPr>
        <p:cNvPr id="1" name=""/>
        <p:cNvGrpSpPr/>
        <p:nvPr/>
      </p:nvGrpSpPr>
      <p:grpSpPr>
        <a:xfrm>
          <a:off x="0" y="0"/>
          <a:ext cx="0" cy="0"/>
          <a:chOff x="0" y="0"/>
          <a:chExt cx="0" cy="0"/>
        </a:xfrm>
      </p:grpSpPr>
      <p:grpSp>
        <p:nvGrpSpPr>
          <p:cNvPr name="Group 2" id="2"/>
          <p:cNvGrpSpPr/>
          <p:nvPr/>
        </p:nvGrpSpPr>
        <p:grpSpPr>
          <a:xfrm rot="0">
            <a:off x="1028700" y="-246123"/>
            <a:ext cx="14401800" cy="3081449"/>
            <a:chOff x="0" y="0"/>
            <a:chExt cx="19202400" cy="4108599"/>
          </a:xfrm>
        </p:grpSpPr>
        <p:sp>
          <p:nvSpPr>
            <p:cNvPr name="Freeform 3" id="3"/>
            <p:cNvSpPr/>
            <p:nvPr/>
          </p:nvSpPr>
          <p:spPr>
            <a:xfrm flipH="false" flipV="false" rot="0">
              <a:off x="0" y="0"/>
              <a:ext cx="19202400" cy="4108599"/>
            </a:xfrm>
            <a:custGeom>
              <a:avLst/>
              <a:gdLst/>
              <a:ahLst/>
              <a:cxnLst/>
              <a:rect r="r" b="b" t="t" l="l"/>
              <a:pathLst>
                <a:path h="4108599" w="19202400">
                  <a:moveTo>
                    <a:pt x="0" y="0"/>
                  </a:moveTo>
                  <a:lnTo>
                    <a:pt x="19202400" y="0"/>
                  </a:lnTo>
                  <a:lnTo>
                    <a:pt x="19202400" y="4108599"/>
                  </a:lnTo>
                  <a:lnTo>
                    <a:pt x="0" y="4108599"/>
                  </a:lnTo>
                  <a:close/>
                </a:path>
              </a:pathLst>
            </a:custGeom>
            <a:blipFill>
              <a:blip r:embed="rId2">
                <a:alphaModFix amt="0"/>
              </a:blip>
              <a:stretch>
                <a:fillRect l="0" t="-78826" r="0" b="-3308"/>
              </a:stretch>
            </a:blipFill>
          </p:spPr>
        </p:sp>
        <p:sp>
          <p:nvSpPr>
            <p:cNvPr name="TextBox 4" id="4"/>
            <p:cNvSpPr txBox="true"/>
            <p:nvPr/>
          </p:nvSpPr>
          <p:spPr>
            <a:xfrm>
              <a:off x="0" y="-9525"/>
              <a:ext cx="19202400" cy="4118124"/>
            </a:xfrm>
            <a:prstGeom prst="rect">
              <a:avLst/>
            </a:prstGeom>
          </p:spPr>
          <p:txBody>
            <a:bodyPr anchor="ctr" rtlCol="false" tIns="0" lIns="0" bIns="0" rIns="0"/>
            <a:lstStyle/>
            <a:p>
              <a:pPr algn="l">
                <a:lnSpc>
                  <a:spcPts val="5040"/>
                </a:lnSpc>
              </a:pPr>
              <a:r>
                <a:rPr lang="en-US" sz="4200" b="true">
                  <a:solidFill>
                    <a:srgbClr val="DAF1DE"/>
                  </a:solidFill>
                  <a:latin typeface="Cambria Bold"/>
                  <a:ea typeface="Cambria Bold"/>
                  <a:cs typeface="Cambria Bold"/>
                  <a:sym typeface="Cambria Bold"/>
                </a:rPr>
                <a:t>Carta Gantt</a:t>
              </a:r>
            </a:p>
          </p:txBody>
        </p:sp>
      </p:grpSp>
      <p:sp>
        <p:nvSpPr>
          <p:cNvPr name="Freeform 5" id="5"/>
          <p:cNvSpPr/>
          <p:nvPr/>
        </p:nvSpPr>
        <p:spPr>
          <a:xfrm flipH="false" flipV="false" rot="0">
            <a:off x="1028700" y="2115479"/>
            <a:ext cx="16230600" cy="6056043"/>
          </a:xfrm>
          <a:custGeom>
            <a:avLst/>
            <a:gdLst/>
            <a:ahLst/>
            <a:cxnLst/>
            <a:rect r="r" b="b" t="t" l="l"/>
            <a:pathLst>
              <a:path h="6056043" w="16230600">
                <a:moveTo>
                  <a:pt x="0" y="0"/>
                </a:moveTo>
                <a:lnTo>
                  <a:pt x="16230600" y="0"/>
                </a:lnTo>
                <a:lnTo>
                  <a:pt x="16230600" y="6056042"/>
                </a:lnTo>
                <a:lnTo>
                  <a:pt x="0" y="6056042"/>
                </a:lnTo>
                <a:lnTo>
                  <a:pt x="0" y="0"/>
                </a:lnTo>
                <a:close/>
              </a:path>
            </a:pathLst>
          </a:custGeom>
          <a:blipFill>
            <a:blip r:embed="rId3"/>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51F20"/>
        </a:solidFill>
      </p:bgPr>
    </p:bg>
    <p:spTree>
      <p:nvGrpSpPr>
        <p:cNvPr id="1" name=""/>
        <p:cNvGrpSpPr/>
        <p:nvPr/>
      </p:nvGrpSpPr>
      <p:grpSpPr>
        <a:xfrm>
          <a:off x="0" y="0"/>
          <a:ext cx="0" cy="0"/>
          <a:chOff x="0" y="0"/>
          <a:chExt cx="0" cy="0"/>
        </a:xfrm>
      </p:grpSpPr>
      <p:grpSp>
        <p:nvGrpSpPr>
          <p:cNvPr name="Group 2" id="2"/>
          <p:cNvGrpSpPr/>
          <p:nvPr/>
        </p:nvGrpSpPr>
        <p:grpSpPr>
          <a:xfrm rot="0">
            <a:off x="754380" y="685800"/>
            <a:ext cx="1028700" cy="1028700"/>
            <a:chOff x="0" y="0"/>
            <a:chExt cx="1371600" cy="1371600"/>
          </a:xfrm>
        </p:grpSpPr>
        <p:sp>
          <p:nvSpPr>
            <p:cNvPr name="Freeform 3" id="3"/>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8EB69B"/>
            </a:solidFill>
          </p:spPr>
        </p:sp>
      </p:grpSp>
      <p:grpSp>
        <p:nvGrpSpPr>
          <p:cNvPr name="Group 4" id="4"/>
          <p:cNvGrpSpPr/>
          <p:nvPr/>
        </p:nvGrpSpPr>
        <p:grpSpPr>
          <a:xfrm rot="0">
            <a:off x="1001268" y="932688"/>
            <a:ext cx="534924" cy="534924"/>
            <a:chOff x="0" y="0"/>
            <a:chExt cx="713232" cy="713232"/>
          </a:xfrm>
        </p:grpSpPr>
        <p:sp>
          <p:nvSpPr>
            <p:cNvPr name="Freeform 5" id="5" descr="/home/claude/sms-security/icons/file_dark1.png"/>
            <p:cNvSpPr/>
            <p:nvPr/>
          </p:nvSpPr>
          <p:spPr>
            <a:xfrm flipH="false" flipV="false" rot="0">
              <a:off x="0" y="0"/>
              <a:ext cx="713232" cy="713232"/>
            </a:xfrm>
            <a:custGeom>
              <a:avLst/>
              <a:gdLst/>
              <a:ahLst/>
              <a:cxnLst/>
              <a:rect r="r" b="b" t="t" l="l"/>
              <a:pathLst>
                <a:path h="713232" w="713232">
                  <a:moveTo>
                    <a:pt x="0" y="0"/>
                  </a:moveTo>
                  <a:lnTo>
                    <a:pt x="713232" y="0"/>
                  </a:lnTo>
                  <a:lnTo>
                    <a:pt x="713232" y="713232"/>
                  </a:lnTo>
                  <a:lnTo>
                    <a:pt x="0" y="713232"/>
                  </a:lnTo>
                  <a:lnTo>
                    <a:pt x="0" y="0"/>
                  </a:lnTo>
                  <a:close/>
                </a:path>
              </a:pathLst>
            </a:custGeom>
            <a:blipFill>
              <a:blip r:embed="rId2"/>
              <a:stretch>
                <a:fillRect l="0" t="0" r="0" b="0"/>
              </a:stretch>
            </a:blipFill>
          </p:spPr>
        </p:sp>
      </p:grpSp>
      <p:grpSp>
        <p:nvGrpSpPr>
          <p:cNvPr name="Group 6" id="6"/>
          <p:cNvGrpSpPr/>
          <p:nvPr/>
        </p:nvGrpSpPr>
        <p:grpSpPr>
          <a:xfrm rot="0">
            <a:off x="1988820" y="576072"/>
            <a:ext cx="14401800" cy="754380"/>
            <a:chOff x="0" y="0"/>
            <a:chExt cx="19202400" cy="1005840"/>
          </a:xfrm>
        </p:grpSpPr>
        <p:sp>
          <p:nvSpPr>
            <p:cNvPr name="Freeform 7" id="7"/>
            <p:cNvSpPr/>
            <p:nvPr/>
          </p:nvSpPr>
          <p:spPr>
            <a:xfrm flipH="false" flipV="false" rot="0">
              <a:off x="0" y="0"/>
              <a:ext cx="19202400" cy="1005840"/>
            </a:xfrm>
            <a:custGeom>
              <a:avLst/>
              <a:gdLst/>
              <a:ahLst/>
              <a:cxnLst/>
              <a:rect r="r" b="b" t="t" l="l"/>
              <a:pathLst>
                <a:path h="1005840" w="19202400">
                  <a:moveTo>
                    <a:pt x="0" y="0"/>
                  </a:moveTo>
                  <a:lnTo>
                    <a:pt x="19202400" y="0"/>
                  </a:lnTo>
                  <a:lnTo>
                    <a:pt x="19202400" y="1005840"/>
                  </a:lnTo>
                  <a:lnTo>
                    <a:pt x="0" y="1005840"/>
                  </a:lnTo>
                  <a:close/>
                </a:path>
              </a:pathLst>
            </a:custGeom>
            <a:blipFill>
              <a:blip r:embed="rId3">
                <a:alphaModFix amt="0"/>
              </a:blip>
              <a:stretch>
                <a:fillRect l="0" t="-321987" r="0" b="-321987"/>
              </a:stretch>
            </a:blipFill>
          </p:spPr>
        </p:sp>
        <p:sp>
          <p:nvSpPr>
            <p:cNvPr name="TextBox 8" id="8"/>
            <p:cNvSpPr txBox="true"/>
            <p:nvPr/>
          </p:nvSpPr>
          <p:spPr>
            <a:xfrm>
              <a:off x="0" y="-9525"/>
              <a:ext cx="19202400" cy="1015365"/>
            </a:xfrm>
            <a:prstGeom prst="rect">
              <a:avLst/>
            </a:prstGeom>
          </p:spPr>
          <p:txBody>
            <a:bodyPr anchor="ctr" rtlCol="false" tIns="0" lIns="0" bIns="0" rIns="0"/>
            <a:lstStyle/>
            <a:p>
              <a:pPr algn="l">
                <a:lnSpc>
                  <a:spcPts val="5040"/>
                </a:lnSpc>
              </a:pPr>
              <a:r>
                <a:rPr lang="en-US" sz="4200" b="true">
                  <a:solidFill>
                    <a:srgbClr val="DAF1DE"/>
                  </a:solidFill>
                  <a:latin typeface="Cambria Bold"/>
                  <a:ea typeface="Cambria Bold"/>
                  <a:cs typeface="Cambria Bold"/>
                  <a:sym typeface="Cambria Bold"/>
                </a:rPr>
                <a:t>Evidencias del Proyecto</a:t>
              </a:r>
            </a:p>
          </p:txBody>
        </p:sp>
      </p:grpSp>
      <p:grpSp>
        <p:nvGrpSpPr>
          <p:cNvPr name="Group 9" id="9"/>
          <p:cNvGrpSpPr/>
          <p:nvPr/>
        </p:nvGrpSpPr>
        <p:grpSpPr>
          <a:xfrm rot="0">
            <a:off x="1988820" y="1303020"/>
            <a:ext cx="14401800" cy="480060"/>
            <a:chOff x="0" y="0"/>
            <a:chExt cx="19202400" cy="640080"/>
          </a:xfrm>
        </p:grpSpPr>
        <p:sp>
          <p:nvSpPr>
            <p:cNvPr name="Freeform 10" id="10"/>
            <p:cNvSpPr/>
            <p:nvPr/>
          </p:nvSpPr>
          <p:spPr>
            <a:xfrm flipH="false" flipV="false" rot="0">
              <a:off x="0" y="0"/>
              <a:ext cx="19202400" cy="640080"/>
            </a:xfrm>
            <a:custGeom>
              <a:avLst/>
              <a:gdLst/>
              <a:ahLst/>
              <a:cxnLst/>
              <a:rect r="r" b="b" t="t" l="l"/>
              <a:pathLst>
                <a:path h="640080" w="19202400">
                  <a:moveTo>
                    <a:pt x="0" y="0"/>
                  </a:moveTo>
                  <a:lnTo>
                    <a:pt x="19202400" y="0"/>
                  </a:lnTo>
                  <a:lnTo>
                    <a:pt x="19202400" y="640080"/>
                  </a:lnTo>
                  <a:lnTo>
                    <a:pt x="0" y="640080"/>
                  </a:lnTo>
                  <a:close/>
                </a:path>
              </a:pathLst>
            </a:custGeom>
            <a:blipFill>
              <a:blip r:embed="rId3">
                <a:alphaModFix amt="0"/>
              </a:blip>
              <a:stretch>
                <a:fillRect l="0" t="-534551" r="0" b="-534551"/>
              </a:stretch>
            </a:blipFill>
          </p:spPr>
        </p:sp>
        <p:sp>
          <p:nvSpPr>
            <p:cNvPr name="TextBox 11" id="11"/>
            <p:cNvSpPr txBox="true"/>
            <p:nvPr/>
          </p:nvSpPr>
          <p:spPr>
            <a:xfrm>
              <a:off x="0" y="-47625"/>
              <a:ext cx="19202400" cy="687705"/>
            </a:xfrm>
            <a:prstGeom prst="rect">
              <a:avLst/>
            </a:prstGeom>
          </p:spPr>
          <p:txBody>
            <a:bodyPr anchor="ctr" rtlCol="false" tIns="0" lIns="0" bIns="0" rIns="0"/>
            <a:lstStyle/>
            <a:p>
              <a:pPr algn="l">
                <a:lnSpc>
                  <a:spcPts val="2340"/>
                </a:lnSpc>
              </a:pPr>
              <a:r>
                <a:rPr lang="en-US" sz="1950" i="true">
                  <a:solidFill>
                    <a:srgbClr val="8EB69B"/>
                  </a:solidFill>
                  <a:latin typeface="Calibri (MS) Italics"/>
                  <a:ea typeface="Calibri (MS) Italics"/>
                  <a:cs typeface="Calibri (MS) Italics"/>
                  <a:sym typeface="Calibri (MS) Italics"/>
                </a:rPr>
                <a:t>Entregables técnicos que visibilizan el cumplimiento de metas</a:t>
              </a:r>
            </a:p>
          </p:txBody>
        </p:sp>
      </p:grpSp>
      <p:grpSp>
        <p:nvGrpSpPr>
          <p:cNvPr name="Group 12" id="12"/>
          <p:cNvGrpSpPr/>
          <p:nvPr/>
        </p:nvGrpSpPr>
        <p:grpSpPr>
          <a:xfrm rot="0">
            <a:off x="754380" y="2400300"/>
            <a:ext cx="5390388" cy="2948940"/>
            <a:chOff x="0" y="0"/>
            <a:chExt cx="7187184" cy="3931920"/>
          </a:xfrm>
        </p:grpSpPr>
        <p:sp>
          <p:nvSpPr>
            <p:cNvPr name="Freeform 13" id="13"/>
            <p:cNvSpPr/>
            <p:nvPr/>
          </p:nvSpPr>
          <p:spPr>
            <a:xfrm flipH="false" flipV="false" rot="0">
              <a:off x="0" y="0"/>
              <a:ext cx="7187185" cy="3931920"/>
            </a:xfrm>
            <a:custGeom>
              <a:avLst/>
              <a:gdLst/>
              <a:ahLst/>
              <a:cxnLst/>
              <a:rect r="r" b="b" t="t" l="l"/>
              <a:pathLst>
                <a:path h="3931920" w="7187185">
                  <a:moveTo>
                    <a:pt x="0" y="182880"/>
                  </a:moveTo>
                  <a:cubicBezTo>
                    <a:pt x="0" y="81915"/>
                    <a:pt x="81915" y="0"/>
                    <a:pt x="182880" y="0"/>
                  </a:cubicBezTo>
                  <a:lnTo>
                    <a:pt x="7004304" y="0"/>
                  </a:lnTo>
                  <a:cubicBezTo>
                    <a:pt x="7105269" y="0"/>
                    <a:pt x="7187185" y="81915"/>
                    <a:pt x="7187185" y="182880"/>
                  </a:cubicBezTo>
                  <a:lnTo>
                    <a:pt x="7187185" y="3749040"/>
                  </a:lnTo>
                  <a:cubicBezTo>
                    <a:pt x="7187185" y="3850005"/>
                    <a:pt x="7105269" y="3931920"/>
                    <a:pt x="7004304" y="3931920"/>
                  </a:cubicBezTo>
                  <a:lnTo>
                    <a:pt x="182880" y="3931920"/>
                  </a:lnTo>
                  <a:cubicBezTo>
                    <a:pt x="81915" y="3931920"/>
                    <a:pt x="0" y="3850005"/>
                    <a:pt x="0" y="3749040"/>
                  </a:cubicBezTo>
                  <a:close/>
                </a:path>
              </a:pathLst>
            </a:custGeom>
            <a:solidFill>
              <a:srgbClr val="0B2B26"/>
            </a:solidFill>
          </p:spPr>
        </p:sp>
      </p:grpSp>
      <p:grpSp>
        <p:nvGrpSpPr>
          <p:cNvPr name="Group 14" id="14"/>
          <p:cNvGrpSpPr/>
          <p:nvPr/>
        </p:nvGrpSpPr>
        <p:grpSpPr>
          <a:xfrm rot="0">
            <a:off x="3003804" y="2743200"/>
            <a:ext cx="891540" cy="891540"/>
            <a:chOff x="0" y="0"/>
            <a:chExt cx="1188720" cy="1188720"/>
          </a:xfrm>
        </p:grpSpPr>
        <p:sp>
          <p:nvSpPr>
            <p:cNvPr name="Freeform 15" id="15"/>
            <p:cNvSpPr/>
            <p:nvPr/>
          </p:nvSpPr>
          <p:spPr>
            <a:xfrm flipH="false" flipV="false" rot="0">
              <a:off x="0" y="0"/>
              <a:ext cx="1188720" cy="1188720"/>
            </a:xfrm>
            <a:custGeom>
              <a:avLst/>
              <a:gdLst/>
              <a:ahLst/>
              <a:cxnLst/>
              <a:rect r="r" b="b" t="t" l="l"/>
              <a:pathLst>
                <a:path h="1188720" w="1188720">
                  <a:moveTo>
                    <a:pt x="0" y="594360"/>
                  </a:moveTo>
                  <a:cubicBezTo>
                    <a:pt x="0" y="266065"/>
                    <a:pt x="266065" y="0"/>
                    <a:pt x="594360" y="0"/>
                  </a:cubicBezTo>
                  <a:cubicBezTo>
                    <a:pt x="922655" y="0"/>
                    <a:pt x="1188720" y="266065"/>
                    <a:pt x="1188720" y="594360"/>
                  </a:cubicBezTo>
                  <a:cubicBezTo>
                    <a:pt x="1188720" y="922655"/>
                    <a:pt x="922655" y="1188720"/>
                    <a:pt x="594360" y="1188720"/>
                  </a:cubicBezTo>
                  <a:cubicBezTo>
                    <a:pt x="266065" y="1188720"/>
                    <a:pt x="0" y="922655"/>
                    <a:pt x="0" y="594360"/>
                  </a:cubicBezTo>
                  <a:close/>
                </a:path>
              </a:pathLst>
            </a:custGeom>
            <a:solidFill>
              <a:srgbClr val="8EB69B"/>
            </a:solidFill>
          </p:spPr>
        </p:sp>
      </p:grpSp>
      <p:grpSp>
        <p:nvGrpSpPr>
          <p:cNvPr name="Group 16" id="16"/>
          <p:cNvGrpSpPr/>
          <p:nvPr/>
        </p:nvGrpSpPr>
        <p:grpSpPr>
          <a:xfrm rot="0">
            <a:off x="3217774" y="2957170"/>
            <a:ext cx="463601" cy="463601"/>
            <a:chOff x="0" y="0"/>
            <a:chExt cx="618134" cy="618134"/>
          </a:xfrm>
        </p:grpSpPr>
        <p:sp>
          <p:nvSpPr>
            <p:cNvPr name="Freeform 17" id="17" descr="/home/claude/sms-security/icons/clipboard_dark1.png"/>
            <p:cNvSpPr/>
            <p:nvPr/>
          </p:nvSpPr>
          <p:spPr>
            <a:xfrm flipH="false" flipV="false" rot="0">
              <a:off x="0" y="0"/>
              <a:ext cx="618109" cy="618109"/>
            </a:xfrm>
            <a:custGeom>
              <a:avLst/>
              <a:gdLst/>
              <a:ahLst/>
              <a:cxnLst/>
              <a:rect r="r" b="b" t="t" l="l"/>
              <a:pathLst>
                <a:path h="618109" w="618109">
                  <a:moveTo>
                    <a:pt x="0" y="0"/>
                  </a:moveTo>
                  <a:lnTo>
                    <a:pt x="618109" y="0"/>
                  </a:lnTo>
                  <a:lnTo>
                    <a:pt x="618109" y="618109"/>
                  </a:lnTo>
                  <a:lnTo>
                    <a:pt x="0" y="618109"/>
                  </a:lnTo>
                  <a:lnTo>
                    <a:pt x="0" y="0"/>
                  </a:lnTo>
                  <a:close/>
                </a:path>
              </a:pathLst>
            </a:custGeom>
            <a:blipFill>
              <a:blip r:embed="rId4"/>
              <a:stretch>
                <a:fillRect l="0" t="0" r="-4" b="-4"/>
              </a:stretch>
            </a:blipFill>
          </p:spPr>
        </p:sp>
      </p:grpSp>
      <p:grpSp>
        <p:nvGrpSpPr>
          <p:cNvPr name="Group 18" id="18"/>
          <p:cNvGrpSpPr/>
          <p:nvPr/>
        </p:nvGrpSpPr>
        <p:grpSpPr>
          <a:xfrm rot="0">
            <a:off x="1028700" y="3840480"/>
            <a:ext cx="4841748" cy="617220"/>
            <a:chOff x="0" y="0"/>
            <a:chExt cx="6455664" cy="822960"/>
          </a:xfrm>
        </p:grpSpPr>
        <p:sp>
          <p:nvSpPr>
            <p:cNvPr name="Freeform 19" id="19"/>
            <p:cNvSpPr/>
            <p:nvPr/>
          </p:nvSpPr>
          <p:spPr>
            <a:xfrm flipH="false" flipV="false" rot="0">
              <a:off x="0" y="0"/>
              <a:ext cx="6455664" cy="822960"/>
            </a:xfrm>
            <a:custGeom>
              <a:avLst/>
              <a:gdLst/>
              <a:ahLst/>
              <a:cxnLst/>
              <a:rect r="r" b="b" t="t" l="l"/>
              <a:pathLst>
                <a:path h="822960" w="6455664">
                  <a:moveTo>
                    <a:pt x="0" y="0"/>
                  </a:moveTo>
                  <a:lnTo>
                    <a:pt x="6455664" y="0"/>
                  </a:lnTo>
                  <a:lnTo>
                    <a:pt x="6455664" y="822960"/>
                  </a:lnTo>
                  <a:lnTo>
                    <a:pt x="0" y="822960"/>
                  </a:lnTo>
                  <a:close/>
                </a:path>
              </a:pathLst>
            </a:custGeom>
            <a:blipFill>
              <a:blip r:embed="rId3">
                <a:alphaModFix amt="0"/>
              </a:blip>
              <a:stretch>
                <a:fillRect l="0" t="-102849" r="0" b="-102849"/>
              </a:stretch>
            </a:blipFill>
          </p:spPr>
        </p:sp>
        <p:sp>
          <p:nvSpPr>
            <p:cNvPr name="TextBox 20" id="20"/>
            <p:cNvSpPr txBox="true"/>
            <p:nvPr/>
          </p:nvSpPr>
          <p:spPr>
            <a:xfrm>
              <a:off x="0" y="-38100"/>
              <a:ext cx="6455664" cy="861060"/>
            </a:xfrm>
            <a:prstGeom prst="rect">
              <a:avLst/>
            </a:prstGeom>
          </p:spPr>
          <p:txBody>
            <a:bodyPr anchor="ctr" rtlCol="false" tIns="0" lIns="0" bIns="0" rIns="0"/>
            <a:lstStyle/>
            <a:p>
              <a:pPr algn="ctr">
                <a:lnSpc>
                  <a:spcPts val="2160"/>
                </a:lnSpc>
              </a:pPr>
              <a:r>
                <a:rPr lang="en-US" sz="1800" b="true">
                  <a:solidFill>
                    <a:srgbClr val="DAF1DE"/>
                  </a:solidFill>
                  <a:latin typeface="Calibri (MS) Bold"/>
                  <a:ea typeface="Calibri (MS) Bold"/>
                  <a:cs typeface="Calibri (MS) Bold"/>
                  <a:sym typeface="Calibri (MS) Bold"/>
                </a:rPr>
                <a:t>[ Documento de requerimientos ]</a:t>
              </a:r>
            </a:p>
          </p:txBody>
        </p:sp>
      </p:grpSp>
      <p:grpSp>
        <p:nvGrpSpPr>
          <p:cNvPr name="Group 21" id="21"/>
          <p:cNvGrpSpPr/>
          <p:nvPr/>
        </p:nvGrpSpPr>
        <p:grpSpPr>
          <a:xfrm rot="0">
            <a:off x="6419088" y="2400300"/>
            <a:ext cx="5390388" cy="2948940"/>
            <a:chOff x="0" y="0"/>
            <a:chExt cx="7187184" cy="3931920"/>
          </a:xfrm>
        </p:grpSpPr>
        <p:sp>
          <p:nvSpPr>
            <p:cNvPr name="Freeform 22" id="22"/>
            <p:cNvSpPr/>
            <p:nvPr/>
          </p:nvSpPr>
          <p:spPr>
            <a:xfrm flipH="false" flipV="false" rot="0">
              <a:off x="0" y="0"/>
              <a:ext cx="7187185" cy="3931920"/>
            </a:xfrm>
            <a:custGeom>
              <a:avLst/>
              <a:gdLst/>
              <a:ahLst/>
              <a:cxnLst/>
              <a:rect r="r" b="b" t="t" l="l"/>
              <a:pathLst>
                <a:path h="3931920" w="7187185">
                  <a:moveTo>
                    <a:pt x="0" y="182880"/>
                  </a:moveTo>
                  <a:cubicBezTo>
                    <a:pt x="0" y="81915"/>
                    <a:pt x="81915" y="0"/>
                    <a:pt x="182880" y="0"/>
                  </a:cubicBezTo>
                  <a:lnTo>
                    <a:pt x="7004304" y="0"/>
                  </a:lnTo>
                  <a:cubicBezTo>
                    <a:pt x="7105269" y="0"/>
                    <a:pt x="7187185" y="81915"/>
                    <a:pt x="7187185" y="182880"/>
                  </a:cubicBezTo>
                  <a:lnTo>
                    <a:pt x="7187185" y="3749040"/>
                  </a:lnTo>
                  <a:cubicBezTo>
                    <a:pt x="7187185" y="3850005"/>
                    <a:pt x="7105269" y="3931920"/>
                    <a:pt x="7004304" y="3931920"/>
                  </a:cubicBezTo>
                  <a:lnTo>
                    <a:pt x="182880" y="3931920"/>
                  </a:lnTo>
                  <a:cubicBezTo>
                    <a:pt x="81915" y="3931920"/>
                    <a:pt x="0" y="3850005"/>
                    <a:pt x="0" y="3749040"/>
                  </a:cubicBezTo>
                  <a:close/>
                </a:path>
              </a:pathLst>
            </a:custGeom>
            <a:solidFill>
              <a:srgbClr val="0B2B26"/>
            </a:solidFill>
          </p:spPr>
        </p:sp>
      </p:grpSp>
      <p:grpSp>
        <p:nvGrpSpPr>
          <p:cNvPr name="Group 23" id="23"/>
          <p:cNvGrpSpPr/>
          <p:nvPr/>
        </p:nvGrpSpPr>
        <p:grpSpPr>
          <a:xfrm rot="0">
            <a:off x="8668512" y="2743200"/>
            <a:ext cx="891540" cy="891540"/>
            <a:chOff x="0" y="0"/>
            <a:chExt cx="1188720" cy="1188720"/>
          </a:xfrm>
        </p:grpSpPr>
        <p:sp>
          <p:nvSpPr>
            <p:cNvPr name="Freeform 24" id="24"/>
            <p:cNvSpPr/>
            <p:nvPr/>
          </p:nvSpPr>
          <p:spPr>
            <a:xfrm flipH="false" flipV="false" rot="0">
              <a:off x="0" y="0"/>
              <a:ext cx="1188720" cy="1188720"/>
            </a:xfrm>
            <a:custGeom>
              <a:avLst/>
              <a:gdLst/>
              <a:ahLst/>
              <a:cxnLst/>
              <a:rect r="r" b="b" t="t" l="l"/>
              <a:pathLst>
                <a:path h="1188720" w="1188720">
                  <a:moveTo>
                    <a:pt x="0" y="594360"/>
                  </a:moveTo>
                  <a:cubicBezTo>
                    <a:pt x="0" y="266065"/>
                    <a:pt x="266065" y="0"/>
                    <a:pt x="594360" y="0"/>
                  </a:cubicBezTo>
                  <a:cubicBezTo>
                    <a:pt x="922655" y="0"/>
                    <a:pt x="1188720" y="266065"/>
                    <a:pt x="1188720" y="594360"/>
                  </a:cubicBezTo>
                  <a:cubicBezTo>
                    <a:pt x="1188720" y="922655"/>
                    <a:pt x="922655" y="1188720"/>
                    <a:pt x="594360" y="1188720"/>
                  </a:cubicBezTo>
                  <a:cubicBezTo>
                    <a:pt x="266065" y="1188720"/>
                    <a:pt x="0" y="922655"/>
                    <a:pt x="0" y="594360"/>
                  </a:cubicBezTo>
                  <a:close/>
                </a:path>
              </a:pathLst>
            </a:custGeom>
            <a:solidFill>
              <a:srgbClr val="8EB69B"/>
            </a:solidFill>
          </p:spPr>
        </p:sp>
      </p:grpSp>
      <p:grpSp>
        <p:nvGrpSpPr>
          <p:cNvPr name="Group 25" id="25"/>
          <p:cNvGrpSpPr/>
          <p:nvPr/>
        </p:nvGrpSpPr>
        <p:grpSpPr>
          <a:xfrm rot="0">
            <a:off x="8882482" y="2957170"/>
            <a:ext cx="463601" cy="463601"/>
            <a:chOff x="0" y="0"/>
            <a:chExt cx="618134" cy="618134"/>
          </a:xfrm>
        </p:grpSpPr>
        <p:sp>
          <p:nvSpPr>
            <p:cNvPr name="Freeform 26" id="26" descr="/home/claude/sms-security/icons/code_dark1.png"/>
            <p:cNvSpPr/>
            <p:nvPr/>
          </p:nvSpPr>
          <p:spPr>
            <a:xfrm flipH="false" flipV="false" rot="0">
              <a:off x="0" y="0"/>
              <a:ext cx="618109" cy="618109"/>
            </a:xfrm>
            <a:custGeom>
              <a:avLst/>
              <a:gdLst/>
              <a:ahLst/>
              <a:cxnLst/>
              <a:rect r="r" b="b" t="t" l="l"/>
              <a:pathLst>
                <a:path h="618109" w="618109">
                  <a:moveTo>
                    <a:pt x="0" y="0"/>
                  </a:moveTo>
                  <a:lnTo>
                    <a:pt x="618109" y="0"/>
                  </a:lnTo>
                  <a:lnTo>
                    <a:pt x="618109" y="618109"/>
                  </a:lnTo>
                  <a:lnTo>
                    <a:pt x="0" y="618109"/>
                  </a:lnTo>
                  <a:lnTo>
                    <a:pt x="0" y="0"/>
                  </a:lnTo>
                  <a:close/>
                </a:path>
              </a:pathLst>
            </a:custGeom>
            <a:blipFill>
              <a:blip r:embed="rId5"/>
              <a:stretch>
                <a:fillRect l="0" t="0" r="-4" b="-4"/>
              </a:stretch>
            </a:blipFill>
          </p:spPr>
        </p:sp>
      </p:grpSp>
      <p:grpSp>
        <p:nvGrpSpPr>
          <p:cNvPr name="Group 27" id="27"/>
          <p:cNvGrpSpPr/>
          <p:nvPr/>
        </p:nvGrpSpPr>
        <p:grpSpPr>
          <a:xfrm rot="0">
            <a:off x="6693408" y="3840480"/>
            <a:ext cx="4841748" cy="617220"/>
            <a:chOff x="0" y="0"/>
            <a:chExt cx="6455664" cy="822960"/>
          </a:xfrm>
        </p:grpSpPr>
        <p:sp>
          <p:nvSpPr>
            <p:cNvPr name="Freeform 28" id="28"/>
            <p:cNvSpPr/>
            <p:nvPr/>
          </p:nvSpPr>
          <p:spPr>
            <a:xfrm flipH="false" flipV="false" rot="0">
              <a:off x="0" y="0"/>
              <a:ext cx="6455664" cy="822960"/>
            </a:xfrm>
            <a:custGeom>
              <a:avLst/>
              <a:gdLst/>
              <a:ahLst/>
              <a:cxnLst/>
              <a:rect r="r" b="b" t="t" l="l"/>
              <a:pathLst>
                <a:path h="822960" w="6455664">
                  <a:moveTo>
                    <a:pt x="0" y="0"/>
                  </a:moveTo>
                  <a:lnTo>
                    <a:pt x="6455664" y="0"/>
                  </a:lnTo>
                  <a:lnTo>
                    <a:pt x="6455664" y="822960"/>
                  </a:lnTo>
                  <a:lnTo>
                    <a:pt x="0" y="822960"/>
                  </a:lnTo>
                  <a:close/>
                </a:path>
              </a:pathLst>
            </a:custGeom>
            <a:blipFill>
              <a:blip r:embed="rId3">
                <a:alphaModFix amt="0"/>
              </a:blip>
              <a:stretch>
                <a:fillRect l="0" t="-102849" r="0" b="-102849"/>
              </a:stretch>
            </a:blipFill>
          </p:spPr>
        </p:sp>
        <p:sp>
          <p:nvSpPr>
            <p:cNvPr name="TextBox 29" id="29"/>
            <p:cNvSpPr txBox="true"/>
            <p:nvPr/>
          </p:nvSpPr>
          <p:spPr>
            <a:xfrm>
              <a:off x="0" y="-38100"/>
              <a:ext cx="6455664" cy="861060"/>
            </a:xfrm>
            <a:prstGeom prst="rect">
              <a:avLst/>
            </a:prstGeom>
          </p:spPr>
          <p:txBody>
            <a:bodyPr anchor="ctr" rtlCol="false" tIns="0" lIns="0" bIns="0" rIns="0"/>
            <a:lstStyle/>
            <a:p>
              <a:pPr algn="ctr">
                <a:lnSpc>
                  <a:spcPts val="2160"/>
                </a:lnSpc>
              </a:pPr>
              <a:r>
                <a:rPr lang="en-US" sz="1800" b="true">
                  <a:solidFill>
                    <a:srgbClr val="DAF1DE"/>
                  </a:solidFill>
                  <a:latin typeface="Calibri (MS) Bold"/>
                  <a:ea typeface="Calibri (MS) Bold"/>
                  <a:cs typeface="Calibri (MS) Bold"/>
                  <a:sym typeface="Calibri (MS) Bold"/>
                </a:rPr>
                <a:t>[ Mockups de interfaz ]</a:t>
              </a:r>
            </a:p>
          </p:txBody>
        </p:sp>
      </p:grpSp>
      <p:grpSp>
        <p:nvGrpSpPr>
          <p:cNvPr name="Group 30" id="30"/>
          <p:cNvGrpSpPr/>
          <p:nvPr/>
        </p:nvGrpSpPr>
        <p:grpSpPr>
          <a:xfrm rot="0">
            <a:off x="12083796" y="2400300"/>
            <a:ext cx="5390388" cy="2948940"/>
            <a:chOff x="0" y="0"/>
            <a:chExt cx="7187184" cy="3931920"/>
          </a:xfrm>
        </p:grpSpPr>
        <p:sp>
          <p:nvSpPr>
            <p:cNvPr name="Freeform 31" id="31"/>
            <p:cNvSpPr/>
            <p:nvPr/>
          </p:nvSpPr>
          <p:spPr>
            <a:xfrm flipH="false" flipV="false" rot="0">
              <a:off x="0" y="0"/>
              <a:ext cx="7187185" cy="3931920"/>
            </a:xfrm>
            <a:custGeom>
              <a:avLst/>
              <a:gdLst/>
              <a:ahLst/>
              <a:cxnLst/>
              <a:rect r="r" b="b" t="t" l="l"/>
              <a:pathLst>
                <a:path h="3931920" w="7187185">
                  <a:moveTo>
                    <a:pt x="0" y="182880"/>
                  </a:moveTo>
                  <a:cubicBezTo>
                    <a:pt x="0" y="81915"/>
                    <a:pt x="81915" y="0"/>
                    <a:pt x="182880" y="0"/>
                  </a:cubicBezTo>
                  <a:lnTo>
                    <a:pt x="7004304" y="0"/>
                  </a:lnTo>
                  <a:cubicBezTo>
                    <a:pt x="7105269" y="0"/>
                    <a:pt x="7187185" y="81915"/>
                    <a:pt x="7187185" y="182880"/>
                  </a:cubicBezTo>
                  <a:lnTo>
                    <a:pt x="7187185" y="3749040"/>
                  </a:lnTo>
                  <a:cubicBezTo>
                    <a:pt x="7187185" y="3850005"/>
                    <a:pt x="7105269" y="3931920"/>
                    <a:pt x="7004304" y="3931920"/>
                  </a:cubicBezTo>
                  <a:lnTo>
                    <a:pt x="182880" y="3931920"/>
                  </a:lnTo>
                  <a:cubicBezTo>
                    <a:pt x="81915" y="3931920"/>
                    <a:pt x="0" y="3850005"/>
                    <a:pt x="0" y="3749040"/>
                  </a:cubicBezTo>
                  <a:close/>
                </a:path>
              </a:pathLst>
            </a:custGeom>
            <a:solidFill>
              <a:srgbClr val="0B2B26"/>
            </a:solidFill>
          </p:spPr>
        </p:sp>
      </p:grpSp>
      <p:grpSp>
        <p:nvGrpSpPr>
          <p:cNvPr name="Group 32" id="32"/>
          <p:cNvGrpSpPr/>
          <p:nvPr/>
        </p:nvGrpSpPr>
        <p:grpSpPr>
          <a:xfrm rot="0">
            <a:off x="14333220" y="2743200"/>
            <a:ext cx="891540" cy="891540"/>
            <a:chOff x="0" y="0"/>
            <a:chExt cx="1188720" cy="1188720"/>
          </a:xfrm>
        </p:grpSpPr>
        <p:sp>
          <p:nvSpPr>
            <p:cNvPr name="Freeform 33" id="33"/>
            <p:cNvSpPr/>
            <p:nvPr/>
          </p:nvSpPr>
          <p:spPr>
            <a:xfrm flipH="false" flipV="false" rot="0">
              <a:off x="0" y="0"/>
              <a:ext cx="1188720" cy="1188720"/>
            </a:xfrm>
            <a:custGeom>
              <a:avLst/>
              <a:gdLst/>
              <a:ahLst/>
              <a:cxnLst/>
              <a:rect r="r" b="b" t="t" l="l"/>
              <a:pathLst>
                <a:path h="1188720" w="1188720">
                  <a:moveTo>
                    <a:pt x="0" y="594360"/>
                  </a:moveTo>
                  <a:cubicBezTo>
                    <a:pt x="0" y="266065"/>
                    <a:pt x="266065" y="0"/>
                    <a:pt x="594360" y="0"/>
                  </a:cubicBezTo>
                  <a:cubicBezTo>
                    <a:pt x="922655" y="0"/>
                    <a:pt x="1188720" y="266065"/>
                    <a:pt x="1188720" y="594360"/>
                  </a:cubicBezTo>
                  <a:cubicBezTo>
                    <a:pt x="1188720" y="922655"/>
                    <a:pt x="922655" y="1188720"/>
                    <a:pt x="594360" y="1188720"/>
                  </a:cubicBezTo>
                  <a:cubicBezTo>
                    <a:pt x="266065" y="1188720"/>
                    <a:pt x="0" y="922655"/>
                    <a:pt x="0" y="594360"/>
                  </a:cubicBezTo>
                  <a:close/>
                </a:path>
              </a:pathLst>
            </a:custGeom>
            <a:solidFill>
              <a:srgbClr val="8EB69B"/>
            </a:solidFill>
          </p:spPr>
        </p:sp>
      </p:grpSp>
      <p:grpSp>
        <p:nvGrpSpPr>
          <p:cNvPr name="Group 34" id="34"/>
          <p:cNvGrpSpPr/>
          <p:nvPr/>
        </p:nvGrpSpPr>
        <p:grpSpPr>
          <a:xfrm rot="0">
            <a:off x="14547190" y="2957170"/>
            <a:ext cx="463601" cy="463601"/>
            <a:chOff x="0" y="0"/>
            <a:chExt cx="618134" cy="618134"/>
          </a:xfrm>
        </p:grpSpPr>
        <p:sp>
          <p:nvSpPr>
            <p:cNvPr name="Freeform 35" id="35" descr="/home/claude/sms-security/icons/database_dark1.png"/>
            <p:cNvSpPr/>
            <p:nvPr/>
          </p:nvSpPr>
          <p:spPr>
            <a:xfrm flipH="false" flipV="false" rot="0">
              <a:off x="0" y="0"/>
              <a:ext cx="618109" cy="618109"/>
            </a:xfrm>
            <a:custGeom>
              <a:avLst/>
              <a:gdLst/>
              <a:ahLst/>
              <a:cxnLst/>
              <a:rect r="r" b="b" t="t" l="l"/>
              <a:pathLst>
                <a:path h="618109" w="618109">
                  <a:moveTo>
                    <a:pt x="0" y="0"/>
                  </a:moveTo>
                  <a:lnTo>
                    <a:pt x="618109" y="0"/>
                  </a:lnTo>
                  <a:lnTo>
                    <a:pt x="618109" y="618109"/>
                  </a:lnTo>
                  <a:lnTo>
                    <a:pt x="0" y="618109"/>
                  </a:lnTo>
                  <a:lnTo>
                    <a:pt x="0" y="0"/>
                  </a:lnTo>
                  <a:close/>
                </a:path>
              </a:pathLst>
            </a:custGeom>
            <a:blipFill>
              <a:blip r:embed="rId6"/>
              <a:stretch>
                <a:fillRect l="0" t="0" r="-4" b="-4"/>
              </a:stretch>
            </a:blipFill>
          </p:spPr>
        </p:sp>
      </p:grpSp>
      <p:grpSp>
        <p:nvGrpSpPr>
          <p:cNvPr name="Group 36" id="36"/>
          <p:cNvGrpSpPr/>
          <p:nvPr/>
        </p:nvGrpSpPr>
        <p:grpSpPr>
          <a:xfrm rot="0">
            <a:off x="12358116" y="3840480"/>
            <a:ext cx="4841748" cy="617220"/>
            <a:chOff x="0" y="0"/>
            <a:chExt cx="6455664" cy="822960"/>
          </a:xfrm>
        </p:grpSpPr>
        <p:sp>
          <p:nvSpPr>
            <p:cNvPr name="Freeform 37" id="37"/>
            <p:cNvSpPr/>
            <p:nvPr/>
          </p:nvSpPr>
          <p:spPr>
            <a:xfrm flipH="false" flipV="false" rot="0">
              <a:off x="0" y="0"/>
              <a:ext cx="6455664" cy="822960"/>
            </a:xfrm>
            <a:custGeom>
              <a:avLst/>
              <a:gdLst/>
              <a:ahLst/>
              <a:cxnLst/>
              <a:rect r="r" b="b" t="t" l="l"/>
              <a:pathLst>
                <a:path h="822960" w="6455664">
                  <a:moveTo>
                    <a:pt x="0" y="0"/>
                  </a:moveTo>
                  <a:lnTo>
                    <a:pt x="6455664" y="0"/>
                  </a:lnTo>
                  <a:lnTo>
                    <a:pt x="6455664" y="822960"/>
                  </a:lnTo>
                  <a:lnTo>
                    <a:pt x="0" y="822960"/>
                  </a:lnTo>
                  <a:close/>
                </a:path>
              </a:pathLst>
            </a:custGeom>
            <a:blipFill>
              <a:blip r:embed="rId3">
                <a:alphaModFix amt="0"/>
              </a:blip>
              <a:stretch>
                <a:fillRect l="0" t="-102849" r="0" b="-102849"/>
              </a:stretch>
            </a:blipFill>
          </p:spPr>
        </p:sp>
        <p:sp>
          <p:nvSpPr>
            <p:cNvPr name="TextBox 38" id="38"/>
            <p:cNvSpPr txBox="true"/>
            <p:nvPr/>
          </p:nvSpPr>
          <p:spPr>
            <a:xfrm>
              <a:off x="0" y="-38100"/>
              <a:ext cx="6455664" cy="861060"/>
            </a:xfrm>
            <a:prstGeom prst="rect">
              <a:avLst/>
            </a:prstGeom>
          </p:spPr>
          <p:txBody>
            <a:bodyPr anchor="ctr" rtlCol="false" tIns="0" lIns="0" bIns="0" rIns="0"/>
            <a:lstStyle/>
            <a:p>
              <a:pPr algn="ctr">
                <a:lnSpc>
                  <a:spcPts val="2160"/>
                </a:lnSpc>
              </a:pPr>
              <a:r>
                <a:rPr lang="en-US" sz="1800" b="true">
                  <a:solidFill>
                    <a:srgbClr val="DAF1DE"/>
                  </a:solidFill>
                  <a:latin typeface="Calibri (MS) Bold"/>
                  <a:ea typeface="Calibri (MS) Bold"/>
                  <a:cs typeface="Calibri (MS) Bold"/>
                  <a:sym typeface="Calibri (MS) Bold"/>
                </a:rPr>
                <a:t>[ Modelo de datos y  Arquitectura del sistema ]</a:t>
              </a:r>
            </a:p>
          </p:txBody>
        </p:sp>
      </p:grpSp>
      <p:grpSp>
        <p:nvGrpSpPr>
          <p:cNvPr name="Group 39" id="39"/>
          <p:cNvGrpSpPr/>
          <p:nvPr/>
        </p:nvGrpSpPr>
        <p:grpSpPr>
          <a:xfrm rot="0">
            <a:off x="754380" y="5692140"/>
            <a:ext cx="5390388" cy="2948940"/>
            <a:chOff x="0" y="0"/>
            <a:chExt cx="7187184" cy="3931920"/>
          </a:xfrm>
        </p:grpSpPr>
        <p:sp>
          <p:nvSpPr>
            <p:cNvPr name="Freeform 40" id="40"/>
            <p:cNvSpPr/>
            <p:nvPr/>
          </p:nvSpPr>
          <p:spPr>
            <a:xfrm flipH="false" flipV="false" rot="0">
              <a:off x="0" y="0"/>
              <a:ext cx="7187185" cy="3931920"/>
            </a:xfrm>
            <a:custGeom>
              <a:avLst/>
              <a:gdLst/>
              <a:ahLst/>
              <a:cxnLst/>
              <a:rect r="r" b="b" t="t" l="l"/>
              <a:pathLst>
                <a:path h="3931920" w="7187185">
                  <a:moveTo>
                    <a:pt x="0" y="182880"/>
                  </a:moveTo>
                  <a:cubicBezTo>
                    <a:pt x="0" y="81915"/>
                    <a:pt x="81915" y="0"/>
                    <a:pt x="182880" y="0"/>
                  </a:cubicBezTo>
                  <a:lnTo>
                    <a:pt x="7004304" y="0"/>
                  </a:lnTo>
                  <a:cubicBezTo>
                    <a:pt x="7105269" y="0"/>
                    <a:pt x="7187185" y="81915"/>
                    <a:pt x="7187185" y="182880"/>
                  </a:cubicBezTo>
                  <a:lnTo>
                    <a:pt x="7187185" y="3749040"/>
                  </a:lnTo>
                  <a:cubicBezTo>
                    <a:pt x="7187185" y="3850005"/>
                    <a:pt x="7105269" y="3931920"/>
                    <a:pt x="7004304" y="3931920"/>
                  </a:cubicBezTo>
                  <a:lnTo>
                    <a:pt x="182880" y="3931920"/>
                  </a:lnTo>
                  <a:cubicBezTo>
                    <a:pt x="81915" y="3931920"/>
                    <a:pt x="0" y="3850005"/>
                    <a:pt x="0" y="3749040"/>
                  </a:cubicBezTo>
                  <a:close/>
                </a:path>
              </a:pathLst>
            </a:custGeom>
            <a:solidFill>
              <a:srgbClr val="0B2B26"/>
            </a:solidFill>
          </p:spPr>
        </p:sp>
      </p:grpSp>
      <p:grpSp>
        <p:nvGrpSpPr>
          <p:cNvPr name="Group 41" id="41"/>
          <p:cNvGrpSpPr/>
          <p:nvPr/>
        </p:nvGrpSpPr>
        <p:grpSpPr>
          <a:xfrm rot="0">
            <a:off x="3003804" y="6035040"/>
            <a:ext cx="891540" cy="891540"/>
            <a:chOff x="0" y="0"/>
            <a:chExt cx="1188720" cy="1188720"/>
          </a:xfrm>
        </p:grpSpPr>
        <p:sp>
          <p:nvSpPr>
            <p:cNvPr name="Freeform 42" id="42"/>
            <p:cNvSpPr/>
            <p:nvPr/>
          </p:nvSpPr>
          <p:spPr>
            <a:xfrm flipH="false" flipV="false" rot="0">
              <a:off x="0" y="0"/>
              <a:ext cx="1188720" cy="1188720"/>
            </a:xfrm>
            <a:custGeom>
              <a:avLst/>
              <a:gdLst/>
              <a:ahLst/>
              <a:cxnLst/>
              <a:rect r="r" b="b" t="t" l="l"/>
              <a:pathLst>
                <a:path h="1188720" w="1188720">
                  <a:moveTo>
                    <a:pt x="0" y="594360"/>
                  </a:moveTo>
                  <a:cubicBezTo>
                    <a:pt x="0" y="266065"/>
                    <a:pt x="266065" y="0"/>
                    <a:pt x="594360" y="0"/>
                  </a:cubicBezTo>
                  <a:cubicBezTo>
                    <a:pt x="922655" y="0"/>
                    <a:pt x="1188720" y="266065"/>
                    <a:pt x="1188720" y="594360"/>
                  </a:cubicBezTo>
                  <a:cubicBezTo>
                    <a:pt x="1188720" y="922655"/>
                    <a:pt x="922655" y="1188720"/>
                    <a:pt x="594360" y="1188720"/>
                  </a:cubicBezTo>
                  <a:cubicBezTo>
                    <a:pt x="266065" y="1188720"/>
                    <a:pt x="0" y="922655"/>
                    <a:pt x="0" y="594360"/>
                  </a:cubicBezTo>
                  <a:close/>
                </a:path>
              </a:pathLst>
            </a:custGeom>
            <a:solidFill>
              <a:srgbClr val="8EB69B"/>
            </a:solidFill>
          </p:spPr>
        </p:sp>
      </p:grpSp>
      <p:grpSp>
        <p:nvGrpSpPr>
          <p:cNvPr name="Group 43" id="43"/>
          <p:cNvGrpSpPr/>
          <p:nvPr/>
        </p:nvGrpSpPr>
        <p:grpSpPr>
          <a:xfrm rot="0">
            <a:off x="1028700" y="7132320"/>
            <a:ext cx="4841748" cy="617220"/>
            <a:chOff x="0" y="0"/>
            <a:chExt cx="6455664" cy="822960"/>
          </a:xfrm>
        </p:grpSpPr>
        <p:sp>
          <p:nvSpPr>
            <p:cNvPr name="Freeform 44" id="44"/>
            <p:cNvSpPr/>
            <p:nvPr/>
          </p:nvSpPr>
          <p:spPr>
            <a:xfrm flipH="false" flipV="false" rot="0">
              <a:off x="0" y="0"/>
              <a:ext cx="6455664" cy="822960"/>
            </a:xfrm>
            <a:custGeom>
              <a:avLst/>
              <a:gdLst/>
              <a:ahLst/>
              <a:cxnLst/>
              <a:rect r="r" b="b" t="t" l="l"/>
              <a:pathLst>
                <a:path h="822960" w="6455664">
                  <a:moveTo>
                    <a:pt x="0" y="0"/>
                  </a:moveTo>
                  <a:lnTo>
                    <a:pt x="6455664" y="0"/>
                  </a:lnTo>
                  <a:lnTo>
                    <a:pt x="6455664" y="822960"/>
                  </a:lnTo>
                  <a:lnTo>
                    <a:pt x="0" y="822960"/>
                  </a:lnTo>
                  <a:close/>
                </a:path>
              </a:pathLst>
            </a:custGeom>
            <a:blipFill>
              <a:blip r:embed="rId3">
                <a:alphaModFix amt="0"/>
              </a:blip>
              <a:stretch>
                <a:fillRect l="0" t="-102849" r="0" b="-102849"/>
              </a:stretch>
            </a:blipFill>
          </p:spPr>
        </p:sp>
        <p:sp>
          <p:nvSpPr>
            <p:cNvPr name="TextBox 45" id="45"/>
            <p:cNvSpPr txBox="true"/>
            <p:nvPr/>
          </p:nvSpPr>
          <p:spPr>
            <a:xfrm>
              <a:off x="0" y="-38100"/>
              <a:ext cx="6455664" cy="861060"/>
            </a:xfrm>
            <a:prstGeom prst="rect">
              <a:avLst/>
            </a:prstGeom>
          </p:spPr>
          <p:txBody>
            <a:bodyPr anchor="ctr" rtlCol="false" tIns="0" lIns="0" bIns="0" rIns="0"/>
            <a:lstStyle/>
            <a:p>
              <a:pPr algn="ctr">
                <a:lnSpc>
                  <a:spcPts val="2160"/>
                </a:lnSpc>
              </a:pPr>
              <a:r>
                <a:rPr lang="en-US" sz="1800" b="true">
                  <a:solidFill>
                    <a:srgbClr val="DAF1DE"/>
                  </a:solidFill>
                  <a:latin typeface="Calibri (MS) Bold"/>
                  <a:ea typeface="Calibri (MS) Bold"/>
                  <a:cs typeface="Calibri (MS) Bold"/>
                  <a:sym typeface="Calibri (MS) Bold"/>
                </a:rPr>
                <a:t>[ Backend / Scoring ]</a:t>
              </a:r>
            </a:p>
          </p:txBody>
        </p:sp>
      </p:grpSp>
      <p:grpSp>
        <p:nvGrpSpPr>
          <p:cNvPr name="Group 46" id="46"/>
          <p:cNvGrpSpPr/>
          <p:nvPr/>
        </p:nvGrpSpPr>
        <p:grpSpPr>
          <a:xfrm rot="0">
            <a:off x="6419088" y="5692140"/>
            <a:ext cx="5390388" cy="2948940"/>
            <a:chOff x="0" y="0"/>
            <a:chExt cx="7187184" cy="3931920"/>
          </a:xfrm>
        </p:grpSpPr>
        <p:sp>
          <p:nvSpPr>
            <p:cNvPr name="Freeform 47" id="47"/>
            <p:cNvSpPr/>
            <p:nvPr/>
          </p:nvSpPr>
          <p:spPr>
            <a:xfrm flipH="false" flipV="false" rot="0">
              <a:off x="0" y="0"/>
              <a:ext cx="7187185" cy="3931920"/>
            </a:xfrm>
            <a:custGeom>
              <a:avLst/>
              <a:gdLst/>
              <a:ahLst/>
              <a:cxnLst/>
              <a:rect r="r" b="b" t="t" l="l"/>
              <a:pathLst>
                <a:path h="3931920" w="7187185">
                  <a:moveTo>
                    <a:pt x="0" y="182880"/>
                  </a:moveTo>
                  <a:cubicBezTo>
                    <a:pt x="0" y="81915"/>
                    <a:pt x="81915" y="0"/>
                    <a:pt x="182880" y="0"/>
                  </a:cubicBezTo>
                  <a:lnTo>
                    <a:pt x="7004304" y="0"/>
                  </a:lnTo>
                  <a:cubicBezTo>
                    <a:pt x="7105269" y="0"/>
                    <a:pt x="7187185" y="81915"/>
                    <a:pt x="7187185" y="182880"/>
                  </a:cubicBezTo>
                  <a:lnTo>
                    <a:pt x="7187185" y="3749040"/>
                  </a:lnTo>
                  <a:cubicBezTo>
                    <a:pt x="7187185" y="3850005"/>
                    <a:pt x="7105269" y="3931920"/>
                    <a:pt x="7004304" y="3931920"/>
                  </a:cubicBezTo>
                  <a:lnTo>
                    <a:pt x="182880" y="3931920"/>
                  </a:lnTo>
                  <a:cubicBezTo>
                    <a:pt x="81915" y="3931920"/>
                    <a:pt x="0" y="3850005"/>
                    <a:pt x="0" y="3749040"/>
                  </a:cubicBezTo>
                  <a:close/>
                </a:path>
              </a:pathLst>
            </a:custGeom>
            <a:solidFill>
              <a:srgbClr val="0B2B26"/>
            </a:solidFill>
          </p:spPr>
        </p:sp>
      </p:grpSp>
      <p:grpSp>
        <p:nvGrpSpPr>
          <p:cNvPr name="Group 48" id="48"/>
          <p:cNvGrpSpPr/>
          <p:nvPr/>
        </p:nvGrpSpPr>
        <p:grpSpPr>
          <a:xfrm rot="0">
            <a:off x="8668512" y="6035040"/>
            <a:ext cx="891540" cy="891540"/>
            <a:chOff x="0" y="0"/>
            <a:chExt cx="1188720" cy="1188720"/>
          </a:xfrm>
        </p:grpSpPr>
        <p:sp>
          <p:nvSpPr>
            <p:cNvPr name="Freeform 49" id="49"/>
            <p:cNvSpPr/>
            <p:nvPr/>
          </p:nvSpPr>
          <p:spPr>
            <a:xfrm flipH="false" flipV="false" rot="0">
              <a:off x="0" y="0"/>
              <a:ext cx="1188720" cy="1188720"/>
            </a:xfrm>
            <a:custGeom>
              <a:avLst/>
              <a:gdLst/>
              <a:ahLst/>
              <a:cxnLst/>
              <a:rect r="r" b="b" t="t" l="l"/>
              <a:pathLst>
                <a:path h="1188720" w="1188720">
                  <a:moveTo>
                    <a:pt x="0" y="594360"/>
                  </a:moveTo>
                  <a:cubicBezTo>
                    <a:pt x="0" y="266065"/>
                    <a:pt x="266065" y="0"/>
                    <a:pt x="594360" y="0"/>
                  </a:cubicBezTo>
                  <a:cubicBezTo>
                    <a:pt x="922655" y="0"/>
                    <a:pt x="1188720" y="266065"/>
                    <a:pt x="1188720" y="594360"/>
                  </a:cubicBezTo>
                  <a:cubicBezTo>
                    <a:pt x="1188720" y="922655"/>
                    <a:pt x="922655" y="1188720"/>
                    <a:pt x="594360" y="1188720"/>
                  </a:cubicBezTo>
                  <a:cubicBezTo>
                    <a:pt x="266065" y="1188720"/>
                    <a:pt x="0" y="922655"/>
                    <a:pt x="0" y="594360"/>
                  </a:cubicBezTo>
                  <a:close/>
                </a:path>
              </a:pathLst>
            </a:custGeom>
            <a:solidFill>
              <a:srgbClr val="8EB69B"/>
            </a:solidFill>
          </p:spPr>
        </p:sp>
      </p:grpSp>
      <p:grpSp>
        <p:nvGrpSpPr>
          <p:cNvPr name="Group 50" id="50"/>
          <p:cNvGrpSpPr/>
          <p:nvPr/>
        </p:nvGrpSpPr>
        <p:grpSpPr>
          <a:xfrm rot="0">
            <a:off x="8882482" y="6249010"/>
            <a:ext cx="463601" cy="463601"/>
            <a:chOff x="0" y="0"/>
            <a:chExt cx="618134" cy="618134"/>
          </a:xfrm>
        </p:grpSpPr>
        <p:sp>
          <p:nvSpPr>
            <p:cNvPr name="Freeform 51" id="51" descr="/home/claude/sms-security/icons/mobile_dark1.png"/>
            <p:cNvSpPr/>
            <p:nvPr/>
          </p:nvSpPr>
          <p:spPr>
            <a:xfrm flipH="false" flipV="false" rot="0">
              <a:off x="0" y="0"/>
              <a:ext cx="618109" cy="618109"/>
            </a:xfrm>
            <a:custGeom>
              <a:avLst/>
              <a:gdLst/>
              <a:ahLst/>
              <a:cxnLst/>
              <a:rect r="r" b="b" t="t" l="l"/>
              <a:pathLst>
                <a:path h="618109" w="618109">
                  <a:moveTo>
                    <a:pt x="0" y="0"/>
                  </a:moveTo>
                  <a:lnTo>
                    <a:pt x="618109" y="0"/>
                  </a:lnTo>
                  <a:lnTo>
                    <a:pt x="618109" y="618109"/>
                  </a:lnTo>
                  <a:lnTo>
                    <a:pt x="0" y="618109"/>
                  </a:lnTo>
                  <a:lnTo>
                    <a:pt x="0" y="0"/>
                  </a:lnTo>
                  <a:close/>
                </a:path>
              </a:pathLst>
            </a:custGeom>
            <a:blipFill>
              <a:blip r:embed="rId7"/>
              <a:stretch>
                <a:fillRect l="0" t="0" r="-4" b="-4"/>
              </a:stretch>
            </a:blipFill>
          </p:spPr>
        </p:sp>
      </p:grpSp>
      <p:grpSp>
        <p:nvGrpSpPr>
          <p:cNvPr name="Group 52" id="52"/>
          <p:cNvGrpSpPr/>
          <p:nvPr/>
        </p:nvGrpSpPr>
        <p:grpSpPr>
          <a:xfrm rot="0">
            <a:off x="6693408" y="7132320"/>
            <a:ext cx="4841748" cy="617220"/>
            <a:chOff x="0" y="0"/>
            <a:chExt cx="6455664" cy="822960"/>
          </a:xfrm>
        </p:grpSpPr>
        <p:sp>
          <p:nvSpPr>
            <p:cNvPr name="Freeform 53" id="53"/>
            <p:cNvSpPr/>
            <p:nvPr/>
          </p:nvSpPr>
          <p:spPr>
            <a:xfrm flipH="false" flipV="false" rot="0">
              <a:off x="0" y="0"/>
              <a:ext cx="6455664" cy="822960"/>
            </a:xfrm>
            <a:custGeom>
              <a:avLst/>
              <a:gdLst/>
              <a:ahLst/>
              <a:cxnLst/>
              <a:rect r="r" b="b" t="t" l="l"/>
              <a:pathLst>
                <a:path h="822960" w="6455664">
                  <a:moveTo>
                    <a:pt x="0" y="0"/>
                  </a:moveTo>
                  <a:lnTo>
                    <a:pt x="6455664" y="0"/>
                  </a:lnTo>
                  <a:lnTo>
                    <a:pt x="6455664" y="822960"/>
                  </a:lnTo>
                  <a:lnTo>
                    <a:pt x="0" y="822960"/>
                  </a:lnTo>
                  <a:close/>
                </a:path>
              </a:pathLst>
            </a:custGeom>
            <a:blipFill>
              <a:blip r:embed="rId3">
                <a:alphaModFix amt="0"/>
              </a:blip>
              <a:stretch>
                <a:fillRect l="0" t="-102849" r="0" b="-102849"/>
              </a:stretch>
            </a:blipFill>
          </p:spPr>
        </p:sp>
        <p:sp>
          <p:nvSpPr>
            <p:cNvPr name="TextBox 54" id="54"/>
            <p:cNvSpPr txBox="true"/>
            <p:nvPr/>
          </p:nvSpPr>
          <p:spPr>
            <a:xfrm>
              <a:off x="0" y="-38100"/>
              <a:ext cx="6455664" cy="861060"/>
            </a:xfrm>
            <a:prstGeom prst="rect">
              <a:avLst/>
            </a:prstGeom>
          </p:spPr>
          <p:txBody>
            <a:bodyPr anchor="ctr" rtlCol="false" tIns="0" lIns="0" bIns="0" rIns="0"/>
            <a:lstStyle/>
            <a:p>
              <a:pPr algn="ctr">
                <a:lnSpc>
                  <a:spcPts val="2160"/>
                </a:lnSpc>
              </a:pPr>
              <a:r>
                <a:rPr lang="en-US" sz="1800" b="true">
                  <a:solidFill>
                    <a:srgbClr val="DAF1DE"/>
                  </a:solidFill>
                  <a:latin typeface="Calibri (MS) Bold"/>
                  <a:ea typeface="Calibri (MS) Bold"/>
                  <a:cs typeface="Calibri (MS) Bold"/>
                  <a:sym typeface="Calibri (MS) Bold"/>
                </a:rPr>
                <a:t>[ Frontend y Chatbot ]</a:t>
              </a:r>
            </a:p>
          </p:txBody>
        </p:sp>
      </p:grpSp>
      <p:grpSp>
        <p:nvGrpSpPr>
          <p:cNvPr name="Group 55" id="55"/>
          <p:cNvGrpSpPr/>
          <p:nvPr/>
        </p:nvGrpSpPr>
        <p:grpSpPr>
          <a:xfrm rot="0">
            <a:off x="12083796" y="5692140"/>
            <a:ext cx="5390388" cy="2948940"/>
            <a:chOff x="0" y="0"/>
            <a:chExt cx="7187184" cy="3931920"/>
          </a:xfrm>
        </p:grpSpPr>
        <p:sp>
          <p:nvSpPr>
            <p:cNvPr name="Freeform 56" id="56"/>
            <p:cNvSpPr/>
            <p:nvPr/>
          </p:nvSpPr>
          <p:spPr>
            <a:xfrm flipH="false" flipV="false" rot="0">
              <a:off x="0" y="0"/>
              <a:ext cx="7187185" cy="3931920"/>
            </a:xfrm>
            <a:custGeom>
              <a:avLst/>
              <a:gdLst/>
              <a:ahLst/>
              <a:cxnLst/>
              <a:rect r="r" b="b" t="t" l="l"/>
              <a:pathLst>
                <a:path h="3931920" w="7187185">
                  <a:moveTo>
                    <a:pt x="0" y="182880"/>
                  </a:moveTo>
                  <a:cubicBezTo>
                    <a:pt x="0" y="81915"/>
                    <a:pt x="81915" y="0"/>
                    <a:pt x="182880" y="0"/>
                  </a:cubicBezTo>
                  <a:lnTo>
                    <a:pt x="7004304" y="0"/>
                  </a:lnTo>
                  <a:cubicBezTo>
                    <a:pt x="7105269" y="0"/>
                    <a:pt x="7187185" y="81915"/>
                    <a:pt x="7187185" y="182880"/>
                  </a:cubicBezTo>
                  <a:lnTo>
                    <a:pt x="7187185" y="3749040"/>
                  </a:lnTo>
                  <a:cubicBezTo>
                    <a:pt x="7187185" y="3850005"/>
                    <a:pt x="7105269" y="3931920"/>
                    <a:pt x="7004304" y="3931920"/>
                  </a:cubicBezTo>
                  <a:lnTo>
                    <a:pt x="182880" y="3931920"/>
                  </a:lnTo>
                  <a:cubicBezTo>
                    <a:pt x="81915" y="3931920"/>
                    <a:pt x="0" y="3850005"/>
                    <a:pt x="0" y="3749040"/>
                  </a:cubicBezTo>
                  <a:close/>
                </a:path>
              </a:pathLst>
            </a:custGeom>
            <a:solidFill>
              <a:srgbClr val="0B2B26"/>
            </a:solidFill>
          </p:spPr>
        </p:sp>
      </p:grpSp>
      <p:grpSp>
        <p:nvGrpSpPr>
          <p:cNvPr name="Group 57" id="57"/>
          <p:cNvGrpSpPr/>
          <p:nvPr/>
        </p:nvGrpSpPr>
        <p:grpSpPr>
          <a:xfrm rot="0">
            <a:off x="14333220" y="6035040"/>
            <a:ext cx="891540" cy="891540"/>
            <a:chOff x="0" y="0"/>
            <a:chExt cx="1188720" cy="1188720"/>
          </a:xfrm>
        </p:grpSpPr>
        <p:sp>
          <p:nvSpPr>
            <p:cNvPr name="Freeform 58" id="58"/>
            <p:cNvSpPr/>
            <p:nvPr/>
          </p:nvSpPr>
          <p:spPr>
            <a:xfrm flipH="false" flipV="false" rot="0">
              <a:off x="0" y="0"/>
              <a:ext cx="1188720" cy="1188720"/>
            </a:xfrm>
            <a:custGeom>
              <a:avLst/>
              <a:gdLst/>
              <a:ahLst/>
              <a:cxnLst/>
              <a:rect r="r" b="b" t="t" l="l"/>
              <a:pathLst>
                <a:path h="1188720" w="1188720">
                  <a:moveTo>
                    <a:pt x="0" y="594360"/>
                  </a:moveTo>
                  <a:cubicBezTo>
                    <a:pt x="0" y="266065"/>
                    <a:pt x="266065" y="0"/>
                    <a:pt x="594360" y="0"/>
                  </a:cubicBezTo>
                  <a:cubicBezTo>
                    <a:pt x="922655" y="0"/>
                    <a:pt x="1188720" y="266065"/>
                    <a:pt x="1188720" y="594360"/>
                  </a:cubicBezTo>
                  <a:cubicBezTo>
                    <a:pt x="1188720" y="922655"/>
                    <a:pt x="922655" y="1188720"/>
                    <a:pt x="594360" y="1188720"/>
                  </a:cubicBezTo>
                  <a:cubicBezTo>
                    <a:pt x="266065" y="1188720"/>
                    <a:pt x="0" y="922655"/>
                    <a:pt x="0" y="594360"/>
                  </a:cubicBezTo>
                  <a:close/>
                </a:path>
              </a:pathLst>
            </a:custGeom>
            <a:solidFill>
              <a:srgbClr val="8EB69B"/>
            </a:solidFill>
          </p:spPr>
        </p:sp>
      </p:grpSp>
      <p:grpSp>
        <p:nvGrpSpPr>
          <p:cNvPr name="Group 59" id="59"/>
          <p:cNvGrpSpPr/>
          <p:nvPr/>
        </p:nvGrpSpPr>
        <p:grpSpPr>
          <a:xfrm rot="0">
            <a:off x="14547190" y="6249010"/>
            <a:ext cx="463601" cy="463601"/>
            <a:chOff x="0" y="0"/>
            <a:chExt cx="618134" cy="618134"/>
          </a:xfrm>
        </p:grpSpPr>
        <p:sp>
          <p:nvSpPr>
            <p:cNvPr name="Freeform 60" id="60" descr="/home/claude/sms-security/icons/chart_dark1.png"/>
            <p:cNvSpPr/>
            <p:nvPr/>
          </p:nvSpPr>
          <p:spPr>
            <a:xfrm flipH="false" flipV="false" rot="0">
              <a:off x="0" y="0"/>
              <a:ext cx="618109" cy="618109"/>
            </a:xfrm>
            <a:custGeom>
              <a:avLst/>
              <a:gdLst/>
              <a:ahLst/>
              <a:cxnLst/>
              <a:rect r="r" b="b" t="t" l="l"/>
              <a:pathLst>
                <a:path h="618109" w="618109">
                  <a:moveTo>
                    <a:pt x="0" y="0"/>
                  </a:moveTo>
                  <a:lnTo>
                    <a:pt x="618109" y="0"/>
                  </a:lnTo>
                  <a:lnTo>
                    <a:pt x="618109" y="618109"/>
                  </a:lnTo>
                  <a:lnTo>
                    <a:pt x="0" y="618109"/>
                  </a:lnTo>
                  <a:lnTo>
                    <a:pt x="0" y="0"/>
                  </a:lnTo>
                  <a:close/>
                </a:path>
              </a:pathLst>
            </a:custGeom>
            <a:blipFill>
              <a:blip r:embed="rId8"/>
              <a:stretch>
                <a:fillRect l="0" t="0" r="-4" b="-4"/>
              </a:stretch>
            </a:blipFill>
          </p:spPr>
        </p:sp>
      </p:grpSp>
      <p:grpSp>
        <p:nvGrpSpPr>
          <p:cNvPr name="Group 61" id="61"/>
          <p:cNvGrpSpPr/>
          <p:nvPr/>
        </p:nvGrpSpPr>
        <p:grpSpPr>
          <a:xfrm rot="0">
            <a:off x="12358116" y="7132320"/>
            <a:ext cx="4841748" cy="617220"/>
            <a:chOff x="0" y="0"/>
            <a:chExt cx="6455664" cy="822960"/>
          </a:xfrm>
        </p:grpSpPr>
        <p:sp>
          <p:nvSpPr>
            <p:cNvPr name="Freeform 62" id="62"/>
            <p:cNvSpPr/>
            <p:nvPr/>
          </p:nvSpPr>
          <p:spPr>
            <a:xfrm flipH="false" flipV="false" rot="0">
              <a:off x="0" y="0"/>
              <a:ext cx="6455664" cy="822960"/>
            </a:xfrm>
            <a:custGeom>
              <a:avLst/>
              <a:gdLst/>
              <a:ahLst/>
              <a:cxnLst/>
              <a:rect r="r" b="b" t="t" l="l"/>
              <a:pathLst>
                <a:path h="822960" w="6455664">
                  <a:moveTo>
                    <a:pt x="0" y="0"/>
                  </a:moveTo>
                  <a:lnTo>
                    <a:pt x="6455664" y="0"/>
                  </a:lnTo>
                  <a:lnTo>
                    <a:pt x="6455664" y="822960"/>
                  </a:lnTo>
                  <a:lnTo>
                    <a:pt x="0" y="822960"/>
                  </a:lnTo>
                  <a:close/>
                </a:path>
              </a:pathLst>
            </a:custGeom>
            <a:blipFill>
              <a:blip r:embed="rId3">
                <a:alphaModFix amt="0"/>
              </a:blip>
              <a:stretch>
                <a:fillRect l="0" t="-102849" r="0" b="-102849"/>
              </a:stretch>
            </a:blipFill>
          </p:spPr>
        </p:sp>
        <p:sp>
          <p:nvSpPr>
            <p:cNvPr name="TextBox 63" id="63"/>
            <p:cNvSpPr txBox="true"/>
            <p:nvPr/>
          </p:nvSpPr>
          <p:spPr>
            <a:xfrm>
              <a:off x="0" y="-38100"/>
              <a:ext cx="6455664" cy="861060"/>
            </a:xfrm>
            <a:prstGeom prst="rect">
              <a:avLst/>
            </a:prstGeom>
          </p:spPr>
          <p:txBody>
            <a:bodyPr anchor="ctr" rtlCol="false" tIns="0" lIns="0" bIns="0" rIns="0"/>
            <a:lstStyle/>
            <a:p>
              <a:pPr algn="ctr">
                <a:lnSpc>
                  <a:spcPts val="2160"/>
                </a:lnSpc>
              </a:pPr>
              <a:r>
                <a:rPr lang="en-US" sz="1800" b="true">
                  <a:solidFill>
                    <a:srgbClr val="DAF1DE"/>
                  </a:solidFill>
                  <a:latin typeface="Calibri (MS) Bold"/>
                  <a:ea typeface="Calibri (MS) Bold"/>
                  <a:cs typeface="Calibri (MS) Bold"/>
                  <a:sym typeface="Calibri (MS) Bold"/>
                </a:rPr>
                <a:t>[ App integrada, pruebas y memoria ]</a:t>
              </a:r>
            </a:p>
          </p:txBody>
        </p:sp>
      </p:grpSp>
      <p:grpSp>
        <p:nvGrpSpPr>
          <p:cNvPr name="Group 64" id="64"/>
          <p:cNvGrpSpPr/>
          <p:nvPr/>
        </p:nvGrpSpPr>
        <p:grpSpPr>
          <a:xfrm rot="0">
            <a:off x="17053103" y="9601200"/>
            <a:ext cx="822960" cy="480060"/>
            <a:chOff x="0" y="0"/>
            <a:chExt cx="1097280" cy="640080"/>
          </a:xfrm>
        </p:grpSpPr>
        <p:sp>
          <p:nvSpPr>
            <p:cNvPr name="Freeform 65" id="65"/>
            <p:cNvSpPr/>
            <p:nvPr/>
          </p:nvSpPr>
          <p:spPr>
            <a:xfrm flipH="false" flipV="false" rot="0">
              <a:off x="0" y="0"/>
              <a:ext cx="1097280" cy="640080"/>
            </a:xfrm>
            <a:custGeom>
              <a:avLst/>
              <a:gdLst/>
              <a:ahLst/>
              <a:cxnLst/>
              <a:rect r="r" b="b" t="t" l="l"/>
              <a:pathLst>
                <a:path h="640080" w="1097280">
                  <a:moveTo>
                    <a:pt x="0" y="0"/>
                  </a:moveTo>
                  <a:lnTo>
                    <a:pt x="1097280" y="0"/>
                  </a:lnTo>
                  <a:lnTo>
                    <a:pt x="1097280" y="640080"/>
                  </a:lnTo>
                  <a:lnTo>
                    <a:pt x="0" y="640080"/>
                  </a:lnTo>
                  <a:close/>
                </a:path>
              </a:pathLst>
            </a:custGeom>
            <a:blipFill>
              <a:blip r:embed="rId3">
                <a:alphaModFix amt="0"/>
              </a:blip>
              <a:stretch>
                <a:fillRect l="-24843" t="0" r="-24843" b="0"/>
              </a:stretch>
            </a:blipFill>
          </p:spPr>
        </p:sp>
        <p:sp>
          <p:nvSpPr>
            <p:cNvPr name="TextBox 66" id="66"/>
            <p:cNvSpPr txBox="true"/>
            <p:nvPr/>
          </p:nvSpPr>
          <p:spPr>
            <a:xfrm>
              <a:off x="0" y="-38100"/>
              <a:ext cx="1097280" cy="678180"/>
            </a:xfrm>
            <a:prstGeom prst="rect">
              <a:avLst/>
            </a:prstGeom>
          </p:spPr>
          <p:txBody>
            <a:bodyPr anchor="ctr" rtlCol="false" tIns="0" lIns="0" bIns="0" rIns="0"/>
            <a:lstStyle/>
            <a:p>
              <a:pPr algn="r">
                <a:lnSpc>
                  <a:spcPts val="1800"/>
                </a:lnSpc>
              </a:pPr>
              <a:r>
                <a:rPr lang="en-US" sz="1500">
                  <a:solidFill>
                    <a:srgbClr val="8EB69B"/>
                  </a:solidFill>
                  <a:latin typeface="Calibri (MS)"/>
                  <a:ea typeface="Calibri (MS)"/>
                  <a:cs typeface="Calibri (MS)"/>
                  <a:sym typeface="Calibri (MS)"/>
                </a:rPr>
                <a:t>08</a:t>
              </a:r>
            </a:p>
          </p:txBody>
        </p:sp>
      </p:grpSp>
      <p:sp>
        <p:nvSpPr>
          <p:cNvPr name="Freeform 67" id="67"/>
          <p:cNvSpPr/>
          <p:nvPr/>
        </p:nvSpPr>
        <p:spPr>
          <a:xfrm flipH="false" flipV="false" rot="0">
            <a:off x="3217774" y="6194232"/>
            <a:ext cx="484316" cy="573156"/>
          </a:xfrm>
          <a:custGeom>
            <a:avLst/>
            <a:gdLst/>
            <a:ahLst/>
            <a:cxnLst/>
            <a:rect r="r" b="b" t="t" l="l"/>
            <a:pathLst>
              <a:path h="573156" w="484316">
                <a:moveTo>
                  <a:pt x="0" y="0"/>
                </a:moveTo>
                <a:lnTo>
                  <a:pt x="484316" y="0"/>
                </a:lnTo>
                <a:lnTo>
                  <a:pt x="484316" y="573156"/>
                </a:lnTo>
                <a:lnTo>
                  <a:pt x="0" y="57315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68" id="68"/>
          <p:cNvSpPr/>
          <p:nvPr/>
        </p:nvSpPr>
        <p:spPr>
          <a:xfrm flipH="false" flipV="false" rot="0">
            <a:off x="8983831" y="6311265"/>
            <a:ext cx="260902" cy="240030"/>
          </a:xfrm>
          <a:custGeom>
            <a:avLst/>
            <a:gdLst/>
            <a:ahLst/>
            <a:cxnLst/>
            <a:rect r="r" b="b" t="t" l="l"/>
            <a:pathLst>
              <a:path h="240030" w="260902">
                <a:moveTo>
                  <a:pt x="0" y="0"/>
                </a:moveTo>
                <a:lnTo>
                  <a:pt x="260902" y="0"/>
                </a:lnTo>
                <a:lnTo>
                  <a:pt x="260902" y="240030"/>
                </a:lnTo>
                <a:lnTo>
                  <a:pt x="0" y="24003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DAF1DE"/>
        </a:solidFill>
      </p:bgPr>
    </p:bg>
    <p:spTree>
      <p:nvGrpSpPr>
        <p:cNvPr id="1" name=""/>
        <p:cNvGrpSpPr/>
        <p:nvPr/>
      </p:nvGrpSpPr>
      <p:grpSpPr>
        <a:xfrm>
          <a:off x="0" y="0"/>
          <a:ext cx="0" cy="0"/>
          <a:chOff x="0" y="0"/>
          <a:chExt cx="0" cy="0"/>
        </a:xfrm>
      </p:grpSpPr>
      <p:sp>
        <p:nvSpPr>
          <p:cNvPr name="Freeform 2" id="2"/>
          <p:cNvSpPr/>
          <p:nvPr/>
        </p:nvSpPr>
        <p:spPr>
          <a:xfrm flipH="false" flipV="false" rot="0">
            <a:off x="0" y="45720"/>
            <a:ext cx="18288000" cy="10241280"/>
          </a:xfrm>
          <a:custGeom>
            <a:avLst/>
            <a:gdLst/>
            <a:ahLst/>
            <a:cxnLst/>
            <a:rect r="r" b="b" t="t" l="l"/>
            <a:pathLst>
              <a:path h="10241280" w="18288000">
                <a:moveTo>
                  <a:pt x="0" y="0"/>
                </a:moveTo>
                <a:lnTo>
                  <a:pt x="18288000" y="0"/>
                </a:lnTo>
                <a:lnTo>
                  <a:pt x="18288000" y="10241280"/>
                </a:lnTo>
                <a:lnTo>
                  <a:pt x="0" y="10241280"/>
                </a:lnTo>
                <a:lnTo>
                  <a:pt x="0" y="0"/>
                </a:lnTo>
                <a:close/>
              </a:path>
            </a:pathLst>
          </a:custGeom>
          <a:blipFill>
            <a:blip r:embed="rId2">
              <a:alphaModFix amt="40000"/>
            </a:blip>
            <a:stretch>
              <a:fillRect l="0" t="0" r="0" b="0"/>
            </a:stretch>
          </a:blipFill>
        </p:spPr>
      </p:sp>
      <p:grpSp>
        <p:nvGrpSpPr>
          <p:cNvPr name="Group 3" id="3"/>
          <p:cNvGrpSpPr/>
          <p:nvPr/>
        </p:nvGrpSpPr>
        <p:grpSpPr>
          <a:xfrm rot="0">
            <a:off x="1988820" y="576072"/>
            <a:ext cx="14401800" cy="754380"/>
            <a:chOff x="0" y="0"/>
            <a:chExt cx="19202400" cy="1005840"/>
          </a:xfrm>
        </p:grpSpPr>
        <p:sp>
          <p:nvSpPr>
            <p:cNvPr name="Freeform 4" id="4"/>
            <p:cNvSpPr/>
            <p:nvPr/>
          </p:nvSpPr>
          <p:spPr>
            <a:xfrm flipH="false" flipV="false" rot="0">
              <a:off x="0" y="0"/>
              <a:ext cx="19202400" cy="1005840"/>
            </a:xfrm>
            <a:custGeom>
              <a:avLst/>
              <a:gdLst/>
              <a:ahLst/>
              <a:cxnLst/>
              <a:rect r="r" b="b" t="t" l="l"/>
              <a:pathLst>
                <a:path h="1005840" w="19202400">
                  <a:moveTo>
                    <a:pt x="0" y="0"/>
                  </a:moveTo>
                  <a:lnTo>
                    <a:pt x="19202400" y="0"/>
                  </a:lnTo>
                  <a:lnTo>
                    <a:pt x="19202400" y="1005840"/>
                  </a:lnTo>
                  <a:lnTo>
                    <a:pt x="0" y="1005840"/>
                  </a:lnTo>
                  <a:close/>
                </a:path>
              </a:pathLst>
            </a:custGeom>
            <a:blipFill>
              <a:blip r:embed="rId3">
                <a:alphaModFix amt="0"/>
              </a:blip>
              <a:stretch>
                <a:fillRect l="0" t="-321987" r="0" b="-321987"/>
              </a:stretch>
            </a:blipFill>
          </p:spPr>
        </p:sp>
        <p:sp>
          <p:nvSpPr>
            <p:cNvPr name="TextBox 5" id="5"/>
            <p:cNvSpPr txBox="true"/>
            <p:nvPr/>
          </p:nvSpPr>
          <p:spPr>
            <a:xfrm>
              <a:off x="0" y="-9525"/>
              <a:ext cx="19202400" cy="1015365"/>
            </a:xfrm>
            <a:prstGeom prst="rect">
              <a:avLst/>
            </a:prstGeom>
          </p:spPr>
          <p:txBody>
            <a:bodyPr anchor="ctr" rtlCol="false" tIns="0" lIns="0" bIns="0" rIns="0"/>
            <a:lstStyle/>
            <a:p>
              <a:pPr algn="l">
                <a:lnSpc>
                  <a:spcPts val="5040"/>
                </a:lnSpc>
              </a:pPr>
              <a:r>
                <a:rPr lang="en-US" sz="4200" b="true">
                  <a:solidFill>
                    <a:srgbClr val="051F20"/>
                  </a:solidFill>
                  <a:latin typeface="Cambria Bold"/>
                  <a:ea typeface="Cambria Bold"/>
                  <a:cs typeface="Cambria Bold"/>
                  <a:sym typeface="Cambria Bold"/>
                </a:rPr>
                <a:t>Bibliografia</a:t>
              </a:r>
            </a:p>
          </p:txBody>
        </p:sp>
      </p:grpSp>
      <p:grpSp>
        <p:nvGrpSpPr>
          <p:cNvPr name="Group 6" id="6"/>
          <p:cNvGrpSpPr/>
          <p:nvPr/>
        </p:nvGrpSpPr>
        <p:grpSpPr>
          <a:xfrm rot="0">
            <a:off x="1988820" y="1303020"/>
            <a:ext cx="14401800" cy="1277234"/>
            <a:chOff x="0" y="0"/>
            <a:chExt cx="19202400" cy="1702978"/>
          </a:xfrm>
        </p:grpSpPr>
        <p:sp>
          <p:nvSpPr>
            <p:cNvPr name="Freeform 7" id="7"/>
            <p:cNvSpPr/>
            <p:nvPr/>
          </p:nvSpPr>
          <p:spPr>
            <a:xfrm flipH="false" flipV="false" rot="0">
              <a:off x="0" y="0"/>
              <a:ext cx="19202400" cy="1702978"/>
            </a:xfrm>
            <a:custGeom>
              <a:avLst/>
              <a:gdLst/>
              <a:ahLst/>
              <a:cxnLst/>
              <a:rect r="r" b="b" t="t" l="l"/>
              <a:pathLst>
                <a:path h="1702978" w="19202400">
                  <a:moveTo>
                    <a:pt x="0" y="0"/>
                  </a:moveTo>
                  <a:lnTo>
                    <a:pt x="19202400" y="0"/>
                  </a:lnTo>
                  <a:lnTo>
                    <a:pt x="19202400" y="1702978"/>
                  </a:lnTo>
                  <a:lnTo>
                    <a:pt x="0" y="1702978"/>
                  </a:lnTo>
                  <a:close/>
                </a:path>
              </a:pathLst>
            </a:custGeom>
            <a:blipFill>
              <a:blip r:embed="rId3">
                <a:alphaModFix amt="0"/>
              </a:blip>
              <a:stretch>
                <a:fillRect l="0" t="-200915" r="0" b="-138501"/>
              </a:stretch>
            </a:blipFill>
          </p:spPr>
        </p:sp>
        <p:sp>
          <p:nvSpPr>
            <p:cNvPr name="TextBox 8" id="8"/>
            <p:cNvSpPr txBox="true"/>
            <p:nvPr/>
          </p:nvSpPr>
          <p:spPr>
            <a:xfrm>
              <a:off x="0" y="-47625"/>
              <a:ext cx="19202400" cy="1750603"/>
            </a:xfrm>
            <a:prstGeom prst="rect">
              <a:avLst/>
            </a:prstGeom>
          </p:spPr>
          <p:txBody>
            <a:bodyPr anchor="ctr" rtlCol="false" tIns="0" lIns="0" bIns="0" rIns="0"/>
            <a:lstStyle/>
            <a:p>
              <a:pPr algn="l" marL="421005" indent="-210502" lvl="1">
                <a:lnSpc>
                  <a:spcPts val="2340"/>
                </a:lnSpc>
                <a:buFont typeface="Arial"/>
                <a:buChar char="•"/>
              </a:pPr>
              <a:r>
                <a:rPr lang="en-US" sz="1950" i="true">
                  <a:solidFill>
                    <a:srgbClr val="235347"/>
                  </a:solidFill>
                  <a:latin typeface="Calibri (MS) Italics"/>
                  <a:ea typeface="Calibri (MS) Italics"/>
                  <a:cs typeface="Calibri (MS) Italics"/>
                  <a:sym typeface="Calibri (MS) Italics"/>
                </a:rPr>
                <a:t>Día, D. E. (2026, 21 agosto). Una de cada 4 personas en Chile cayó en estafa SMS por cobros. Diario el Día. https://www.diarioeldia.cl/noticias/2026/08/21/148405-una-de-cada-4-personas-en-chile-cayo-en-estafa-sms-por-cobros</a:t>
              </a:r>
            </a:p>
            <a:p>
              <a:pPr algn="l" marL="421005" indent="-210502" lvl="1">
                <a:lnSpc>
                  <a:spcPts val="2340"/>
                </a:lnSpc>
                <a:buFont typeface="Arial"/>
                <a:buChar char="•"/>
              </a:pPr>
              <a:r>
                <a:rPr lang="en-US" sz="1950" i="true">
                  <a:solidFill>
                    <a:srgbClr val="235347"/>
                  </a:solidFill>
                  <a:latin typeface="Calibri (MS) Italics"/>
                  <a:ea typeface="Calibri (MS) Italics"/>
                  <a:cs typeface="Calibri (MS) Italics"/>
                  <a:sym typeface="Calibri (MS) Italics"/>
                </a:rPr>
                <a:t>trendTIC. (2026, 27 de agosto). "Ley Neme": Expertos en ciberseguridad ofrecen una guía para evitar estafas por SMS. </a:t>
              </a:r>
              <a:r>
                <a:rPr lang="en-US" sz="1950" i="true" u="sng">
                  <a:solidFill>
                    <a:srgbClr val="235347"/>
                  </a:solidFill>
                  <a:latin typeface="Calibri (MS) Italics"/>
                  <a:ea typeface="Calibri (MS) Italics"/>
                  <a:cs typeface="Calibri (MS) Italics"/>
                  <a:sym typeface="Calibri (MS) Italics"/>
                  <a:hlinkClick r:id="rId4" tooltip="https://www.trendtic.cl/2026/08/ley-neme-expertos-en-ciberseguridad-ofrecen-una-guia-para-evitar-estafas-por-sms/"/>
                </a:rPr>
                <a:t>https://www.trendtic.cl/2026/08/ley-neme-expertos-en-ciberseguridad-ofrecen-una-guia-para-evitar-estafas-por-sms/</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DAHT_41MwW0</dc:identifier>
  <dcterms:modified xsi:type="dcterms:W3CDTF">2011-08-01T06:04:30Z</dcterms:modified>
  <cp:revision>1</cp:revision>
  <dc:title>Presentación Proyecto</dc:title>
</cp:coreProperties>
</file>